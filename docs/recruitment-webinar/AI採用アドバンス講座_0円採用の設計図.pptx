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1人あたり採用単価</c:v>
                </c:pt>
              </c:strCache>
            </c:strRef>
          </c:tx>
          <c:spPr>
            <a:solidFill>
              <a:srgbClr val="1B365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B365D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自社採用ページ
（Engage 中心）</c:v>
                  </c:pt>
                  <c:pt idx="1">
                    <c:v>求人媒体・
Indeed 運用</c:v>
                  </c:pt>
                  <c:pt idx="2">
                    <c:v>紹介会社
（年収の 25%）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45</c:v>
                </c:pt>
                <c:pt idx="2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B365D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365D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EDEA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2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紹介会社に依存（累計）</c:v>
                </c:pt>
              </c:strCache>
            </c:strRef>
          </c:tx>
          <c:spPr>
            <a:solidFill>
              <a:srgbClr val="E07A5F"/>
            </a:solidFill>
            <a:ln w="38100" cap="flat">
              <a:solidFill>
                <a:srgbClr val="E07A5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07A5F"/>
              </a:solidFill>
              <a:ln w="9525" cap="flat">
                <a:solidFill>
                  <a:srgbClr val="E07A5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1人</c:v>
                  </c:pt>
                  <c:pt idx="1">
                    <c:v>2人</c:v>
                  </c:pt>
                  <c:pt idx="2">
                    <c:v>3人</c:v>
                  </c:pt>
                  <c:pt idx="3">
                    <c:v>4人</c:v>
                  </c:pt>
                  <c:pt idx="4">
                    <c:v>5人</c:v>
                  </c:pt>
                  <c:pt idx="5">
                    <c:v>6人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180</c:v>
                </c:pt>
                <c:pt idx="2">
                  <c:v>270</c:v>
                </c:pt>
                <c:pt idx="3">
                  <c:v>360</c:v>
                </c:pt>
                <c:pt idx="4">
                  <c:v>450</c:v>
                </c:pt>
                <c:pt idx="5">
                  <c:v>540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自社採用を内製（累計）</c:v>
                </c:pt>
              </c:strCache>
            </c:strRef>
          </c:tx>
          <c:spPr>
            <a:solidFill>
              <a:srgbClr val="1B365D"/>
            </a:solidFill>
            <a:ln w="38100" cap="flat">
              <a:solidFill>
                <a:srgbClr val="1B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365D"/>
              </a:solidFill>
              <a:ln w="9525" cap="flat">
                <a:solidFill>
                  <a:srgbClr val="1B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1人</c:v>
                  </c:pt>
                  <c:pt idx="1">
                    <c:v>2人</c:v>
                  </c:pt>
                  <c:pt idx="2">
                    <c:v>3人</c:v>
                  </c:pt>
                  <c:pt idx="3">
                    <c:v>4人</c:v>
                  </c:pt>
                  <c:pt idx="4">
                    <c:v>5人</c:v>
                  </c:pt>
                  <c:pt idx="5">
                    <c:v>6人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60</c:v>
                </c:pt>
                <c:pt idx="1">
                  <c:v>72</c:v>
                </c:pt>
                <c:pt idx="2">
                  <c:v>84</c:v>
                </c:pt>
                <c:pt idx="3">
                  <c:v>96</c:v>
                </c:pt>
                <c:pt idx="4">
                  <c:v>108</c:v>
                </c:pt>
                <c:pt idx="5">
                  <c:v>120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365D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12700" cap="flat">
              <a:solidFill>
                <a:srgbClr val="EDEA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672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3D405B"/>
              </a:solidFill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本講座は「求めるケアスタッフを集める0円採用術」の提案内容を、実行できる教材の形に詳細化したものです。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ゴール像を先に共有する。数字は「置き換えの余地がこれだけある」ことを示すための目安。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6モジュールの地図。MODULE 0 の現状把握を飛ばすと、改善の効果が測れなくなる。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構造的課題は「部分最適の作業化」。ここを共通認識にしてからファネルの話に入る。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最初の宿題。この4つの数字が、以降すべてのモジュールの評価基準になる。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ファネルは提案書の中心概念。各段階の心理と打ち手をセットで覚えてもらう。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AIの役割分担を明確にする。生成物は必ず現場確認を通す。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診断シート。症状から段階を逆引きできるようにしてある。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Engageは無料の自社採用ツール。0円の意味を正確に伝えることで、期待値のずれを防ぐ。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損益分岐は概ね2人目。ここを見せると経営判断が早くなる。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6ブロックは提案書の中核。順番そのものが設計であることを強調する。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プロンプトの型は5要素。制約条件を必ず入れることで、誇張表現とハルシネーションを抑える。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共感パートの材料集め。実データ（退職面談メモ）を起点にするのが精度の決め手。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体験会の時間配分は目安。作り込まないことが最大のポイント。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動画は最も費用対効果が高い素材。作り込まず、字幕を必ず付ける。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運用が続くかどうかは会議の短さで決まる。15分・1か所主義。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AI活用の全体像。個人情報の取り扱いは必ず釘を刺す。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最後は必ず「明日やる3つ」まで落とす。ここまで具体化しないと動き出さない。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754880"/>
            <a:ext cx="2743200" cy="2743200"/>
          </a:xfrm>
          <a:prstGeom prst="ellipse">
            <a:avLst/>
          </a:prstGeom>
          <a:solidFill>
            <a:srgbClr val="E07A5F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05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AI採用アドバンス講座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9326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求めるケアスタッフを集める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「0円採用」の設計図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介護・福祉事業のための 自社採用 内製化プログラム ／ 全 6 モジュール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800600"/>
            <a:ext cx="2487168" cy="822960"/>
          </a:xfrm>
          <a:prstGeom prst="roundRect">
            <a:avLst>
              <a:gd name="adj" fmla="val 13333"/>
            </a:avLst>
          </a:prstGeom>
          <a:solidFill>
            <a:srgbClr val="1B365D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8006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紹介手数料を ゼロ に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84448" y="4800600"/>
            <a:ext cx="2487168" cy="822960"/>
          </a:xfrm>
          <a:prstGeom prst="roundRect">
            <a:avLst>
              <a:gd name="adj" fmla="val 13333"/>
            </a:avLst>
          </a:prstGeom>
          <a:solidFill>
            <a:srgbClr val="1B365D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48006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採用ファネル 4 段階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345936" y="4800600"/>
            <a:ext cx="2487168" cy="822960"/>
          </a:xfrm>
          <a:prstGeom prst="roundRect">
            <a:avLst>
              <a:gd name="adj" fmla="val 13333"/>
            </a:avLst>
          </a:prstGeom>
          <a:solidFill>
            <a:srgbClr val="1B365D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7376" y="48006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で原稿と分析を代行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07424" y="4800600"/>
            <a:ext cx="2487168" cy="822960"/>
          </a:xfrm>
          <a:prstGeom prst="roundRect">
            <a:avLst>
              <a:gd name="adj" fmla="val 13333"/>
            </a:avLst>
          </a:prstGeom>
          <a:solidFill>
            <a:srgbClr val="1B365D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98864" y="4800600"/>
            <a:ext cx="2304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 日で仕組み化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897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株式会社ヤマシタ 御中 ／ 2026年8月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この講座を終えたとき、何が変わるか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「採用がうまい会社」ではなく「採用が仕組みになっている会社」になる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120640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BEFORE ｜ いまの採用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・求人を出して、応募が来るのを待つ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・足りなければ紹介会社に依頼する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・1 人採るたびに手数料が飛んでいく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・うまくいった理由が誰にも説明できない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・担当者が辞めると、やり方ごと消える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120640" cy="2788920"/>
          </a:xfrm>
          <a:prstGeom prst="roundRect">
            <a:avLst>
              <a:gd name="adj" fmla="val 1967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AFTER ｜ 講座を終えたあと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20840" y="219456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・求職者の心理段階ごとに打ち手を持っている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・自社の採用ページに応募が入ってくる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・掲載料 0 円のツールで露出が回り続ける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・原稿づくりと数値集計を AI が代行する</a:t>
            </a:r>
            <a:endParaRPr lang="en-US" sz="12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・仕組みが会社の資産として残る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79592" y="2743200"/>
            <a:ext cx="457200" cy="502920"/>
          </a:xfrm>
          <a:prstGeom prst="rightArrow">
            <a:avLst/>
          </a:prstGeom>
          <a:solidFill>
            <a:srgbClr val="E07A5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572000"/>
            <a:ext cx="3352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4681728"/>
            <a:ext cx="2840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20〜30%</a:t>
            </a:r>
            <a:pPr indent="0" marL="0">
              <a:buNone/>
            </a:pPr>
            <a:r>
              <a:rPr lang="en-US" sz="10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が手数料の相場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96112" y="5193792"/>
            <a:ext cx="2840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介護職の年収 300〜400 万円なら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人あたり 60〜120 万円。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04360" y="4572000"/>
            <a:ext cx="3352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0392" y="4681728"/>
            <a:ext cx="2840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</a:t>
            </a:r>
            <a:pPr indent="0" marL="0">
              <a:buNone/>
            </a:pPr>
            <a:r>
              <a:rPr lang="en-US" sz="10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が掲載料の目安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60392" y="5193792"/>
            <a:ext cx="2840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Engage → Indeed・Google しごと検索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への掲載は無料枠で回せます。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68640" y="4572000"/>
            <a:ext cx="33528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24672" y="4681728"/>
            <a:ext cx="2840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4段階</a:t>
            </a:r>
            <a:pPr indent="0" marL="0">
              <a:buNone/>
            </a:pPr>
            <a:r>
              <a:rPr lang="en-US" sz="10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で求職者は動く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424672" y="5193792"/>
            <a:ext cx="2840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認知 → 比較 → 行動 → 確信。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どこで止まるかを特定します。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金額は業界一般の相場からの試算例です。実際の単価は職種・地域・契約条件で変わります。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カリキュラム全体像 ｜ 全 6 モジュール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上から順に進めます。1 つ飛ばすと、次のモジュールが機能しません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3413760" cy="1828800"/>
          </a:xfrm>
          <a:prstGeom prst="roundRect">
            <a:avLst>
              <a:gd name="adj" fmla="val 3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32688" y="1892808"/>
            <a:ext cx="282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32688" y="2212848"/>
            <a:ext cx="2828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現状把握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32688" y="2688336"/>
            <a:ext cx="2828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いまの採用単価と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ボトルネックを数字にする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73880" y="1664208"/>
            <a:ext cx="3413760" cy="1828800"/>
          </a:xfrm>
          <a:prstGeom prst="roundRect">
            <a:avLst>
              <a:gd name="adj" fmla="val 3000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6488" y="1892808"/>
            <a:ext cx="282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666488" y="2212848"/>
            <a:ext cx="2828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ファネル設計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66488" y="2688336"/>
            <a:ext cx="2828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認知・比較・行動・確信の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段階に打ち手を割り当てる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7680" y="1664208"/>
            <a:ext cx="3413760" cy="1828800"/>
          </a:xfrm>
          <a:prstGeom prst="roundRect">
            <a:avLst>
              <a:gd name="adj" fmla="val 3000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00288" y="1892808"/>
            <a:ext cx="282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400288" y="2212848"/>
            <a:ext cx="2828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0円採用の土台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00288" y="2688336"/>
            <a:ext cx="2828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Engage を軸に、掲載料 0 円の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露出経路を組み立てる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3413760" cy="1828800"/>
          </a:xfrm>
          <a:prstGeom prst="roundRect">
            <a:avLst>
              <a:gd name="adj" fmla="val 3000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977640"/>
            <a:ext cx="282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2688" y="4297680"/>
            <a:ext cx="2828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採用ページとAI原稿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32688" y="4773168"/>
            <a:ext cx="2828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鉄板の 6 ブロック構成を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と一緒に書き上げる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73880" y="3749040"/>
            <a:ext cx="3413760" cy="1828800"/>
          </a:xfrm>
          <a:prstGeom prst="roundRect">
            <a:avLst>
              <a:gd name="adj" fmla="val 3000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6488" y="3977640"/>
            <a:ext cx="282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4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666488" y="4297680"/>
            <a:ext cx="2828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体験型選考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6488" y="4773168"/>
            <a:ext cx="2828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職場体験会で不安を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「ここで働きたい」に変える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07680" y="3749040"/>
            <a:ext cx="3413760" cy="1828800"/>
          </a:xfrm>
          <a:prstGeom prst="roundRect">
            <a:avLst>
              <a:gd name="adj" fmla="val 3000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00288" y="3977640"/>
            <a:ext cx="2828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5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400288" y="4297680"/>
            <a:ext cx="2828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数値運用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400288" y="4773168"/>
            <a:ext cx="2828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毎週 15 分の会議で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か所ずつ直し続ける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760720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DFF0ED"/>
          </a:solidFill>
          <a:ln w="12700">
            <a:solidFill>
              <a:srgbClr val="2A9D8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961888"/>
            <a:ext cx="329184" cy="329184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353312" y="5760720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はどこで使う？  </a:t>
            </a:r>
            <a:pPr indent="0" marL="0">
              <a:buNone/>
            </a:pPr>
            <a:r>
              <a:rPr lang="en-US" sz="12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3 の原稿づくりと MODULE 5 の数値集計が中心。AI は「書く・数える」を代行し、決めるのは人が担当します。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なぜ、いままでのやり方が効かなくなったのか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介護業界は「求人を出せば応募が来る」時代から完全に抜けています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19072"/>
            <a:ext cx="335280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1956816"/>
            <a:ext cx="731520" cy="731520"/>
          </a:xfrm>
          <a:prstGeom prst="ellipse">
            <a:avLst/>
          </a:prstGeom>
          <a:solidFill>
            <a:srgbClr val="F9E5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" y="2144268"/>
            <a:ext cx="374904" cy="3749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2798064"/>
            <a:ext cx="271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コストだけが膨らむ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60120" y="3511296"/>
            <a:ext cx="271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求人サイトへの出稿だけでは応募に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至らない。SNS 広告のクリック課金、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Indeed 運用費、紹介手数料が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積み上がっても成果が伴わない。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04360" y="1719072"/>
            <a:ext cx="335280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24400" y="1956816"/>
            <a:ext cx="731520" cy="731520"/>
          </a:xfrm>
          <a:prstGeom prst="ellipse">
            <a:avLst/>
          </a:prstGeom>
          <a:solidFill>
            <a:srgbClr val="F9E5D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852" y="2144268"/>
            <a:ext cx="374904" cy="37490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24400" y="2798064"/>
            <a:ext cx="271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超売手市場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724400" y="3511296"/>
            <a:ext cx="271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求人倍率が高騰し、求職者が複数の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施設を並べて比べるのが当たり前に。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「選ぶ側」から「選ばれる側」へ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立場が入れ替わっています。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68640" y="1719072"/>
            <a:ext cx="335280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88680" y="1956816"/>
            <a:ext cx="731520" cy="731520"/>
          </a:xfrm>
          <a:prstGeom prst="ellipse">
            <a:avLst/>
          </a:prstGeom>
          <a:solidFill>
            <a:srgbClr val="F9E5D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132" y="2144268"/>
            <a:ext cx="374904" cy="3749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88680" y="2798064"/>
            <a:ext cx="271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採用が「作業」になっている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488680" y="3511296"/>
            <a:ext cx="271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求人票を出す・広告を打つという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部分的な作業と捉えているため、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心理の変化と比較検討の流れを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全体として設計できていない。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40080" y="5074920"/>
            <a:ext cx="10881360" cy="868680"/>
          </a:xfrm>
          <a:prstGeom prst="roundRect">
            <a:avLst>
              <a:gd name="adj" fmla="val 6316"/>
            </a:avLst>
          </a:prstGeom>
          <a:solidFill>
            <a:srgbClr val="1B365D"/>
          </a:solidFill>
          <a:ln/>
        </p:spPr>
      </p:sp>
      <p:sp>
        <p:nvSpPr>
          <p:cNvPr id="22" name="Text 17"/>
          <p:cNvSpPr/>
          <p:nvPr/>
        </p:nvSpPr>
        <p:spPr>
          <a:xfrm>
            <a:off x="1005840" y="507492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3 つは別々の問題ではありません。「全体を設計していない」という 1 つの原因から出ています。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0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ワーク①：自社の採用単価を数字にする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改善の効果は、はじめの数字がないと測れません（1 人あたり・万円）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309360" cy="3703320"/>
          </a:xfrm>
          <a:prstGeom prst="roundRect">
            <a:avLst>
              <a:gd name="adj" fmla="val 1481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77240" y="1920240"/>
          <a:ext cx="60350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22376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4 つを埋めるだけ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223760" y="2240280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52360" y="23134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直近 1 年の採用人数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452360" y="25694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常勤・非常勤を分けて数える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223760" y="2990088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52360" y="3063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かかった費用の合計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52360" y="33192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手数料・広告費・媒体費をすべて足す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23760" y="3739896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38130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② ÷ ① ＝ 採用単価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52360" y="406908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これが今の「1 人いくら」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223760" y="4489704"/>
            <a:ext cx="4297680" cy="640080"/>
          </a:xfrm>
          <a:prstGeom prst="roundRect">
            <a:avLst>
              <a:gd name="adj" fmla="val 714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52360" y="45628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定着した人数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7452360" y="48188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半年後に残っている人数も出す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223760" y="52578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まで出すのが肝心です。安く採っても半年で辞めるなら、単価は倍になっているのと同じです。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グラフは相場からの試算例。自社の実数に置き換えて使ってください。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採用ファネル ｜ 求職者が動く 4 つの段階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採用活動はマーケティングと同じ構造。段階ごとに、かける手が違います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6766560" cy="786384"/>
          </a:xfrm>
          <a:prstGeom prst="roundRect">
            <a:avLst>
              <a:gd name="adj" fmla="val 5814"/>
            </a:avLst>
          </a:prstGeom>
          <a:solidFill>
            <a:srgbClr val="1B365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48256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28800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認知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606040" y="1828800"/>
            <a:ext cx="4800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「こんな施設があるんだ」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371600" y="2761488"/>
            <a:ext cx="5669280" cy="786384"/>
          </a:xfrm>
          <a:prstGeom prst="roundRect">
            <a:avLst>
              <a:gd name="adj" fmla="val 5814"/>
            </a:avLst>
          </a:prstGeom>
          <a:solidFill>
            <a:srgbClr val="2C4E7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98094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03120" y="2761488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比較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154680" y="2761488"/>
            <a:ext cx="3703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「どうしてここなんだろう」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1920240" y="3694176"/>
            <a:ext cx="4572000" cy="786384"/>
          </a:xfrm>
          <a:prstGeom prst="roundRect">
            <a:avLst>
              <a:gd name="adj" fmla="val 5814"/>
            </a:avLst>
          </a:prstGeom>
          <a:solidFill>
            <a:srgbClr val="4A6B9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913632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51760" y="3694176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行動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3703320" y="3694176"/>
            <a:ext cx="2606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「応募しても大丈夫そう」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468880" y="4626864"/>
            <a:ext cx="3474720" cy="786384"/>
          </a:xfrm>
          <a:prstGeom prst="roundRect">
            <a:avLst>
              <a:gd name="adj" fmla="val 5814"/>
            </a:avLst>
          </a:prstGeom>
          <a:solidFill>
            <a:srgbClr val="E07A5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4846320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200400" y="4626864"/>
            <a:ext cx="1051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確信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4251960" y="4626864"/>
            <a:ext cx="1508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「ここで働きたい」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412480" y="1828800"/>
            <a:ext cx="3108960" cy="35661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868680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企業側がやること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2505456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015984" y="246888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まず知ってもらう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（検索上位表示・SNS 発信）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0" y="328269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015984" y="324612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理念と現場の魅力を伝え、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選ばれる理由をつくる</a:t>
            </a:r>
            <a:endParaRPr lang="en-US" sz="11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4059936"/>
            <a:ext cx="237744" cy="23774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9015984" y="402336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応募しやすい導線をつくる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（入力と不安の壁を外す）</a:t>
            </a:r>
            <a:endParaRPr lang="en-US" sz="11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0" y="4837176"/>
            <a:ext cx="237744" cy="23774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9015984" y="480060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見学・体験で不安を解消し、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確信に変える</a:t>
            </a:r>
            <a:endParaRPr lang="en-US" sz="1100" dirty="0"/>
          </a:p>
        </p:txBody>
      </p:sp>
      <p:sp>
        <p:nvSpPr>
          <p:cNvPr id="32" name="Shape 22"/>
          <p:cNvSpPr/>
          <p:nvPr/>
        </p:nvSpPr>
        <p:spPr>
          <a:xfrm>
            <a:off x="640080" y="5623560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DFF0ED"/>
          </a:solidFill>
          <a:ln w="12700">
            <a:solidFill>
              <a:srgbClr val="2A9D8F"/>
            </a:solidFill>
            <a:prstDash val="solid"/>
          </a:ln>
        </p:spPr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112" y="5824728"/>
            <a:ext cx="329184" cy="329184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1353312" y="5623560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ここが要点  </a:t>
            </a:r>
            <a:pPr indent="0" marL="0">
              <a:buNone/>
            </a:pPr>
            <a:r>
              <a:rPr lang="en-US" sz="12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段階を飛ばして「④ 確信」だけ強化しても効きません。止まっている段階を特定してから手を打ちます。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段階別 ｜ やること × AI の使いどころ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は「書く・調べる・数える」を担当。判断と現場対応は人が担当します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881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331720"/>
                <a:gridCol w="3291840"/>
                <a:gridCol w="420624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段階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求職者の心理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企業がやること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 にやらせること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 認知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「こんな施設があるんだ」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検索で見つかる状態をつくる。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SNS で現場を発信する。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求人検索で使われる言葉の洗い出し、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SNS 投稿案を 10 本まとめて生成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 比較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「どうしてここなんだろう」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理念・現場の魅力を言語化し、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他施設との違いを示す。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近隣施設の求人文を並べ、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自社にしかない要素を抽出させる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行動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「応募しても大丈夫そう」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応募フォームを短くし、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不安に先回りして答える。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応募をためらう理由を 20 個出させ、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FAQ の下書きを作る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 確信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「ここで働きたい」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職場体験会で空気感を体感してもらう。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体験会の当日台本と、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面談で聞く質問リストを作る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440680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DFF0ED"/>
          </a:solidFill>
          <a:ln w="12700">
            <a:solidFill>
              <a:srgbClr val="2A9D8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4184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53312" y="5440680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に丸投げしない  </a:t>
            </a:r>
            <a:pPr indent="0" marL="0">
              <a:buNone/>
            </a:pPr>
            <a:r>
              <a:rPr lang="en-US" sz="12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が出した文章は「たたき台」です。現場の言葉に直し、事実確認をしてから公開してください。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ワーク②：どこで止まっているかを特定する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人数ではなく「率」で見ます。落ちている 1 か所だけを直します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48031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1901952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①→②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2176272"/>
            <a:ext cx="20779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閲覧率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542032"/>
            <a:ext cx="20779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求人が表示された回数のうち、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クリックされた割合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40430" y="1783080"/>
            <a:ext cx="248031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41598" y="1901952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②→③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41598" y="2176272"/>
            <a:ext cx="20779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41598" y="2542032"/>
            <a:ext cx="20779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ページを見た人のうち、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応募まで進んだ割合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40780" y="1783080"/>
            <a:ext cx="248031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1948" y="1901952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③→④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41948" y="2176272"/>
            <a:ext cx="20779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参加率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1948" y="2542032"/>
            <a:ext cx="20779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応募者のうち、見学・体験会に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来てくれた割合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041130" y="1783080"/>
            <a:ext cx="248031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242298" y="1901952"/>
            <a:ext cx="20779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④→入社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42298" y="2176272"/>
            <a:ext cx="20779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承諾率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42298" y="2542032"/>
            <a:ext cx="20779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内定を出した人のうち、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承諾してくれた割合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37560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47548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こんな症状が出ていたら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止まっている段階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まず直すところ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求人がそもそも表示されない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 認知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職種名・勤務地の書き方、掲載チャネルの数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見られてはいるが応募が来ない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 比較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キャッチコピーと「選ばれる理由」の中身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応募フォームの途中で離脱する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行動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入力項目の数、応募後の流れの説明不足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面接には来るが辞退される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④ 確信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職場体験の有無、待遇の伝え方、返信の速さ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同時に 2 か所以上を変えると、何が効いたのか分からなくなります。1 週間に 1 か所が原則です。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0円採用の土台 ｜ Engage を軸に露出を回す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自社で 1 つ求人をつくれば、主要な求人検索エンジンに無料で流れていきます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017520" cy="2011680"/>
          </a:xfrm>
          <a:prstGeom prst="roundRect">
            <a:avLst>
              <a:gd name="adj" fmla="val 2727"/>
            </a:avLst>
          </a:prstGeom>
          <a:solidFill>
            <a:srgbClr val="1B365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48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自社採用ページ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514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Engage（エンゲージ）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9260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求人票の作成・最適化</a:t>
            </a:r>
            <a:endParaRPr lang="en-US" sz="11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応募者管理まで無料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40480" y="2788920"/>
            <a:ext cx="594360" cy="502920"/>
          </a:xfrm>
          <a:prstGeom prst="rightArrow">
            <a:avLst/>
          </a:prstGeom>
          <a:solidFill>
            <a:srgbClr val="E07A5F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1920240"/>
            <a:ext cx="3200400" cy="585216"/>
          </a:xfrm>
          <a:prstGeom prst="roundRect">
            <a:avLst>
              <a:gd name="adj" fmla="val 7813"/>
            </a:avLst>
          </a:prstGeom>
          <a:solidFill>
            <a:srgbClr val="F7F5EF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Indeed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00600" y="222199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国内最大の求人検索エンジン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2633472"/>
            <a:ext cx="3200400" cy="585216"/>
          </a:xfrm>
          <a:prstGeom prst="roundRect">
            <a:avLst>
              <a:gd name="adj" fmla="val 7813"/>
            </a:avLst>
          </a:prstGeom>
          <a:solidFill>
            <a:srgbClr val="F7F5EF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6791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しごと検索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00600" y="293522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検索結果の上部に表示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17720" y="3346704"/>
            <a:ext cx="3200400" cy="585216"/>
          </a:xfrm>
          <a:prstGeom prst="roundRect">
            <a:avLst>
              <a:gd name="adj" fmla="val 7813"/>
            </a:avLst>
          </a:prstGeom>
          <a:solidFill>
            <a:srgbClr val="F7F5EF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33924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求人ボックス 他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6484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主要アグリゲータに連携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955280" y="2788920"/>
            <a:ext cx="594360" cy="502920"/>
          </a:xfrm>
          <a:prstGeom prst="rightArrow">
            <a:avLst/>
          </a:prstGeom>
          <a:solidFill>
            <a:srgbClr val="E07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8732520" y="192024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F9E5DC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15400" y="228600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求職者の目に</a:t>
            </a:r>
            <a:endParaRPr lang="en-US" sz="17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触れる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915400" y="3063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掲載料 0 円のまま</a:t>
            </a:r>
            <a:endParaRPr lang="en-US" sz="11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露出が積み上がる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40080" y="4160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求人票に必ず入れる 3 つ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4590288"/>
            <a:ext cx="3413760" cy="868680"/>
          </a:xfrm>
          <a:prstGeom prst="roundRect">
            <a:avLst>
              <a:gd name="adj" fmla="val 526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791456"/>
            <a:ext cx="237744" cy="237744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188720" y="4663440"/>
            <a:ext cx="2636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理念・ミッション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88720" y="4956048"/>
            <a:ext cx="263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何のためにこの仕事をしているのか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373880" y="4590288"/>
            <a:ext cx="3413760" cy="868680"/>
          </a:xfrm>
          <a:prstGeom prst="roundRect">
            <a:avLst>
              <a:gd name="adj" fmla="val 526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4791456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4922520" y="4663440"/>
            <a:ext cx="2636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他施設との違い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4922520" y="4956048"/>
            <a:ext cx="263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同じ地域の求人と何が違うのか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8107680" y="4590288"/>
            <a:ext cx="3413760" cy="868680"/>
          </a:xfrm>
          <a:prstGeom prst="roundRect">
            <a:avLst>
              <a:gd name="adj" fmla="val 526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6280" y="4791456"/>
            <a:ext cx="237744" cy="237744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656320" y="4663440"/>
            <a:ext cx="2636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働く環境の具体</a:t>
            </a:r>
            <a:endParaRPr lang="en-US" sz="1300" dirty="0"/>
          </a:p>
        </p:txBody>
      </p:sp>
      <p:sp>
        <p:nvSpPr>
          <p:cNvPr id="36" name="Text 31"/>
          <p:cNvSpPr/>
          <p:nvPr/>
        </p:nvSpPr>
        <p:spPr>
          <a:xfrm>
            <a:off x="8656320" y="4956048"/>
            <a:ext cx="2636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体制・シフト・研修・休日の実態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※「0円」は掲載料が 0 円という意味です。求人票を書き、写真を撮り、応募に対応する自社の工数は必ずかかります。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採用を「コスト」から「資産」に変える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紹介会社は採るたびに払う。自社の仕組みは、つくれば残り続けます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30936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77240" y="1965960"/>
          <a:ext cx="60350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1828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累計採用コストの推移（万円・試算例）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783080"/>
          <a:ext cx="42976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783080"/>
                <a:gridCol w="1463040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観点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紹介会社に依存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自社で内製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費用の型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変動費（採るたび）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365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固定費に近い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人数が増えると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比例して増える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365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 人あたりが下がる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社内に残るもの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何も残らない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365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求人票・ページ・型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立ち上げの速さ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速い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 か月ほどかかる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向いている場面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急な欠員・専門職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計画的な採用の主軸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223760" y="4754880"/>
            <a:ext cx="4297680" cy="777240"/>
          </a:xfrm>
          <a:prstGeom prst="roundRect">
            <a:avLst>
              <a:gd name="adj" fmla="val 7059"/>
            </a:avLst>
          </a:prstGeom>
          <a:solidFill>
            <a:srgbClr val="1B365D"/>
          </a:solidFill>
          <a:ln/>
        </p:spPr>
      </p:sp>
      <p:sp>
        <p:nvSpPr>
          <p:cNvPr id="11" name="Text 7"/>
          <p:cNvSpPr/>
          <p:nvPr/>
        </p:nvSpPr>
        <p:spPr>
          <a:xfrm>
            <a:off x="7424928" y="4754880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紹介会社をゼロにする必要はありません。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主軸を内製に移し、紹介は緊急時の保険にします。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内製側の初期 60 万円は、ページ制作・写真・動画・初期工数を含む試算例です。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採用ページの鉄板構成 ｜ 6 ブロック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告知の場ではなく、上から順に読ませる 1 本のストーリーとして組みます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234940" cy="1170432"/>
          </a:xfrm>
          <a:prstGeom prst="roundRect">
            <a:avLst>
              <a:gd name="adj" fmla="val 3906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084832"/>
            <a:ext cx="502920" cy="50292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993392"/>
            <a:ext cx="4046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メインパネル（キャッチコピー）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331720"/>
            <a:ext cx="40462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ターゲットが今かかえている状況と本音を言語化し、「これは自分向けの求人だ」と気づかせる。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828800"/>
            <a:ext cx="5234940" cy="1170432"/>
          </a:xfrm>
          <a:prstGeom prst="roundRect">
            <a:avLst>
              <a:gd name="adj" fmla="val 3906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2532" y="2084832"/>
            <a:ext cx="502920" cy="50292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13" name="Text 11"/>
          <p:cNvSpPr/>
          <p:nvPr/>
        </p:nvSpPr>
        <p:spPr>
          <a:xfrm>
            <a:off x="6542532" y="2084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00900" y="1993392"/>
            <a:ext cx="4046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悩みへの共感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00900" y="2331720"/>
            <a:ext cx="40462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「毎日記録に追われている」「今の職場ではスキルが活かせない」など、不満をこちらから言葉にする。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255264"/>
            <a:ext cx="5234940" cy="1170432"/>
          </a:xfrm>
          <a:prstGeom prst="roundRect">
            <a:avLst>
              <a:gd name="adj" fmla="val 3906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3511296"/>
            <a:ext cx="502920" cy="50292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54480" y="3419856"/>
            <a:ext cx="4046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本当の原因と解決策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554480" y="3758184"/>
            <a:ext cx="40462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なぜその悩みが起きるのか（雑務の多さ・担当業務の広さ）を明かし、自社での解決策を具体的に示す。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255264"/>
            <a:ext cx="5234940" cy="1170432"/>
          </a:xfrm>
          <a:prstGeom prst="roundRect">
            <a:avLst>
              <a:gd name="adj" fmla="val 3906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2532" y="3511296"/>
            <a:ext cx="502920" cy="50292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6542532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200900" y="3419856"/>
            <a:ext cx="4046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どんなふうに働けるか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200900" y="3758184"/>
            <a:ext cx="40462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日のスケジュール、研修制度、キャリアの道すじを見せ、入社後の姿を想像できるようにする。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4681728"/>
            <a:ext cx="5234940" cy="1170432"/>
          </a:xfrm>
          <a:prstGeom prst="roundRect">
            <a:avLst>
              <a:gd name="adj" fmla="val 3906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6112" y="4937760"/>
            <a:ext cx="502920" cy="50292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554480" y="4846320"/>
            <a:ext cx="4046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スタッフの紹介・声（動画）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554480" y="5184648"/>
            <a:ext cx="40462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30〜40 秒のインタビュー動画。表情や声色といった、文字では伝わらない空気感を届ける。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681728"/>
            <a:ext cx="5234940" cy="1170432"/>
          </a:xfrm>
          <a:prstGeom prst="roundRect">
            <a:avLst>
              <a:gd name="adj" fmla="val 3906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42532" y="4937760"/>
            <a:ext cx="502920" cy="50292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33" name="Text 31"/>
          <p:cNvSpPr/>
          <p:nvPr/>
        </p:nvSpPr>
        <p:spPr>
          <a:xfrm>
            <a:off x="6542532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00900" y="4846320"/>
            <a:ext cx="40462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数字で見える会社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200900" y="5184648"/>
            <a:ext cx="40462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年間休日、平均年齢、勤続年数、有給取得率。客観的な数字が最後の安心材料になります。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上から 1→6 の順に並べます。順番を入れ替えると、共感が生まれる前に条件の話が始まってしまいます。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で原稿をつくる ｜ プロンプトの型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 5 つを埋めて渡すだけで、たたき台の質が大きく変わります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1051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役割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645920" y="18105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「介護業界の採用コピーライターとして」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50592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5059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前提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645920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理念・体制・シフト・研修を箇条書きで渡す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90672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9067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相手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645920" y="30906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誰に読ませたいか（例：記録に疲れた 30 代職員）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30752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3075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形式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645920" y="37307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「キャッチコピー 10 案、25 字以内」と形を指定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370832"/>
            <a:ext cx="50292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370832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制約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645920" y="43708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「誇張表現は使わない」「事実にない数字は書かない」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26480" y="1810512"/>
            <a:ext cx="5394960" cy="3127248"/>
          </a:xfrm>
          <a:prstGeom prst="roundRect">
            <a:avLst>
              <a:gd name="adj" fmla="val 1754"/>
            </a:avLst>
          </a:prstGeom>
          <a:solidFill>
            <a:srgbClr val="12253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9476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記入例（そのまま使えます）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0" y="233172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あなたは介護業界の採用コピーライターです。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【施設】訪問介護・スタッフ 28 名・年間休日 118 日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記録は音声入力に切替済み／残業は月平均 4 時間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【読み手】記録と残業に疲れた 30 代の介護福祉士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【出力】求人ページのキャッチコピーを 10 案、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各 25 字以内。悩みを言い当てる形にする。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【制約】事実にない数字は書かない。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D9E2E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「アットホーム」など曖昧な言葉は使わない。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出てきた原稿のチェック 3 点</a:t>
            </a:r>
            <a:endParaRPr lang="en-US" sz="13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0"/>
            <a:ext cx="210312" cy="21031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41832" y="5468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書かれた数字は事実か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779008"/>
            <a:ext cx="210312" cy="21031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941832" y="5760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現場の人が読んで違和感がないか</a:t>
            </a:r>
            <a:endParaRPr lang="en-US" sz="11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071616"/>
            <a:ext cx="210312" cy="21031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41832" y="60533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他施設でも成立する文章になっていないか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126480" y="5120640"/>
            <a:ext cx="5394960" cy="914400"/>
          </a:xfrm>
          <a:prstGeom prst="roundRect">
            <a:avLst>
              <a:gd name="adj" fmla="val 6000"/>
            </a:avLst>
          </a:prstGeom>
          <a:solidFill>
            <a:srgbClr val="DFF0ED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382512" y="512064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番目のチェックが最重要です。他施設に貼り替えても通る文章は、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求職者にとって「選ぶ理由」になりません。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ワーク③：ペルソナと「介護職の本音」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共感は想像では書けません。実際に出ている声を材料にします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4754880" cy="3840480"/>
          </a:xfrm>
          <a:prstGeom prst="roundRect">
            <a:avLst>
              <a:gd name="adj" fmla="val 1429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965960"/>
            <a:ext cx="4169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採用要件は 1 枚に絞る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32688" y="2423160"/>
            <a:ext cx="4169664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423160"/>
            <a:ext cx="1005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MUST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103120" y="2551176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つまで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103120" y="28437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資格・経験年数など、無いと成立しない条件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410712"/>
            <a:ext cx="4169664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10712"/>
            <a:ext cx="1005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103120" y="35387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自由に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103120" y="383133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あれば嬉しい。無くても採用する条件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" y="4398264"/>
            <a:ext cx="4169664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398264"/>
            <a:ext cx="1005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103120" y="452628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つまで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103120" y="481888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これがあったら見送る、と決めておく条件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" y="5257800"/>
            <a:ext cx="4169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MUST を 3 つに絞るほど、会える人は増えます。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52160" y="19659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転職を考える介護職の「本音」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852160" y="2395728"/>
            <a:ext cx="5669280" cy="576072"/>
          </a:xfrm>
          <a:prstGeom prst="roundRect">
            <a:avLst>
              <a:gd name="adj" fmla="val 7937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2432304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「記録と事務に追われて、利用者と向き合う時間がない」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053328" y="2697480"/>
            <a:ext cx="5266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記録の効率化・間接業務の削減を示す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3063240"/>
            <a:ext cx="5669280" cy="576072"/>
          </a:xfrm>
          <a:prstGeom prst="roundRect">
            <a:avLst>
              <a:gd name="adj" fmla="val 7937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53328" y="30998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「人間関係が読めない。入ってみないと分からない」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053328" y="3364992"/>
            <a:ext cx="5266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職場体験会とスタッフ動画で先に見せる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852160" y="3730752"/>
            <a:ext cx="5669280" cy="576072"/>
          </a:xfrm>
          <a:prstGeom prst="roundRect">
            <a:avLst>
              <a:gd name="adj" fmla="val 7937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53328" y="3767328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「シフトが急に変わる。休みの予定が立てられない」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053328" y="4032504"/>
            <a:ext cx="5266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シフトの決め方と年間休日を数字で示す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852160" y="4398264"/>
            <a:ext cx="5669280" cy="576072"/>
          </a:xfrm>
          <a:prstGeom prst="roundRect">
            <a:avLst>
              <a:gd name="adj" fmla="val 7937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3328" y="4434840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「がんばっても評価されない。給与が上がらない」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053328" y="4700016"/>
            <a:ext cx="5266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評価基準とキャリアの道すじを明記する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5065776"/>
            <a:ext cx="5669280" cy="576072"/>
          </a:xfrm>
          <a:prstGeom prst="roundRect">
            <a:avLst>
              <a:gd name="adj" fmla="val 7937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53328" y="510235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「自分のスキルがこの職場では活かせていない」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053328" y="5367528"/>
            <a:ext cx="5266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任せたい役割を具体的に書く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本音は自社の退職面談・面接メモから集めるのが最も正確です。AI には整理と分類をさせます。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体験型選考 ｜ 職場体験会のつくり方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求職者の最大の不安は「入ってみないと分からない」。それを先に解消します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993392" cy="233172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1965960"/>
            <a:ext cx="1591056" cy="310896"/>
          </a:xfrm>
          <a:prstGeom prst="roundRect">
            <a:avLst>
              <a:gd name="adj" fmla="val 14706"/>
            </a:avLst>
          </a:prstGeom>
          <a:solidFill>
            <a:srgbClr val="1B365D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96596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出迎え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2761488"/>
            <a:ext cx="1591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採用担当だけでなく、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一緒に働く現場スタッフが出迎える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62072" y="1783080"/>
            <a:ext cx="1993392" cy="233172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63240" y="1965960"/>
            <a:ext cx="1591056" cy="310896"/>
          </a:xfrm>
          <a:prstGeom prst="roundRect">
            <a:avLst>
              <a:gd name="adj" fmla="val 14706"/>
            </a:avLst>
          </a:prstGeom>
          <a:solidFill>
            <a:srgbClr val="1B365D"/>
          </a:solidFill>
          <a:ln/>
        </p:spPr>
      </p:sp>
      <p:sp>
        <p:nvSpPr>
          <p:cNvPr id="13" name="Text 11"/>
          <p:cNvSpPr/>
          <p:nvPr/>
        </p:nvSpPr>
        <p:spPr>
          <a:xfrm>
            <a:off x="3063240" y="196596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63240" y="2359152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現場を歩く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63240" y="2761488"/>
            <a:ext cx="1591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挨拶、笑顔、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利用者との関わり。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作り込まない普段の姿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84064" y="1783080"/>
            <a:ext cx="1993392" cy="233172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85232" y="1965960"/>
            <a:ext cx="1591056" cy="310896"/>
          </a:xfrm>
          <a:prstGeom prst="roundRect">
            <a:avLst>
              <a:gd name="adj" fmla="val 14706"/>
            </a:avLst>
          </a:prstGeom>
          <a:solidFill>
            <a:srgbClr val="1B365D"/>
          </a:solidFill>
          <a:ln/>
        </p:spPr>
      </p:sp>
      <p:sp>
        <p:nvSpPr>
          <p:cNvPr id="18" name="Text 16"/>
          <p:cNvSpPr/>
          <p:nvPr/>
        </p:nvSpPr>
        <p:spPr>
          <a:xfrm>
            <a:off x="5285232" y="196596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40分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285232" y="2359152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体験・同行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85232" y="2761488"/>
            <a:ext cx="1591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実際の業務を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一部体験してもらう。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記録画面も触る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06056" y="1783080"/>
            <a:ext cx="1993392" cy="233172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507224" y="1965960"/>
            <a:ext cx="1591056" cy="310896"/>
          </a:xfrm>
          <a:prstGeom prst="roundRect">
            <a:avLst>
              <a:gd name="adj" fmla="val 14706"/>
            </a:avLst>
          </a:prstGeom>
          <a:solidFill>
            <a:srgbClr val="1B365D"/>
          </a:solidFill>
          <a:ln/>
        </p:spPr>
      </p:sp>
      <p:sp>
        <p:nvSpPr>
          <p:cNvPr id="23" name="Text 21"/>
          <p:cNvSpPr/>
          <p:nvPr/>
        </p:nvSpPr>
        <p:spPr>
          <a:xfrm>
            <a:off x="7507224" y="196596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30分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07224" y="2359152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本音の面談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507224" y="2761488"/>
            <a:ext cx="1591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条件の説明より、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不安の聞き取り。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その場で答える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528048" y="1783080"/>
            <a:ext cx="1993392" cy="233172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  <a:effectLst>
            <a:outerShdw sx="100000" sy="100000" kx="0" ky="0" algn="bl" rotWithShape="0" blurRad="114300" dist="25400" dir="5400000">
              <a:srgbClr val="B5B0A4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729216" y="1965960"/>
            <a:ext cx="1591056" cy="310896"/>
          </a:xfrm>
          <a:prstGeom prst="roundRect">
            <a:avLst>
              <a:gd name="adj" fmla="val 14706"/>
            </a:avLst>
          </a:prstGeom>
          <a:solidFill>
            <a:srgbClr val="E07A5F"/>
          </a:solidFill>
          <a:ln/>
        </p:spPr>
      </p:sp>
      <p:sp>
        <p:nvSpPr>
          <p:cNvPr id="28" name="Text 26"/>
          <p:cNvSpPr/>
          <p:nvPr/>
        </p:nvSpPr>
        <p:spPr>
          <a:xfrm>
            <a:off x="9729216" y="1965960"/>
            <a:ext cx="15910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729216" y="2359152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当日中に連絡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761488"/>
            <a:ext cx="15910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お礼と次の案内を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当日中に送る。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迷う間に他社が決まる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343400"/>
            <a:ext cx="5234940" cy="1417320"/>
          </a:xfrm>
          <a:prstGeom prst="roundRect">
            <a:avLst>
              <a:gd name="adj" fmla="val 3871"/>
            </a:avLst>
          </a:prstGeom>
          <a:solidFill>
            <a:srgbClr val="1B365D"/>
          </a:solidFill>
          <a:ln w="12700">
            <a:solidFill>
              <a:srgbClr val="1B365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4480560"/>
            <a:ext cx="4686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必ず見せる 3 つ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14400" y="4828032"/>
            <a:ext cx="46863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・スタッフ同士の会話（作らない、普段のまま）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・利用者との関わり方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・記録や申し送りの実際の運用画面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86500" y="4343400"/>
            <a:ext cx="52349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60820" y="4480560"/>
            <a:ext cx="46863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やってはいけない 3 つ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6560820" y="4828032"/>
            <a:ext cx="46863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・当日だけ特別にきれいにする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・採用担当が最後まで付きっきりで説明する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・条件面の話だけで時間を使い切る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体験会は「選考」ではなく「相互確認の場」と伝えると、参加のハードルが大きく下がります。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スタッフ動画 ｜ 30〜40 秒でつくる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文字では伝わらない「空気感」を運ぶ、いちばん効率のいい素材です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10512"/>
            <a:ext cx="3352800" cy="2148840"/>
          </a:xfrm>
          <a:prstGeom prst="roundRect">
            <a:avLst>
              <a:gd name="adj" fmla="val 255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" y="2029968"/>
            <a:ext cx="658368" cy="658368"/>
          </a:xfrm>
          <a:prstGeom prst="ellipse">
            <a:avLst/>
          </a:prstGeom>
          <a:solidFill>
            <a:srgbClr val="F9E5D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194560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32688" y="2788920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 1 台でいい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32688" y="3182112"/>
            <a:ext cx="2767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三脚とピンマイクだけ用意。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照明は窓際の自然光で十分です。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背景は実際の職場を写します。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04360" y="1810512"/>
            <a:ext cx="3352800" cy="2148840"/>
          </a:xfrm>
          <a:prstGeom prst="roundRect">
            <a:avLst>
              <a:gd name="adj" fmla="val 255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96968" y="2029968"/>
            <a:ext cx="658368" cy="658368"/>
          </a:xfrm>
          <a:prstGeom prst="ellipse">
            <a:avLst/>
          </a:prstGeom>
          <a:solidFill>
            <a:srgbClr val="F9E5D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60" y="219456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96968" y="2788920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台本は書かない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96968" y="3182112"/>
            <a:ext cx="2767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質問を投げて答えてもらう形式に。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言い直しはそのまま残したほうが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かえって信用されます。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168640" y="1810512"/>
            <a:ext cx="3352800" cy="2148840"/>
          </a:xfrm>
          <a:prstGeom prst="roundRect">
            <a:avLst>
              <a:gd name="adj" fmla="val 2553"/>
            </a:avLst>
          </a:prstGeom>
          <a:solidFill>
            <a:srgbClr val="F7F5EF"/>
          </a:solidFill>
          <a:ln w="12700">
            <a:solidFill>
              <a:srgbClr val="E0DED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61248" y="2029968"/>
            <a:ext cx="658368" cy="658368"/>
          </a:xfrm>
          <a:prstGeom prst="ellipse">
            <a:avLst/>
          </a:prstGeom>
          <a:solidFill>
            <a:srgbClr val="F9E5D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840" y="2194560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61248" y="2788920"/>
            <a:ext cx="2767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字幕は必ず入れる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61248" y="3182112"/>
            <a:ext cx="2767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求職者の多くは音を出さずに見ます。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字幕がないと、内容が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まったく届きません。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40080" y="41148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そのまま使える質問 5 つ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449884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Q1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1097280" y="449884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入る前に不安だったことは何でしたか？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640080" y="481888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Q2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1097280" y="481888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実際に入ってみて、その不安はどうなりましたか？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640080" y="513892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Q3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1097280" y="513892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この職場で「いいな」と思う瞬間はいつですか？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0080" y="545896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Q4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1097280" y="545896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日のうち、いちばん好きな時間は？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0080" y="5779008"/>
            <a:ext cx="411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Q5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1097280" y="577900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どんな人と一緒に働きたいですか？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949440" y="4114800"/>
            <a:ext cx="4572000" cy="1965960"/>
          </a:xfrm>
          <a:prstGeom prst="roundRect">
            <a:avLst>
              <a:gd name="adj" fmla="val 2791"/>
            </a:avLst>
          </a:prstGeom>
          <a:solidFill>
            <a:srgbClr val="DFF0ED"/>
          </a:solidFill>
          <a:ln w="12700">
            <a:solidFill>
              <a:srgbClr val="2A9D8F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0" y="4315968"/>
            <a:ext cx="292608" cy="292608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607808" y="43159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9D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編集は AI に任せる</a:t>
            </a:r>
            <a:endParaRPr lang="en-US" sz="1350" dirty="0"/>
          </a:p>
        </p:txBody>
      </p:sp>
      <p:sp>
        <p:nvSpPr>
          <p:cNvPr id="35" name="Text 29"/>
          <p:cNvSpPr/>
          <p:nvPr/>
        </p:nvSpPr>
        <p:spPr>
          <a:xfrm>
            <a:off x="7223760" y="4709160"/>
            <a:ext cx="4023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撮った動画を文字起こしする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一番いい 30〜40 秒をどこか選ばせる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字幕テキストを整える（言い間違いだけ直す）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求人ページ用の紹介文を 3 案つくらせる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1783080" cy="329184"/>
          </a:xfrm>
          <a:prstGeom prst="roundRect">
            <a:avLst>
              <a:gd name="adj" fmla="val 13889"/>
            </a:avLst>
          </a:prstGeom>
          <a:solidFill>
            <a:srgbClr val="E07A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MODULE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40080" y="76809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毎週 15 分で回す ｜ 運用ダッシュボード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316736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つくって終わりにしないための、いちばん短い会議の型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743200"/>
                <a:gridCol w="1874520"/>
                <a:gridCol w="42976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見る数字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どこで取るか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下がっていたら直すところ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求人の表示回数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Engage / Indeed の管理画面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前週比 ±20% 以内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職種名と勤務地の書き方、掲載チャネルの数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ページの閲覧数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Engage の管理画面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表示の 3〜5%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キャッチコピー（1 行目で決まります）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応募数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Engage の応募者管理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閲覧の 2〜5%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応募フォームの項目数、共感パートの中身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体験会の参加率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自社の記録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応募の 50% 以上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案内メールの文面、日程の選択肢の少なさ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内定の承諾率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自社の記録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70% 以上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返信の速さ、条件の伝え方、体験会の質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3035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B365D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530352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週次ミーティング 15 分の型　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①数字を読み上げる（3 分）→ ②いちばん落ちている 1 か所を選ぶ（2 分）→ ③その 1 か所への対策を決める（7 分）→ ④担当と期限を決める（3 分）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29107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目安の数値は一般的なレンジです。2〜3 か月運用して、自社の平常値に置き換えてください。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活用マップ ｜ どこを任せ、どこを人がやるか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 は作業を速くする道具です。判断と現場の関係づくりは人の仕事のままです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881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94760"/>
                <a:gridCol w="34290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工程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 に任せること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人がやること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時間の目安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ペルソナ設計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退職面談メモの分類・要約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どの層を狙うかの決定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 時間 → 1 時間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求人票づくり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キャッチコピー案の量産、表現の統一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事実確認、現場の言葉への修正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 時間 → 3 時間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採用ページ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 ブロックの下書き、FAQ の生成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理念パートの執筆、写真の選定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 時間 → 8 時間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スカウト・案内文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個別文面の下書き、日程調整文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送る相手の選定、最終確認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 時間 → 1 時間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動画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文字起こし、字幕整形、紹介文案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撮影、話し手の選定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 時間 → 3 時間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週次の分析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数値の集計と要約、変化点の指摘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打ち手の決定、担当の割り当て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D405B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 時間 → 20 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49240"/>
            <a:ext cx="10881360" cy="731520"/>
          </a:xfrm>
          <a:prstGeom prst="roundRect">
            <a:avLst>
              <a:gd name="adj" fmla="val 7500"/>
            </a:avLst>
          </a:prstGeom>
          <a:solidFill>
            <a:srgbClr val="DFF0ED"/>
          </a:solidFill>
          <a:ln w="12700">
            <a:solidFill>
              <a:srgbClr val="2A9D8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550408"/>
            <a:ext cx="329184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53312" y="5349240"/>
            <a:ext cx="9921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使うときの原則  </a:t>
            </a:r>
            <a:pPr indent="0" marL="0">
              <a:buNone/>
            </a:pPr>
            <a:r>
              <a:rPr lang="en-US" sz="1200" dirty="0">
                <a:solidFill>
                  <a:srgbClr val="3D405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求職者の個人情報や利用者に関する情報は AI に入力しないでください。渡すのは公開できる自社情報だけにします。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640080" y="6217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時間の目安は 1 ポジションあたりの想定です。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5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572000"/>
            <a:ext cx="4572000" cy="4572000"/>
          </a:xfrm>
          <a:prstGeom prst="ellipse">
            <a:avLst/>
          </a:prstGeom>
          <a:solidFill>
            <a:srgbClr val="1B365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 日ロードマップ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6E2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まずは 1 ポジションだけで型をつくり、うまくいったやり方を他へ広げます。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352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2767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1</a:t>
            </a:r>
            <a:pPr indent="0" marL="0"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1〜30 日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212848"/>
            <a:ext cx="2767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測る・決める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2688" y="2724912"/>
            <a:ext cx="2767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・採用単価と定着率を出す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・ファネルのボトルネックを特定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・ペルソナと MUST / NG を確定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・Engage のアカウントを開設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04360" y="1691640"/>
            <a:ext cx="3352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696968" y="1847088"/>
            <a:ext cx="2767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2</a:t>
            </a:r>
            <a:pPr indent="0" marL="0"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31〜60 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6968" y="2212848"/>
            <a:ext cx="2767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96968" y="2724912"/>
            <a:ext cx="2767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・採用ページを 6 ブロックで作成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・スタッフ動画を 2 本撮影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・求人票を公開し、露出を開始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・職場体験会の当日台本を用意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68640" y="1691640"/>
            <a:ext cx="335280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461248" y="1847088"/>
            <a:ext cx="2767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PHASE 3</a:t>
            </a:r>
            <a:pPr indent="0" marL="0">
              <a:buNone/>
            </a:pPr>
            <a:r>
              <a:rPr lang="en-US" sz="11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61〜90 日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461248" y="2212848"/>
            <a:ext cx="2767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365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回す・直す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461248" y="2724912"/>
            <a:ext cx="276758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・週次 15 分の会議を開始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・体験会を月 2 回のペースで実施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・落ちている 1 か所を毎週改善</a:t>
            </a:r>
            <a:endParaRPr lang="en-US" sz="12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・単価を初月の数字と比較する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B365D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9834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E07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明日やる 3 つ　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昨年の採用人数と費用を経理から取り寄せる　②「入る前に不安だったこと」を現場スタッフ 3 人に聞く　③ Engage のアカウントを開設する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採用は「才能」ではなく「手順」です。90 日で、御社の型がひとつ完成します。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2026-08-24T22:59:23Z</dcterms:created>
  <dcterms:modified xsi:type="dcterms:W3CDTF">2026-08-24T22:59:23Z</dcterms:modified>
</cp:coreProperties>
</file>