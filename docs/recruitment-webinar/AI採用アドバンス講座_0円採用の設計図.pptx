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1人あたり採用単価</c:v>
                </c:pt>
              </c:strCache>
            </c:strRef>
          </c:tx>
          <c:spPr>
            <a:solidFill>
              <a:srgbClr val="2F5B87"/>
            </a:solidFill>
            <a:effectLst/>
          </c:spPr>
          <c:invertIfNegative val="0"/>
          <c:dLbls>
            <c:numFmt formatCode="#,##0" sourceLinked="0"/>
            <c:txPr>
              <a:bodyPr/>
              <a:lstStyle/>
              <a:p>
                <a:pPr>
                  <a:defRPr b="1" i="0" strike="noStrike" sz="1200" u="none">
                    <a:solidFill>
                      <a:srgbClr val="141413"/>
                    </a:solidFill>
                    <a:latin typeface="Meiryo"/>
                  </a:defRPr>
                </a:pPr>
              </a:p>
            </c:txPr>
            <c:showLegendKey val="0"/>
            <c:showVal val="1"/>
            <c:showCatName val="0"/>
            <c:showSerName val="0"/>
            <c:showPercent val="0"/>
            <c:showBubbleSize val="0"/>
            <c:showLeaderLines val="0"/>
          </c:dLbls>
          <c:cat>
            <c:multiLvlStrRef>
              <c:f>Sheet1!$A$2:$A$4</c:f>
              <c:multiLvlStrCache>
                <c:ptCount val="3"/>
                <c:lvl>
                  <c:pt idx="0">
                    <c:v>自社採用ページ
（Engage 中心）</c:v>
                  </c:pt>
                  <c:pt idx="1">
                    <c:v>求人媒体・
Indeed 運用</c:v>
                  </c:pt>
                  <c:pt idx="2">
                    <c:v>紹介会社
（年収の 25%）</c:v>
                  </c:pt>
                </c:lvl>
              </c:multiLvlStrCache>
            </c:multiLvlStrRef>
          </c:cat>
          <c:val>
            <c:numRef>
              <c:f>Sheet1!$B$2:$B$4</c:f>
              <c:numCache>
                <c:formatCode>General</c:formatCode>
                <c:ptCount val="3"/>
                <c:pt idx="0">
                  <c:v>12</c:v>
                </c:pt>
                <c:pt idx="1">
                  <c:v>45</c:v>
                </c:pt>
                <c:pt idx="2">
                  <c:v>90</c:v>
                </c:pt>
              </c:numCache>
            </c:numRef>
          </c:val>
        </c:ser>
        <c:dLbls>
          <c:numFmt formatCode="#,##0" sourceLinked="0"/>
          <c:txPr>
            <a:bodyPr/>
            <a:lstStyle/>
            <a:p>
              <a:pPr>
                <a:defRPr b="1" i="0" strike="noStrike" sz="1200" u="none">
                  <a:solidFill>
                    <a:srgbClr val="141413"/>
                  </a:solidFill>
                  <a:latin typeface="Meiryo"/>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1413"/>
                </a:solidFill>
                <a:latin typeface="Meiryo"/>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E8E6D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E6C63"/>
                </a:solidFill>
                <a:latin typeface="Meiryo"/>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紹介会社に依存（累計）</c:v>
                </c:pt>
              </c:strCache>
            </c:strRef>
          </c:tx>
          <c:spPr>
            <a:solidFill>
              <a:srgbClr val="D97757"/>
            </a:solidFill>
            <a:ln w="38100" cap="flat">
              <a:solidFill>
                <a:srgbClr val="D9775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D97757"/>
              </a:solidFill>
              <a:ln w="9525" cap="flat">
                <a:solidFill>
                  <a:srgbClr val="D97757"/>
                </a:solidFill>
                <a:prstDash val="solid"/>
                <a:round/>
              </a:ln>
              <a:effectLst/>
            </c:spPr>
          </c:marker>
          <c:cat>
            <c:multiLvlStrRef>
              <c:f>Sheet1!$A$2:$A$7</c:f>
              <c:multiLvlStrCache>
                <c:ptCount val="6"/>
                <c:lvl>
                  <c:pt idx="0">
                    <c:v>1人</c:v>
                  </c:pt>
                  <c:pt idx="1">
                    <c:v>2人</c:v>
                  </c:pt>
                  <c:pt idx="2">
                    <c:v>3人</c:v>
                  </c:pt>
                  <c:pt idx="3">
                    <c:v>4人</c:v>
                  </c:pt>
                  <c:pt idx="4">
                    <c:v>5人</c:v>
                  </c:pt>
                  <c:pt idx="5">
                    <c:v>6人</c:v>
                  </c:pt>
                </c:lvl>
              </c:multiLvlStrCache>
            </c:multiLvlStrRef>
          </c:cat>
          <c:val>
            <c:numRef>
              <c:f>Sheet1!$B$2:$B$7</c:f>
              <c:numCache>
                <c:formatCode>General</c:formatCode>
                <c:ptCount val="6"/>
                <c:pt idx="0">
                  <c:v>90</c:v>
                </c:pt>
                <c:pt idx="1">
                  <c:v>180</c:v>
                </c:pt>
                <c:pt idx="2">
                  <c:v>270</c:v>
                </c:pt>
                <c:pt idx="3">
                  <c:v>360</c:v>
                </c:pt>
                <c:pt idx="4">
                  <c:v>450</c:v>
                </c:pt>
                <c:pt idx="5">
                  <c:v>540</c:v>
                </c:pt>
              </c:numCache>
            </c:numRef>
          </c:val>
          <c:smooth val="0"/>
        </c:ser>
        <c:ser>
          <c:idx val="1"/>
          <c:order val="1"/>
          <c:tx>
            <c:strRef>
              <c:f>Sheet1!$C$1</c:f>
              <c:strCache>
                <c:ptCount val="1"/>
                <c:pt idx="0">
                  <c:v>自社採用を内製（累計）</c:v>
                </c:pt>
              </c:strCache>
            </c:strRef>
          </c:tx>
          <c:spPr>
            <a:solidFill>
              <a:srgbClr val="2F5B87"/>
            </a:solidFill>
            <a:ln w="38100" cap="flat">
              <a:solidFill>
                <a:srgbClr val="2F5B8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F5B87"/>
              </a:solidFill>
              <a:ln w="9525" cap="flat">
                <a:solidFill>
                  <a:srgbClr val="2F5B87"/>
                </a:solidFill>
                <a:prstDash val="solid"/>
                <a:round/>
              </a:ln>
              <a:effectLst/>
            </c:spPr>
          </c:marker>
          <c:cat>
            <c:multiLvlStrRef>
              <c:f>Sheet1!$A$2:$A$7</c:f>
              <c:multiLvlStrCache>
                <c:ptCount val="6"/>
                <c:lvl>
                  <c:pt idx="0">
                    <c:v>1人</c:v>
                  </c:pt>
                  <c:pt idx="1">
                    <c:v>2人</c:v>
                  </c:pt>
                  <c:pt idx="2">
                    <c:v>3人</c:v>
                  </c:pt>
                  <c:pt idx="3">
                    <c:v>4人</c:v>
                  </c:pt>
                  <c:pt idx="4">
                    <c:v>5人</c:v>
                  </c:pt>
                  <c:pt idx="5">
                    <c:v>6人</c:v>
                  </c:pt>
                </c:lvl>
              </c:multiLvlStrCache>
            </c:multiLvlStrRef>
          </c:cat>
          <c:val>
            <c:numRef>
              <c:f>Sheet1!$C$2:$C$7</c:f>
              <c:numCache>
                <c:formatCode>General</c:formatCode>
                <c:ptCount val="6"/>
                <c:pt idx="0">
                  <c:v>60</c:v>
                </c:pt>
                <c:pt idx="1">
                  <c:v>72</c:v>
                </c:pt>
                <c:pt idx="2">
                  <c:v>84</c:v>
                </c:pt>
                <c:pt idx="3">
                  <c:v>96</c:v>
                </c:pt>
                <c:pt idx="4">
                  <c:v>108</c:v>
                </c:pt>
                <c:pt idx="5">
                  <c:v>120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141413"/>
                </a:solidFill>
                <a:latin typeface="Meiryo"/>
              </a:defRPr>
            </a:pPr>
            <a:endParaRPr lang="en-US"/>
          </a:p>
        </c:txPr>
        <c:crossAx val="2094734552"/>
        <c:crosses val="autoZero"/>
        <c:auto val="1"/>
        <c:lblAlgn val="ctr"/>
        <c:noMultiLvlLbl val="1"/>
      </c:catAx>
      <c:valAx>
        <c:axId val="2094734552"/>
        <c:scaling>
          <c:orientation val="minMax"/>
          <c:max val="600"/>
          <c:min val="0"/>
        </c:scaling>
        <c:delete val="0"/>
        <c:axPos val="l"/>
        <c:majorGridlines>
          <c:spPr>
            <a:ln w="12700" cap="flat">
              <a:solidFill>
                <a:srgbClr val="E8E6D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C63"/>
                </a:solidFill>
                <a:latin typeface="Meiryo"/>
              </a:defRPr>
            </a:pPr>
            <a:endParaRPr lang="en-US"/>
          </a:p>
        </c:txPr>
        <c:crossAx val="2094734554"/>
        <c:crosses val="autoZero"/>
        <c:crossBetween val="between"/>
        <c:majorUnit val="150"/>
      </c:valAx>
      <c:spPr>
        <a:noFill/>
        <a:ln>
          <a:noFill/>
        </a:ln>
        <a:effectLst/>
      </c:spPr>
    </c:plotArea>
    <c:legend>
      <c:legendPos val="b"/>
      <c:overlay val="0"/>
      <c:txPr>
        <a:bodyPr/>
        <a:lstStyle/>
        <a:p>
          <a:pPr>
            <a:defRPr sz="1050">
              <a:solidFill>
                <a:srgbClr val="4A4943"/>
              </a:solidFill>
              <a:latin typeface="Meiryo"/>
              <a:cs typeface="Meiryo"/>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本講座は「求めるケアスタッフを集める0円採用術」の提案内容を、実行できる教材の形に詳細化したものです。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ゴール像を先に共有する。数字は「置き換えの余地がこれだけある」ことを示すための目安。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6モジュールの地図。MODULE 0 の現状把握を飛ばすと、改善の効果が測れなくなる。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構造的課題は「部分最適の作業化」。ここを共通認識にしてからファネルの話に入る。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最初の宿題。この4つの数字が、以降すべてのモジュールの評価基準になる。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ファネルは提案書の中心概念。各段階の心理と打ち手をセットで覚えてもらう。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AIの役割分担を明確にする。生成物は必ず現場確認を通す。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診断シート。症状から段階を逆引きできるようにしてある。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Engageは無料の自社採用ツール。0円の意味を正確に伝えることで、期待値のずれを防ぐ。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損益分岐は概ね2人目。ここを見せると経営判断が早くなる。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6ブロックは提案書の中核。順番そのものが設計であることを強調する。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プロンプトの型は5要素。制約条件を必ず入れることで、誇張表現とハルシネーションを抑える。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共感パートの材料集め。実データ（退職面談メモ）を起点にするのが精度の決め手。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体験会の時間配分は目安。作り込まないことが最大のポイント。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動画は最も費用対効果が高い素材。作り込まず、字幕を必ず付ける。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運用が続くかどうかは会議の短さで決まる。15分・1か所主義。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AI活用の全体像。個人情報の取り扱いは必ず釘を刺す。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最後は必ず「明日やる3つ」まで落とす。ここまで具体化しないと動き出さない。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提供資料に含まれていた内容と、こちらで補った内容の切り分け。AIパートは独自構成である点を明示している。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1.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9052560" y="-1920240"/>
            <a:ext cx="5669280" cy="5669280"/>
          </a:xfrm>
          <a:prstGeom prst="ellipse">
            <a:avLst/>
          </a:prstGeom>
          <a:solidFill>
            <a:srgbClr val="26241F"/>
          </a:solidFill>
          <a:ln/>
        </p:spPr>
      </p:sp>
      <p:sp>
        <p:nvSpPr>
          <p:cNvPr id="3" name="Shape 1"/>
          <p:cNvSpPr/>
          <p:nvPr/>
        </p:nvSpPr>
        <p:spPr>
          <a:xfrm>
            <a:off x="10698480" y="5029200"/>
            <a:ext cx="2560320" cy="2560320"/>
          </a:xfrm>
          <a:prstGeom prst="ellipse">
            <a:avLst/>
          </a:prstGeom>
          <a:solidFill>
            <a:srgbClr val="26241F"/>
          </a:solidFill>
          <a:ln/>
        </p:spPr>
      </p:sp>
      <p:sp>
        <p:nvSpPr>
          <p:cNvPr id="4" name="Text 2"/>
          <p:cNvSpPr/>
          <p:nvPr/>
        </p:nvSpPr>
        <p:spPr>
          <a:xfrm>
            <a:off x="868680" y="1188720"/>
            <a:ext cx="7772400" cy="384048"/>
          </a:xfrm>
          <a:prstGeom prst="rect">
            <a:avLst/>
          </a:prstGeom>
          <a:noFill/>
          <a:ln/>
        </p:spPr>
        <p:txBody>
          <a:bodyPr wrap="square" lIns="0" tIns="0" rIns="0" bIns="0" rtlCol="0" anchor="ctr"/>
          <a:lstStyle/>
          <a:p>
            <a:pPr indent="0" marL="0">
              <a:buNone/>
            </a:pPr>
            <a:r>
              <a:rPr lang="en-US" sz="1600" b="1" spc="200" kern="0" dirty="0">
                <a:solidFill>
                  <a:srgbClr val="D97757"/>
                </a:solidFill>
                <a:latin typeface="Meiryo" pitchFamily="34" charset="0"/>
                <a:ea typeface="Meiryo" pitchFamily="34" charset="-122"/>
                <a:cs typeface="Meiryo" pitchFamily="34" charset="-120"/>
              </a:rPr>
              <a:t>AI採用アドバンス講座</a:t>
            </a:r>
            <a:endParaRPr lang="en-US" sz="1600" dirty="0"/>
          </a:p>
        </p:txBody>
      </p:sp>
      <p:sp>
        <p:nvSpPr>
          <p:cNvPr id="5" name="Text 3"/>
          <p:cNvSpPr/>
          <p:nvPr/>
        </p:nvSpPr>
        <p:spPr>
          <a:xfrm>
            <a:off x="868680" y="1737360"/>
            <a:ext cx="9326880" cy="1874520"/>
          </a:xfrm>
          <a:prstGeom prst="rect">
            <a:avLst/>
          </a:prstGeom>
          <a:noFill/>
          <a:ln/>
        </p:spPr>
        <p:txBody>
          <a:bodyPr wrap="square" lIns="0" tIns="0" rIns="0" bIns="0" rtlCol="0" anchor="t"/>
          <a:lstStyle/>
          <a:p>
            <a:pPr indent="0" marL="0">
              <a:lnSpc>
                <a:spcPts val="5600"/>
              </a:lnSpc>
              <a:buNone/>
            </a:pPr>
            <a:r>
              <a:rPr lang="en-US" sz="4000" b="1" dirty="0">
                <a:solidFill>
                  <a:srgbClr val="FFFFFF"/>
                </a:solidFill>
                <a:latin typeface="Meiryo" pitchFamily="34" charset="0"/>
                <a:ea typeface="Meiryo" pitchFamily="34" charset="-122"/>
                <a:cs typeface="Meiryo" pitchFamily="34" charset="-120"/>
              </a:rPr>
              <a:t>求めるケアスタッフを集める</a:t>
            </a:r>
            <a:endParaRPr lang="en-US" sz="4000" dirty="0"/>
          </a:p>
          <a:p>
            <a:pPr indent="0" marL="0">
              <a:lnSpc>
                <a:spcPts val="5600"/>
              </a:lnSpc>
              <a:buNone/>
            </a:pPr>
            <a:r>
              <a:rPr lang="en-US" sz="4000" b="1" dirty="0">
                <a:solidFill>
                  <a:srgbClr val="FFFFFF"/>
                </a:solidFill>
                <a:latin typeface="Meiryo" pitchFamily="34" charset="0"/>
                <a:ea typeface="Meiryo" pitchFamily="34" charset="-122"/>
                <a:cs typeface="Meiryo" pitchFamily="34" charset="-120"/>
              </a:rPr>
              <a:t>「0円採用」の設計図</a:t>
            </a:r>
            <a:endParaRPr lang="en-US" sz="4000" dirty="0"/>
          </a:p>
        </p:txBody>
      </p:sp>
      <p:sp>
        <p:nvSpPr>
          <p:cNvPr id="6" name="Text 4"/>
          <p:cNvSpPr/>
          <p:nvPr/>
        </p:nvSpPr>
        <p:spPr>
          <a:xfrm>
            <a:off x="868680" y="3611880"/>
            <a:ext cx="9144000" cy="411480"/>
          </a:xfrm>
          <a:prstGeom prst="rect">
            <a:avLst/>
          </a:prstGeom>
          <a:noFill/>
          <a:ln/>
        </p:spPr>
        <p:txBody>
          <a:bodyPr wrap="square" lIns="0" tIns="0" rIns="0" bIns="0" rtlCol="0" anchor="ctr"/>
          <a:lstStyle/>
          <a:p>
            <a:pPr indent="0" marL="0">
              <a:buNone/>
            </a:pPr>
            <a:r>
              <a:rPr lang="en-US" sz="1700" dirty="0">
                <a:solidFill>
                  <a:srgbClr val="D6D3C8"/>
                </a:solidFill>
                <a:latin typeface="Meiryo" pitchFamily="34" charset="0"/>
                <a:ea typeface="Meiryo" pitchFamily="34" charset="-122"/>
                <a:cs typeface="Meiryo" pitchFamily="34" charset="-120"/>
              </a:rPr>
              <a:t>介護・福祉事業のための 自社採用 内製化プログラム ／ 全 6 モジュール</a:t>
            </a:r>
            <a:endParaRPr lang="en-US" sz="1700" dirty="0"/>
          </a:p>
        </p:txBody>
      </p:sp>
      <p:sp>
        <p:nvSpPr>
          <p:cNvPr id="7" name="Shape 5"/>
          <p:cNvSpPr/>
          <p:nvPr/>
        </p:nvSpPr>
        <p:spPr>
          <a:xfrm>
            <a:off x="868680" y="4617720"/>
            <a:ext cx="2468880" cy="822960"/>
          </a:xfrm>
          <a:prstGeom prst="roundRect">
            <a:avLst>
              <a:gd name="adj" fmla="val 11111"/>
            </a:avLst>
          </a:prstGeom>
          <a:solidFill>
            <a:srgbClr val="26241F"/>
          </a:solidFill>
          <a:ln w="15875">
            <a:solidFill>
              <a:srgbClr val="D97757"/>
            </a:solidFill>
            <a:prstDash val="solid"/>
          </a:ln>
        </p:spPr>
      </p:sp>
      <p:sp>
        <p:nvSpPr>
          <p:cNvPr id="8" name="Text 6"/>
          <p:cNvSpPr/>
          <p:nvPr/>
        </p:nvSpPr>
        <p:spPr>
          <a:xfrm>
            <a:off x="960120" y="4617720"/>
            <a:ext cx="2286000" cy="822960"/>
          </a:xfrm>
          <a:prstGeom prst="rect">
            <a:avLst/>
          </a:prstGeom>
          <a:noFill/>
          <a:ln/>
        </p:spPr>
        <p:txBody>
          <a:bodyPr wrap="square" lIns="0" tIns="0" rIns="0" bIns="0" rtlCol="0" anchor="ctr"/>
          <a:lstStyle/>
          <a:p>
            <a:pPr algn="ctr" indent="0" marL="0">
              <a:buNone/>
            </a:pPr>
            <a:r>
              <a:rPr lang="en-US" sz="1250" dirty="0">
                <a:solidFill>
                  <a:srgbClr val="FFFFFF"/>
                </a:solidFill>
                <a:latin typeface="Meiryo" pitchFamily="34" charset="0"/>
                <a:ea typeface="Meiryo" pitchFamily="34" charset="-122"/>
                <a:cs typeface="Meiryo" pitchFamily="34" charset="-120"/>
              </a:rPr>
              <a:t>紹介手数料を ゼロ に</a:t>
            </a:r>
            <a:endParaRPr lang="en-US" sz="1250" dirty="0"/>
          </a:p>
        </p:txBody>
      </p:sp>
      <p:sp>
        <p:nvSpPr>
          <p:cNvPr id="9" name="Shape 7"/>
          <p:cNvSpPr/>
          <p:nvPr/>
        </p:nvSpPr>
        <p:spPr>
          <a:xfrm>
            <a:off x="3611880" y="4617720"/>
            <a:ext cx="2468880" cy="822960"/>
          </a:xfrm>
          <a:prstGeom prst="roundRect">
            <a:avLst>
              <a:gd name="adj" fmla="val 11111"/>
            </a:avLst>
          </a:prstGeom>
          <a:solidFill>
            <a:srgbClr val="26241F"/>
          </a:solidFill>
          <a:ln w="15875">
            <a:solidFill>
              <a:srgbClr val="D97757"/>
            </a:solidFill>
            <a:prstDash val="solid"/>
          </a:ln>
        </p:spPr>
      </p:sp>
      <p:sp>
        <p:nvSpPr>
          <p:cNvPr id="10" name="Text 8"/>
          <p:cNvSpPr/>
          <p:nvPr/>
        </p:nvSpPr>
        <p:spPr>
          <a:xfrm>
            <a:off x="3703320" y="4617720"/>
            <a:ext cx="2286000" cy="822960"/>
          </a:xfrm>
          <a:prstGeom prst="rect">
            <a:avLst/>
          </a:prstGeom>
          <a:noFill/>
          <a:ln/>
        </p:spPr>
        <p:txBody>
          <a:bodyPr wrap="square" lIns="0" tIns="0" rIns="0" bIns="0" rtlCol="0" anchor="ctr"/>
          <a:lstStyle/>
          <a:p>
            <a:pPr algn="ctr" indent="0" marL="0">
              <a:buNone/>
            </a:pPr>
            <a:r>
              <a:rPr lang="en-US" sz="1250" dirty="0">
                <a:solidFill>
                  <a:srgbClr val="FFFFFF"/>
                </a:solidFill>
                <a:latin typeface="Meiryo" pitchFamily="34" charset="0"/>
                <a:ea typeface="Meiryo" pitchFamily="34" charset="-122"/>
                <a:cs typeface="Meiryo" pitchFamily="34" charset="-120"/>
              </a:rPr>
              <a:t>採用ファネル 4 段階</a:t>
            </a:r>
            <a:endParaRPr lang="en-US" sz="1250" dirty="0"/>
          </a:p>
        </p:txBody>
      </p:sp>
      <p:sp>
        <p:nvSpPr>
          <p:cNvPr id="11" name="Shape 9"/>
          <p:cNvSpPr/>
          <p:nvPr/>
        </p:nvSpPr>
        <p:spPr>
          <a:xfrm>
            <a:off x="6355080" y="4617720"/>
            <a:ext cx="2468880" cy="822960"/>
          </a:xfrm>
          <a:prstGeom prst="roundRect">
            <a:avLst>
              <a:gd name="adj" fmla="val 11111"/>
            </a:avLst>
          </a:prstGeom>
          <a:solidFill>
            <a:srgbClr val="26241F"/>
          </a:solidFill>
          <a:ln w="15875">
            <a:solidFill>
              <a:srgbClr val="D97757"/>
            </a:solidFill>
            <a:prstDash val="solid"/>
          </a:ln>
        </p:spPr>
      </p:sp>
      <p:sp>
        <p:nvSpPr>
          <p:cNvPr id="12" name="Text 10"/>
          <p:cNvSpPr/>
          <p:nvPr/>
        </p:nvSpPr>
        <p:spPr>
          <a:xfrm>
            <a:off x="6446520" y="4617720"/>
            <a:ext cx="2286000" cy="822960"/>
          </a:xfrm>
          <a:prstGeom prst="rect">
            <a:avLst/>
          </a:prstGeom>
          <a:noFill/>
          <a:ln/>
        </p:spPr>
        <p:txBody>
          <a:bodyPr wrap="square" lIns="0" tIns="0" rIns="0" bIns="0" rtlCol="0" anchor="ctr"/>
          <a:lstStyle/>
          <a:p>
            <a:pPr algn="ctr" indent="0" marL="0">
              <a:buNone/>
            </a:pPr>
            <a:r>
              <a:rPr lang="en-US" sz="1250" dirty="0">
                <a:solidFill>
                  <a:srgbClr val="FFFFFF"/>
                </a:solidFill>
                <a:latin typeface="Meiryo" pitchFamily="34" charset="0"/>
                <a:ea typeface="Meiryo" pitchFamily="34" charset="-122"/>
                <a:cs typeface="Meiryo" pitchFamily="34" charset="-120"/>
              </a:rPr>
              <a:t>AI で原稿と分析を代行</a:t>
            </a:r>
            <a:endParaRPr lang="en-US" sz="1250" dirty="0"/>
          </a:p>
        </p:txBody>
      </p:sp>
      <p:sp>
        <p:nvSpPr>
          <p:cNvPr id="13" name="Shape 11"/>
          <p:cNvSpPr/>
          <p:nvPr/>
        </p:nvSpPr>
        <p:spPr>
          <a:xfrm>
            <a:off x="9098280" y="4617720"/>
            <a:ext cx="2468880" cy="822960"/>
          </a:xfrm>
          <a:prstGeom prst="roundRect">
            <a:avLst>
              <a:gd name="adj" fmla="val 11111"/>
            </a:avLst>
          </a:prstGeom>
          <a:solidFill>
            <a:srgbClr val="26241F"/>
          </a:solidFill>
          <a:ln w="15875">
            <a:solidFill>
              <a:srgbClr val="D97757"/>
            </a:solidFill>
            <a:prstDash val="solid"/>
          </a:ln>
        </p:spPr>
      </p:sp>
      <p:sp>
        <p:nvSpPr>
          <p:cNvPr id="14" name="Text 12"/>
          <p:cNvSpPr/>
          <p:nvPr/>
        </p:nvSpPr>
        <p:spPr>
          <a:xfrm>
            <a:off x="9189720" y="4617720"/>
            <a:ext cx="2286000" cy="822960"/>
          </a:xfrm>
          <a:prstGeom prst="rect">
            <a:avLst/>
          </a:prstGeom>
          <a:noFill/>
          <a:ln/>
        </p:spPr>
        <p:txBody>
          <a:bodyPr wrap="square" lIns="0" tIns="0" rIns="0" bIns="0" rtlCol="0" anchor="ctr"/>
          <a:lstStyle/>
          <a:p>
            <a:pPr algn="ctr" indent="0" marL="0">
              <a:buNone/>
            </a:pPr>
            <a:r>
              <a:rPr lang="en-US" sz="1250" dirty="0">
                <a:solidFill>
                  <a:srgbClr val="FFFFFF"/>
                </a:solidFill>
                <a:latin typeface="Meiryo" pitchFamily="34" charset="0"/>
                <a:ea typeface="Meiryo" pitchFamily="34" charset="-122"/>
                <a:cs typeface="Meiryo" pitchFamily="34" charset="-120"/>
              </a:rPr>
              <a:t>90 日で仕組み化</a:t>
            </a:r>
            <a:endParaRPr lang="en-US" sz="1250" dirty="0"/>
          </a:p>
        </p:txBody>
      </p:sp>
      <p:sp>
        <p:nvSpPr>
          <p:cNvPr id="15" name="Text 13"/>
          <p:cNvSpPr/>
          <p:nvPr/>
        </p:nvSpPr>
        <p:spPr>
          <a:xfrm>
            <a:off x="868680" y="5715000"/>
            <a:ext cx="7315200" cy="320040"/>
          </a:xfrm>
          <a:prstGeom prst="rect">
            <a:avLst/>
          </a:prstGeom>
          <a:noFill/>
          <a:ln/>
        </p:spPr>
        <p:txBody>
          <a:bodyPr wrap="square" lIns="0" tIns="0" rIns="0" bIns="0" rtlCol="0" anchor="ctr"/>
          <a:lstStyle/>
          <a:p>
            <a:pPr indent="0" marL="0">
              <a:buNone/>
            </a:pPr>
            <a:r>
              <a:rPr lang="en-US" sz="1100" dirty="0">
                <a:solidFill>
                  <a:srgbClr val="6E6C63"/>
                </a:solidFill>
                <a:latin typeface="Meiryo" pitchFamily="34" charset="0"/>
                <a:ea typeface="Meiryo" pitchFamily="34" charset="-122"/>
                <a:cs typeface="Meiryo" pitchFamily="34" charset="-120"/>
              </a:rPr>
              <a:t>介護・福祉事業者さま向け 社内研修教材</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INTRODUCTION</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この講座を終えたとき、何が変わるか</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「採用がうまい会社」ではなく「採用が仕組みになっている会社」になる</a:t>
            </a:r>
            <a:endParaRPr lang="en-US" sz="1300" dirty="0"/>
          </a:p>
        </p:txBody>
      </p:sp>
      <p:sp>
        <p:nvSpPr>
          <p:cNvPr id="6" name="Shape 4"/>
          <p:cNvSpPr/>
          <p:nvPr/>
        </p:nvSpPr>
        <p:spPr>
          <a:xfrm>
            <a:off x="640080" y="1874520"/>
            <a:ext cx="5120640" cy="2560320"/>
          </a:xfrm>
          <a:prstGeom prst="roundRect">
            <a:avLst>
              <a:gd name="adj" fmla="val 2143"/>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7" name="Text 5"/>
          <p:cNvSpPr/>
          <p:nvPr/>
        </p:nvSpPr>
        <p:spPr>
          <a:xfrm>
            <a:off x="960120" y="2057400"/>
            <a:ext cx="4480560" cy="365760"/>
          </a:xfrm>
          <a:prstGeom prst="rect">
            <a:avLst/>
          </a:prstGeom>
          <a:noFill/>
          <a:ln/>
        </p:spPr>
        <p:txBody>
          <a:bodyPr wrap="square" lIns="0" tIns="0" rIns="0" bIns="0" rtlCol="0" anchor="ctr"/>
          <a:lstStyle/>
          <a:p>
            <a:pPr indent="0" marL="0">
              <a:buNone/>
            </a:pPr>
            <a:r>
              <a:rPr lang="en-US" sz="1400" b="1" dirty="0">
                <a:solidFill>
                  <a:srgbClr val="6E6C63"/>
                </a:solidFill>
                <a:latin typeface="Meiryo" pitchFamily="34" charset="0"/>
                <a:ea typeface="Meiryo" pitchFamily="34" charset="-122"/>
                <a:cs typeface="Meiryo" pitchFamily="34" charset="-120"/>
              </a:rPr>
              <a:t>BEFORE ｜ いまの採用</a:t>
            </a:r>
            <a:endParaRPr lang="en-US" sz="1400" dirty="0"/>
          </a:p>
        </p:txBody>
      </p:sp>
      <p:sp>
        <p:nvSpPr>
          <p:cNvPr id="8" name="Text 6"/>
          <p:cNvSpPr/>
          <p:nvPr/>
        </p:nvSpPr>
        <p:spPr>
          <a:xfrm>
            <a:off x="960120" y="2496312"/>
            <a:ext cx="4480560" cy="1783080"/>
          </a:xfrm>
          <a:prstGeom prst="rect">
            <a:avLst/>
          </a:prstGeom>
          <a:noFill/>
          <a:ln/>
        </p:spPr>
        <p:txBody>
          <a:bodyPr wrap="square" lIns="0" tIns="0" rIns="0" bIns="0" rtlCol="0" anchor="t"/>
          <a:lstStyle/>
          <a:p>
            <a:pPr indent="0" marL="0">
              <a:lnSpc>
                <a:spcPts val="2300"/>
              </a:lnSpc>
              <a:buNone/>
            </a:pPr>
            <a:r>
              <a:rPr lang="en-US" sz="1250" dirty="0">
                <a:solidFill>
                  <a:srgbClr val="6E6C63"/>
                </a:solidFill>
                <a:latin typeface="Meiryo" pitchFamily="34" charset="0"/>
                <a:ea typeface="Meiryo" pitchFamily="34" charset="-122"/>
                <a:cs typeface="Meiryo" pitchFamily="34" charset="-120"/>
              </a:rPr>
              <a:t>・求人を出して、応募が来るのを待つ</a:t>
            </a:r>
            <a:endParaRPr lang="en-US" sz="1250" dirty="0"/>
          </a:p>
          <a:p>
            <a:pPr indent="0" marL="0">
              <a:lnSpc>
                <a:spcPts val="2300"/>
              </a:lnSpc>
              <a:buNone/>
            </a:pPr>
            <a:r>
              <a:rPr lang="en-US" sz="1250" dirty="0">
                <a:solidFill>
                  <a:srgbClr val="6E6C63"/>
                </a:solidFill>
                <a:latin typeface="Meiryo" pitchFamily="34" charset="0"/>
                <a:ea typeface="Meiryo" pitchFamily="34" charset="-122"/>
                <a:cs typeface="Meiryo" pitchFamily="34" charset="-120"/>
              </a:rPr>
              <a:t>・足りなければ紹介会社に依頼する</a:t>
            </a:r>
            <a:endParaRPr lang="en-US" sz="1250" dirty="0"/>
          </a:p>
          <a:p>
            <a:pPr indent="0" marL="0">
              <a:lnSpc>
                <a:spcPts val="2300"/>
              </a:lnSpc>
              <a:buNone/>
            </a:pPr>
            <a:r>
              <a:rPr lang="en-US" sz="1250" dirty="0">
                <a:solidFill>
                  <a:srgbClr val="6E6C63"/>
                </a:solidFill>
                <a:latin typeface="Meiryo" pitchFamily="34" charset="0"/>
                <a:ea typeface="Meiryo" pitchFamily="34" charset="-122"/>
                <a:cs typeface="Meiryo" pitchFamily="34" charset="-120"/>
              </a:rPr>
              <a:t>・1 人採るたびに手数料が飛んでいく</a:t>
            </a:r>
            <a:endParaRPr lang="en-US" sz="1250" dirty="0"/>
          </a:p>
          <a:p>
            <a:pPr indent="0" marL="0">
              <a:lnSpc>
                <a:spcPts val="2300"/>
              </a:lnSpc>
              <a:buNone/>
            </a:pPr>
            <a:r>
              <a:rPr lang="en-US" sz="1250" dirty="0">
                <a:solidFill>
                  <a:srgbClr val="6E6C63"/>
                </a:solidFill>
                <a:latin typeface="Meiryo" pitchFamily="34" charset="0"/>
                <a:ea typeface="Meiryo" pitchFamily="34" charset="-122"/>
                <a:cs typeface="Meiryo" pitchFamily="34" charset="-120"/>
              </a:rPr>
              <a:t>・うまくいった理由が誰にも説明できない</a:t>
            </a:r>
            <a:endParaRPr lang="en-US" sz="1250" dirty="0"/>
          </a:p>
          <a:p>
            <a:pPr indent="0" marL="0">
              <a:lnSpc>
                <a:spcPts val="2300"/>
              </a:lnSpc>
              <a:buNone/>
            </a:pPr>
            <a:r>
              <a:rPr lang="en-US" sz="1250" dirty="0">
                <a:solidFill>
                  <a:srgbClr val="6E6C63"/>
                </a:solidFill>
                <a:latin typeface="Meiryo" pitchFamily="34" charset="0"/>
                <a:ea typeface="Meiryo" pitchFamily="34" charset="-122"/>
                <a:cs typeface="Meiryo" pitchFamily="34" charset="-120"/>
              </a:rPr>
              <a:t>・担当者が辞めると、やり方ごと消える</a:t>
            </a:r>
            <a:endParaRPr lang="en-US" sz="1250" dirty="0"/>
          </a:p>
        </p:txBody>
      </p:sp>
      <p:sp>
        <p:nvSpPr>
          <p:cNvPr id="9" name="Shape 7"/>
          <p:cNvSpPr/>
          <p:nvPr/>
        </p:nvSpPr>
        <p:spPr>
          <a:xfrm>
            <a:off x="6400800" y="1874520"/>
            <a:ext cx="5120640" cy="2560320"/>
          </a:xfrm>
          <a:prstGeom prst="roundRect">
            <a:avLst>
              <a:gd name="adj" fmla="val 2143"/>
            </a:avLst>
          </a:prstGeom>
          <a:solidFill>
            <a:srgbClr val="141413"/>
          </a:solidFill>
          <a:ln w="12700">
            <a:solidFill>
              <a:srgbClr val="141413"/>
            </a:solidFill>
            <a:prstDash val="solid"/>
          </a:ln>
        </p:spPr>
      </p:sp>
      <p:sp>
        <p:nvSpPr>
          <p:cNvPr id="10" name="Text 8"/>
          <p:cNvSpPr/>
          <p:nvPr/>
        </p:nvSpPr>
        <p:spPr>
          <a:xfrm>
            <a:off x="6720840" y="2057400"/>
            <a:ext cx="4480560" cy="365760"/>
          </a:xfrm>
          <a:prstGeom prst="rect">
            <a:avLst/>
          </a:prstGeom>
          <a:noFill/>
          <a:ln/>
        </p:spPr>
        <p:txBody>
          <a:bodyPr wrap="square" lIns="0" tIns="0" rIns="0" bIns="0" rtlCol="0" anchor="ctr"/>
          <a:lstStyle/>
          <a:p>
            <a:pPr indent="0" marL="0">
              <a:buNone/>
            </a:pPr>
            <a:r>
              <a:rPr lang="en-US" sz="1400" b="1" dirty="0">
                <a:solidFill>
                  <a:srgbClr val="D97757"/>
                </a:solidFill>
                <a:latin typeface="Meiryo" pitchFamily="34" charset="0"/>
                <a:ea typeface="Meiryo" pitchFamily="34" charset="-122"/>
                <a:cs typeface="Meiryo" pitchFamily="34" charset="-120"/>
              </a:rPr>
              <a:t>AFTER ｜ 講座を終えたあと</a:t>
            </a:r>
            <a:endParaRPr lang="en-US" sz="1400" dirty="0"/>
          </a:p>
        </p:txBody>
      </p:sp>
      <p:sp>
        <p:nvSpPr>
          <p:cNvPr id="11" name="Text 9"/>
          <p:cNvSpPr/>
          <p:nvPr/>
        </p:nvSpPr>
        <p:spPr>
          <a:xfrm>
            <a:off x="6720840" y="2496312"/>
            <a:ext cx="4480560" cy="1783080"/>
          </a:xfrm>
          <a:prstGeom prst="rect">
            <a:avLst/>
          </a:prstGeom>
          <a:noFill/>
          <a:ln/>
        </p:spPr>
        <p:txBody>
          <a:bodyPr wrap="square" lIns="0" tIns="0" rIns="0" bIns="0" rtlCol="0" anchor="t"/>
          <a:lstStyle/>
          <a:p>
            <a:pPr indent="0" marL="0">
              <a:lnSpc>
                <a:spcPts val="2300"/>
              </a:lnSpc>
              <a:buNone/>
            </a:pPr>
            <a:r>
              <a:rPr lang="en-US" sz="1250" dirty="0">
                <a:solidFill>
                  <a:srgbClr val="FFFFFF"/>
                </a:solidFill>
                <a:latin typeface="Meiryo" pitchFamily="34" charset="0"/>
                <a:ea typeface="Meiryo" pitchFamily="34" charset="-122"/>
                <a:cs typeface="Meiryo" pitchFamily="34" charset="-120"/>
              </a:rPr>
              <a:t>・求職者の心理段階ごとに打ち手を持っている</a:t>
            </a:r>
            <a:endParaRPr lang="en-US" sz="1250" dirty="0"/>
          </a:p>
          <a:p>
            <a:pPr indent="0" marL="0">
              <a:lnSpc>
                <a:spcPts val="2300"/>
              </a:lnSpc>
              <a:buNone/>
            </a:pPr>
            <a:r>
              <a:rPr lang="en-US" sz="1250" dirty="0">
                <a:solidFill>
                  <a:srgbClr val="FFFFFF"/>
                </a:solidFill>
                <a:latin typeface="Meiryo" pitchFamily="34" charset="0"/>
                <a:ea typeface="Meiryo" pitchFamily="34" charset="-122"/>
                <a:cs typeface="Meiryo" pitchFamily="34" charset="-120"/>
              </a:rPr>
              <a:t>・自社の採用ページに応募が入ってくる</a:t>
            </a:r>
            <a:endParaRPr lang="en-US" sz="1250" dirty="0"/>
          </a:p>
          <a:p>
            <a:pPr indent="0" marL="0">
              <a:lnSpc>
                <a:spcPts val="2300"/>
              </a:lnSpc>
              <a:buNone/>
            </a:pPr>
            <a:r>
              <a:rPr lang="en-US" sz="1250" dirty="0">
                <a:solidFill>
                  <a:srgbClr val="FFFFFF"/>
                </a:solidFill>
                <a:latin typeface="Meiryo" pitchFamily="34" charset="0"/>
                <a:ea typeface="Meiryo" pitchFamily="34" charset="-122"/>
                <a:cs typeface="Meiryo" pitchFamily="34" charset="-120"/>
              </a:rPr>
              <a:t>・掲載料 0 円のツールで露出が回り続ける</a:t>
            </a:r>
            <a:endParaRPr lang="en-US" sz="1250" dirty="0"/>
          </a:p>
          <a:p>
            <a:pPr indent="0" marL="0">
              <a:lnSpc>
                <a:spcPts val="2300"/>
              </a:lnSpc>
              <a:buNone/>
            </a:pPr>
            <a:r>
              <a:rPr lang="en-US" sz="1250" dirty="0">
                <a:solidFill>
                  <a:srgbClr val="FFFFFF"/>
                </a:solidFill>
                <a:latin typeface="Meiryo" pitchFamily="34" charset="0"/>
                <a:ea typeface="Meiryo" pitchFamily="34" charset="-122"/>
                <a:cs typeface="Meiryo" pitchFamily="34" charset="-120"/>
              </a:rPr>
              <a:t>・原稿づくりと数値集計を AI が代行する</a:t>
            </a:r>
            <a:endParaRPr lang="en-US" sz="1250" dirty="0"/>
          </a:p>
          <a:p>
            <a:pPr indent="0" marL="0">
              <a:lnSpc>
                <a:spcPts val="2300"/>
              </a:lnSpc>
              <a:buNone/>
            </a:pPr>
            <a:r>
              <a:rPr lang="en-US" sz="1250" dirty="0">
                <a:solidFill>
                  <a:srgbClr val="FFFFFF"/>
                </a:solidFill>
                <a:latin typeface="Meiryo" pitchFamily="34" charset="0"/>
                <a:ea typeface="Meiryo" pitchFamily="34" charset="-122"/>
                <a:cs typeface="Meiryo" pitchFamily="34" charset="-120"/>
              </a:rPr>
              <a:t>・仕組みが会社の資産として残る</a:t>
            </a:r>
            <a:endParaRPr lang="en-US" sz="1250" dirty="0"/>
          </a:p>
        </p:txBody>
      </p:sp>
      <p:sp>
        <p:nvSpPr>
          <p:cNvPr id="12" name="Shape 10"/>
          <p:cNvSpPr/>
          <p:nvPr/>
        </p:nvSpPr>
        <p:spPr>
          <a:xfrm>
            <a:off x="5879592" y="2898648"/>
            <a:ext cx="457200" cy="502920"/>
          </a:xfrm>
          <a:prstGeom prst="rightArrow">
            <a:avLst/>
          </a:prstGeom>
          <a:solidFill>
            <a:srgbClr val="D97757"/>
          </a:solidFill>
          <a:ln/>
        </p:spPr>
      </p:sp>
      <p:sp>
        <p:nvSpPr>
          <p:cNvPr id="13" name="Shape 11"/>
          <p:cNvSpPr/>
          <p:nvPr/>
        </p:nvSpPr>
        <p:spPr>
          <a:xfrm>
            <a:off x="640080" y="4617720"/>
            <a:ext cx="3352800" cy="1280160"/>
          </a:xfrm>
          <a:prstGeom prst="roundRect">
            <a:avLst>
              <a:gd name="adj" fmla="val 428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4" name="Text 12"/>
          <p:cNvSpPr/>
          <p:nvPr/>
        </p:nvSpPr>
        <p:spPr>
          <a:xfrm>
            <a:off x="896112" y="4745736"/>
            <a:ext cx="2840736" cy="457200"/>
          </a:xfrm>
          <a:prstGeom prst="rect">
            <a:avLst/>
          </a:prstGeom>
          <a:noFill/>
          <a:ln/>
        </p:spPr>
        <p:txBody>
          <a:bodyPr wrap="square" lIns="0" tIns="0" rIns="0" bIns="0" rtlCol="0" anchor="ctr"/>
          <a:lstStyle/>
          <a:p>
            <a:pPr indent="0" marL="0">
              <a:buNone/>
            </a:pPr>
            <a:r>
              <a:rPr lang="en-US" sz="2200" b="1" dirty="0">
                <a:solidFill>
                  <a:srgbClr val="D97757"/>
                </a:solidFill>
                <a:latin typeface="Meiryo" pitchFamily="34" charset="0"/>
                <a:ea typeface="Meiryo" pitchFamily="34" charset="-122"/>
                <a:cs typeface="Meiryo" pitchFamily="34" charset="-120"/>
              </a:rPr>
              <a:t>20〜30%</a:t>
            </a:r>
            <a:pPr indent="0" marL="0">
              <a:buNone/>
            </a:pPr>
            <a:r>
              <a:rPr lang="en-US" sz="1050" b="1" dirty="0">
                <a:solidFill>
                  <a:srgbClr val="141413"/>
                </a:solidFill>
                <a:latin typeface="Meiryo" pitchFamily="34" charset="0"/>
                <a:ea typeface="Meiryo" pitchFamily="34" charset="-122"/>
                <a:cs typeface="Meiryo" pitchFamily="34" charset="-120"/>
              </a:rPr>
              <a:t>  が手数料の相場</a:t>
            </a:r>
            <a:endParaRPr lang="en-US" sz="2200" dirty="0"/>
          </a:p>
        </p:txBody>
      </p:sp>
      <p:sp>
        <p:nvSpPr>
          <p:cNvPr id="15" name="Text 13"/>
          <p:cNvSpPr/>
          <p:nvPr/>
        </p:nvSpPr>
        <p:spPr>
          <a:xfrm>
            <a:off x="896112" y="5221224"/>
            <a:ext cx="2840736" cy="566928"/>
          </a:xfrm>
          <a:prstGeom prst="rect">
            <a:avLst/>
          </a:prstGeom>
          <a:noFill/>
          <a:ln/>
        </p:spPr>
        <p:txBody>
          <a:bodyPr wrap="square" lIns="0" tIns="0" rIns="0" bIns="0" rtlCol="0" anchor="t"/>
          <a:lstStyle/>
          <a:p>
            <a:pPr indent="0" marL="0">
              <a:lnSpc>
                <a:spcPts val="1700"/>
              </a:lnSpc>
              <a:buNone/>
            </a:pPr>
            <a:r>
              <a:rPr lang="en-US" sz="1100" dirty="0">
                <a:solidFill>
                  <a:srgbClr val="6E6C63"/>
                </a:solidFill>
                <a:latin typeface="Meiryo" pitchFamily="34" charset="0"/>
                <a:ea typeface="Meiryo" pitchFamily="34" charset="-122"/>
                <a:cs typeface="Meiryo" pitchFamily="34" charset="-120"/>
              </a:rPr>
              <a:t>介護職の年収 300〜400 万円なら</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1 人あたり 60〜120 万円。</a:t>
            </a:r>
            <a:endParaRPr lang="en-US" sz="1100" dirty="0"/>
          </a:p>
        </p:txBody>
      </p:sp>
      <p:sp>
        <p:nvSpPr>
          <p:cNvPr id="16" name="Shape 14"/>
          <p:cNvSpPr/>
          <p:nvPr/>
        </p:nvSpPr>
        <p:spPr>
          <a:xfrm>
            <a:off x="4404360" y="4617720"/>
            <a:ext cx="3352800" cy="1280160"/>
          </a:xfrm>
          <a:prstGeom prst="roundRect">
            <a:avLst>
              <a:gd name="adj" fmla="val 428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7" name="Text 15"/>
          <p:cNvSpPr/>
          <p:nvPr/>
        </p:nvSpPr>
        <p:spPr>
          <a:xfrm>
            <a:off x="4660392" y="4745736"/>
            <a:ext cx="2840736" cy="457200"/>
          </a:xfrm>
          <a:prstGeom prst="rect">
            <a:avLst/>
          </a:prstGeom>
          <a:noFill/>
          <a:ln/>
        </p:spPr>
        <p:txBody>
          <a:bodyPr wrap="square" lIns="0" tIns="0" rIns="0" bIns="0" rtlCol="0" anchor="ctr"/>
          <a:lstStyle/>
          <a:p>
            <a:pPr indent="0" marL="0">
              <a:buNone/>
            </a:pPr>
            <a:r>
              <a:rPr lang="en-US" sz="2200" b="1" dirty="0">
                <a:solidFill>
                  <a:srgbClr val="D97757"/>
                </a:solidFill>
                <a:latin typeface="Meiryo" pitchFamily="34" charset="0"/>
                <a:ea typeface="Meiryo" pitchFamily="34" charset="-122"/>
                <a:cs typeface="Meiryo" pitchFamily="34" charset="-120"/>
              </a:rPr>
              <a:t>0円</a:t>
            </a:r>
            <a:pPr indent="0" marL="0">
              <a:buNone/>
            </a:pPr>
            <a:r>
              <a:rPr lang="en-US" sz="1050" b="1" dirty="0">
                <a:solidFill>
                  <a:srgbClr val="141413"/>
                </a:solidFill>
                <a:latin typeface="Meiryo" pitchFamily="34" charset="0"/>
                <a:ea typeface="Meiryo" pitchFamily="34" charset="-122"/>
                <a:cs typeface="Meiryo" pitchFamily="34" charset="-120"/>
              </a:rPr>
              <a:t>  が掲載料の目安</a:t>
            </a:r>
            <a:endParaRPr lang="en-US" sz="2200" dirty="0"/>
          </a:p>
        </p:txBody>
      </p:sp>
      <p:sp>
        <p:nvSpPr>
          <p:cNvPr id="18" name="Text 16"/>
          <p:cNvSpPr/>
          <p:nvPr/>
        </p:nvSpPr>
        <p:spPr>
          <a:xfrm>
            <a:off x="4660392" y="5221224"/>
            <a:ext cx="2840736" cy="566928"/>
          </a:xfrm>
          <a:prstGeom prst="rect">
            <a:avLst/>
          </a:prstGeom>
          <a:noFill/>
          <a:ln/>
        </p:spPr>
        <p:txBody>
          <a:bodyPr wrap="square" lIns="0" tIns="0" rIns="0" bIns="0" rtlCol="0" anchor="t"/>
          <a:lstStyle/>
          <a:p>
            <a:pPr indent="0" marL="0">
              <a:lnSpc>
                <a:spcPts val="1700"/>
              </a:lnSpc>
              <a:buNone/>
            </a:pPr>
            <a:r>
              <a:rPr lang="en-US" sz="1100" dirty="0">
                <a:solidFill>
                  <a:srgbClr val="6E6C63"/>
                </a:solidFill>
                <a:latin typeface="Meiryo" pitchFamily="34" charset="0"/>
                <a:ea typeface="Meiryo" pitchFamily="34" charset="-122"/>
                <a:cs typeface="Meiryo" pitchFamily="34" charset="-120"/>
              </a:rPr>
              <a:t>Engage → Indeed・Google しごと検索</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への掲載は無料枠で回せます。</a:t>
            </a:r>
            <a:endParaRPr lang="en-US" sz="1100" dirty="0"/>
          </a:p>
        </p:txBody>
      </p:sp>
      <p:sp>
        <p:nvSpPr>
          <p:cNvPr id="19" name="Shape 17"/>
          <p:cNvSpPr/>
          <p:nvPr/>
        </p:nvSpPr>
        <p:spPr>
          <a:xfrm>
            <a:off x="8168640" y="4617720"/>
            <a:ext cx="3352800" cy="1280160"/>
          </a:xfrm>
          <a:prstGeom prst="roundRect">
            <a:avLst>
              <a:gd name="adj" fmla="val 428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20" name="Text 18"/>
          <p:cNvSpPr/>
          <p:nvPr/>
        </p:nvSpPr>
        <p:spPr>
          <a:xfrm>
            <a:off x="8424672" y="4745736"/>
            <a:ext cx="2840736" cy="457200"/>
          </a:xfrm>
          <a:prstGeom prst="rect">
            <a:avLst/>
          </a:prstGeom>
          <a:noFill/>
          <a:ln/>
        </p:spPr>
        <p:txBody>
          <a:bodyPr wrap="square" lIns="0" tIns="0" rIns="0" bIns="0" rtlCol="0" anchor="ctr"/>
          <a:lstStyle/>
          <a:p>
            <a:pPr indent="0" marL="0">
              <a:buNone/>
            </a:pPr>
            <a:r>
              <a:rPr lang="en-US" sz="2200" b="1" dirty="0">
                <a:solidFill>
                  <a:srgbClr val="D97757"/>
                </a:solidFill>
                <a:latin typeface="Meiryo" pitchFamily="34" charset="0"/>
                <a:ea typeface="Meiryo" pitchFamily="34" charset="-122"/>
                <a:cs typeface="Meiryo" pitchFamily="34" charset="-120"/>
              </a:rPr>
              <a:t>4段階</a:t>
            </a:r>
            <a:pPr indent="0" marL="0">
              <a:buNone/>
            </a:pPr>
            <a:r>
              <a:rPr lang="en-US" sz="1050" b="1" dirty="0">
                <a:solidFill>
                  <a:srgbClr val="141413"/>
                </a:solidFill>
                <a:latin typeface="Meiryo" pitchFamily="34" charset="0"/>
                <a:ea typeface="Meiryo" pitchFamily="34" charset="-122"/>
                <a:cs typeface="Meiryo" pitchFamily="34" charset="-120"/>
              </a:rPr>
              <a:t>  で求職者は動く</a:t>
            </a:r>
            <a:endParaRPr lang="en-US" sz="2200" dirty="0"/>
          </a:p>
        </p:txBody>
      </p:sp>
      <p:sp>
        <p:nvSpPr>
          <p:cNvPr id="21" name="Text 19"/>
          <p:cNvSpPr/>
          <p:nvPr/>
        </p:nvSpPr>
        <p:spPr>
          <a:xfrm>
            <a:off x="8424672" y="5221224"/>
            <a:ext cx="2840736" cy="566928"/>
          </a:xfrm>
          <a:prstGeom prst="rect">
            <a:avLst/>
          </a:prstGeom>
          <a:noFill/>
          <a:ln/>
        </p:spPr>
        <p:txBody>
          <a:bodyPr wrap="square" lIns="0" tIns="0" rIns="0" bIns="0" rtlCol="0" anchor="t"/>
          <a:lstStyle/>
          <a:p>
            <a:pPr indent="0" marL="0">
              <a:lnSpc>
                <a:spcPts val="1700"/>
              </a:lnSpc>
              <a:buNone/>
            </a:pPr>
            <a:r>
              <a:rPr lang="en-US" sz="1100" dirty="0">
                <a:solidFill>
                  <a:srgbClr val="6E6C63"/>
                </a:solidFill>
                <a:latin typeface="Meiryo" pitchFamily="34" charset="0"/>
                <a:ea typeface="Meiryo" pitchFamily="34" charset="-122"/>
                <a:cs typeface="Meiryo" pitchFamily="34" charset="-120"/>
              </a:rPr>
              <a:t>認知 → 比較 → 行動 → 確信。</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どこで止まるかを特定します。</a:t>
            </a:r>
            <a:endParaRPr lang="en-US" sz="1100" dirty="0"/>
          </a:p>
        </p:txBody>
      </p:sp>
      <p:sp>
        <p:nvSpPr>
          <p:cNvPr id="22" name="Text 20"/>
          <p:cNvSpPr/>
          <p:nvPr/>
        </p:nvSpPr>
        <p:spPr>
          <a:xfrm>
            <a:off x="640080" y="5989320"/>
            <a:ext cx="10881360" cy="274320"/>
          </a:xfrm>
          <a:prstGeom prst="rect">
            <a:avLst/>
          </a:prstGeom>
          <a:noFill/>
          <a:ln/>
        </p:spPr>
        <p:txBody>
          <a:bodyPr wrap="square" lIns="0" tIns="0" rIns="0" bIns="0" rtlCol="0" anchor="ctr"/>
          <a:lstStyle/>
          <a:p>
            <a:pPr indent="0" marL="0">
              <a:buNone/>
            </a:pPr>
            <a:r>
              <a:rPr lang="en-US" sz="1000" dirty="0">
                <a:solidFill>
                  <a:srgbClr val="8A887E"/>
                </a:solidFill>
                <a:latin typeface="Meiryo" pitchFamily="34" charset="0"/>
                <a:ea typeface="Meiryo" pitchFamily="34" charset="-122"/>
                <a:cs typeface="Meiryo" pitchFamily="34" charset="-120"/>
              </a:rPr>
              <a:t>※ 金額は業界一般の相場からの試算例です。実際の単価は職種・地域・契約条件で変わります。</a:t>
            </a:r>
            <a:endParaRPr lang="en-US" sz="1000" dirty="0"/>
          </a:p>
        </p:txBody>
      </p:sp>
      <p:sp>
        <p:nvSpPr>
          <p:cNvPr id="23" name="Text 21"/>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24" name="Text 22"/>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02 / 19</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646920" y="457200"/>
            <a:ext cx="1874520" cy="310896"/>
          </a:xfrm>
          <a:prstGeom prst="roundRect">
            <a:avLst>
              <a:gd name="adj" fmla="val 14706"/>
            </a:avLst>
          </a:prstGeom>
          <a:solidFill>
            <a:srgbClr val="E7ECDD"/>
          </a:solidFill>
          <a:ln w="12700">
            <a:solidFill>
              <a:srgbClr val="788C5D"/>
            </a:solidFill>
            <a:prstDash val="solid"/>
          </a:ln>
        </p:spPr>
      </p:sp>
      <p:sp>
        <p:nvSpPr>
          <p:cNvPr id="3" name="Text 1"/>
          <p:cNvSpPr/>
          <p:nvPr/>
        </p:nvSpPr>
        <p:spPr>
          <a:xfrm>
            <a:off x="9646920" y="457200"/>
            <a:ext cx="1874520" cy="310896"/>
          </a:xfrm>
          <a:prstGeom prst="rect">
            <a:avLst/>
          </a:prstGeom>
          <a:noFill/>
          <a:ln/>
        </p:spPr>
        <p:txBody>
          <a:bodyPr wrap="square" lIns="0" tIns="0" rIns="0" bIns="0" rtlCol="0" anchor="ctr"/>
          <a:lstStyle/>
          <a:p>
            <a:pPr algn="ctr" indent="0" marL="0">
              <a:buNone/>
            </a:pPr>
            <a:r>
              <a:rPr lang="en-US" sz="1050" b="1" dirty="0">
                <a:solidFill>
                  <a:srgbClr val="788C5D"/>
                </a:solidFill>
                <a:latin typeface="Meiryo" pitchFamily="34" charset="0"/>
                <a:ea typeface="Meiryo" pitchFamily="34" charset="-122"/>
                <a:cs typeface="Meiryo" pitchFamily="34" charset="-120"/>
              </a:rPr>
              <a:t>AI 講座パート</a:t>
            </a:r>
            <a:endParaRPr lang="en-US" sz="1050" dirty="0"/>
          </a:p>
        </p:txBody>
      </p:sp>
      <p:sp>
        <p:nvSpPr>
          <p:cNvPr id="4" name="Shape 2"/>
          <p:cNvSpPr/>
          <p:nvPr/>
        </p:nvSpPr>
        <p:spPr>
          <a:xfrm>
            <a:off x="640080" y="457200"/>
            <a:ext cx="1783080" cy="310896"/>
          </a:xfrm>
          <a:prstGeom prst="roundRect">
            <a:avLst>
              <a:gd name="adj" fmla="val 14706"/>
            </a:avLst>
          </a:prstGeom>
          <a:solidFill>
            <a:srgbClr val="D97757"/>
          </a:solidFill>
          <a:ln/>
        </p:spPr>
      </p:sp>
      <p:sp>
        <p:nvSpPr>
          <p:cNvPr id="5" name="Text 3"/>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CURRICULUM</a:t>
            </a:r>
            <a:endParaRPr lang="en-US" sz="1100" dirty="0"/>
          </a:p>
        </p:txBody>
      </p:sp>
      <p:sp>
        <p:nvSpPr>
          <p:cNvPr id="6" name="Text 4"/>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カリキュラム全体像 ｜ 全 6 モジュール</a:t>
            </a:r>
            <a:endParaRPr lang="en-US" sz="2700" dirty="0"/>
          </a:p>
        </p:txBody>
      </p:sp>
      <p:sp>
        <p:nvSpPr>
          <p:cNvPr id="7" name="Text 5"/>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上から順に進めます。1 つ飛ばすと、次のモジュールが機能しません</a:t>
            </a:r>
            <a:endParaRPr lang="en-US" sz="1300" dirty="0"/>
          </a:p>
        </p:txBody>
      </p:sp>
      <p:sp>
        <p:nvSpPr>
          <p:cNvPr id="8" name="Shape 6"/>
          <p:cNvSpPr/>
          <p:nvPr/>
        </p:nvSpPr>
        <p:spPr>
          <a:xfrm>
            <a:off x="640080" y="1874520"/>
            <a:ext cx="3413760" cy="1627632"/>
          </a:xfrm>
          <a:prstGeom prst="roundRect">
            <a:avLst>
              <a:gd name="adj" fmla="val 3371"/>
            </a:avLst>
          </a:prstGeom>
          <a:solidFill>
            <a:srgbClr val="141413"/>
          </a:solidFill>
          <a:ln w="12700">
            <a:solidFill>
              <a:srgbClr val="141413"/>
            </a:solidFill>
            <a:prstDash val="solid"/>
          </a:ln>
        </p:spPr>
      </p:sp>
      <p:sp>
        <p:nvSpPr>
          <p:cNvPr id="9" name="Text 7"/>
          <p:cNvSpPr/>
          <p:nvPr/>
        </p:nvSpPr>
        <p:spPr>
          <a:xfrm>
            <a:off x="932688" y="2057400"/>
            <a:ext cx="2828544" cy="274320"/>
          </a:xfrm>
          <a:prstGeom prst="rect">
            <a:avLst/>
          </a:prstGeom>
          <a:noFill/>
          <a:ln/>
        </p:spPr>
        <p:txBody>
          <a:bodyPr wrap="square" lIns="0" tIns="0" rIns="0" bIns="0" rtlCol="0" anchor="ctr"/>
          <a:lstStyle/>
          <a:p>
            <a:pPr indent="0" marL="0">
              <a:buNone/>
            </a:pPr>
            <a:r>
              <a:rPr lang="en-US" sz="1100" b="1" spc="100" kern="0" dirty="0">
                <a:solidFill>
                  <a:srgbClr val="D97757"/>
                </a:solidFill>
                <a:latin typeface="Meiryo" pitchFamily="34" charset="0"/>
                <a:ea typeface="Meiryo" pitchFamily="34" charset="-122"/>
                <a:cs typeface="Meiryo" pitchFamily="34" charset="-120"/>
              </a:rPr>
              <a:t>MODULE 0</a:t>
            </a:r>
            <a:endParaRPr lang="en-US" sz="1100" dirty="0"/>
          </a:p>
        </p:txBody>
      </p:sp>
      <p:sp>
        <p:nvSpPr>
          <p:cNvPr id="10" name="Text 8"/>
          <p:cNvSpPr/>
          <p:nvPr/>
        </p:nvSpPr>
        <p:spPr>
          <a:xfrm>
            <a:off x="932688" y="2359152"/>
            <a:ext cx="2828544" cy="420624"/>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現状把握</a:t>
            </a:r>
            <a:endParaRPr lang="en-US" sz="1900" dirty="0"/>
          </a:p>
        </p:txBody>
      </p:sp>
      <p:sp>
        <p:nvSpPr>
          <p:cNvPr id="11" name="Text 9"/>
          <p:cNvSpPr/>
          <p:nvPr/>
        </p:nvSpPr>
        <p:spPr>
          <a:xfrm>
            <a:off x="932688" y="2816352"/>
            <a:ext cx="2828544" cy="621792"/>
          </a:xfrm>
          <a:prstGeom prst="rect">
            <a:avLst/>
          </a:prstGeom>
          <a:noFill/>
          <a:ln/>
        </p:spPr>
        <p:txBody>
          <a:bodyPr wrap="square" lIns="0" tIns="0" rIns="0" bIns="0" rtlCol="0" anchor="t"/>
          <a:lstStyle/>
          <a:p>
            <a:pPr indent="0" marL="0">
              <a:lnSpc>
                <a:spcPts val="1900"/>
              </a:lnSpc>
              <a:buNone/>
            </a:pPr>
            <a:r>
              <a:rPr lang="en-US" sz="1150" dirty="0">
                <a:solidFill>
                  <a:srgbClr val="D6D3C8"/>
                </a:solidFill>
                <a:latin typeface="Meiryo" pitchFamily="34" charset="0"/>
                <a:ea typeface="Meiryo" pitchFamily="34" charset="-122"/>
                <a:cs typeface="Meiryo" pitchFamily="34" charset="-120"/>
              </a:rPr>
              <a:t>いまの採用単価と</a:t>
            </a:r>
            <a:endParaRPr lang="en-US" sz="1150" dirty="0"/>
          </a:p>
          <a:p>
            <a:pPr indent="0" marL="0">
              <a:lnSpc>
                <a:spcPts val="1900"/>
              </a:lnSpc>
              <a:buNone/>
            </a:pPr>
            <a:r>
              <a:rPr lang="en-US" sz="1150" dirty="0">
                <a:solidFill>
                  <a:srgbClr val="D6D3C8"/>
                </a:solidFill>
                <a:latin typeface="Meiryo" pitchFamily="34" charset="0"/>
                <a:ea typeface="Meiryo" pitchFamily="34" charset="-122"/>
                <a:cs typeface="Meiryo" pitchFamily="34" charset="-120"/>
              </a:rPr>
              <a:t>ボトルネックを数字にする</a:t>
            </a:r>
            <a:endParaRPr lang="en-US" sz="1150" dirty="0"/>
          </a:p>
        </p:txBody>
      </p:sp>
      <p:sp>
        <p:nvSpPr>
          <p:cNvPr id="12" name="Shape 10"/>
          <p:cNvSpPr/>
          <p:nvPr/>
        </p:nvSpPr>
        <p:spPr>
          <a:xfrm>
            <a:off x="4373880" y="1874520"/>
            <a:ext cx="3413760" cy="1627632"/>
          </a:xfrm>
          <a:prstGeom prst="roundRect">
            <a:avLst>
              <a:gd name="adj" fmla="val 3371"/>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3" name="Text 11"/>
          <p:cNvSpPr/>
          <p:nvPr/>
        </p:nvSpPr>
        <p:spPr>
          <a:xfrm>
            <a:off x="4666488" y="2057400"/>
            <a:ext cx="2828544" cy="274320"/>
          </a:xfrm>
          <a:prstGeom prst="rect">
            <a:avLst/>
          </a:prstGeom>
          <a:noFill/>
          <a:ln/>
        </p:spPr>
        <p:txBody>
          <a:bodyPr wrap="square" lIns="0" tIns="0" rIns="0" bIns="0" rtlCol="0" anchor="ctr"/>
          <a:lstStyle/>
          <a:p>
            <a:pPr indent="0" marL="0">
              <a:buNone/>
            </a:pPr>
            <a:r>
              <a:rPr lang="en-US" sz="1100" b="1" spc="100" kern="0" dirty="0">
                <a:solidFill>
                  <a:srgbClr val="D97757"/>
                </a:solidFill>
                <a:latin typeface="Meiryo" pitchFamily="34" charset="0"/>
                <a:ea typeface="Meiryo" pitchFamily="34" charset="-122"/>
                <a:cs typeface="Meiryo" pitchFamily="34" charset="-120"/>
              </a:rPr>
              <a:t>MODULE 1</a:t>
            </a:r>
            <a:endParaRPr lang="en-US" sz="1100" dirty="0"/>
          </a:p>
        </p:txBody>
      </p:sp>
      <p:sp>
        <p:nvSpPr>
          <p:cNvPr id="14" name="Text 12"/>
          <p:cNvSpPr/>
          <p:nvPr/>
        </p:nvSpPr>
        <p:spPr>
          <a:xfrm>
            <a:off x="4666488" y="2359152"/>
            <a:ext cx="2828544" cy="420624"/>
          </a:xfrm>
          <a:prstGeom prst="rect">
            <a:avLst/>
          </a:prstGeom>
          <a:noFill/>
          <a:ln/>
        </p:spPr>
        <p:txBody>
          <a:bodyPr wrap="square" lIns="0" tIns="0" rIns="0" bIns="0" rtlCol="0" anchor="ctr"/>
          <a:lstStyle/>
          <a:p>
            <a:pPr indent="0" marL="0">
              <a:buNone/>
            </a:pPr>
            <a:r>
              <a:rPr lang="en-US" sz="1900" b="1" dirty="0">
                <a:solidFill>
                  <a:srgbClr val="141413"/>
                </a:solidFill>
                <a:latin typeface="Meiryo" pitchFamily="34" charset="0"/>
                <a:ea typeface="Meiryo" pitchFamily="34" charset="-122"/>
                <a:cs typeface="Meiryo" pitchFamily="34" charset="-120"/>
              </a:rPr>
              <a:t>ファネル設計</a:t>
            </a:r>
            <a:endParaRPr lang="en-US" sz="1900" dirty="0"/>
          </a:p>
        </p:txBody>
      </p:sp>
      <p:sp>
        <p:nvSpPr>
          <p:cNvPr id="15" name="Text 13"/>
          <p:cNvSpPr/>
          <p:nvPr/>
        </p:nvSpPr>
        <p:spPr>
          <a:xfrm>
            <a:off x="4666488" y="2816352"/>
            <a:ext cx="2828544" cy="621792"/>
          </a:xfrm>
          <a:prstGeom prst="rect">
            <a:avLst/>
          </a:prstGeom>
          <a:noFill/>
          <a:ln/>
        </p:spPr>
        <p:txBody>
          <a:bodyPr wrap="square" lIns="0" tIns="0" rIns="0" bIns="0" rtlCol="0" anchor="t"/>
          <a:lstStyle/>
          <a:p>
            <a:pPr indent="0" marL="0">
              <a:lnSpc>
                <a:spcPts val="1900"/>
              </a:lnSpc>
              <a:buNone/>
            </a:pPr>
            <a:r>
              <a:rPr lang="en-US" sz="1150" dirty="0">
                <a:solidFill>
                  <a:srgbClr val="6E6C63"/>
                </a:solidFill>
                <a:latin typeface="Meiryo" pitchFamily="34" charset="0"/>
                <a:ea typeface="Meiryo" pitchFamily="34" charset="-122"/>
                <a:cs typeface="Meiryo" pitchFamily="34" charset="-120"/>
              </a:rPr>
              <a:t>認知・比較・行動・確信の</a:t>
            </a:r>
            <a:endParaRPr lang="en-US" sz="1150" dirty="0"/>
          </a:p>
          <a:p>
            <a:pPr indent="0" marL="0">
              <a:lnSpc>
                <a:spcPts val="1900"/>
              </a:lnSpc>
              <a:buNone/>
            </a:pPr>
            <a:r>
              <a:rPr lang="en-US" sz="1150" dirty="0">
                <a:solidFill>
                  <a:srgbClr val="6E6C63"/>
                </a:solidFill>
                <a:latin typeface="Meiryo" pitchFamily="34" charset="0"/>
                <a:ea typeface="Meiryo" pitchFamily="34" charset="-122"/>
                <a:cs typeface="Meiryo" pitchFamily="34" charset="-120"/>
              </a:rPr>
              <a:t>4 段階に打ち手を割り当てる</a:t>
            </a:r>
            <a:endParaRPr lang="en-US" sz="1150" dirty="0"/>
          </a:p>
        </p:txBody>
      </p:sp>
      <p:sp>
        <p:nvSpPr>
          <p:cNvPr id="16" name="Shape 14"/>
          <p:cNvSpPr/>
          <p:nvPr/>
        </p:nvSpPr>
        <p:spPr>
          <a:xfrm>
            <a:off x="8107680" y="1874520"/>
            <a:ext cx="3413760" cy="1627632"/>
          </a:xfrm>
          <a:prstGeom prst="roundRect">
            <a:avLst>
              <a:gd name="adj" fmla="val 3371"/>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7" name="Text 15"/>
          <p:cNvSpPr/>
          <p:nvPr/>
        </p:nvSpPr>
        <p:spPr>
          <a:xfrm>
            <a:off x="8400288" y="2057400"/>
            <a:ext cx="2828544" cy="274320"/>
          </a:xfrm>
          <a:prstGeom prst="rect">
            <a:avLst/>
          </a:prstGeom>
          <a:noFill/>
          <a:ln/>
        </p:spPr>
        <p:txBody>
          <a:bodyPr wrap="square" lIns="0" tIns="0" rIns="0" bIns="0" rtlCol="0" anchor="ctr"/>
          <a:lstStyle/>
          <a:p>
            <a:pPr indent="0" marL="0">
              <a:buNone/>
            </a:pPr>
            <a:r>
              <a:rPr lang="en-US" sz="1100" b="1" spc="100" kern="0" dirty="0">
                <a:solidFill>
                  <a:srgbClr val="D97757"/>
                </a:solidFill>
                <a:latin typeface="Meiryo" pitchFamily="34" charset="0"/>
                <a:ea typeface="Meiryo" pitchFamily="34" charset="-122"/>
                <a:cs typeface="Meiryo" pitchFamily="34" charset="-120"/>
              </a:rPr>
              <a:t>MODULE 2</a:t>
            </a:r>
            <a:endParaRPr lang="en-US" sz="1100" dirty="0"/>
          </a:p>
        </p:txBody>
      </p:sp>
      <p:sp>
        <p:nvSpPr>
          <p:cNvPr id="18" name="Text 16"/>
          <p:cNvSpPr/>
          <p:nvPr/>
        </p:nvSpPr>
        <p:spPr>
          <a:xfrm>
            <a:off x="8400288" y="2359152"/>
            <a:ext cx="2828544" cy="420624"/>
          </a:xfrm>
          <a:prstGeom prst="rect">
            <a:avLst/>
          </a:prstGeom>
          <a:noFill/>
          <a:ln/>
        </p:spPr>
        <p:txBody>
          <a:bodyPr wrap="square" lIns="0" tIns="0" rIns="0" bIns="0" rtlCol="0" anchor="ctr"/>
          <a:lstStyle/>
          <a:p>
            <a:pPr indent="0" marL="0">
              <a:buNone/>
            </a:pPr>
            <a:r>
              <a:rPr lang="en-US" sz="1900" b="1" dirty="0">
                <a:solidFill>
                  <a:srgbClr val="141413"/>
                </a:solidFill>
                <a:latin typeface="Meiryo" pitchFamily="34" charset="0"/>
                <a:ea typeface="Meiryo" pitchFamily="34" charset="-122"/>
                <a:cs typeface="Meiryo" pitchFamily="34" charset="-120"/>
              </a:rPr>
              <a:t>0円採用の土台</a:t>
            </a:r>
            <a:endParaRPr lang="en-US" sz="1900" dirty="0"/>
          </a:p>
        </p:txBody>
      </p:sp>
      <p:sp>
        <p:nvSpPr>
          <p:cNvPr id="19" name="Text 17"/>
          <p:cNvSpPr/>
          <p:nvPr/>
        </p:nvSpPr>
        <p:spPr>
          <a:xfrm>
            <a:off x="8400288" y="2816352"/>
            <a:ext cx="2828544" cy="621792"/>
          </a:xfrm>
          <a:prstGeom prst="rect">
            <a:avLst/>
          </a:prstGeom>
          <a:noFill/>
          <a:ln/>
        </p:spPr>
        <p:txBody>
          <a:bodyPr wrap="square" lIns="0" tIns="0" rIns="0" bIns="0" rtlCol="0" anchor="t"/>
          <a:lstStyle/>
          <a:p>
            <a:pPr indent="0" marL="0">
              <a:lnSpc>
                <a:spcPts val="1900"/>
              </a:lnSpc>
              <a:buNone/>
            </a:pPr>
            <a:r>
              <a:rPr lang="en-US" sz="1150" dirty="0">
                <a:solidFill>
                  <a:srgbClr val="6E6C63"/>
                </a:solidFill>
                <a:latin typeface="Meiryo" pitchFamily="34" charset="0"/>
                <a:ea typeface="Meiryo" pitchFamily="34" charset="-122"/>
                <a:cs typeface="Meiryo" pitchFamily="34" charset="-120"/>
              </a:rPr>
              <a:t>Engage を軸に、掲載料 0 円の</a:t>
            </a:r>
            <a:endParaRPr lang="en-US" sz="1150" dirty="0"/>
          </a:p>
          <a:p>
            <a:pPr indent="0" marL="0">
              <a:lnSpc>
                <a:spcPts val="1900"/>
              </a:lnSpc>
              <a:buNone/>
            </a:pPr>
            <a:r>
              <a:rPr lang="en-US" sz="1150" dirty="0">
                <a:solidFill>
                  <a:srgbClr val="6E6C63"/>
                </a:solidFill>
                <a:latin typeface="Meiryo" pitchFamily="34" charset="0"/>
                <a:ea typeface="Meiryo" pitchFamily="34" charset="-122"/>
                <a:cs typeface="Meiryo" pitchFamily="34" charset="-120"/>
              </a:rPr>
              <a:t>露出経路を組み立てる</a:t>
            </a:r>
            <a:endParaRPr lang="en-US" sz="1150" dirty="0"/>
          </a:p>
        </p:txBody>
      </p:sp>
      <p:sp>
        <p:nvSpPr>
          <p:cNvPr id="20" name="Shape 18"/>
          <p:cNvSpPr/>
          <p:nvPr/>
        </p:nvSpPr>
        <p:spPr>
          <a:xfrm>
            <a:off x="640080" y="3721608"/>
            <a:ext cx="3413760" cy="1627632"/>
          </a:xfrm>
          <a:prstGeom prst="roundRect">
            <a:avLst>
              <a:gd name="adj" fmla="val 3371"/>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21" name="Text 19"/>
          <p:cNvSpPr/>
          <p:nvPr/>
        </p:nvSpPr>
        <p:spPr>
          <a:xfrm>
            <a:off x="932688" y="3904488"/>
            <a:ext cx="2828544" cy="274320"/>
          </a:xfrm>
          <a:prstGeom prst="rect">
            <a:avLst/>
          </a:prstGeom>
          <a:noFill/>
          <a:ln/>
        </p:spPr>
        <p:txBody>
          <a:bodyPr wrap="square" lIns="0" tIns="0" rIns="0" bIns="0" rtlCol="0" anchor="ctr"/>
          <a:lstStyle/>
          <a:p>
            <a:pPr indent="0" marL="0">
              <a:buNone/>
            </a:pPr>
            <a:r>
              <a:rPr lang="en-US" sz="1100" b="1" spc="100" kern="0" dirty="0">
                <a:solidFill>
                  <a:srgbClr val="D97757"/>
                </a:solidFill>
                <a:latin typeface="Meiryo" pitchFamily="34" charset="0"/>
                <a:ea typeface="Meiryo" pitchFamily="34" charset="-122"/>
                <a:cs typeface="Meiryo" pitchFamily="34" charset="-120"/>
              </a:rPr>
              <a:t>MODULE 3</a:t>
            </a:r>
            <a:endParaRPr lang="en-US" sz="1100" dirty="0"/>
          </a:p>
        </p:txBody>
      </p:sp>
      <p:sp>
        <p:nvSpPr>
          <p:cNvPr id="22" name="Text 20"/>
          <p:cNvSpPr/>
          <p:nvPr/>
        </p:nvSpPr>
        <p:spPr>
          <a:xfrm>
            <a:off x="932688" y="4206240"/>
            <a:ext cx="2828544" cy="420624"/>
          </a:xfrm>
          <a:prstGeom prst="rect">
            <a:avLst/>
          </a:prstGeom>
          <a:noFill/>
          <a:ln/>
        </p:spPr>
        <p:txBody>
          <a:bodyPr wrap="square" lIns="0" tIns="0" rIns="0" bIns="0" rtlCol="0" anchor="ctr"/>
          <a:lstStyle/>
          <a:p>
            <a:pPr indent="0" marL="0">
              <a:buNone/>
            </a:pPr>
            <a:r>
              <a:rPr lang="en-US" sz="1900" b="1" dirty="0">
                <a:solidFill>
                  <a:srgbClr val="141413"/>
                </a:solidFill>
                <a:latin typeface="Meiryo" pitchFamily="34" charset="0"/>
                <a:ea typeface="Meiryo" pitchFamily="34" charset="-122"/>
                <a:cs typeface="Meiryo" pitchFamily="34" charset="-120"/>
              </a:rPr>
              <a:t>採用ページとAI原稿</a:t>
            </a:r>
            <a:endParaRPr lang="en-US" sz="1900" dirty="0"/>
          </a:p>
        </p:txBody>
      </p:sp>
      <p:sp>
        <p:nvSpPr>
          <p:cNvPr id="23" name="Text 21"/>
          <p:cNvSpPr/>
          <p:nvPr/>
        </p:nvSpPr>
        <p:spPr>
          <a:xfrm>
            <a:off x="932688" y="4663440"/>
            <a:ext cx="2828544" cy="621792"/>
          </a:xfrm>
          <a:prstGeom prst="rect">
            <a:avLst/>
          </a:prstGeom>
          <a:noFill/>
          <a:ln/>
        </p:spPr>
        <p:txBody>
          <a:bodyPr wrap="square" lIns="0" tIns="0" rIns="0" bIns="0" rtlCol="0" anchor="t"/>
          <a:lstStyle/>
          <a:p>
            <a:pPr indent="0" marL="0">
              <a:lnSpc>
                <a:spcPts val="1900"/>
              </a:lnSpc>
              <a:buNone/>
            </a:pPr>
            <a:r>
              <a:rPr lang="en-US" sz="1150" dirty="0">
                <a:solidFill>
                  <a:srgbClr val="6E6C63"/>
                </a:solidFill>
                <a:latin typeface="Meiryo" pitchFamily="34" charset="0"/>
                <a:ea typeface="Meiryo" pitchFamily="34" charset="-122"/>
                <a:cs typeface="Meiryo" pitchFamily="34" charset="-120"/>
              </a:rPr>
              <a:t>鉄板の 6 ブロック構成を</a:t>
            </a:r>
            <a:endParaRPr lang="en-US" sz="1150" dirty="0"/>
          </a:p>
          <a:p>
            <a:pPr indent="0" marL="0">
              <a:lnSpc>
                <a:spcPts val="1900"/>
              </a:lnSpc>
              <a:buNone/>
            </a:pPr>
            <a:r>
              <a:rPr lang="en-US" sz="1150" dirty="0">
                <a:solidFill>
                  <a:srgbClr val="6E6C63"/>
                </a:solidFill>
                <a:latin typeface="Meiryo" pitchFamily="34" charset="0"/>
                <a:ea typeface="Meiryo" pitchFamily="34" charset="-122"/>
                <a:cs typeface="Meiryo" pitchFamily="34" charset="-120"/>
              </a:rPr>
              <a:t>AI と一緒に書き上げる</a:t>
            </a:r>
            <a:endParaRPr lang="en-US" sz="1150" dirty="0"/>
          </a:p>
        </p:txBody>
      </p:sp>
      <p:sp>
        <p:nvSpPr>
          <p:cNvPr id="24" name="Shape 22"/>
          <p:cNvSpPr/>
          <p:nvPr/>
        </p:nvSpPr>
        <p:spPr>
          <a:xfrm>
            <a:off x="4373880" y="3721608"/>
            <a:ext cx="3413760" cy="1627632"/>
          </a:xfrm>
          <a:prstGeom prst="roundRect">
            <a:avLst>
              <a:gd name="adj" fmla="val 3371"/>
            </a:avLst>
          </a:prstGeom>
          <a:solidFill>
            <a:srgbClr val="141413"/>
          </a:solidFill>
          <a:ln w="12700">
            <a:solidFill>
              <a:srgbClr val="141413"/>
            </a:solidFill>
            <a:prstDash val="solid"/>
          </a:ln>
        </p:spPr>
      </p:sp>
      <p:sp>
        <p:nvSpPr>
          <p:cNvPr id="25" name="Text 23"/>
          <p:cNvSpPr/>
          <p:nvPr/>
        </p:nvSpPr>
        <p:spPr>
          <a:xfrm>
            <a:off x="4666488" y="3904488"/>
            <a:ext cx="2828544" cy="274320"/>
          </a:xfrm>
          <a:prstGeom prst="rect">
            <a:avLst/>
          </a:prstGeom>
          <a:noFill/>
          <a:ln/>
        </p:spPr>
        <p:txBody>
          <a:bodyPr wrap="square" lIns="0" tIns="0" rIns="0" bIns="0" rtlCol="0" anchor="ctr"/>
          <a:lstStyle/>
          <a:p>
            <a:pPr indent="0" marL="0">
              <a:buNone/>
            </a:pPr>
            <a:r>
              <a:rPr lang="en-US" sz="1100" b="1" spc="100" kern="0" dirty="0">
                <a:solidFill>
                  <a:srgbClr val="D97757"/>
                </a:solidFill>
                <a:latin typeface="Meiryo" pitchFamily="34" charset="0"/>
                <a:ea typeface="Meiryo" pitchFamily="34" charset="-122"/>
                <a:cs typeface="Meiryo" pitchFamily="34" charset="-120"/>
              </a:rPr>
              <a:t>MODULE 4</a:t>
            </a:r>
            <a:endParaRPr lang="en-US" sz="1100" dirty="0"/>
          </a:p>
        </p:txBody>
      </p:sp>
      <p:sp>
        <p:nvSpPr>
          <p:cNvPr id="26" name="Text 24"/>
          <p:cNvSpPr/>
          <p:nvPr/>
        </p:nvSpPr>
        <p:spPr>
          <a:xfrm>
            <a:off x="4666488" y="4206240"/>
            <a:ext cx="2828544" cy="420624"/>
          </a:xfrm>
          <a:prstGeom prst="rect">
            <a:avLst/>
          </a:prstGeom>
          <a:noFill/>
          <a:ln/>
        </p:spPr>
        <p:txBody>
          <a:bodyPr wrap="square" lIns="0" tIns="0" rIns="0" bIns="0" rtlCol="0" anchor="ctr"/>
          <a:lstStyle/>
          <a:p>
            <a:pPr indent="0" marL="0">
              <a:buNone/>
            </a:pPr>
            <a:r>
              <a:rPr lang="en-US" sz="1900" b="1" dirty="0">
                <a:solidFill>
                  <a:srgbClr val="FFFFFF"/>
                </a:solidFill>
                <a:latin typeface="Meiryo" pitchFamily="34" charset="0"/>
                <a:ea typeface="Meiryo" pitchFamily="34" charset="-122"/>
                <a:cs typeface="Meiryo" pitchFamily="34" charset="-120"/>
              </a:rPr>
              <a:t>体験型選考</a:t>
            </a:r>
            <a:endParaRPr lang="en-US" sz="1900" dirty="0"/>
          </a:p>
        </p:txBody>
      </p:sp>
      <p:sp>
        <p:nvSpPr>
          <p:cNvPr id="27" name="Text 25"/>
          <p:cNvSpPr/>
          <p:nvPr/>
        </p:nvSpPr>
        <p:spPr>
          <a:xfrm>
            <a:off x="4666488" y="4663440"/>
            <a:ext cx="2828544" cy="621792"/>
          </a:xfrm>
          <a:prstGeom prst="rect">
            <a:avLst/>
          </a:prstGeom>
          <a:noFill/>
          <a:ln/>
        </p:spPr>
        <p:txBody>
          <a:bodyPr wrap="square" lIns="0" tIns="0" rIns="0" bIns="0" rtlCol="0" anchor="t"/>
          <a:lstStyle/>
          <a:p>
            <a:pPr indent="0" marL="0">
              <a:lnSpc>
                <a:spcPts val="1900"/>
              </a:lnSpc>
              <a:buNone/>
            </a:pPr>
            <a:r>
              <a:rPr lang="en-US" sz="1150" dirty="0">
                <a:solidFill>
                  <a:srgbClr val="D6D3C8"/>
                </a:solidFill>
                <a:latin typeface="Meiryo" pitchFamily="34" charset="0"/>
                <a:ea typeface="Meiryo" pitchFamily="34" charset="-122"/>
                <a:cs typeface="Meiryo" pitchFamily="34" charset="-120"/>
              </a:rPr>
              <a:t>職場体験会で不安を</a:t>
            </a:r>
            <a:endParaRPr lang="en-US" sz="1150" dirty="0"/>
          </a:p>
          <a:p>
            <a:pPr indent="0" marL="0">
              <a:lnSpc>
                <a:spcPts val="1900"/>
              </a:lnSpc>
              <a:buNone/>
            </a:pPr>
            <a:r>
              <a:rPr lang="en-US" sz="1150" dirty="0">
                <a:solidFill>
                  <a:srgbClr val="D6D3C8"/>
                </a:solidFill>
                <a:latin typeface="Meiryo" pitchFamily="34" charset="0"/>
                <a:ea typeface="Meiryo" pitchFamily="34" charset="-122"/>
                <a:cs typeface="Meiryo" pitchFamily="34" charset="-120"/>
              </a:rPr>
              <a:t>「ここで働きたい」に変える</a:t>
            </a:r>
            <a:endParaRPr lang="en-US" sz="1150" dirty="0"/>
          </a:p>
        </p:txBody>
      </p:sp>
      <p:sp>
        <p:nvSpPr>
          <p:cNvPr id="28" name="Shape 26"/>
          <p:cNvSpPr/>
          <p:nvPr/>
        </p:nvSpPr>
        <p:spPr>
          <a:xfrm>
            <a:off x="8107680" y="3721608"/>
            <a:ext cx="3413760" cy="1627632"/>
          </a:xfrm>
          <a:prstGeom prst="roundRect">
            <a:avLst>
              <a:gd name="adj" fmla="val 3371"/>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29" name="Text 27"/>
          <p:cNvSpPr/>
          <p:nvPr/>
        </p:nvSpPr>
        <p:spPr>
          <a:xfrm>
            <a:off x="8400288" y="3904488"/>
            <a:ext cx="2828544" cy="274320"/>
          </a:xfrm>
          <a:prstGeom prst="rect">
            <a:avLst/>
          </a:prstGeom>
          <a:noFill/>
          <a:ln/>
        </p:spPr>
        <p:txBody>
          <a:bodyPr wrap="square" lIns="0" tIns="0" rIns="0" bIns="0" rtlCol="0" anchor="ctr"/>
          <a:lstStyle/>
          <a:p>
            <a:pPr indent="0" marL="0">
              <a:buNone/>
            </a:pPr>
            <a:r>
              <a:rPr lang="en-US" sz="1100" b="1" spc="100" kern="0" dirty="0">
                <a:solidFill>
                  <a:srgbClr val="D97757"/>
                </a:solidFill>
                <a:latin typeface="Meiryo" pitchFamily="34" charset="0"/>
                <a:ea typeface="Meiryo" pitchFamily="34" charset="-122"/>
                <a:cs typeface="Meiryo" pitchFamily="34" charset="-120"/>
              </a:rPr>
              <a:t>MODULE 5</a:t>
            </a:r>
            <a:endParaRPr lang="en-US" sz="1100" dirty="0"/>
          </a:p>
        </p:txBody>
      </p:sp>
      <p:sp>
        <p:nvSpPr>
          <p:cNvPr id="30" name="Text 28"/>
          <p:cNvSpPr/>
          <p:nvPr/>
        </p:nvSpPr>
        <p:spPr>
          <a:xfrm>
            <a:off x="8400288" y="4206240"/>
            <a:ext cx="2828544" cy="420624"/>
          </a:xfrm>
          <a:prstGeom prst="rect">
            <a:avLst/>
          </a:prstGeom>
          <a:noFill/>
          <a:ln/>
        </p:spPr>
        <p:txBody>
          <a:bodyPr wrap="square" lIns="0" tIns="0" rIns="0" bIns="0" rtlCol="0" anchor="ctr"/>
          <a:lstStyle/>
          <a:p>
            <a:pPr indent="0" marL="0">
              <a:buNone/>
            </a:pPr>
            <a:r>
              <a:rPr lang="en-US" sz="1900" b="1" dirty="0">
                <a:solidFill>
                  <a:srgbClr val="141413"/>
                </a:solidFill>
                <a:latin typeface="Meiryo" pitchFamily="34" charset="0"/>
                <a:ea typeface="Meiryo" pitchFamily="34" charset="-122"/>
                <a:cs typeface="Meiryo" pitchFamily="34" charset="-120"/>
              </a:rPr>
              <a:t>数値運用</a:t>
            </a:r>
            <a:endParaRPr lang="en-US" sz="1900" dirty="0"/>
          </a:p>
        </p:txBody>
      </p:sp>
      <p:sp>
        <p:nvSpPr>
          <p:cNvPr id="31" name="Text 29"/>
          <p:cNvSpPr/>
          <p:nvPr/>
        </p:nvSpPr>
        <p:spPr>
          <a:xfrm>
            <a:off x="8400288" y="4663440"/>
            <a:ext cx="2828544" cy="621792"/>
          </a:xfrm>
          <a:prstGeom prst="rect">
            <a:avLst/>
          </a:prstGeom>
          <a:noFill/>
          <a:ln/>
        </p:spPr>
        <p:txBody>
          <a:bodyPr wrap="square" lIns="0" tIns="0" rIns="0" bIns="0" rtlCol="0" anchor="t"/>
          <a:lstStyle/>
          <a:p>
            <a:pPr indent="0" marL="0">
              <a:lnSpc>
                <a:spcPts val="1900"/>
              </a:lnSpc>
              <a:buNone/>
            </a:pPr>
            <a:r>
              <a:rPr lang="en-US" sz="1150" dirty="0">
                <a:solidFill>
                  <a:srgbClr val="6E6C63"/>
                </a:solidFill>
                <a:latin typeface="Meiryo" pitchFamily="34" charset="0"/>
                <a:ea typeface="Meiryo" pitchFamily="34" charset="-122"/>
                <a:cs typeface="Meiryo" pitchFamily="34" charset="-120"/>
              </a:rPr>
              <a:t>毎週 15 分の会議で</a:t>
            </a:r>
            <a:endParaRPr lang="en-US" sz="1150" dirty="0"/>
          </a:p>
          <a:p>
            <a:pPr indent="0" marL="0">
              <a:lnSpc>
                <a:spcPts val="1900"/>
              </a:lnSpc>
              <a:buNone/>
            </a:pPr>
            <a:r>
              <a:rPr lang="en-US" sz="1150" dirty="0">
                <a:solidFill>
                  <a:srgbClr val="6E6C63"/>
                </a:solidFill>
                <a:latin typeface="Meiryo" pitchFamily="34" charset="0"/>
                <a:ea typeface="Meiryo" pitchFamily="34" charset="-122"/>
                <a:cs typeface="Meiryo" pitchFamily="34" charset="-120"/>
              </a:rPr>
              <a:t>1 か所ずつ直し続ける</a:t>
            </a:r>
            <a:endParaRPr lang="en-US" sz="1150" dirty="0"/>
          </a:p>
        </p:txBody>
      </p:sp>
      <p:sp>
        <p:nvSpPr>
          <p:cNvPr id="32" name="Shape 30"/>
          <p:cNvSpPr/>
          <p:nvPr/>
        </p:nvSpPr>
        <p:spPr>
          <a:xfrm>
            <a:off x="640080" y="5394960"/>
            <a:ext cx="10881360" cy="658368"/>
          </a:xfrm>
          <a:prstGeom prst="roundRect">
            <a:avLst>
              <a:gd name="adj" fmla="val 8333"/>
            </a:avLst>
          </a:prstGeom>
          <a:solidFill>
            <a:srgbClr val="E7ECDD"/>
          </a:solidFill>
          <a:ln w="12700">
            <a:solidFill>
              <a:srgbClr val="788C5D"/>
            </a:solidFill>
            <a:prstDash val="solid"/>
          </a:ln>
        </p:spPr>
      </p:sp>
      <p:pic>
        <p:nvPicPr>
          <p:cNvPr id="33" name="Image 0" descr="preencoded.png">    </p:cNvPr>
          <p:cNvPicPr>
            <a:picLocks noChangeAspect="1"/>
          </p:cNvPicPr>
          <p:nvPr/>
        </p:nvPicPr>
        <p:blipFill>
          <a:blip r:embed="rId1"/>
          <a:stretch>
            <a:fillRect/>
          </a:stretch>
        </p:blipFill>
        <p:spPr>
          <a:xfrm>
            <a:off x="896112" y="5568696"/>
            <a:ext cx="310896" cy="310896"/>
          </a:xfrm>
          <a:prstGeom prst="rect">
            <a:avLst/>
          </a:prstGeom>
        </p:spPr>
      </p:pic>
      <p:sp>
        <p:nvSpPr>
          <p:cNvPr id="34" name="Text 31"/>
          <p:cNvSpPr/>
          <p:nvPr/>
        </p:nvSpPr>
        <p:spPr>
          <a:xfrm>
            <a:off x="1325880" y="5394960"/>
            <a:ext cx="9966960" cy="658368"/>
          </a:xfrm>
          <a:prstGeom prst="rect">
            <a:avLst/>
          </a:prstGeom>
          <a:noFill/>
          <a:ln/>
        </p:spPr>
        <p:txBody>
          <a:bodyPr wrap="square" lIns="0" tIns="0" rIns="0" bIns="0" rtlCol="0" anchor="ctr"/>
          <a:lstStyle/>
          <a:p>
            <a:pPr indent="0" marL="0">
              <a:lnSpc>
                <a:spcPts val="1800"/>
              </a:lnSpc>
              <a:buNone/>
            </a:pPr>
            <a:r>
              <a:rPr lang="en-US" sz="1250" b="1" dirty="0">
                <a:solidFill>
                  <a:srgbClr val="788C5D"/>
                </a:solidFill>
                <a:latin typeface="Meiryo" pitchFamily="34" charset="0"/>
                <a:ea typeface="Meiryo" pitchFamily="34" charset="-122"/>
                <a:cs typeface="Meiryo" pitchFamily="34" charset="-120"/>
              </a:rPr>
              <a:t>AI はどこで使う？　</a:t>
            </a:r>
            <a:pPr indent="0" marL="0">
              <a:lnSpc>
                <a:spcPts val="1800"/>
              </a:lnSpc>
              <a:buNone/>
            </a:pPr>
            <a:r>
              <a:rPr lang="en-US" sz="1150" dirty="0">
                <a:solidFill>
                  <a:srgbClr val="4A4943"/>
                </a:solidFill>
                <a:latin typeface="Meiryo" pitchFamily="34" charset="0"/>
                <a:ea typeface="Meiryo" pitchFamily="34" charset="-122"/>
                <a:cs typeface="Meiryo" pitchFamily="34" charset="-120"/>
              </a:rPr>
              <a:t>MODULE 3 の原稿づくりと MODULE 5 の数値集計が中心。AI は「書く・数える」を代行し、決めるのは人が担当します。</a:t>
            </a:r>
            <a:endParaRPr lang="en-US" sz="1250" dirty="0"/>
          </a:p>
        </p:txBody>
      </p:sp>
      <p:sp>
        <p:nvSpPr>
          <p:cNvPr id="35" name="Text 32"/>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36" name="Text 33"/>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03 / 19</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0</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なぜ、いままでのやり方が効かなくなったのか</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介護業界は「求人を出せば応募が来る」時代から完全に抜けています</a:t>
            </a:r>
            <a:endParaRPr lang="en-US" sz="1300" dirty="0"/>
          </a:p>
        </p:txBody>
      </p:sp>
      <p:sp>
        <p:nvSpPr>
          <p:cNvPr id="6" name="Shape 4"/>
          <p:cNvSpPr/>
          <p:nvPr/>
        </p:nvSpPr>
        <p:spPr>
          <a:xfrm>
            <a:off x="640080" y="1874520"/>
            <a:ext cx="3352800" cy="3063240"/>
          </a:xfrm>
          <a:prstGeom prst="roundRect">
            <a:avLst>
              <a:gd name="adj" fmla="val 1791"/>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7" name="Shape 5"/>
          <p:cNvSpPr/>
          <p:nvPr/>
        </p:nvSpPr>
        <p:spPr>
          <a:xfrm>
            <a:off x="960120" y="2148840"/>
            <a:ext cx="731520" cy="731520"/>
          </a:xfrm>
          <a:prstGeom prst="ellipse">
            <a:avLst/>
          </a:prstGeom>
          <a:solidFill>
            <a:srgbClr val="F5E3DA"/>
          </a:solidFill>
          <a:ln/>
        </p:spPr>
      </p:sp>
      <p:pic>
        <p:nvPicPr>
          <p:cNvPr id="8" name="Image 0" descr="preencoded.png">    </p:cNvPr>
          <p:cNvPicPr>
            <a:picLocks noChangeAspect="1"/>
          </p:cNvPicPr>
          <p:nvPr/>
        </p:nvPicPr>
        <p:blipFill>
          <a:blip r:embed="rId1"/>
          <a:stretch>
            <a:fillRect/>
          </a:stretch>
        </p:blipFill>
        <p:spPr>
          <a:xfrm>
            <a:off x="1147572" y="2336292"/>
            <a:ext cx="356616" cy="356616"/>
          </a:xfrm>
          <a:prstGeom prst="rect">
            <a:avLst/>
          </a:prstGeom>
        </p:spPr>
      </p:pic>
      <p:sp>
        <p:nvSpPr>
          <p:cNvPr id="9" name="Text 6"/>
          <p:cNvSpPr/>
          <p:nvPr/>
        </p:nvSpPr>
        <p:spPr>
          <a:xfrm>
            <a:off x="960120" y="3008376"/>
            <a:ext cx="2712720" cy="566928"/>
          </a:xfrm>
          <a:prstGeom prst="rect">
            <a:avLst/>
          </a:prstGeom>
          <a:noFill/>
          <a:ln/>
        </p:spPr>
        <p:txBody>
          <a:bodyPr wrap="square" lIns="0" tIns="0" rIns="0" bIns="0" rtlCol="0" anchor="t"/>
          <a:lstStyle/>
          <a:p>
            <a:pPr indent="0" marL="0">
              <a:lnSpc>
                <a:spcPts val="2200"/>
              </a:lnSpc>
              <a:buNone/>
            </a:pPr>
            <a:r>
              <a:rPr lang="en-US" sz="1600" b="1" dirty="0">
                <a:solidFill>
                  <a:srgbClr val="141413"/>
                </a:solidFill>
                <a:latin typeface="Meiryo" pitchFamily="34" charset="0"/>
                <a:ea typeface="Meiryo" pitchFamily="34" charset="-122"/>
                <a:cs typeface="Meiryo" pitchFamily="34" charset="-120"/>
              </a:rPr>
              <a:t>コストだけが膨らむ</a:t>
            </a:r>
            <a:endParaRPr lang="en-US" sz="1600" dirty="0"/>
          </a:p>
        </p:txBody>
      </p:sp>
      <p:sp>
        <p:nvSpPr>
          <p:cNvPr id="10" name="Text 7"/>
          <p:cNvSpPr/>
          <p:nvPr/>
        </p:nvSpPr>
        <p:spPr>
          <a:xfrm>
            <a:off x="960120" y="3538728"/>
            <a:ext cx="2712720" cy="1234440"/>
          </a:xfrm>
          <a:prstGeom prst="rect">
            <a:avLst/>
          </a:prstGeom>
          <a:noFill/>
          <a:ln/>
        </p:spPr>
        <p:txBody>
          <a:bodyPr wrap="square" lIns="0" tIns="0" rIns="0" bIns="0" rtlCol="0" anchor="t"/>
          <a:lstStyle/>
          <a:p>
            <a:pPr indent="0" marL="0">
              <a:lnSpc>
                <a:spcPts val="1800"/>
              </a:lnSpc>
              <a:buNone/>
            </a:pPr>
            <a:r>
              <a:rPr lang="en-US" sz="1100" dirty="0">
                <a:solidFill>
                  <a:srgbClr val="6E6C63"/>
                </a:solidFill>
                <a:latin typeface="Meiryo" pitchFamily="34" charset="0"/>
                <a:ea typeface="Meiryo" pitchFamily="34" charset="-122"/>
                <a:cs typeface="Meiryo" pitchFamily="34" charset="-120"/>
              </a:rPr>
              <a:t>求人サイトへの出稿だけでは応募に</a:t>
            </a:r>
            <a:endParaRPr lang="en-US" sz="1100" dirty="0"/>
          </a:p>
          <a:p>
            <a:pPr indent="0" marL="0">
              <a:lnSpc>
                <a:spcPts val="1800"/>
              </a:lnSpc>
              <a:buNone/>
            </a:pPr>
            <a:r>
              <a:rPr lang="en-US" sz="1100" dirty="0">
                <a:solidFill>
                  <a:srgbClr val="6E6C63"/>
                </a:solidFill>
                <a:latin typeface="Meiryo" pitchFamily="34" charset="0"/>
                <a:ea typeface="Meiryo" pitchFamily="34" charset="-122"/>
                <a:cs typeface="Meiryo" pitchFamily="34" charset="-120"/>
              </a:rPr>
              <a:t>至らない。SNS 広告のクリック課金、</a:t>
            </a:r>
            <a:endParaRPr lang="en-US" sz="1100" dirty="0"/>
          </a:p>
          <a:p>
            <a:pPr indent="0" marL="0">
              <a:lnSpc>
                <a:spcPts val="1800"/>
              </a:lnSpc>
              <a:buNone/>
            </a:pPr>
            <a:r>
              <a:rPr lang="en-US" sz="1100" dirty="0">
                <a:solidFill>
                  <a:srgbClr val="6E6C63"/>
                </a:solidFill>
                <a:latin typeface="Meiryo" pitchFamily="34" charset="0"/>
                <a:ea typeface="Meiryo" pitchFamily="34" charset="-122"/>
                <a:cs typeface="Meiryo" pitchFamily="34" charset="-120"/>
              </a:rPr>
              <a:t>Indeed 運用費、紹介手数料が</a:t>
            </a:r>
            <a:endParaRPr lang="en-US" sz="1100" dirty="0"/>
          </a:p>
          <a:p>
            <a:pPr indent="0" marL="0">
              <a:lnSpc>
                <a:spcPts val="1800"/>
              </a:lnSpc>
              <a:buNone/>
            </a:pPr>
            <a:r>
              <a:rPr lang="en-US" sz="1100" dirty="0">
                <a:solidFill>
                  <a:srgbClr val="6E6C63"/>
                </a:solidFill>
                <a:latin typeface="Meiryo" pitchFamily="34" charset="0"/>
                <a:ea typeface="Meiryo" pitchFamily="34" charset="-122"/>
                <a:cs typeface="Meiryo" pitchFamily="34" charset="-120"/>
              </a:rPr>
              <a:t>積み上がっても成果が伴わない。</a:t>
            </a:r>
            <a:endParaRPr lang="en-US" sz="1100" dirty="0"/>
          </a:p>
        </p:txBody>
      </p:sp>
      <p:sp>
        <p:nvSpPr>
          <p:cNvPr id="11" name="Shape 8"/>
          <p:cNvSpPr/>
          <p:nvPr/>
        </p:nvSpPr>
        <p:spPr>
          <a:xfrm>
            <a:off x="4404360" y="1874520"/>
            <a:ext cx="3352800" cy="3063240"/>
          </a:xfrm>
          <a:prstGeom prst="roundRect">
            <a:avLst>
              <a:gd name="adj" fmla="val 1791"/>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2" name="Shape 9"/>
          <p:cNvSpPr/>
          <p:nvPr/>
        </p:nvSpPr>
        <p:spPr>
          <a:xfrm>
            <a:off x="4724400" y="2148840"/>
            <a:ext cx="731520" cy="731520"/>
          </a:xfrm>
          <a:prstGeom prst="ellipse">
            <a:avLst/>
          </a:prstGeom>
          <a:solidFill>
            <a:srgbClr val="F5E3DA"/>
          </a:solidFill>
          <a:ln/>
        </p:spPr>
      </p:sp>
      <p:pic>
        <p:nvPicPr>
          <p:cNvPr id="13" name="Image 1" descr="preencoded.png">    </p:cNvPr>
          <p:cNvPicPr>
            <a:picLocks noChangeAspect="1"/>
          </p:cNvPicPr>
          <p:nvPr/>
        </p:nvPicPr>
        <p:blipFill>
          <a:blip r:embed="rId2"/>
          <a:stretch>
            <a:fillRect/>
          </a:stretch>
        </p:blipFill>
        <p:spPr>
          <a:xfrm>
            <a:off x="4911852" y="2336292"/>
            <a:ext cx="356616" cy="356616"/>
          </a:xfrm>
          <a:prstGeom prst="rect">
            <a:avLst/>
          </a:prstGeom>
        </p:spPr>
      </p:pic>
      <p:sp>
        <p:nvSpPr>
          <p:cNvPr id="14" name="Text 10"/>
          <p:cNvSpPr/>
          <p:nvPr/>
        </p:nvSpPr>
        <p:spPr>
          <a:xfrm>
            <a:off x="4724400" y="3008376"/>
            <a:ext cx="2712720" cy="566928"/>
          </a:xfrm>
          <a:prstGeom prst="rect">
            <a:avLst/>
          </a:prstGeom>
          <a:noFill/>
          <a:ln/>
        </p:spPr>
        <p:txBody>
          <a:bodyPr wrap="square" lIns="0" tIns="0" rIns="0" bIns="0" rtlCol="0" anchor="t"/>
          <a:lstStyle/>
          <a:p>
            <a:pPr indent="0" marL="0">
              <a:lnSpc>
                <a:spcPts val="2200"/>
              </a:lnSpc>
              <a:buNone/>
            </a:pPr>
            <a:r>
              <a:rPr lang="en-US" sz="1600" b="1" dirty="0">
                <a:solidFill>
                  <a:srgbClr val="141413"/>
                </a:solidFill>
                <a:latin typeface="Meiryo" pitchFamily="34" charset="0"/>
                <a:ea typeface="Meiryo" pitchFamily="34" charset="-122"/>
                <a:cs typeface="Meiryo" pitchFamily="34" charset="-120"/>
              </a:rPr>
              <a:t>超売手市場</a:t>
            </a:r>
            <a:endParaRPr lang="en-US" sz="1600" dirty="0"/>
          </a:p>
        </p:txBody>
      </p:sp>
      <p:sp>
        <p:nvSpPr>
          <p:cNvPr id="15" name="Text 11"/>
          <p:cNvSpPr/>
          <p:nvPr/>
        </p:nvSpPr>
        <p:spPr>
          <a:xfrm>
            <a:off x="4724400" y="3538728"/>
            <a:ext cx="2712720" cy="1234440"/>
          </a:xfrm>
          <a:prstGeom prst="rect">
            <a:avLst/>
          </a:prstGeom>
          <a:noFill/>
          <a:ln/>
        </p:spPr>
        <p:txBody>
          <a:bodyPr wrap="square" lIns="0" tIns="0" rIns="0" bIns="0" rtlCol="0" anchor="t"/>
          <a:lstStyle/>
          <a:p>
            <a:pPr indent="0" marL="0">
              <a:lnSpc>
                <a:spcPts val="1800"/>
              </a:lnSpc>
              <a:buNone/>
            </a:pPr>
            <a:r>
              <a:rPr lang="en-US" sz="1100" dirty="0">
                <a:solidFill>
                  <a:srgbClr val="6E6C63"/>
                </a:solidFill>
                <a:latin typeface="Meiryo" pitchFamily="34" charset="0"/>
                <a:ea typeface="Meiryo" pitchFamily="34" charset="-122"/>
                <a:cs typeface="Meiryo" pitchFamily="34" charset="-120"/>
              </a:rPr>
              <a:t>求人倍率が高騰し、求職者が複数の</a:t>
            </a:r>
            <a:endParaRPr lang="en-US" sz="1100" dirty="0"/>
          </a:p>
          <a:p>
            <a:pPr indent="0" marL="0">
              <a:lnSpc>
                <a:spcPts val="1800"/>
              </a:lnSpc>
              <a:buNone/>
            </a:pPr>
            <a:r>
              <a:rPr lang="en-US" sz="1100" dirty="0">
                <a:solidFill>
                  <a:srgbClr val="6E6C63"/>
                </a:solidFill>
                <a:latin typeface="Meiryo" pitchFamily="34" charset="0"/>
                <a:ea typeface="Meiryo" pitchFamily="34" charset="-122"/>
                <a:cs typeface="Meiryo" pitchFamily="34" charset="-120"/>
              </a:rPr>
              <a:t>施設を並べて比べるのが当たり前に。</a:t>
            </a:r>
            <a:endParaRPr lang="en-US" sz="1100" dirty="0"/>
          </a:p>
          <a:p>
            <a:pPr indent="0" marL="0">
              <a:lnSpc>
                <a:spcPts val="1800"/>
              </a:lnSpc>
              <a:buNone/>
            </a:pPr>
            <a:r>
              <a:rPr lang="en-US" sz="1100" dirty="0">
                <a:solidFill>
                  <a:srgbClr val="6E6C63"/>
                </a:solidFill>
                <a:latin typeface="Meiryo" pitchFamily="34" charset="0"/>
                <a:ea typeface="Meiryo" pitchFamily="34" charset="-122"/>
                <a:cs typeface="Meiryo" pitchFamily="34" charset="-120"/>
              </a:rPr>
              <a:t>「選ぶ側」から「選ばれる側」へ</a:t>
            </a:r>
            <a:endParaRPr lang="en-US" sz="1100" dirty="0"/>
          </a:p>
          <a:p>
            <a:pPr indent="0" marL="0">
              <a:lnSpc>
                <a:spcPts val="1800"/>
              </a:lnSpc>
              <a:buNone/>
            </a:pPr>
            <a:r>
              <a:rPr lang="en-US" sz="1100" dirty="0">
                <a:solidFill>
                  <a:srgbClr val="6E6C63"/>
                </a:solidFill>
                <a:latin typeface="Meiryo" pitchFamily="34" charset="0"/>
                <a:ea typeface="Meiryo" pitchFamily="34" charset="-122"/>
                <a:cs typeface="Meiryo" pitchFamily="34" charset="-120"/>
              </a:rPr>
              <a:t>立場が入れ替わっています。</a:t>
            </a:r>
            <a:endParaRPr lang="en-US" sz="1100" dirty="0"/>
          </a:p>
        </p:txBody>
      </p:sp>
      <p:sp>
        <p:nvSpPr>
          <p:cNvPr id="16" name="Shape 12"/>
          <p:cNvSpPr/>
          <p:nvPr/>
        </p:nvSpPr>
        <p:spPr>
          <a:xfrm>
            <a:off x="8168640" y="1874520"/>
            <a:ext cx="3352800" cy="3063240"/>
          </a:xfrm>
          <a:prstGeom prst="roundRect">
            <a:avLst>
              <a:gd name="adj" fmla="val 1791"/>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7" name="Shape 13"/>
          <p:cNvSpPr/>
          <p:nvPr/>
        </p:nvSpPr>
        <p:spPr>
          <a:xfrm>
            <a:off x="8488680" y="2148840"/>
            <a:ext cx="731520" cy="731520"/>
          </a:xfrm>
          <a:prstGeom prst="ellipse">
            <a:avLst/>
          </a:prstGeom>
          <a:solidFill>
            <a:srgbClr val="F5E3DA"/>
          </a:solidFill>
          <a:ln/>
        </p:spPr>
      </p:sp>
      <p:pic>
        <p:nvPicPr>
          <p:cNvPr id="18" name="Image 2" descr="preencoded.png">    </p:cNvPr>
          <p:cNvPicPr>
            <a:picLocks noChangeAspect="1"/>
          </p:cNvPicPr>
          <p:nvPr/>
        </p:nvPicPr>
        <p:blipFill>
          <a:blip r:embed="rId3"/>
          <a:stretch>
            <a:fillRect/>
          </a:stretch>
        </p:blipFill>
        <p:spPr>
          <a:xfrm>
            <a:off x="8676132" y="2336292"/>
            <a:ext cx="356616" cy="356616"/>
          </a:xfrm>
          <a:prstGeom prst="rect">
            <a:avLst/>
          </a:prstGeom>
        </p:spPr>
      </p:pic>
      <p:sp>
        <p:nvSpPr>
          <p:cNvPr id="19" name="Text 14"/>
          <p:cNvSpPr/>
          <p:nvPr/>
        </p:nvSpPr>
        <p:spPr>
          <a:xfrm>
            <a:off x="8488680" y="3008376"/>
            <a:ext cx="2712720" cy="566928"/>
          </a:xfrm>
          <a:prstGeom prst="rect">
            <a:avLst/>
          </a:prstGeom>
          <a:noFill/>
          <a:ln/>
        </p:spPr>
        <p:txBody>
          <a:bodyPr wrap="square" lIns="0" tIns="0" rIns="0" bIns="0" rtlCol="0" anchor="t"/>
          <a:lstStyle/>
          <a:p>
            <a:pPr indent="0" marL="0">
              <a:lnSpc>
                <a:spcPts val="2200"/>
              </a:lnSpc>
              <a:buNone/>
            </a:pPr>
            <a:r>
              <a:rPr lang="en-US" sz="1600" b="1" dirty="0">
                <a:solidFill>
                  <a:srgbClr val="141413"/>
                </a:solidFill>
                <a:latin typeface="Meiryo" pitchFamily="34" charset="0"/>
                <a:ea typeface="Meiryo" pitchFamily="34" charset="-122"/>
                <a:cs typeface="Meiryo" pitchFamily="34" charset="-120"/>
              </a:rPr>
              <a:t>採用が「作業」になっている</a:t>
            </a:r>
            <a:endParaRPr lang="en-US" sz="1600" dirty="0"/>
          </a:p>
        </p:txBody>
      </p:sp>
      <p:sp>
        <p:nvSpPr>
          <p:cNvPr id="20" name="Text 15"/>
          <p:cNvSpPr/>
          <p:nvPr/>
        </p:nvSpPr>
        <p:spPr>
          <a:xfrm>
            <a:off x="8488680" y="3538728"/>
            <a:ext cx="2712720" cy="1234440"/>
          </a:xfrm>
          <a:prstGeom prst="rect">
            <a:avLst/>
          </a:prstGeom>
          <a:noFill/>
          <a:ln/>
        </p:spPr>
        <p:txBody>
          <a:bodyPr wrap="square" lIns="0" tIns="0" rIns="0" bIns="0" rtlCol="0" anchor="t"/>
          <a:lstStyle/>
          <a:p>
            <a:pPr indent="0" marL="0">
              <a:lnSpc>
                <a:spcPts val="1800"/>
              </a:lnSpc>
              <a:buNone/>
            </a:pPr>
            <a:r>
              <a:rPr lang="en-US" sz="1100" dirty="0">
                <a:solidFill>
                  <a:srgbClr val="6E6C63"/>
                </a:solidFill>
                <a:latin typeface="Meiryo" pitchFamily="34" charset="0"/>
                <a:ea typeface="Meiryo" pitchFamily="34" charset="-122"/>
                <a:cs typeface="Meiryo" pitchFamily="34" charset="-120"/>
              </a:rPr>
              <a:t>求人票を出す・広告を打つという</a:t>
            </a:r>
            <a:endParaRPr lang="en-US" sz="1100" dirty="0"/>
          </a:p>
          <a:p>
            <a:pPr indent="0" marL="0">
              <a:lnSpc>
                <a:spcPts val="1800"/>
              </a:lnSpc>
              <a:buNone/>
            </a:pPr>
            <a:r>
              <a:rPr lang="en-US" sz="1100" dirty="0">
                <a:solidFill>
                  <a:srgbClr val="6E6C63"/>
                </a:solidFill>
                <a:latin typeface="Meiryo" pitchFamily="34" charset="0"/>
                <a:ea typeface="Meiryo" pitchFamily="34" charset="-122"/>
                <a:cs typeface="Meiryo" pitchFamily="34" charset="-120"/>
              </a:rPr>
              <a:t>部分的な作業と捉えているため、</a:t>
            </a:r>
            <a:endParaRPr lang="en-US" sz="1100" dirty="0"/>
          </a:p>
          <a:p>
            <a:pPr indent="0" marL="0">
              <a:lnSpc>
                <a:spcPts val="1800"/>
              </a:lnSpc>
              <a:buNone/>
            </a:pPr>
            <a:r>
              <a:rPr lang="en-US" sz="1100" dirty="0">
                <a:solidFill>
                  <a:srgbClr val="6E6C63"/>
                </a:solidFill>
                <a:latin typeface="Meiryo" pitchFamily="34" charset="0"/>
                <a:ea typeface="Meiryo" pitchFamily="34" charset="-122"/>
                <a:cs typeface="Meiryo" pitchFamily="34" charset="-120"/>
              </a:rPr>
              <a:t>心理の変化と比較検討の流れを</a:t>
            </a:r>
            <a:endParaRPr lang="en-US" sz="1100" dirty="0"/>
          </a:p>
          <a:p>
            <a:pPr indent="0" marL="0">
              <a:lnSpc>
                <a:spcPts val="1800"/>
              </a:lnSpc>
              <a:buNone/>
            </a:pPr>
            <a:r>
              <a:rPr lang="en-US" sz="1100" dirty="0">
                <a:solidFill>
                  <a:srgbClr val="6E6C63"/>
                </a:solidFill>
                <a:latin typeface="Meiryo" pitchFamily="34" charset="0"/>
                <a:ea typeface="Meiryo" pitchFamily="34" charset="-122"/>
                <a:cs typeface="Meiryo" pitchFamily="34" charset="-120"/>
              </a:rPr>
              <a:t>全体として設計できていない。</a:t>
            </a:r>
            <a:endParaRPr lang="en-US" sz="1100" dirty="0"/>
          </a:p>
        </p:txBody>
      </p:sp>
      <p:sp>
        <p:nvSpPr>
          <p:cNvPr id="21" name="Shape 16"/>
          <p:cNvSpPr/>
          <p:nvPr/>
        </p:nvSpPr>
        <p:spPr>
          <a:xfrm>
            <a:off x="640080" y="5138928"/>
            <a:ext cx="10881360" cy="758952"/>
          </a:xfrm>
          <a:prstGeom prst="roundRect">
            <a:avLst>
              <a:gd name="adj" fmla="val 7229"/>
            </a:avLst>
          </a:prstGeom>
          <a:solidFill>
            <a:srgbClr val="141413"/>
          </a:solidFill>
          <a:ln/>
        </p:spPr>
      </p:sp>
      <p:sp>
        <p:nvSpPr>
          <p:cNvPr id="22" name="Text 17"/>
          <p:cNvSpPr/>
          <p:nvPr/>
        </p:nvSpPr>
        <p:spPr>
          <a:xfrm>
            <a:off x="1005840" y="5138928"/>
            <a:ext cx="10149840" cy="758952"/>
          </a:xfrm>
          <a:prstGeom prst="rect">
            <a:avLst/>
          </a:prstGeom>
          <a:noFill/>
          <a:ln/>
        </p:spPr>
        <p:txBody>
          <a:bodyPr wrap="square" lIns="0" tIns="0" rIns="0" bIns="0" rtlCol="0" anchor="ctr"/>
          <a:lstStyle/>
          <a:p>
            <a:pPr algn="ctr" indent="0" marL="0">
              <a:lnSpc>
                <a:spcPts val="1900"/>
              </a:lnSpc>
              <a:buNone/>
            </a:pPr>
            <a:pPr algn="ctr" indent="0" marL="0">
              <a:lnSpc>
                <a:spcPts val="1900"/>
              </a:lnSpc>
              <a:buNone/>
            </a:pPr>
            <a:r>
              <a:rPr lang="en-US" sz="1200" dirty="0">
                <a:solidFill>
                  <a:srgbClr val="FFFFFF"/>
                </a:solidFill>
                <a:latin typeface="Meiryo" pitchFamily="34" charset="0"/>
                <a:ea typeface="Meiryo" pitchFamily="34" charset="-122"/>
                <a:cs typeface="Meiryo" pitchFamily="34" charset="-120"/>
              </a:rPr>
              <a:t>この 3 つは別々の問題ではありません。「全体を設計していない」という 1 つの原因から出ています。</a:t>
            </a:r>
            <a:endParaRPr lang="en-US" sz="1250" dirty="0"/>
          </a:p>
        </p:txBody>
      </p:sp>
      <p:sp>
        <p:nvSpPr>
          <p:cNvPr id="23" name="Text 18"/>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24" name="Text 19"/>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04 / 19</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0</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ワーク①：自社の採用単価を数字にする</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改善の効果は、はじめの数字がないと測れません（1 人あたり・万円）</a:t>
            </a:r>
            <a:endParaRPr lang="en-US" sz="1300" dirty="0"/>
          </a:p>
        </p:txBody>
      </p:sp>
      <p:sp>
        <p:nvSpPr>
          <p:cNvPr id="6" name="Shape 4"/>
          <p:cNvSpPr/>
          <p:nvPr/>
        </p:nvSpPr>
        <p:spPr>
          <a:xfrm>
            <a:off x="640080" y="1874520"/>
            <a:ext cx="6309360" cy="4023360"/>
          </a:xfrm>
          <a:prstGeom prst="roundRect">
            <a:avLst>
              <a:gd name="adj" fmla="val 1364"/>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graphicFrame>
        <p:nvGraphicFramePr>
          <p:cNvPr id="7" name="Chart 0" descr=""/>
          <p:cNvGraphicFramePr/>
          <p:nvPr/>
        </p:nvGraphicFramePr>
        <p:xfrm>
          <a:off x="777240" y="2011680"/>
          <a:ext cx="6035040" cy="37490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7223760" y="1874520"/>
            <a:ext cx="4297680" cy="365760"/>
          </a:xfrm>
          <a:prstGeom prst="rect">
            <a:avLst/>
          </a:prstGeom>
          <a:noFill/>
          <a:ln/>
        </p:spPr>
        <p:txBody>
          <a:bodyPr wrap="square" lIns="0" tIns="0" rIns="0" bIns="0" rtlCol="0" anchor="ctr"/>
          <a:lstStyle/>
          <a:p>
            <a:pPr indent="0" marL="0">
              <a:buNone/>
            </a:pPr>
            <a:r>
              <a:rPr lang="en-US" sz="1600" b="1" dirty="0">
                <a:solidFill>
                  <a:srgbClr val="141413"/>
                </a:solidFill>
                <a:latin typeface="Meiryo" pitchFamily="34" charset="0"/>
                <a:ea typeface="Meiryo" pitchFamily="34" charset="-122"/>
                <a:cs typeface="Meiryo" pitchFamily="34" charset="-120"/>
              </a:rPr>
              <a:t>この 4 つを埋めるだけ</a:t>
            </a:r>
            <a:endParaRPr lang="en-US" sz="1600" dirty="0"/>
          </a:p>
        </p:txBody>
      </p:sp>
      <p:sp>
        <p:nvSpPr>
          <p:cNvPr id="9" name="Shape 6"/>
          <p:cNvSpPr/>
          <p:nvPr/>
        </p:nvSpPr>
        <p:spPr>
          <a:xfrm>
            <a:off x="7223760" y="2350008"/>
            <a:ext cx="4297680" cy="658368"/>
          </a:xfrm>
          <a:prstGeom prst="roundRect">
            <a:avLst>
              <a:gd name="adj" fmla="val 6944"/>
            </a:avLst>
          </a:prstGeom>
          <a:solidFill>
            <a:srgbClr val="FFFFFF"/>
          </a:solidFill>
          <a:ln w="12700">
            <a:solidFill>
              <a:srgbClr val="E8E6DC"/>
            </a:solidFill>
            <a:prstDash val="solid"/>
          </a:ln>
        </p:spPr>
      </p:sp>
      <p:sp>
        <p:nvSpPr>
          <p:cNvPr id="10" name="Text 7"/>
          <p:cNvSpPr/>
          <p:nvPr/>
        </p:nvSpPr>
        <p:spPr>
          <a:xfrm>
            <a:off x="7452360" y="2423160"/>
            <a:ext cx="3840480" cy="274320"/>
          </a:xfrm>
          <a:prstGeom prst="rect">
            <a:avLst/>
          </a:prstGeom>
          <a:noFill/>
          <a:ln/>
        </p:spPr>
        <p:txBody>
          <a:bodyPr wrap="square" lIns="0" tIns="0" rIns="0" bIns="0" rtlCol="0" anchor="ctr"/>
          <a:lstStyle/>
          <a:p>
            <a:pPr indent="0" marL="0">
              <a:buNone/>
            </a:pPr>
            <a:r>
              <a:rPr lang="en-US" sz="1250" b="1" dirty="0">
                <a:solidFill>
                  <a:srgbClr val="141413"/>
                </a:solidFill>
                <a:latin typeface="Meiryo" pitchFamily="34" charset="0"/>
                <a:ea typeface="Meiryo" pitchFamily="34" charset="-122"/>
                <a:cs typeface="Meiryo" pitchFamily="34" charset="-120"/>
              </a:rPr>
              <a:t>① 直近 1 年の採用人数</a:t>
            </a:r>
            <a:endParaRPr lang="en-US" sz="1250" dirty="0"/>
          </a:p>
        </p:txBody>
      </p:sp>
      <p:sp>
        <p:nvSpPr>
          <p:cNvPr id="11" name="Text 8"/>
          <p:cNvSpPr/>
          <p:nvPr/>
        </p:nvSpPr>
        <p:spPr>
          <a:xfrm>
            <a:off x="7452360" y="2688336"/>
            <a:ext cx="3840480" cy="256032"/>
          </a:xfrm>
          <a:prstGeom prst="rect">
            <a:avLst/>
          </a:prstGeom>
          <a:noFill/>
          <a:ln/>
        </p:spPr>
        <p:txBody>
          <a:bodyPr wrap="square" lIns="0" tIns="0" rIns="0" bIns="0" rtlCol="0" anchor="ctr"/>
          <a:lstStyle/>
          <a:p>
            <a:pPr indent="0" marL="0">
              <a:buNone/>
            </a:pPr>
            <a:r>
              <a:rPr lang="en-US" sz="1050" dirty="0">
                <a:solidFill>
                  <a:srgbClr val="6E6C63"/>
                </a:solidFill>
                <a:latin typeface="Meiryo" pitchFamily="34" charset="0"/>
                <a:ea typeface="Meiryo" pitchFamily="34" charset="-122"/>
                <a:cs typeface="Meiryo" pitchFamily="34" charset="-120"/>
              </a:rPr>
              <a:t>常勤・非常勤を分けて数える</a:t>
            </a:r>
            <a:endParaRPr lang="en-US" sz="1050" dirty="0"/>
          </a:p>
        </p:txBody>
      </p:sp>
      <p:sp>
        <p:nvSpPr>
          <p:cNvPr id="12" name="Shape 9"/>
          <p:cNvSpPr/>
          <p:nvPr/>
        </p:nvSpPr>
        <p:spPr>
          <a:xfrm>
            <a:off x="7223760" y="3127248"/>
            <a:ext cx="4297680" cy="658368"/>
          </a:xfrm>
          <a:prstGeom prst="roundRect">
            <a:avLst>
              <a:gd name="adj" fmla="val 6944"/>
            </a:avLst>
          </a:prstGeom>
          <a:solidFill>
            <a:srgbClr val="FFFFFF"/>
          </a:solidFill>
          <a:ln w="12700">
            <a:solidFill>
              <a:srgbClr val="E8E6DC"/>
            </a:solidFill>
            <a:prstDash val="solid"/>
          </a:ln>
        </p:spPr>
      </p:sp>
      <p:sp>
        <p:nvSpPr>
          <p:cNvPr id="13" name="Text 10"/>
          <p:cNvSpPr/>
          <p:nvPr/>
        </p:nvSpPr>
        <p:spPr>
          <a:xfrm>
            <a:off x="7452360" y="3200400"/>
            <a:ext cx="3840480" cy="274320"/>
          </a:xfrm>
          <a:prstGeom prst="rect">
            <a:avLst/>
          </a:prstGeom>
          <a:noFill/>
          <a:ln/>
        </p:spPr>
        <p:txBody>
          <a:bodyPr wrap="square" lIns="0" tIns="0" rIns="0" bIns="0" rtlCol="0" anchor="ctr"/>
          <a:lstStyle/>
          <a:p>
            <a:pPr indent="0" marL="0">
              <a:buNone/>
            </a:pPr>
            <a:r>
              <a:rPr lang="en-US" sz="1250" b="1" dirty="0">
                <a:solidFill>
                  <a:srgbClr val="141413"/>
                </a:solidFill>
                <a:latin typeface="Meiryo" pitchFamily="34" charset="0"/>
                <a:ea typeface="Meiryo" pitchFamily="34" charset="-122"/>
                <a:cs typeface="Meiryo" pitchFamily="34" charset="-120"/>
              </a:rPr>
              <a:t>② かかった費用の合計</a:t>
            </a:r>
            <a:endParaRPr lang="en-US" sz="1250" dirty="0"/>
          </a:p>
        </p:txBody>
      </p:sp>
      <p:sp>
        <p:nvSpPr>
          <p:cNvPr id="14" name="Text 11"/>
          <p:cNvSpPr/>
          <p:nvPr/>
        </p:nvSpPr>
        <p:spPr>
          <a:xfrm>
            <a:off x="7452360" y="3465576"/>
            <a:ext cx="3840480" cy="256032"/>
          </a:xfrm>
          <a:prstGeom prst="rect">
            <a:avLst/>
          </a:prstGeom>
          <a:noFill/>
          <a:ln/>
        </p:spPr>
        <p:txBody>
          <a:bodyPr wrap="square" lIns="0" tIns="0" rIns="0" bIns="0" rtlCol="0" anchor="ctr"/>
          <a:lstStyle/>
          <a:p>
            <a:pPr indent="0" marL="0">
              <a:buNone/>
            </a:pPr>
            <a:r>
              <a:rPr lang="en-US" sz="1050" dirty="0">
                <a:solidFill>
                  <a:srgbClr val="6E6C63"/>
                </a:solidFill>
                <a:latin typeface="Meiryo" pitchFamily="34" charset="0"/>
                <a:ea typeface="Meiryo" pitchFamily="34" charset="-122"/>
                <a:cs typeface="Meiryo" pitchFamily="34" charset="-120"/>
              </a:rPr>
              <a:t>手数料・広告費・媒体費をすべて足す</a:t>
            </a:r>
            <a:endParaRPr lang="en-US" sz="1050" dirty="0"/>
          </a:p>
        </p:txBody>
      </p:sp>
      <p:sp>
        <p:nvSpPr>
          <p:cNvPr id="15" name="Shape 12"/>
          <p:cNvSpPr/>
          <p:nvPr/>
        </p:nvSpPr>
        <p:spPr>
          <a:xfrm>
            <a:off x="7223760" y="3904488"/>
            <a:ext cx="4297680" cy="658368"/>
          </a:xfrm>
          <a:prstGeom prst="roundRect">
            <a:avLst>
              <a:gd name="adj" fmla="val 6944"/>
            </a:avLst>
          </a:prstGeom>
          <a:solidFill>
            <a:srgbClr val="FFFFFF"/>
          </a:solidFill>
          <a:ln w="12700">
            <a:solidFill>
              <a:srgbClr val="E8E6DC"/>
            </a:solidFill>
            <a:prstDash val="solid"/>
          </a:ln>
        </p:spPr>
      </p:sp>
      <p:sp>
        <p:nvSpPr>
          <p:cNvPr id="16" name="Text 13"/>
          <p:cNvSpPr/>
          <p:nvPr/>
        </p:nvSpPr>
        <p:spPr>
          <a:xfrm>
            <a:off x="7452360" y="3977640"/>
            <a:ext cx="3840480" cy="274320"/>
          </a:xfrm>
          <a:prstGeom prst="rect">
            <a:avLst/>
          </a:prstGeom>
          <a:noFill/>
          <a:ln/>
        </p:spPr>
        <p:txBody>
          <a:bodyPr wrap="square" lIns="0" tIns="0" rIns="0" bIns="0" rtlCol="0" anchor="ctr"/>
          <a:lstStyle/>
          <a:p>
            <a:pPr indent="0" marL="0">
              <a:buNone/>
            </a:pPr>
            <a:r>
              <a:rPr lang="en-US" sz="1250" b="1" dirty="0">
                <a:solidFill>
                  <a:srgbClr val="141413"/>
                </a:solidFill>
                <a:latin typeface="Meiryo" pitchFamily="34" charset="0"/>
                <a:ea typeface="Meiryo" pitchFamily="34" charset="-122"/>
                <a:cs typeface="Meiryo" pitchFamily="34" charset="-120"/>
              </a:rPr>
              <a:t>③ ② ÷ ① ＝ 採用単価</a:t>
            </a:r>
            <a:endParaRPr lang="en-US" sz="1250" dirty="0"/>
          </a:p>
        </p:txBody>
      </p:sp>
      <p:sp>
        <p:nvSpPr>
          <p:cNvPr id="17" name="Text 14"/>
          <p:cNvSpPr/>
          <p:nvPr/>
        </p:nvSpPr>
        <p:spPr>
          <a:xfrm>
            <a:off x="7452360" y="4242816"/>
            <a:ext cx="3840480" cy="256032"/>
          </a:xfrm>
          <a:prstGeom prst="rect">
            <a:avLst/>
          </a:prstGeom>
          <a:noFill/>
          <a:ln/>
        </p:spPr>
        <p:txBody>
          <a:bodyPr wrap="square" lIns="0" tIns="0" rIns="0" bIns="0" rtlCol="0" anchor="ctr"/>
          <a:lstStyle/>
          <a:p>
            <a:pPr indent="0" marL="0">
              <a:buNone/>
            </a:pPr>
            <a:r>
              <a:rPr lang="en-US" sz="1050" dirty="0">
                <a:solidFill>
                  <a:srgbClr val="6E6C63"/>
                </a:solidFill>
                <a:latin typeface="Meiryo" pitchFamily="34" charset="0"/>
                <a:ea typeface="Meiryo" pitchFamily="34" charset="-122"/>
                <a:cs typeface="Meiryo" pitchFamily="34" charset="-120"/>
              </a:rPr>
              <a:t>これが今の「1 人いくら」</a:t>
            </a:r>
            <a:endParaRPr lang="en-US" sz="1050" dirty="0"/>
          </a:p>
        </p:txBody>
      </p:sp>
      <p:sp>
        <p:nvSpPr>
          <p:cNvPr id="18" name="Shape 15"/>
          <p:cNvSpPr/>
          <p:nvPr/>
        </p:nvSpPr>
        <p:spPr>
          <a:xfrm>
            <a:off x="7223760" y="4681728"/>
            <a:ext cx="4297680" cy="658368"/>
          </a:xfrm>
          <a:prstGeom prst="roundRect">
            <a:avLst>
              <a:gd name="adj" fmla="val 6944"/>
            </a:avLst>
          </a:prstGeom>
          <a:solidFill>
            <a:srgbClr val="FFFFFF"/>
          </a:solidFill>
          <a:ln w="12700">
            <a:solidFill>
              <a:srgbClr val="E8E6DC"/>
            </a:solidFill>
            <a:prstDash val="solid"/>
          </a:ln>
        </p:spPr>
      </p:sp>
      <p:sp>
        <p:nvSpPr>
          <p:cNvPr id="19" name="Text 16"/>
          <p:cNvSpPr/>
          <p:nvPr/>
        </p:nvSpPr>
        <p:spPr>
          <a:xfrm>
            <a:off x="7452360" y="4754880"/>
            <a:ext cx="3840480" cy="274320"/>
          </a:xfrm>
          <a:prstGeom prst="rect">
            <a:avLst/>
          </a:prstGeom>
          <a:noFill/>
          <a:ln/>
        </p:spPr>
        <p:txBody>
          <a:bodyPr wrap="square" lIns="0" tIns="0" rIns="0" bIns="0" rtlCol="0" anchor="ctr"/>
          <a:lstStyle/>
          <a:p>
            <a:pPr indent="0" marL="0">
              <a:buNone/>
            </a:pPr>
            <a:r>
              <a:rPr lang="en-US" sz="1250" b="1" dirty="0">
                <a:solidFill>
                  <a:srgbClr val="141413"/>
                </a:solidFill>
                <a:latin typeface="Meiryo" pitchFamily="34" charset="0"/>
                <a:ea typeface="Meiryo" pitchFamily="34" charset="-122"/>
                <a:cs typeface="Meiryo" pitchFamily="34" charset="-120"/>
              </a:rPr>
              <a:t>④ 定着した人数</a:t>
            </a:r>
            <a:endParaRPr lang="en-US" sz="1250" dirty="0"/>
          </a:p>
        </p:txBody>
      </p:sp>
      <p:sp>
        <p:nvSpPr>
          <p:cNvPr id="20" name="Text 17"/>
          <p:cNvSpPr/>
          <p:nvPr/>
        </p:nvSpPr>
        <p:spPr>
          <a:xfrm>
            <a:off x="7452360" y="5020056"/>
            <a:ext cx="3840480" cy="256032"/>
          </a:xfrm>
          <a:prstGeom prst="rect">
            <a:avLst/>
          </a:prstGeom>
          <a:noFill/>
          <a:ln/>
        </p:spPr>
        <p:txBody>
          <a:bodyPr wrap="square" lIns="0" tIns="0" rIns="0" bIns="0" rtlCol="0" anchor="ctr"/>
          <a:lstStyle/>
          <a:p>
            <a:pPr indent="0" marL="0">
              <a:buNone/>
            </a:pPr>
            <a:r>
              <a:rPr lang="en-US" sz="1050" dirty="0">
                <a:solidFill>
                  <a:srgbClr val="6E6C63"/>
                </a:solidFill>
                <a:latin typeface="Meiryo" pitchFamily="34" charset="0"/>
                <a:ea typeface="Meiryo" pitchFamily="34" charset="-122"/>
                <a:cs typeface="Meiryo" pitchFamily="34" charset="-120"/>
              </a:rPr>
              <a:t>半年後に残っている人数も出す</a:t>
            </a:r>
            <a:endParaRPr lang="en-US" sz="1050" dirty="0"/>
          </a:p>
        </p:txBody>
      </p:sp>
      <p:sp>
        <p:nvSpPr>
          <p:cNvPr id="21" name="Shape 18"/>
          <p:cNvSpPr/>
          <p:nvPr/>
        </p:nvSpPr>
        <p:spPr>
          <a:xfrm>
            <a:off x="7223760" y="5394960"/>
            <a:ext cx="4297680" cy="502920"/>
          </a:xfrm>
          <a:prstGeom prst="roundRect">
            <a:avLst>
              <a:gd name="adj" fmla="val 9091"/>
            </a:avLst>
          </a:prstGeom>
          <a:solidFill>
            <a:srgbClr val="F5E3DA"/>
          </a:solidFill>
          <a:ln/>
        </p:spPr>
      </p:sp>
      <p:sp>
        <p:nvSpPr>
          <p:cNvPr id="22" name="Text 19"/>
          <p:cNvSpPr/>
          <p:nvPr/>
        </p:nvSpPr>
        <p:spPr>
          <a:xfrm>
            <a:off x="7424928" y="5394960"/>
            <a:ext cx="3895344" cy="502920"/>
          </a:xfrm>
          <a:prstGeom prst="rect">
            <a:avLst/>
          </a:prstGeom>
          <a:noFill/>
          <a:ln/>
        </p:spPr>
        <p:txBody>
          <a:bodyPr wrap="square" lIns="0" tIns="0" rIns="0" bIns="0" rtlCol="0" anchor="ctr"/>
          <a:lstStyle/>
          <a:p>
            <a:pPr indent="0" marL="0">
              <a:buNone/>
            </a:pPr>
            <a:r>
              <a:rPr lang="en-US" sz="1050" b="1" dirty="0">
                <a:solidFill>
                  <a:srgbClr val="141413"/>
                </a:solidFill>
                <a:latin typeface="Meiryo" pitchFamily="34" charset="0"/>
                <a:ea typeface="Meiryo" pitchFamily="34" charset="-122"/>
                <a:cs typeface="Meiryo" pitchFamily="34" charset="-120"/>
              </a:rPr>
              <a:t>④ まで出すのが肝心。半年で辞めるなら単価は倍です。</a:t>
            </a:r>
            <a:endParaRPr lang="en-US" sz="1050" dirty="0"/>
          </a:p>
        </p:txBody>
      </p:sp>
      <p:sp>
        <p:nvSpPr>
          <p:cNvPr id="23" name="Text 20"/>
          <p:cNvSpPr/>
          <p:nvPr/>
        </p:nvSpPr>
        <p:spPr>
          <a:xfrm>
            <a:off x="640080" y="5989320"/>
            <a:ext cx="10881360" cy="274320"/>
          </a:xfrm>
          <a:prstGeom prst="rect">
            <a:avLst/>
          </a:prstGeom>
          <a:noFill/>
          <a:ln/>
        </p:spPr>
        <p:txBody>
          <a:bodyPr wrap="square" lIns="0" tIns="0" rIns="0" bIns="0" rtlCol="0" anchor="ctr"/>
          <a:lstStyle/>
          <a:p>
            <a:pPr indent="0" marL="0">
              <a:buNone/>
            </a:pPr>
            <a:r>
              <a:rPr lang="en-US" sz="1000" dirty="0">
                <a:solidFill>
                  <a:srgbClr val="8A887E"/>
                </a:solidFill>
                <a:latin typeface="Meiryo" pitchFamily="34" charset="0"/>
                <a:ea typeface="Meiryo" pitchFamily="34" charset="-122"/>
                <a:cs typeface="Meiryo" pitchFamily="34" charset="-120"/>
              </a:rPr>
              <a:t>※ グラフは相場からの試算例。自社の実数に置き換えて使ってください。</a:t>
            </a:r>
            <a:endParaRPr lang="en-US" sz="1000" dirty="0"/>
          </a:p>
        </p:txBody>
      </p:sp>
      <p:sp>
        <p:nvSpPr>
          <p:cNvPr id="24" name="Text 21"/>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25" name="Text 22"/>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05 / 19</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1</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採用ファネル ｜ 求職者が動く 4 つの段階</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採用活動はマーケティングと同じ構造。段階ごとに、かける手が違います</a:t>
            </a:r>
            <a:endParaRPr lang="en-US" sz="1300" dirty="0"/>
          </a:p>
        </p:txBody>
      </p:sp>
      <p:sp>
        <p:nvSpPr>
          <p:cNvPr id="6" name="Shape 4"/>
          <p:cNvSpPr/>
          <p:nvPr/>
        </p:nvSpPr>
        <p:spPr>
          <a:xfrm>
            <a:off x="822960" y="1874520"/>
            <a:ext cx="6766560" cy="768096"/>
          </a:xfrm>
          <a:prstGeom prst="roundRect">
            <a:avLst>
              <a:gd name="adj" fmla="val 5952"/>
            </a:avLst>
          </a:prstGeom>
          <a:solidFill>
            <a:srgbClr val="24486B"/>
          </a:solidFill>
          <a:ln/>
        </p:spPr>
      </p:sp>
      <p:pic>
        <p:nvPicPr>
          <p:cNvPr id="7" name="Image 0" descr="preencoded.png">    </p:cNvPr>
          <p:cNvPicPr>
            <a:picLocks noChangeAspect="1"/>
          </p:cNvPicPr>
          <p:nvPr/>
        </p:nvPicPr>
        <p:blipFill>
          <a:blip r:embed="rId1"/>
          <a:stretch>
            <a:fillRect/>
          </a:stretch>
        </p:blipFill>
        <p:spPr>
          <a:xfrm>
            <a:off x="1097280" y="2093976"/>
            <a:ext cx="329184" cy="329184"/>
          </a:xfrm>
          <a:prstGeom prst="rect">
            <a:avLst/>
          </a:prstGeom>
        </p:spPr>
      </p:pic>
      <p:sp>
        <p:nvSpPr>
          <p:cNvPr id="8" name="Text 5"/>
          <p:cNvSpPr/>
          <p:nvPr/>
        </p:nvSpPr>
        <p:spPr>
          <a:xfrm>
            <a:off x="1554480" y="1874520"/>
            <a:ext cx="1051560" cy="768096"/>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① 認知</a:t>
            </a:r>
            <a:endParaRPr lang="en-US" sz="1500" dirty="0"/>
          </a:p>
        </p:txBody>
      </p:sp>
      <p:sp>
        <p:nvSpPr>
          <p:cNvPr id="9" name="Text 6"/>
          <p:cNvSpPr/>
          <p:nvPr/>
        </p:nvSpPr>
        <p:spPr>
          <a:xfrm>
            <a:off x="2606040" y="1874520"/>
            <a:ext cx="4800600" cy="768096"/>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「こんな施設があるんだ」</a:t>
            </a:r>
            <a:endParaRPr lang="en-US" sz="1200" dirty="0"/>
          </a:p>
        </p:txBody>
      </p:sp>
      <p:sp>
        <p:nvSpPr>
          <p:cNvPr id="10" name="Shape 7"/>
          <p:cNvSpPr/>
          <p:nvPr/>
        </p:nvSpPr>
        <p:spPr>
          <a:xfrm>
            <a:off x="1371600" y="2770632"/>
            <a:ext cx="5669280" cy="768096"/>
          </a:xfrm>
          <a:prstGeom prst="roundRect">
            <a:avLst>
              <a:gd name="adj" fmla="val 5952"/>
            </a:avLst>
          </a:prstGeom>
          <a:solidFill>
            <a:srgbClr val="2F5B87"/>
          </a:solidFill>
          <a:ln/>
        </p:spPr>
      </p:sp>
      <p:pic>
        <p:nvPicPr>
          <p:cNvPr id="11" name="Image 1" descr="preencoded.png">    </p:cNvPr>
          <p:cNvPicPr>
            <a:picLocks noChangeAspect="1"/>
          </p:cNvPicPr>
          <p:nvPr/>
        </p:nvPicPr>
        <p:blipFill>
          <a:blip r:embed="rId2"/>
          <a:stretch>
            <a:fillRect/>
          </a:stretch>
        </p:blipFill>
        <p:spPr>
          <a:xfrm>
            <a:off x="1645920" y="2990088"/>
            <a:ext cx="329184" cy="329184"/>
          </a:xfrm>
          <a:prstGeom prst="rect">
            <a:avLst/>
          </a:prstGeom>
        </p:spPr>
      </p:pic>
      <p:sp>
        <p:nvSpPr>
          <p:cNvPr id="12" name="Text 8"/>
          <p:cNvSpPr/>
          <p:nvPr/>
        </p:nvSpPr>
        <p:spPr>
          <a:xfrm>
            <a:off x="2103120" y="2770632"/>
            <a:ext cx="1051560" cy="768096"/>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② 比較</a:t>
            </a:r>
            <a:endParaRPr lang="en-US" sz="1500" dirty="0"/>
          </a:p>
        </p:txBody>
      </p:sp>
      <p:sp>
        <p:nvSpPr>
          <p:cNvPr id="13" name="Text 9"/>
          <p:cNvSpPr/>
          <p:nvPr/>
        </p:nvSpPr>
        <p:spPr>
          <a:xfrm>
            <a:off x="3154680" y="2770632"/>
            <a:ext cx="3703320" cy="768096"/>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「どうしてここなんだろう」</a:t>
            </a:r>
            <a:endParaRPr lang="en-US" sz="1200" dirty="0"/>
          </a:p>
        </p:txBody>
      </p:sp>
      <p:sp>
        <p:nvSpPr>
          <p:cNvPr id="14" name="Shape 10"/>
          <p:cNvSpPr/>
          <p:nvPr/>
        </p:nvSpPr>
        <p:spPr>
          <a:xfrm>
            <a:off x="1920240" y="3666744"/>
            <a:ext cx="4572000" cy="768096"/>
          </a:xfrm>
          <a:prstGeom prst="roundRect">
            <a:avLst>
              <a:gd name="adj" fmla="val 5952"/>
            </a:avLst>
          </a:prstGeom>
          <a:solidFill>
            <a:srgbClr val="41729C"/>
          </a:solidFill>
          <a:ln/>
        </p:spPr>
      </p:sp>
      <p:pic>
        <p:nvPicPr>
          <p:cNvPr id="15" name="Image 2" descr="preencoded.png">    </p:cNvPr>
          <p:cNvPicPr>
            <a:picLocks noChangeAspect="1"/>
          </p:cNvPicPr>
          <p:nvPr/>
        </p:nvPicPr>
        <p:blipFill>
          <a:blip r:embed="rId3"/>
          <a:stretch>
            <a:fillRect/>
          </a:stretch>
        </p:blipFill>
        <p:spPr>
          <a:xfrm>
            <a:off x="2194560" y="3886200"/>
            <a:ext cx="329184" cy="329184"/>
          </a:xfrm>
          <a:prstGeom prst="rect">
            <a:avLst/>
          </a:prstGeom>
        </p:spPr>
      </p:pic>
      <p:sp>
        <p:nvSpPr>
          <p:cNvPr id="16" name="Text 11"/>
          <p:cNvSpPr/>
          <p:nvPr/>
        </p:nvSpPr>
        <p:spPr>
          <a:xfrm>
            <a:off x="2651760" y="3666744"/>
            <a:ext cx="1051560" cy="768096"/>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③ 行動</a:t>
            </a:r>
            <a:endParaRPr lang="en-US" sz="1500" dirty="0"/>
          </a:p>
        </p:txBody>
      </p:sp>
      <p:sp>
        <p:nvSpPr>
          <p:cNvPr id="17" name="Text 12"/>
          <p:cNvSpPr/>
          <p:nvPr/>
        </p:nvSpPr>
        <p:spPr>
          <a:xfrm>
            <a:off x="3703320" y="3666744"/>
            <a:ext cx="2606040" cy="768096"/>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「応募しても大丈夫そう」</a:t>
            </a:r>
            <a:endParaRPr lang="en-US" sz="1200" dirty="0"/>
          </a:p>
        </p:txBody>
      </p:sp>
      <p:sp>
        <p:nvSpPr>
          <p:cNvPr id="18" name="Shape 13"/>
          <p:cNvSpPr/>
          <p:nvPr/>
        </p:nvSpPr>
        <p:spPr>
          <a:xfrm>
            <a:off x="2468880" y="4562856"/>
            <a:ext cx="3474720" cy="768096"/>
          </a:xfrm>
          <a:prstGeom prst="roundRect">
            <a:avLst>
              <a:gd name="adj" fmla="val 5952"/>
            </a:avLst>
          </a:prstGeom>
          <a:solidFill>
            <a:srgbClr val="D97757"/>
          </a:solidFill>
          <a:ln/>
        </p:spPr>
      </p:sp>
      <p:pic>
        <p:nvPicPr>
          <p:cNvPr id="19" name="Image 3" descr="preencoded.png">    </p:cNvPr>
          <p:cNvPicPr>
            <a:picLocks noChangeAspect="1"/>
          </p:cNvPicPr>
          <p:nvPr/>
        </p:nvPicPr>
        <p:blipFill>
          <a:blip r:embed="rId4"/>
          <a:stretch>
            <a:fillRect/>
          </a:stretch>
        </p:blipFill>
        <p:spPr>
          <a:xfrm>
            <a:off x="2743200" y="4782312"/>
            <a:ext cx="329184" cy="329184"/>
          </a:xfrm>
          <a:prstGeom prst="rect">
            <a:avLst/>
          </a:prstGeom>
        </p:spPr>
      </p:pic>
      <p:sp>
        <p:nvSpPr>
          <p:cNvPr id="20" name="Text 14"/>
          <p:cNvSpPr/>
          <p:nvPr/>
        </p:nvSpPr>
        <p:spPr>
          <a:xfrm>
            <a:off x="3200400" y="4562856"/>
            <a:ext cx="1051560" cy="768096"/>
          </a:xfrm>
          <a:prstGeom prst="rect">
            <a:avLst/>
          </a:prstGeom>
          <a:noFill/>
          <a:ln/>
        </p:spPr>
        <p:txBody>
          <a:bodyPr wrap="square" lIns="0" tIns="0" rIns="0" bIns="0" rtlCol="0" anchor="ctr"/>
          <a:lstStyle/>
          <a:p>
            <a:pPr indent="0" marL="0">
              <a:buNone/>
            </a:pPr>
            <a:r>
              <a:rPr lang="en-US" sz="1500" b="1" dirty="0">
                <a:solidFill>
                  <a:srgbClr val="FFFFFF"/>
                </a:solidFill>
                <a:latin typeface="Meiryo" pitchFamily="34" charset="0"/>
                <a:ea typeface="Meiryo" pitchFamily="34" charset="-122"/>
                <a:cs typeface="Meiryo" pitchFamily="34" charset="-120"/>
              </a:rPr>
              <a:t>④ 確信</a:t>
            </a:r>
            <a:endParaRPr lang="en-US" sz="1500" dirty="0"/>
          </a:p>
        </p:txBody>
      </p:sp>
      <p:sp>
        <p:nvSpPr>
          <p:cNvPr id="21" name="Text 15"/>
          <p:cNvSpPr/>
          <p:nvPr/>
        </p:nvSpPr>
        <p:spPr>
          <a:xfrm>
            <a:off x="4251960" y="4562856"/>
            <a:ext cx="1508760" cy="768096"/>
          </a:xfrm>
          <a:prstGeom prst="rect">
            <a:avLst/>
          </a:prstGeom>
          <a:noFill/>
          <a:ln/>
        </p:spPr>
        <p:txBody>
          <a:bodyPr wrap="square" lIns="0" tIns="0" rIns="0" bIns="0" rtlCol="0" anchor="ctr"/>
          <a:lstStyle/>
          <a:p>
            <a:pPr indent="0" marL="0">
              <a:buNone/>
            </a:pPr>
            <a:r>
              <a:rPr lang="en-US" sz="1200" dirty="0">
                <a:solidFill>
                  <a:srgbClr val="FFFFFF"/>
                </a:solidFill>
                <a:latin typeface="Meiryo" pitchFamily="34" charset="0"/>
                <a:ea typeface="Meiryo" pitchFamily="34" charset="-122"/>
                <a:cs typeface="Meiryo" pitchFamily="34" charset="-120"/>
              </a:rPr>
              <a:t>「ここで働きたい」</a:t>
            </a:r>
            <a:endParaRPr lang="en-US" sz="1200" dirty="0"/>
          </a:p>
        </p:txBody>
      </p:sp>
      <p:sp>
        <p:nvSpPr>
          <p:cNvPr id="22" name="Shape 16"/>
          <p:cNvSpPr/>
          <p:nvPr/>
        </p:nvSpPr>
        <p:spPr>
          <a:xfrm>
            <a:off x="8412480" y="1874520"/>
            <a:ext cx="3108960" cy="3456432"/>
          </a:xfrm>
          <a:prstGeom prst="roundRect">
            <a:avLst>
              <a:gd name="adj" fmla="val 1765"/>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23" name="Text 17"/>
          <p:cNvSpPr/>
          <p:nvPr/>
        </p:nvSpPr>
        <p:spPr>
          <a:xfrm>
            <a:off x="8686800" y="2039112"/>
            <a:ext cx="2560320" cy="365760"/>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企業側がやること</a:t>
            </a:r>
            <a:endParaRPr lang="en-US" sz="1500" dirty="0"/>
          </a:p>
        </p:txBody>
      </p:sp>
      <p:pic>
        <p:nvPicPr>
          <p:cNvPr id="24" name="Image 4" descr="preencoded.png">    </p:cNvPr>
          <p:cNvPicPr>
            <a:picLocks noChangeAspect="1"/>
          </p:cNvPicPr>
          <p:nvPr/>
        </p:nvPicPr>
        <p:blipFill>
          <a:blip r:embed="rId5"/>
          <a:stretch>
            <a:fillRect/>
          </a:stretch>
        </p:blipFill>
        <p:spPr>
          <a:xfrm>
            <a:off x="8686800" y="2514600"/>
            <a:ext cx="237744" cy="237744"/>
          </a:xfrm>
          <a:prstGeom prst="rect">
            <a:avLst/>
          </a:prstGeom>
        </p:spPr>
      </p:pic>
      <p:sp>
        <p:nvSpPr>
          <p:cNvPr id="25" name="Text 18"/>
          <p:cNvSpPr/>
          <p:nvPr/>
        </p:nvSpPr>
        <p:spPr>
          <a:xfrm>
            <a:off x="9015984" y="2478024"/>
            <a:ext cx="2231136" cy="640080"/>
          </a:xfrm>
          <a:prstGeom prst="rect">
            <a:avLst/>
          </a:prstGeom>
          <a:noFill/>
          <a:ln/>
        </p:spPr>
        <p:txBody>
          <a:bodyPr wrap="square" lIns="0" tIns="0" rIns="0" bIns="0" rtlCol="0" anchor="t"/>
          <a:lstStyle/>
          <a:p>
            <a:pPr indent="0" marL="0">
              <a:lnSpc>
                <a:spcPts val="1700"/>
              </a:lnSpc>
              <a:buNone/>
            </a:pPr>
            <a:r>
              <a:rPr lang="en-US" sz="1100" dirty="0">
                <a:solidFill>
                  <a:srgbClr val="6E6C63"/>
                </a:solidFill>
                <a:latin typeface="Meiryo" pitchFamily="34" charset="0"/>
                <a:ea typeface="Meiryo" pitchFamily="34" charset="-122"/>
                <a:cs typeface="Meiryo" pitchFamily="34" charset="-120"/>
              </a:rPr>
              <a:t>まず知ってもらう</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（検索上位表示・SNS 発信）</a:t>
            </a:r>
            <a:endParaRPr lang="en-US" sz="1100" dirty="0"/>
          </a:p>
        </p:txBody>
      </p:sp>
      <p:pic>
        <p:nvPicPr>
          <p:cNvPr id="26" name="Image 5" descr="preencoded.png">    </p:cNvPr>
          <p:cNvPicPr>
            <a:picLocks noChangeAspect="1"/>
          </p:cNvPicPr>
          <p:nvPr/>
        </p:nvPicPr>
        <p:blipFill>
          <a:blip r:embed="rId6"/>
          <a:stretch>
            <a:fillRect/>
          </a:stretch>
        </p:blipFill>
        <p:spPr>
          <a:xfrm>
            <a:off x="8686800" y="3227832"/>
            <a:ext cx="237744" cy="237744"/>
          </a:xfrm>
          <a:prstGeom prst="rect">
            <a:avLst/>
          </a:prstGeom>
        </p:spPr>
      </p:pic>
      <p:sp>
        <p:nvSpPr>
          <p:cNvPr id="27" name="Text 19"/>
          <p:cNvSpPr/>
          <p:nvPr/>
        </p:nvSpPr>
        <p:spPr>
          <a:xfrm>
            <a:off x="9015984" y="3191256"/>
            <a:ext cx="2231136" cy="640080"/>
          </a:xfrm>
          <a:prstGeom prst="rect">
            <a:avLst/>
          </a:prstGeom>
          <a:noFill/>
          <a:ln/>
        </p:spPr>
        <p:txBody>
          <a:bodyPr wrap="square" lIns="0" tIns="0" rIns="0" bIns="0" rtlCol="0" anchor="t"/>
          <a:lstStyle/>
          <a:p>
            <a:pPr indent="0" marL="0">
              <a:lnSpc>
                <a:spcPts val="1700"/>
              </a:lnSpc>
              <a:buNone/>
            </a:pPr>
            <a:r>
              <a:rPr lang="en-US" sz="1100" dirty="0">
                <a:solidFill>
                  <a:srgbClr val="6E6C63"/>
                </a:solidFill>
                <a:latin typeface="Meiryo" pitchFamily="34" charset="0"/>
                <a:ea typeface="Meiryo" pitchFamily="34" charset="-122"/>
                <a:cs typeface="Meiryo" pitchFamily="34" charset="-120"/>
              </a:rPr>
              <a:t>理念と現場の魅力を伝え、</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選ばれる理由をつくる</a:t>
            </a:r>
            <a:endParaRPr lang="en-US" sz="1100" dirty="0"/>
          </a:p>
        </p:txBody>
      </p:sp>
      <p:pic>
        <p:nvPicPr>
          <p:cNvPr id="28" name="Image 6" descr="preencoded.png">    </p:cNvPr>
          <p:cNvPicPr>
            <a:picLocks noChangeAspect="1"/>
          </p:cNvPicPr>
          <p:nvPr/>
        </p:nvPicPr>
        <p:blipFill>
          <a:blip r:embed="rId7"/>
          <a:stretch>
            <a:fillRect/>
          </a:stretch>
        </p:blipFill>
        <p:spPr>
          <a:xfrm>
            <a:off x="8686800" y="3941064"/>
            <a:ext cx="237744" cy="237744"/>
          </a:xfrm>
          <a:prstGeom prst="rect">
            <a:avLst/>
          </a:prstGeom>
        </p:spPr>
      </p:pic>
      <p:sp>
        <p:nvSpPr>
          <p:cNvPr id="29" name="Text 20"/>
          <p:cNvSpPr/>
          <p:nvPr/>
        </p:nvSpPr>
        <p:spPr>
          <a:xfrm>
            <a:off x="9015984" y="3904488"/>
            <a:ext cx="2231136" cy="640080"/>
          </a:xfrm>
          <a:prstGeom prst="rect">
            <a:avLst/>
          </a:prstGeom>
          <a:noFill/>
          <a:ln/>
        </p:spPr>
        <p:txBody>
          <a:bodyPr wrap="square" lIns="0" tIns="0" rIns="0" bIns="0" rtlCol="0" anchor="t"/>
          <a:lstStyle/>
          <a:p>
            <a:pPr indent="0" marL="0">
              <a:lnSpc>
                <a:spcPts val="1700"/>
              </a:lnSpc>
              <a:buNone/>
            </a:pPr>
            <a:r>
              <a:rPr lang="en-US" sz="1100" dirty="0">
                <a:solidFill>
                  <a:srgbClr val="6E6C63"/>
                </a:solidFill>
                <a:latin typeface="Meiryo" pitchFamily="34" charset="0"/>
                <a:ea typeface="Meiryo" pitchFamily="34" charset="-122"/>
                <a:cs typeface="Meiryo" pitchFamily="34" charset="-120"/>
              </a:rPr>
              <a:t>応募しやすい導線をつくる</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（入力と不安の壁を外す）</a:t>
            </a:r>
            <a:endParaRPr lang="en-US" sz="1100" dirty="0"/>
          </a:p>
        </p:txBody>
      </p:sp>
      <p:pic>
        <p:nvPicPr>
          <p:cNvPr id="30" name="Image 7" descr="preencoded.png">    </p:cNvPr>
          <p:cNvPicPr>
            <a:picLocks noChangeAspect="1"/>
          </p:cNvPicPr>
          <p:nvPr/>
        </p:nvPicPr>
        <p:blipFill>
          <a:blip r:embed="rId8"/>
          <a:stretch>
            <a:fillRect/>
          </a:stretch>
        </p:blipFill>
        <p:spPr>
          <a:xfrm>
            <a:off x="8686800" y="4654296"/>
            <a:ext cx="237744" cy="237744"/>
          </a:xfrm>
          <a:prstGeom prst="rect">
            <a:avLst/>
          </a:prstGeom>
        </p:spPr>
      </p:pic>
      <p:sp>
        <p:nvSpPr>
          <p:cNvPr id="31" name="Text 21"/>
          <p:cNvSpPr/>
          <p:nvPr/>
        </p:nvSpPr>
        <p:spPr>
          <a:xfrm>
            <a:off x="9015984" y="4617720"/>
            <a:ext cx="2231136" cy="640080"/>
          </a:xfrm>
          <a:prstGeom prst="rect">
            <a:avLst/>
          </a:prstGeom>
          <a:noFill/>
          <a:ln/>
        </p:spPr>
        <p:txBody>
          <a:bodyPr wrap="square" lIns="0" tIns="0" rIns="0" bIns="0" rtlCol="0" anchor="t"/>
          <a:lstStyle/>
          <a:p>
            <a:pPr indent="0" marL="0">
              <a:lnSpc>
                <a:spcPts val="1700"/>
              </a:lnSpc>
              <a:buNone/>
            </a:pPr>
            <a:r>
              <a:rPr lang="en-US" sz="1100" dirty="0">
                <a:solidFill>
                  <a:srgbClr val="6E6C63"/>
                </a:solidFill>
                <a:latin typeface="Meiryo" pitchFamily="34" charset="0"/>
                <a:ea typeface="Meiryo" pitchFamily="34" charset="-122"/>
                <a:cs typeface="Meiryo" pitchFamily="34" charset="-120"/>
              </a:rPr>
              <a:t>見学・体験で不安を解消し、</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確信に変える</a:t>
            </a:r>
            <a:endParaRPr lang="en-US" sz="1100" dirty="0"/>
          </a:p>
        </p:txBody>
      </p:sp>
      <p:sp>
        <p:nvSpPr>
          <p:cNvPr id="32" name="Shape 22"/>
          <p:cNvSpPr/>
          <p:nvPr/>
        </p:nvSpPr>
        <p:spPr>
          <a:xfrm>
            <a:off x="640080" y="5440680"/>
            <a:ext cx="10881360" cy="640080"/>
          </a:xfrm>
          <a:prstGeom prst="roundRect">
            <a:avLst>
              <a:gd name="adj" fmla="val 8571"/>
            </a:avLst>
          </a:prstGeom>
          <a:solidFill>
            <a:srgbClr val="141413"/>
          </a:solidFill>
          <a:ln/>
        </p:spPr>
      </p:sp>
      <p:sp>
        <p:nvSpPr>
          <p:cNvPr id="33" name="Text 23"/>
          <p:cNvSpPr/>
          <p:nvPr/>
        </p:nvSpPr>
        <p:spPr>
          <a:xfrm>
            <a:off x="1005840" y="5440680"/>
            <a:ext cx="10149840" cy="640080"/>
          </a:xfrm>
          <a:prstGeom prst="rect">
            <a:avLst/>
          </a:prstGeom>
          <a:noFill/>
          <a:ln/>
        </p:spPr>
        <p:txBody>
          <a:bodyPr wrap="square" lIns="0" tIns="0" rIns="0" bIns="0" rtlCol="0" anchor="ctr"/>
          <a:lstStyle/>
          <a:p>
            <a:pPr algn="l" indent="0" marL="0">
              <a:lnSpc>
                <a:spcPts val="1900"/>
              </a:lnSpc>
              <a:buNone/>
            </a:pPr>
            <a:r>
              <a:rPr lang="en-US" sz="1250" b="1" dirty="0">
                <a:solidFill>
                  <a:srgbClr val="D97757"/>
                </a:solidFill>
                <a:latin typeface="Meiryo" pitchFamily="34" charset="0"/>
                <a:ea typeface="Meiryo" pitchFamily="34" charset="-122"/>
                <a:cs typeface="Meiryo" pitchFamily="34" charset="-120"/>
              </a:rPr>
              <a:t>ここが要点　</a:t>
            </a:r>
            <a:pPr algn="l" indent="0" marL="0">
              <a:lnSpc>
                <a:spcPts val="1900"/>
              </a:lnSpc>
              <a:buNone/>
            </a:pPr>
            <a:r>
              <a:rPr lang="en-US" sz="1200" dirty="0">
                <a:solidFill>
                  <a:srgbClr val="FFFFFF"/>
                </a:solidFill>
                <a:latin typeface="Meiryo" pitchFamily="34" charset="0"/>
                <a:ea typeface="Meiryo" pitchFamily="34" charset="-122"/>
                <a:cs typeface="Meiryo" pitchFamily="34" charset="-120"/>
              </a:rPr>
              <a:t>段階を飛ばして「④ 確信」だけ強化しても効きません。止まっている段階を特定してから手を打ちます。</a:t>
            </a:r>
            <a:endParaRPr lang="en-US" sz="1250" dirty="0"/>
          </a:p>
        </p:txBody>
      </p:sp>
      <p:sp>
        <p:nvSpPr>
          <p:cNvPr id="34" name="Text 24"/>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35" name="Text 25"/>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06 / 19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646920" y="457200"/>
            <a:ext cx="1874520" cy="310896"/>
          </a:xfrm>
          <a:prstGeom prst="roundRect">
            <a:avLst>
              <a:gd name="adj" fmla="val 14706"/>
            </a:avLst>
          </a:prstGeom>
          <a:solidFill>
            <a:srgbClr val="E7ECDD"/>
          </a:solidFill>
          <a:ln w="12700">
            <a:solidFill>
              <a:srgbClr val="788C5D"/>
            </a:solidFill>
            <a:prstDash val="solid"/>
          </a:ln>
        </p:spPr>
      </p:sp>
      <p:sp>
        <p:nvSpPr>
          <p:cNvPr id="3" name="Text 1"/>
          <p:cNvSpPr/>
          <p:nvPr/>
        </p:nvSpPr>
        <p:spPr>
          <a:xfrm>
            <a:off x="9646920" y="457200"/>
            <a:ext cx="1874520" cy="310896"/>
          </a:xfrm>
          <a:prstGeom prst="rect">
            <a:avLst/>
          </a:prstGeom>
          <a:noFill/>
          <a:ln/>
        </p:spPr>
        <p:txBody>
          <a:bodyPr wrap="square" lIns="0" tIns="0" rIns="0" bIns="0" rtlCol="0" anchor="ctr"/>
          <a:lstStyle/>
          <a:p>
            <a:pPr algn="ctr" indent="0" marL="0">
              <a:buNone/>
            </a:pPr>
            <a:r>
              <a:rPr lang="en-US" sz="1050" b="1" dirty="0">
                <a:solidFill>
                  <a:srgbClr val="788C5D"/>
                </a:solidFill>
                <a:latin typeface="Meiryo" pitchFamily="34" charset="0"/>
                <a:ea typeface="Meiryo" pitchFamily="34" charset="-122"/>
                <a:cs typeface="Meiryo" pitchFamily="34" charset="-120"/>
              </a:rPr>
              <a:t>AI 講座パート</a:t>
            </a:r>
            <a:endParaRPr lang="en-US" sz="1050" dirty="0"/>
          </a:p>
        </p:txBody>
      </p:sp>
      <p:sp>
        <p:nvSpPr>
          <p:cNvPr id="4" name="Shape 2"/>
          <p:cNvSpPr/>
          <p:nvPr/>
        </p:nvSpPr>
        <p:spPr>
          <a:xfrm>
            <a:off x="640080" y="457200"/>
            <a:ext cx="1783080" cy="310896"/>
          </a:xfrm>
          <a:prstGeom prst="roundRect">
            <a:avLst>
              <a:gd name="adj" fmla="val 14706"/>
            </a:avLst>
          </a:prstGeom>
          <a:solidFill>
            <a:srgbClr val="D97757"/>
          </a:solidFill>
          <a:ln/>
        </p:spPr>
      </p:sp>
      <p:sp>
        <p:nvSpPr>
          <p:cNvPr id="5" name="Text 3"/>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1</a:t>
            </a:r>
            <a:endParaRPr lang="en-US" sz="1100" dirty="0"/>
          </a:p>
        </p:txBody>
      </p:sp>
      <p:sp>
        <p:nvSpPr>
          <p:cNvPr id="6" name="Text 4"/>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段階別 ｜ やること × AI の使いどころ</a:t>
            </a:r>
            <a:endParaRPr lang="en-US" sz="2700" dirty="0"/>
          </a:p>
        </p:txBody>
      </p:sp>
      <p:sp>
        <p:nvSpPr>
          <p:cNvPr id="7" name="Text 5"/>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AI は「書く・調べる・数える」を担当。判断と現場対応は人が担当します</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1051560"/>
                <a:gridCol w="2331720"/>
                <a:gridCol w="3291840"/>
                <a:gridCol w="4206240"/>
              </a:tblGrid>
              <a:tr h="658368">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段階</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求職者の心理</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企業がやること</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AI にやらせること</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r>
              <a:tr h="658368">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① 認知</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「こんな施設があるんだ」</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検索で見つかる状態をつくる。</a:t>
                      </a:r>
                      <a:endParaRPr lang="en-US" sz="1050" dirty="0">
                        <a:latin typeface="Meiryo" charset="0"/>
                        <a:ea typeface="Meiryo" charset="0"/>
                        <a:cs typeface="Meiryo" charset="0"/>
                      </a:endParaRPr>
                    </a:p>
                    <a:p>
                      <a:pPr algn="l" indent="0" marL="0">
                        <a:buNone/>
                      </a:pPr>
                      <a:r>
                        <a:rPr lang="en-US" sz="1050" dirty="0">
                          <a:solidFill>
                            <a:srgbClr val="4A4943"/>
                          </a:solidFill>
                          <a:latin typeface="Meiryo" pitchFamily="34" charset="0"/>
                          <a:ea typeface="Meiryo" pitchFamily="34" charset="-122"/>
                          <a:cs typeface="Meiryo" pitchFamily="34" charset="-120"/>
                        </a:rPr>
                        <a:t>SNS で現場を発信する。</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788C5D"/>
                          </a:solidFill>
                          <a:latin typeface="Meiryo" pitchFamily="34" charset="0"/>
                          <a:ea typeface="Meiryo" pitchFamily="34" charset="-122"/>
                          <a:cs typeface="Meiryo" pitchFamily="34" charset="-120"/>
                        </a:rPr>
                        <a:t>求人検索で使われる言葉の洗い出し、</a:t>
                      </a:r>
                      <a:endParaRPr lang="en-US" sz="1050" dirty="0">
                        <a:latin typeface="Meiryo" charset="0"/>
                        <a:ea typeface="Meiryo" charset="0"/>
                        <a:cs typeface="Meiryo" charset="0"/>
                      </a:endParaRPr>
                    </a:p>
                    <a:p>
                      <a:pPr algn="l" indent="0" marL="0">
                        <a:buNone/>
                      </a:pPr>
                      <a:r>
                        <a:rPr lang="en-US" sz="1050" dirty="0">
                          <a:solidFill>
                            <a:srgbClr val="788C5D"/>
                          </a:solidFill>
                          <a:latin typeface="Meiryo" pitchFamily="34" charset="0"/>
                          <a:ea typeface="Meiryo" pitchFamily="34" charset="-122"/>
                          <a:cs typeface="Meiryo" pitchFamily="34" charset="-120"/>
                        </a:rPr>
                        <a:t>SNS 投稿案を 10 本まとめて生成</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658368">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② 比較</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「どうしてここなんだろう」</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理念・現場の魅力を言語化し、</a:t>
                      </a:r>
                      <a:endParaRPr lang="en-US" sz="1050" dirty="0">
                        <a:latin typeface="Meiryo" charset="0"/>
                        <a:ea typeface="Meiryo" charset="0"/>
                        <a:cs typeface="Meiryo" charset="0"/>
                      </a:endParaRPr>
                    </a:p>
                    <a:p>
                      <a:pPr algn="l" indent="0" marL="0">
                        <a:buNone/>
                      </a:pPr>
                      <a:r>
                        <a:rPr lang="en-US" sz="1050" dirty="0">
                          <a:solidFill>
                            <a:srgbClr val="4A4943"/>
                          </a:solidFill>
                          <a:latin typeface="Meiryo" pitchFamily="34" charset="0"/>
                          <a:ea typeface="Meiryo" pitchFamily="34" charset="-122"/>
                          <a:cs typeface="Meiryo" pitchFamily="34" charset="-120"/>
                        </a:rPr>
                        <a:t>他施設との違いを示す。</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788C5D"/>
                          </a:solidFill>
                          <a:latin typeface="Meiryo" pitchFamily="34" charset="0"/>
                          <a:ea typeface="Meiryo" pitchFamily="34" charset="-122"/>
                          <a:cs typeface="Meiryo" pitchFamily="34" charset="-120"/>
                        </a:rPr>
                        <a:t>近隣施設の求人文を並べ、</a:t>
                      </a:r>
                      <a:endParaRPr lang="en-US" sz="1050" dirty="0">
                        <a:latin typeface="Meiryo" charset="0"/>
                        <a:ea typeface="Meiryo" charset="0"/>
                        <a:cs typeface="Meiryo" charset="0"/>
                      </a:endParaRPr>
                    </a:p>
                    <a:p>
                      <a:pPr algn="l" indent="0" marL="0">
                        <a:buNone/>
                      </a:pPr>
                      <a:r>
                        <a:rPr lang="en-US" sz="1050" dirty="0">
                          <a:solidFill>
                            <a:srgbClr val="788C5D"/>
                          </a:solidFill>
                          <a:latin typeface="Meiryo" pitchFamily="34" charset="0"/>
                          <a:ea typeface="Meiryo" pitchFamily="34" charset="-122"/>
                          <a:cs typeface="Meiryo" pitchFamily="34" charset="-120"/>
                        </a:rPr>
                        <a:t>自社にしかない要素を抽出させる</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658368">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③ 行動</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「応募しても大丈夫そう」</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応募フォームを短くし、</a:t>
                      </a:r>
                      <a:endParaRPr lang="en-US" sz="1050" dirty="0">
                        <a:latin typeface="Meiryo" charset="0"/>
                        <a:ea typeface="Meiryo" charset="0"/>
                        <a:cs typeface="Meiryo" charset="0"/>
                      </a:endParaRPr>
                    </a:p>
                    <a:p>
                      <a:pPr algn="l" indent="0" marL="0">
                        <a:buNone/>
                      </a:pPr>
                      <a:r>
                        <a:rPr lang="en-US" sz="1050" dirty="0">
                          <a:solidFill>
                            <a:srgbClr val="4A4943"/>
                          </a:solidFill>
                          <a:latin typeface="Meiryo" pitchFamily="34" charset="0"/>
                          <a:ea typeface="Meiryo" pitchFamily="34" charset="-122"/>
                          <a:cs typeface="Meiryo" pitchFamily="34" charset="-120"/>
                        </a:rPr>
                        <a:t>不安に先回りして答える。</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788C5D"/>
                          </a:solidFill>
                          <a:latin typeface="Meiryo" pitchFamily="34" charset="0"/>
                          <a:ea typeface="Meiryo" pitchFamily="34" charset="-122"/>
                          <a:cs typeface="Meiryo" pitchFamily="34" charset="-120"/>
                        </a:rPr>
                        <a:t>応募をためらう理由を 20 個出させ、</a:t>
                      </a:r>
                      <a:endParaRPr lang="en-US" sz="1050" dirty="0">
                        <a:latin typeface="Meiryo" charset="0"/>
                        <a:ea typeface="Meiryo" charset="0"/>
                        <a:cs typeface="Meiryo" charset="0"/>
                      </a:endParaRPr>
                    </a:p>
                    <a:p>
                      <a:pPr algn="l" indent="0" marL="0">
                        <a:buNone/>
                      </a:pPr>
                      <a:r>
                        <a:rPr lang="en-US" sz="1050" dirty="0">
                          <a:solidFill>
                            <a:srgbClr val="788C5D"/>
                          </a:solidFill>
                          <a:latin typeface="Meiryo" pitchFamily="34" charset="0"/>
                          <a:ea typeface="Meiryo" pitchFamily="34" charset="-122"/>
                          <a:cs typeface="Meiryo" pitchFamily="34" charset="-120"/>
                        </a:rPr>
                        <a:t>FAQ の下書きを作る</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658368">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④ 確信</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「ここで働きたい」</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職場体験会で空気感を体感してもらう。</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788C5D"/>
                          </a:solidFill>
                          <a:latin typeface="Meiryo" pitchFamily="34" charset="0"/>
                          <a:ea typeface="Meiryo" pitchFamily="34" charset="-122"/>
                          <a:cs typeface="Meiryo" pitchFamily="34" charset="-120"/>
                        </a:rPr>
                        <a:t>体験会の当日台本と、</a:t>
                      </a:r>
                      <a:endParaRPr lang="en-US" sz="1050" dirty="0">
                        <a:latin typeface="Meiryo" charset="0"/>
                        <a:ea typeface="Meiryo" charset="0"/>
                        <a:cs typeface="Meiryo" charset="0"/>
                      </a:endParaRPr>
                    </a:p>
                    <a:p>
                      <a:pPr algn="l" indent="0" marL="0">
                        <a:buNone/>
                      </a:pPr>
                      <a:r>
                        <a:rPr lang="en-US" sz="1050" dirty="0">
                          <a:solidFill>
                            <a:srgbClr val="788C5D"/>
                          </a:solidFill>
                          <a:latin typeface="Meiryo" pitchFamily="34" charset="0"/>
                          <a:ea typeface="Meiryo" pitchFamily="34" charset="-122"/>
                          <a:cs typeface="Meiryo" pitchFamily="34" charset="-120"/>
                        </a:rPr>
                        <a:t>面談で聞く質問リストを作る</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bl>
          </a:graphicData>
        </a:graphic>
      </p:graphicFrame>
      <p:sp>
        <p:nvSpPr>
          <p:cNvPr id="9" name="Shape 6"/>
          <p:cNvSpPr/>
          <p:nvPr/>
        </p:nvSpPr>
        <p:spPr>
          <a:xfrm>
            <a:off x="640080" y="5349240"/>
            <a:ext cx="10881360" cy="658368"/>
          </a:xfrm>
          <a:prstGeom prst="roundRect">
            <a:avLst>
              <a:gd name="adj" fmla="val 8333"/>
            </a:avLst>
          </a:prstGeom>
          <a:solidFill>
            <a:srgbClr val="E7ECDD"/>
          </a:solidFill>
          <a:ln w="12700">
            <a:solidFill>
              <a:srgbClr val="788C5D"/>
            </a:solidFill>
            <a:prstDash val="solid"/>
          </a:ln>
        </p:spPr>
      </p:sp>
      <p:pic>
        <p:nvPicPr>
          <p:cNvPr id="10" name="Image 0" descr="preencoded.png">    </p:cNvPr>
          <p:cNvPicPr>
            <a:picLocks noChangeAspect="1"/>
          </p:cNvPicPr>
          <p:nvPr/>
        </p:nvPicPr>
        <p:blipFill>
          <a:blip r:embed="rId1"/>
          <a:stretch>
            <a:fillRect/>
          </a:stretch>
        </p:blipFill>
        <p:spPr>
          <a:xfrm>
            <a:off x="896112" y="5522976"/>
            <a:ext cx="310896" cy="310896"/>
          </a:xfrm>
          <a:prstGeom prst="rect">
            <a:avLst/>
          </a:prstGeom>
        </p:spPr>
      </p:pic>
      <p:sp>
        <p:nvSpPr>
          <p:cNvPr id="11" name="Text 7"/>
          <p:cNvSpPr/>
          <p:nvPr/>
        </p:nvSpPr>
        <p:spPr>
          <a:xfrm>
            <a:off x="1325880" y="5349240"/>
            <a:ext cx="9966960" cy="658368"/>
          </a:xfrm>
          <a:prstGeom prst="rect">
            <a:avLst/>
          </a:prstGeom>
          <a:noFill/>
          <a:ln/>
        </p:spPr>
        <p:txBody>
          <a:bodyPr wrap="square" lIns="0" tIns="0" rIns="0" bIns="0" rtlCol="0" anchor="ctr"/>
          <a:lstStyle/>
          <a:p>
            <a:pPr indent="0" marL="0">
              <a:lnSpc>
                <a:spcPts val="1800"/>
              </a:lnSpc>
              <a:buNone/>
            </a:pPr>
            <a:r>
              <a:rPr lang="en-US" sz="1250" b="1" dirty="0">
                <a:solidFill>
                  <a:srgbClr val="788C5D"/>
                </a:solidFill>
                <a:latin typeface="Meiryo" pitchFamily="34" charset="0"/>
                <a:ea typeface="Meiryo" pitchFamily="34" charset="-122"/>
                <a:cs typeface="Meiryo" pitchFamily="34" charset="-120"/>
              </a:rPr>
              <a:t>AI に丸投げしない　</a:t>
            </a:r>
            <a:pPr indent="0" marL="0">
              <a:lnSpc>
                <a:spcPts val="1800"/>
              </a:lnSpc>
              <a:buNone/>
            </a:pPr>
            <a:r>
              <a:rPr lang="en-US" sz="1150" dirty="0">
                <a:solidFill>
                  <a:srgbClr val="4A4943"/>
                </a:solidFill>
                <a:latin typeface="Meiryo" pitchFamily="34" charset="0"/>
                <a:ea typeface="Meiryo" pitchFamily="34" charset="-122"/>
                <a:cs typeface="Meiryo" pitchFamily="34" charset="-120"/>
              </a:rPr>
              <a:t>AI が出した文章は「たたき台」です。現場の言葉に直し、事実確認をしてから公開してください。</a:t>
            </a:r>
            <a:endParaRPr lang="en-US" sz="1250" dirty="0"/>
          </a:p>
        </p:txBody>
      </p:sp>
      <p:sp>
        <p:nvSpPr>
          <p:cNvPr id="12" name="Text 8"/>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13" name="Text 9"/>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07 / 19</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1</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ワーク②：どこで止まっているかを特定する</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人数ではなく「率」で見ます。落ちている 1 か所だけを直します</a:t>
            </a:r>
            <a:endParaRPr lang="en-US" sz="1300" dirty="0"/>
          </a:p>
        </p:txBody>
      </p:sp>
      <p:sp>
        <p:nvSpPr>
          <p:cNvPr id="6" name="Shape 4"/>
          <p:cNvSpPr/>
          <p:nvPr/>
        </p:nvSpPr>
        <p:spPr>
          <a:xfrm>
            <a:off x="640080" y="1874520"/>
            <a:ext cx="2480310" cy="1280160"/>
          </a:xfrm>
          <a:prstGeom prst="roundRect">
            <a:avLst>
              <a:gd name="adj" fmla="val 428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7" name="Text 5"/>
          <p:cNvSpPr/>
          <p:nvPr/>
        </p:nvSpPr>
        <p:spPr>
          <a:xfrm>
            <a:off x="841248" y="1984248"/>
            <a:ext cx="2077974" cy="256032"/>
          </a:xfrm>
          <a:prstGeom prst="rect">
            <a:avLst/>
          </a:prstGeom>
          <a:noFill/>
          <a:ln/>
        </p:spPr>
        <p:txBody>
          <a:bodyPr wrap="square" lIns="0" tIns="0" rIns="0" bIns="0" rtlCol="0" anchor="ctr"/>
          <a:lstStyle/>
          <a:p>
            <a:pPr indent="0" marL="0">
              <a:buNone/>
            </a:pPr>
            <a:r>
              <a:rPr lang="en-US" sz="1100" b="1" dirty="0">
                <a:solidFill>
                  <a:srgbClr val="D97757"/>
                </a:solidFill>
                <a:latin typeface="Meiryo" pitchFamily="34" charset="0"/>
                <a:ea typeface="Meiryo" pitchFamily="34" charset="-122"/>
                <a:cs typeface="Meiryo" pitchFamily="34" charset="-120"/>
              </a:rPr>
              <a:t>①→②</a:t>
            </a:r>
            <a:endParaRPr lang="en-US" sz="1100" dirty="0"/>
          </a:p>
        </p:txBody>
      </p:sp>
      <p:sp>
        <p:nvSpPr>
          <p:cNvPr id="8" name="Text 6"/>
          <p:cNvSpPr/>
          <p:nvPr/>
        </p:nvSpPr>
        <p:spPr>
          <a:xfrm>
            <a:off x="841248" y="2240280"/>
            <a:ext cx="2077974" cy="347472"/>
          </a:xfrm>
          <a:prstGeom prst="rect">
            <a:avLst/>
          </a:prstGeom>
          <a:noFill/>
          <a:ln/>
        </p:spPr>
        <p:txBody>
          <a:bodyPr wrap="square" lIns="0" tIns="0" rIns="0" bIns="0" rtlCol="0" anchor="ctr"/>
          <a:lstStyle/>
          <a:p>
            <a:pPr indent="0" marL="0">
              <a:buNone/>
            </a:pPr>
            <a:r>
              <a:rPr lang="en-US" sz="1600" b="1" dirty="0">
                <a:solidFill>
                  <a:srgbClr val="141413"/>
                </a:solidFill>
                <a:latin typeface="Meiryo" pitchFamily="34" charset="0"/>
                <a:ea typeface="Meiryo" pitchFamily="34" charset="-122"/>
                <a:cs typeface="Meiryo" pitchFamily="34" charset="-120"/>
              </a:rPr>
              <a:t>閲覧率</a:t>
            </a:r>
            <a:endParaRPr lang="en-US" sz="1600" dirty="0"/>
          </a:p>
        </p:txBody>
      </p:sp>
      <p:sp>
        <p:nvSpPr>
          <p:cNvPr id="9" name="Text 7"/>
          <p:cNvSpPr/>
          <p:nvPr/>
        </p:nvSpPr>
        <p:spPr>
          <a:xfrm>
            <a:off x="841248" y="2606040"/>
            <a:ext cx="2077974" cy="475488"/>
          </a:xfrm>
          <a:prstGeom prst="rect">
            <a:avLst/>
          </a:prstGeom>
          <a:noFill/>
          <a:ln/>
        </p:spPr>
        <p:txBody>
          <a:bodyPr wrap="square" lIns="0" tIns="0" rIns="0" bIns="0" rtlCol="0" anchor="t"/>
          <a:lstStyle/>
          <a:p>
            <a:pPr indent="0" marL="0">
              <a:lnSpc>
                <a:spcPts val="1500"/>
              </a:lnSpc>
              <a:buNone/>
            </a:pPr>
            <a:r>
              <a:rPr lang="en-US" sz="1000" dirty="0">
                <a:solidFill>
                  <a:srgbClr val="6E6C63"/>
                </a:solidFill>
                <a:latin typeface="Meiryo" pitchFamily="34" charset="0"/>
                <a:ea typeface="Meiryo" pitchFamily="34" charset="-122"/>
                <a:cs typeface="Meiryo" pitchFamily="34" charset="-120"/>
              </a:rPr>
              <a:t>求人が表示された回数のうち、</a:t>
            </a:r>
            <a:endParaRPr lang="en-US" sz="1000" dirty="0"/>
          </a:p>
          <a:p>
            <a:pPr indent="0" marL="0">
              <a:lnSpc>
                <a:spcPts val="1500"/>
              </a:lnSpc>
              <a:buNone/>
            </a:pPr>
            <a:r>
              <a:rPr lang="en-US" sz="1000" dirty="0">
                <a:solidFill>
                  <a:srgbClr val="6E6C63"/>
                </a:solidFill>
                <a:latin typeface="Meiryo" pitchFamily="34" charset="0"/>
                <a:ea typeface="Meiryo" pitchFamily="34" charset="-122"/>
                <a:cs typeface="Meiryo" pitchFamily="34" charset="-120"/>
              </a:rPr>
              <a:t>クリックされた割合</a:t>
            </a:r>
            <a:endParaRPr lang="en-US" sz="1000" dirty="0"/>
          </a:p>
        </p:txBody>
      </p:sp>
      <p:sp>
        <p:nvSpPr>
          <p:cNvPr id="10" name="Shape 8"/>
          <p:cNvSpPr/>
          <p:nvPr/>
        </p:nvSpPr>
        <p:spPr>
          <a:xfrm>
            <a:off x="3440430" y="1874520"/>
            <a:ext cx="2480310" cy="1280160"/>
          </a:xfrm>
          <a:prstGeom prst="roundRect">
            <a:avLst>
              <a:gd name="adj" fmla="val 428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1" name="Text 9"/>
          <p:cNvSpPr/>
          <p:nvPr/>
        </p:nvSpPr>
        <p:spPr>
          <a:xfrm>
            <a:off x="3641598" y="1984248"/>
            <a:ext cx="2077974" cy="256032"/>
          </a:xfrm>
          <a:prstGeom prst="rect">
            <a:avLst/>
          </a:prstGeom>
          <a:noFill/>
          <a:ln/>
        </p:spPr>
        <p:txBody>
          <a:bodyPr wrap="square" lIns="0" tIns="0" rIns="0" bIns="0" rtlCol="0" anchor="ctr"/>
          <a:lstStyle/>
          <a:p>
            <a:pPr indent="0" marL="0">
              <a:buNone/>
            </a:pPr>
            <a:r>
              <a:rPr lang="en-US" sz="1100" b="1" dirty="0">
                <a:solidFill>
                  <a:srgbClr val="D97757"/>
                </a:solidFill>
                <a:latin typeface="Meiryo" pitchFamily="34" charset="0"/>
                <a:ea typeface="Meiryo" pitchFamily="34" charset="-122"/>
                <a:cs typeface="Meiryo" pitchFamily="34" charset="-120"/>
              </a:rPr>
              <a:t>②→③</a:t>
            </a:r>
            <a:endParaRPr lang="en-US" sz="1100" dirty="0"/>
          </a:p>
        </p:txBody>
      </p:sp>
      <p:sp>
        <p:nvSpPr>
          <p:cNvPr id="12" name="Text 10"/>
          <p:cNvSpPr/>
          <p:nvPr/>
        </p:nvSpPr>
        <p:spPr>
          <a:xfrm>
            <a:off x="3641598" y="2240280"/>
            <a:ext cx="2077974" cy="347472"/>
          </a:xfrm>
          <a:prstGeom prst="rect">
            <a:avLst/>
          </a:prstGeom>
          <a:noFill/>
          <a:ln/>
        </p:spPr>
        <p:txBody>
          <a:bodyPr wrap="square" lIns="0" tIns="0" rIns="0" bIns="0" rtlCol="0" anchor="ctr"/>
          <a:lstStyle/>
          <a:p>
            <a:pPr indent="0" marL="0">
              <a:buNone/>
            </a:pPr>
            <a:r>
              <a:rPr lang="en-US" sz="1600" b="1" dirty="0">
                <a:solidFill>
                  <a:srgbClr val="141413"/>
                </a:solidFill>
                <a:latin typeface="Meiryo" pitchFamily="34" charset="0"/>
                <a:ea typeface="Meiryo" pitchFamily="34" charset="-122"/>
                <a:cs typeface="Meiryo" pitchFamily="34" charset="-120"/>
              </a:rPr>
              <a:t>応募率</a:t>
            </a:r>
            <a:endParaRPr lang="en-US" sz="1600" dirty="0"/>
          </a:p>
        </p:txBody>
      </p:sp>
      <p:sp>
        <p:nvSpPr>
          <p:cNvPr id="13" name="Text 11"/>
          <p:cNvSpPr/>
          <p:nvPr/>
        </p:nvSpPr>
        <p:spPr>
          <a:xfrm>
            <a:off x="3641598" y="2606040"/>
            <a:ext cx="2077974" cy="475488"/>
          </a:xfrm>
          <a:prstGeom prst="rect">
            <a:avLst/>
          </a:prstGeom>
          <a:noFill/>
          <a:ln/>
        </p:spPr>
        <p:txBody>
          <a:bodyPr wrap="square" lIns="0" tIns="0" rIns="0" bIns="0" rtlCol="0" anchor="t"/>
          <a:lstStyle/>
          <a:p>
            <a:pPr indent="0" marL="0">
              <a:lnSpc>
                <a:spcPts val="1500"/>
              </a:lnSpc>
              <a:buNone/>
            </a:pPr>
            <a:r>
              <a:rPr lang="en-US" sz="1000" dirty="0">
                <a:solidFill>
                  <a:srgbClr val="6E6C63"/>
                </a:solidFill>
                <a:latin typeface="Meiryo" pitchFamily="34" charset="0"/>
                <a:ea typeface="Meiryo" pitchFamily="34" charset="-122"/>
                <a:cs typeface="Meiryo" pitchFamily="34" charset="-120"/>
              </a:rPr>
              <a:t>ページを見た人のうち、</a:t>
            </a:r>
            <a:endParaRPr lang="en-US" sz="1000" dirty="0"/>
          </a:p>
          <a:p>
            <a:pPr indent="0" marL="0">
              <a:lnSpc>
                <a:spcPts val="1500"/>
              </a:lnSpc>
              <a:buNone/>
            </a:pPr>
            <a:r>
              <a:rPr lang="en-US" sz="1000" dirty="0">
                <a:solidFill>
                  <a:srgbClr val="6E6C63"/>
                </a:solidFill>
                <a:latin typeface="Meiryo" pitchFamily="34" charset="0"/>
                <a:ea typeface="Meiryo" pitchFamily="34" charset="-122"/>
                <a:cs typeface="Meiryo" pitchFamily="34" charset="-120"/>
              </a:rPr>
              <a:t>応募まで進んだ割合</a:t>
            </a:r>
            <a:endParaRPr lang="en-US" sz="1000" dirty="0"/>
          </a:p>
        </p:txBody>
      </p:sp>
      <p:sp>
        <p:nvSpPr>
          <p:cNvPr id="14" name="Shape 12"/>
          <p:cNvSpPr/>
          <p:nvPr/>
        </p:nvSpPr>
        <p:spPr>
          <a:xfrm>
            <a:off x="6240780" y="1874520"/>
            <a:ext cx="2480310" cy="1280160"/>
          </a:xfrm>
          <a:prstGeom prst="roundRect">
            <a:avLst>
              <a:gd name="adj" fmla="val 428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5" name="Text 13"/>
          <p:cNvSpPr/>
          <p:nvPr/>
        </p:nvSpPr>
        <p:spPr>
          <a:xfrm>
            <a:off x="6441948" y="1984248"/>
            <a:ext cx="2077974" cy="256032"/>
          </a:xfrm>
          <a:prstGeom prst="rect">
            <a:avLst/>
          </a:prstGeom>
          <a:noFill/>
          <a:ln/>
        </p:spPr>
        <p:txBody>
          <a:bodyPr wrap="square" lIns="0" tIns="0" rIns="0" bIns="0" rtlCol="0" anchor="ctr"/>
          <a:lstStyle/>
          <a:p>
            <a:pPr indent="0" marL="0">
              <a:buNone/>
            </a:pPr>
            <a:r>
              <a:rPr lang="en-US" sz="1100" b="1" dirty="0">
                <a:solidFill>
                  <a:srgbClr val="D97757"/>
                </a:solidFill>
                <a:latin typeface="Meiryo" pitchFamily="34" charset="0"/>
                <a:ea typeface="Meiryo" pitchFamily="34" charset="-122"/>
                <a:cs typeface="Meiryo" pitchFamily="34" charset="-120"/>
              </a:rPr>
              <a:t>③→④</a:t>
            </a:r>
            <a:endParaRPr lang="en-US" sz="1100" dirty="0"/>
          </a:p>
        </p:txBody>
      </p:sp>
      <p:sp>
        <p:nvSpPr>
          <p:cNvPr id="16" name="Text 14"/>
          <p:cNvSpPr/>
          <p:nvPr/>
        </p:nvSpPr>
        <p:spPr>
          <a:xfrm>
            <a:off x="6441948" y="2240280"/>
            <a:ext cx="2077974" cy="347472"/>
          </a:xfrm>
          <a:prstGeom prst="rect">
            <a:avLst/>
          </a:prstGeom>
          <a:noFill/>
          <a:ln/>
        </p:spPr>
        <p:txBody>
          <a:bodyPr wrap="square" lIns="0" tIns="0" rIns="0" bIns="0" rtlCol="0" anchor="ctr"/>
          <a:lstStyle/>
          <a:p>
            <a:pPr indent="0" marL="0">
              <a:buNone/>
            </a:pPr>
            <a:r>
              <a:rPr lang="en-US" sz="1600" b="1" dirty="0">
                <a:solidFill>
                  <a:srgbClr val="141413"/>
                </a:solidFill>
                <a:latin typeface="Meiryo" pitchFamily="34" charset="0"/>
                <a:ea typeface="Meiryo" pitchFamily="34" charset="-122"/>
                <a:cs typeface="Meiryo" pitchFamily="34" charset="-120"/>
              </a:rPr>
              <a:t>参加率</a:t>
            </a:r>
            <a:endParaRPr lang="en-US" sz="1600" dirty="0"/>
          </a:p>
        </p:txBody>
      </p:sp>
      <p:sp>
        <p:nvSpPr>
          <p:cNvPr id="17" name="Text 15"/>
          <p:cNvSpPr/>
          <p:nvPr/>
        </p:nvSpPr>
        <p:spPr>
          <a:xfrm>
            <a:off x="6441948" y="2606040"/>
            <a:ext cx="2077974" cy="475488"/>
          </a:xfrm>
          <a:prstGeom prst="rect">
            <a:avLst/>
          </a:prstGeom>
          <a:noFill/>
          <a:ln/>
        </p:spPr>
        <p:txBody>
          <a:bodyPr wrap="square" lIns="0" tIns="0" rIns="0" bIns="0" rtlCol="0" anchor="t"/>
          <a:lstStyle/>
          <a:p>
            <a:pPr indent="0" marL="0">
              <a:lnSpc>
                <a:spcPts val="1500"/>
              </a:lnSpc>
              <a:buNone/>
            </a:pPr>
            <a:r>
              <a:rPr lang="en-US" sz="1000" dirty="0">
                <a:solidFill>
                  <a:srgbClr val="6E6C63"/>
                </a:solidFill>
                <a:latin typeface="Meiryo" pitchFamily="34" charset="0"/>
                <a:ea typeface="Meiryo" pitchFamily="34" charset="-122"/>
                <a:cs typeface="Meiryo" pitchFamily="34" charset="-120"/>
              </a:rPr>
              <a:t>応募者のうち、見学・体験会に</a:t>
            </a:r>
            <a:endParaRPr lang="en-US" sz="1000" dirty="0"/>
          </a:p>
          <a:p>
            <a:pPr indent="0" marL="0">
              <a:lnSpc>
                <a:spcPts val="1500"/>
              </a:lnSpc>
              <a:buNone/>
            </a:pPr>
            <a:r>
              <a:rPr lang="en-US" sz="1000" dirty="0">
                <a:solidFill>
                  <a:srgbClr val="6E6C63"/>
                </a:solidFill>
                <a:latin typeface="Meiryo" pitchFamily="34" charset="0"/>
                <a:ea typeface="Meiryo" pitchFamily="34" charset="-122"/>
                <a:cs typeface="Meiryo" pitchFamily="34" charset="-120"/>
              </a:rPr>
              <a:t>来てくれた割合</a:t>
            </a:r>
            <a:endParaRPr lang="en-US" sz="1000" dirty="0"/>
          </a:p>
        </p:txBody>
      </p:sp>
      <p:sp>
        <p:nvSpPr>
          <p:cNvPr id="18" name="Shape 16"/>
          <p:cNvSpPr/>
          <p:nvPr/>
        </p:nvSpPr>
        <p:spPr>
          <a:xfrm>
            <a:off x="9041130" y="1874520"/>
            <a:ext cx="2480310" cy="1280160"/>
          </a:xfrm>
          <a:prstGeom prst="roundRect">
            <a:avLst>
              <a:gd name="adj" fmla="val 428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9" name="Text 17"/>
          <p:cNvSpPr/>
          <p:nvPr/>
        </p:nvSpPr>
        <p:spPr>
          <a:xfrm>
            <a:off x="9242298" y="1984248"/>
            <a:ext cx="2077974" cy="256032"/>
          </a:xfrm>
          <a:prstGeom prst="rect">
            <a:avLst/>
          </a:prstGeom>
          <a:noFill/>
          <a:ln/>
        </p:spPr>
        <p:txBody>
          <a:bodyPr wrap="square" lIns="0" tIns="0" rIns="0" bIns="0" rtlCol="0" anchor="ctr"/>
          <a:lstStyle/>
          <a:p>
            <a:pPr indent="0" marL="0">
              <a:buNone/>
            </a:pPr>
            <a:r>
              <a:rPr lang="en-US" sz="1100" b="1" dirty="0">
                <a:solidFill>
                  <a:srgbClr val="D97757"/>
                </a:solidFill>
                <a:latin typeface="Meiryo" pitchFamily="34" charset="0"/>
                <a:ea typeface="Meiryo" pitchFamily="34" charset="-122"/>
                <a:cs typeface="Meiryo" pitchFamily="34" charset="-120"/>
              </a:rPr>
              <a:t>④→入社</a:t>
            </a:r>
            <a:endParaRPr lang="en-US" sz="1100" dirty="0"/>
          </a:p>
        </p:txBody>
      </p:sp>
      <p:sp>
        <p:nvSpPr>
          <p:cNvPr id="20" name="Text 18"/>
          <p:cNvSpPr/>
          <p:nvPr/>
        </p:nvSpPr>
        <p:spPr>
          <a:xfrm>
            <a:off x="9242298" y="2240280"/>
            <a:ext cx="2077974" cy="347472"/>
          </a:xfrm>
          <a:prstGeom prst="rect">
            <a:avLst/>
          </a:prstGeom>
          <a:noFill/>
          <a:ln/>
        </p:spPr>
        <p:txBody>
          <a:bodyPr wrap="square" lIns="0" tIns="0" rIns="0" bIns="0" rtlCol="0" anchor="ctr"/>
          <a:lstStyle/>
          <a:p>
            <a:pPr indent="0" marL="0">
              <a:buNone/>
            </a:pPr>
            <a:r>
              <a:rPr lang="en-US" sz="1600" b="1" dirty="0">
                <a:solidFill>
                  <a:srgbClr val="141413"/>
                </a:solidFill>
                <a:latin typeface="Meiryo" pitchFamily="34" charset="0"/>
                <a:ea typeface="Meiryo" pitchFamily="34" charset="-122"/>
                <a:cs typeface="Meiryo" pitchFamily="34" charset="-120"/>
              </a:rPr>
              <a:t>承諾率</a:t>
            </a:r>
            <a:endParaRPr lang="en-US" sz="1600" dirty="0"/>
          </a:p>
        </p:txBody>
      </p:sp>
      <p:sp>
        <p:nvSpPr>
          <p:cNvPr id="21" name="Text 19"/>
          <p:cNvSpPr/>
          <p:nvPr/>
        </p:nvSpPr>
        <p:spPr>
          <a:xfrm>
            <a:off x="9242298" y="2606040"/>
            <a:ext cx="2077974" cy="475488"/>
          </a:xfrm>
          <a:prstGeom prst="rect">
            <a:avLst/>
          </a:prstGeom>
          <a:noFill/>
          <a:ln/>
        </p:spPr>
        <p:txBody>
          <a:bodyPr wrap="square" lIns="0" tIns="0" rIns="0" bIns="0" rtlCol="0" anchor="t"/>
          <a:lstStyle/>
          <a:p>
            <a:pPr indent="0" marL="0">
              <a:lnSpc>
                <a:spcPts val="1500"/>
              </a:lnSpc>
              <a:buNone/>
            </a:pPr>
            <a:r>
              <a:rPr lang="en-US" sz="1000" dirty="0">
                <a:solidFill>
                  <a:srgbClr val="6E6C63"/>
                </a:solidFill>
                <a:latin typeface="Meiryo" pitchFamily="34" charset="0"/>
                <a:ea typeface="Meiryo" pitchFamily="34" charset="-122"/>
                <a:cs typeface="Meiryo" pitchFamily="34" charset="-120"/>
              </a:rPr>
              <a:t>内定を出した人のうち、</a:t>
            </a:r>
            <a:endParaRPr lang="en-US" sz="1000" dirty="0"/>
          </a:p>
          <a:p>
            <a:pPr indent="0" marL="0">
              <a:lnSpc>
                <a:spcPts val="1500"/>
              </a:lnSpc>
              <a:buNone/>
            </a:pPr>
            <a:r>
              <a:rPr lang="en-US" sz="1000" dirty="0">
                <a:solidFill>
                  <a:srgbClr val="6E6C63"/>
                </a:solidFill>
                <a:latin typeface="Meiryo" pitchFamily="34" charset="0"/>
                <a:ea typeface="Meiryo" pitchFamily="34" charset="-122"/>
                <a:cs typeface="Meiryo" pitchFamily="34" charset="-120"/>
              </a:rPr>
              <a:t>承諾してくれた割合</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3429000"/>
          <a:ext cx="10881360" cy="914400"/>
        </p:xfrm>
        <a:graphic>
          <a:graphicData uri="http://schemas.openxmlformats.org/drawingml/2006/table">
            <a:tbl>
              <a:tblPr/>
              <a:tblGrid>
                <a:gridCol w="3931920"/>
                <a:gridCol w="2194560"/>
                <a:gridCol w="4754880"/>
              </a:tblGrid>
              <a:tr h="493776">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こんな症状が出ていたら</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止まっている段階</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150" b="1" dirty="0">
                          <a:solidFill>
                            <a:srgbClr val="FFFFFF"/>
                          </a:solidFill>
                          <a:latin typeface="Meiryo" pitchFamily="34" charset="0"/>
                          <a:ea typeface="Meiryo" pitchFamily="34" charset="-122"/>
                          <a:cs typeface="Meiryo" pitchFamily="34" charset="-120"/>
                        </a:rPr>
                        <a:t>まず直すところ</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r>
              <a:tr h="493776">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求人がそもそも表示されない</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① 認知</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職種名・勤務地の書き方、掲載チャネルの数</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93776">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見られてはいるが応募が来ない</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② 比較</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キャッチコピーと「選ばれる理由」の中身</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93776">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応募フォームの途中で離脱する</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③ 行動</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入力項目の数、応募後の流れの説明不足</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93776">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面接には来るが辞退される</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④ 確信</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50" dirty="0">
                          <a:solidFill>
                            <a:srgbClr val="4A4943"/>
                          </a:solidFill>
                          <a:latin typeface="Meiryo" pitchFamily="34" charset="0"/>
                          <a:ea typeface="Meiryo" pitchFamily="34" charset="-122"/>
                          <a:cs typeface="Meiryo" pitchFamily="34" charset="-120"/>
                        </a:rPr>
                        <a:t>職場体験の有無、待遇の伝え方、返信の速さ</a:t>
                      </a:r>
                      <a:endParaRPr lang="en-US" sz="11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bl>
          </a:graphicData>
        </a:graphic>
      </p:graphicFrame>
      <p:sp>
        <p:nvSpPr>
          <p:cNvPr id="23" name="Shape 20"/>
          <p:cNvSpPr/>
          <p:nvPr/>
        </p:nvSpPr>
        <p:spPr>
          <a:xfrm>
            <a:off x="640080" y="5870448"/>
            <a:ext cx="10881360" cy="402336"/>
          </a:xfrm>
          <a:prstGeom prst="roundRect">
            <a:avLst>
              <a:gd name="adj" fmla="val 11364"/>
            </a:avLst>
          </a:prstGeom>
          <a:solidFill>
            <a:srgbClr val="F5E3DA"/>
          </a:solidFill>
          <a:ln/>
        </p:spPr>
      </p:sp>
      <p:sp>
        <p:nvSpPr>
          <p:cNvPr id="24" name="Text 21"/>
          <p:cNvSpPr/>
          <p:nvPr/>
        </p:nvSpPr>
        <p:spPr>
          <a:xfrm>
            <a:off x="868680" y="5870448"/>
            <a:ext cx="10424160" cy="402336"/>
          </a:xfrm>
          <a:prstGeom prst="rect">
            <a:avLst/>
          </a:prstGeom>
          <a:noFill/>
          <a:ln/>
        </p:spPr>
        <p:txBody>
          <a:bodyPr wrap="square" lIns="0" tIns="0" rIns="0" bIns="0" rtlCol="0" anchor="ctr"/>
          <a:lstStyle/>
          <a:p>
            <a:pPr indent="0" marL="0">
              <a:buNone/>
            </a:pPr>
            <a:r>
              <a:rPr lang="en-US" sz="1050" b="1" dirty="0">
                <a:solidFill>
                  <a:srgbClr val="141413"/>
                </a:solidFill>
                <a:latin typeface="Meiryo" pitchFamily="34" charset="0"/>
                <a:ea typeface="Meiryo" pitchFamily="34" charset="-122"/>
                <a:cs typeface="Meiryo" pitchFamily="34" charset="-120"/>
              </a:rPr>
              <a:t>※ 同時に 2 か所以上を変えると、何が効いたのか分からなくなります。1 週間に 1 か所が原則です。</a:t>
            </a:r>
            <a:endParaRPr lang="en-US" sz="1050" dirty="0"/>
          </a:p>
        </p:txBody>
      </p:sp>
      <p:sp>
        <p:nvSpPr>
          <p:cNvPr id="25" name="Text 22"/>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26" name="Text 23"/>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08 / 19</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2</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0円採用の土台 ｜ Engage を軸に露出を回す</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自社で 1 つ求人をつくれば、主要な求人検索エンジンに無料で流れていきます</a:t>
            </a:r>
            <a:endParaRPr lang="en-US" sz="1300" dirty="0"/>
          </a:p>
        </p:txBody>
      </p:sp>
      <p:sp>
        <p:nvSpPr>
          <p:cNvPr id="6" name="Shape 4"/>
          <p:cNvSpPr/>
          <p:nvPr/>
        </p:nvSpPr>
        <p:spPr>
          <a:xfrm>
            <a:off x="640080" y="1920240"/>
            <a:ext cx="3017520" cy="2011680"/>
          </a:xfrm>
          <a:prstGeom prst="roundRect">
            <a:avLst>
              <a:gd name="adj" fmla="val 2727"/>
            </a:avLst>
          </a:prstGeom>
          <a:solidFill>
            <a:srgbClr val="141413"/>
          </a:solidFill>
          <a:ln/>
        </p:spPr>
      </p:sp>
      <p:sp>
        <p:nvSpPr>
          <p:cNvPr id="7" name="Text 5"/>
          <p:cNvSpPr/>
          <p:nvPr/>
        </p:nvSpPr>
        <p:spPr>
          <a:xfrm>
            <a:off x="868680" y="2148840"/>
            <a:ext cx="256032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Meiryo" pitchFamily="34" charset="0"/>
                <a:ea typeface="Meiryo" pitchFamily="34" charset="-122"/>
                <a:cs typeface="Meiryo" pitchFamily="34" charset="-120"/>
              </a:rPr>
              <a:t>自社採用ページ</a:t>
            </a:r>
            <a:endParaRPr lang="en-US" sz="1700" dirty="0"/>
          </a:p>
        </p:txBody>
      </p:sp>
      <p:sp>
        <p:nvSpPr>
          <p:cNvPr id="8" name="Text 6"/>
          <p:cNvSpPr/>
          <p:nvPr/>
        </p:nvSpPr>
        <p:spPr>
          <a:xfrm>
            <a:off x="868680" y="2514600"/>
            <a:ext cx="2560320" cy="320040"/>
          </a:xfrm>
          <a:prstGeom prst="rect">
            <a:avLst/>
          </a:prstGeom>
          <a:noFill/>
          <a:ln/>
        </p:spPr>
        <p:txBody>
          <a:bodyPr wrap="square" lIns="0" tIns="0" rIns="0" bIns="0" rtlCol="0" anchor="ctr"/>
          <a:lstStyle/>
          <a:p>
            <a:pPr algn="ctr" indent="0" marL="0">
              <a:buNone/>
            </a:pPr>
            <a:r>
              <a:rPr lang="en-US" sz="1300" b="1" dirty="0">
                <a:solidFill>
                  <a:srgbClr val="D97757"/>
                </a:solidFill>
                <a:latin typeface="Meiryo" pitchFamily="34" charset="0"/>
                <a:ea typeface="Meiryo" pitchFamily="34" charset="-122"/>
                <a:cs typeface="Meiryo" pitchFamily="34" charset="-120"/>
              </a:rPr>
              <a:t>Engage（エンゲージ）</a:t>
            </a:r>
            <a:endParaRPr lang="en-US" sz="1300" dirty="0"/>
          </a:p>
        </p:txBody>
      </p:sp>
      <p:sp>
        <p:nvSpPr>
          <p:cNvPr id="9" name="Text 7"/>
          <p:cNvSpPr/>
          <p:nvPr/>
        </p:nvSpPr>
        <p:spPr>
          <a:xfrm>
            <a:off x="868680" y="2926080"/>
            <a:ext cx="2560320" cy="731520"/>
          </a:xfrm>
          <a:prstGeom prst="rect">
            <a:avLst/>
          </a:prstGeom>
          <a:noFill/>
          <a:ln/>
        </p:spPr>
        <p:txBody>
          <a:bodyPr wrap="square" lIns="0" tIns="0" rIns="0" bIns="0" rtlCol="0" anchor="t"/>
          <a:lstStyle/>
          <a:p>
            <a:pPr algn="ctr" indent="0" marL="0">
              <a:lnSpc>
                <a:spcPts val="1900"/>
              </a:lnSpc>
              <a:buNone/>
            </a:pPr>
            <a:r>
              <a:rPr lang="en-US" sz="1150" dirty="0">
                <a:solidFill>
                  <a:srgbClr val="D6D3C8"/>
                </a:solidFill>
                <a:latin typeface="Meiryo" pitchFamily="34" charset="0"/>
                <a:ea typeface="Meiryo" pitchFamily="34" charset="-122"/>
                <a:cs typeface="Meiryo" pitchFamily="34" charset="-120"/>
              </a:rPr>
              <a:t>求人票の作成・最適化</a:t>
            </a:r>
            <a:endParaRPr lang="en-US" sz="1150" dirty="0"/>
          </a:p>
          <a:p>
            <a:pPr algn="ctr" indent="0" marL="0">
              <a:lnSpc>
                <a:spcPts val="1900"/>
              </a:lnSpc>
              <a:buNone/>
            </a:pPr>
            <a:r>
              <a:rPr lang="en-US" sz="1150" dirty="0">
                <a:solidFill>
                  <a:srgbClr val="D6D3C8"/>
                </a:solidFill>
                <a:latin typeface="Meiryo" pitchFamily="34" charset="0"/>
                <a:ea typeface="Meiryo" pitchFamily="34" charset="-122"/>
                <a:cs typeface="Meiryo" pitchFamily="34" charset="-120"/>
              </a:rPr>
              <a:t>応募者管理まで無料</a:t>
            </a:r>
            <a:endParaRPr lang="en-US" sz="1150" dirty="0"/>
          </a:p>
        </p:txBody>
      </p:sp>
      <p:sp>
        <p:nvSpPr>
          <p:cNvPr id="10" name="Shape 8"/>
          <p:cNvSpPr/>
          <p:nvPr/>
        </p:nvSpPr>
        <p:spPr>
          <a:xfrm>
            <a:off x="3840480" y="2770632"/>
            <a:ext cx="594360" cy="502920"/>
          </a:xfrm>
          <a:prstGeom prst="rightArrow">
            <a:avLst/>
          </a:prstGeom>
          <a:solidFill>
            <a:srgbClr val="D97757"/>
          </a:solidFill>
          <a:ln/>
        </p:spPr>
      </p:sp>
      <p:sp>
        <p:nvSpPr>
          <p:cNvPr id="11" name="Shape 9"/>
          <p:cNvSpPr/>
          <p:nvPr/>
        </p:nvSpPr>
        <p:spPr>
          <a:xfrm>
            <a:off x="4617720" y="1920240"/>
            <a:ext cx="3200400" cy="585216"/>
          </a:xfrm>
          <a:prstGeom prst="roundRect">
            <a:avLst>
              <a:gd name="adj" fmla="val 7813"/>
            </a:avLst>
          </a:prstGeom>
          <a:solidFill>
            <a:srgbClr val="FFFFFF"/>
          </a:solidFill>
          <a:ln w="12700">
            <a:solidFill>
              <a:srgbClr val="141413"/>
            </a:solidFill>
            <a:prstDash val="solid"/>
          </a:ln>
        </p:spPr>
      </p:sp>
      <p:sp>
        <p:nvSpPr>
          <p:cNvPr id="12" name="Text 10"/>
          <p:cNvSpPr/>
          <p:nvPr/>
        </p:nvSpPr>
        <p:spPr>
          <a:xfrm>
            <a:off x="4800600" y="1965960"/>
            <a:ext cx="2834640" cy="274320"/>
          </a:xfrm>
          <a:prstGeom prst="rect">
            <a:avLst/>
          </a:prstGeom>
          <a:noFill/>
          <a:ln/>
        </p:spPr>
        <p:txBody>
          <a:bodyPr wrap="square" lIns="0" tIns="0" rIns="0" bIns="0" rtlCol="0" anchor="ctr"/>
          <a:lstStyle/>
          <a:p>
            <a:pPr indent="0" marL="0">
              <a:buNone/>
            </a:pPr>
            <a:r>
              <a:rPr lang="en-US" sz="1250" b="1" dirty="0">
                <a:solidFill>
                  <a:srgbClr val="141413"/>
                </a:solidFill>
                <a:latin typeface="Meiryo" pitchFamily="34" charset="0"/>
                <a:ea typeface="Meiryo" pitchFamily="34" charset="-122"/>
                <a:cs typeface="Meiryo" pitchFamily="34" charset="-120"/>
              </a:rPr>
              <a:t>Indeed</a:t>
            </a:r>
            <a:endParaRPr lang="en-US" sz="1250" dirty="0"/>
          </a:p>
        </p:txBody>
      </p:sp>
      <p:sp>
        <p:nvSpPr>
          <p:cNvPr id="13" name="Text 11"/>
          <p:cNvSpPr/>
          <p:nvPr/>
        </p:nvSpPr>
        <p:spPr>
          <a:xfrm>
            <a:off x="4800600" y="2221992"/>
            <a:ext cx="2834640" cy="237744"/>
          </a:xfrm>
          <a:prstGeom prst="rect">
            <a:avLst/>
          </a:prstGeom>
          <a:noFill/>
          <a:ln/>
        </p:spPr>
        <p:txBody>
          <a:bodyPr wrap="square" lIns="0" tIns="0" rIns="0" bIns="0" rtlCol="0" anchor="ctr"/>
          <a:lstStyle/>
          <a:p>
            <a:pPr indent="0" marL="0">
              <a:buNone/>
            </a:pPr>
            <a:r>
              <a:rPr lang="en-US" sz="1000" dirty="0">
                <a:solidFill>
                  <a:srgbClr val="6E6C63"/>
                </a:solidFill>
                <a:latin typeface="Meiryo" pitchFamily="34" charset="0"/>
                <a:ea typeface="Meiryo" pitchFamily="34" charset="-122"/>
                <a:cs typeface="Meiryo" pitchFamily="34" charset="-120"/>
              </a:rPr>
              <a:t>国内最大の求人検索エンジン</a:t>
            </a:r>
            <a:endParaRPr lang="en-US" sz="1000" dirty="0"/>
          </a:p>
        </p:txBody>
      </p:sp>
      <p:sp>
        <p:nvSpPr>
          <p:cNvPr id="14" name="Shape 12"/>
          <p:cNvSpPr/>
          <p:nvPr/>
        </p:nvSpPr>
        <p:spPr>
          <a:xfrm>
            <a:off x="4617720" y="2633472"/>
            <a:ext cx="3200400" cy="585216"/>
          </a:xfrm>
          <a:prstGeom prst="roundRect">
            <a:avLst>
              <a:gd name="adj" fmla="val 7813"/>
            </a:avLst>
          </a:prstGeom>
          <a:solidFill>
            <a:srgbClr val="FFFFFF"/>
          </a:solidFill>
          <a:ln w="12700">
            <a:solidFill>
              <a:srgbClr val="141413"/>
            </a:solidFill>
            <a:prstDash val="solid"/>
          </a:ln>
        </p:spPr>
      </p:sp>
      <p:sp>
        <p:nvSpPr>
          <p:cNvPr id="15" name="Text 13"/>
          <p:cNvSpPr/>
          <p:nvPr/>
        </p:nvSpPr>
        <p:spPr>
          <a:xfrm>
            <a:off x="4800600" y="2679192"/>
            <a:ext cx="2834640" cy="274320"/>
          </a:xfrm>
          <a:prstGeom prst="rect">
            <a:avLst/>
          </a:prstGeom>
          <a:noFill/>
          <a:ln/>
        </p:spPr>
        <p:txBody>
          <a:bodyPr wrap="square" lIns="0" tIns="0" rIns="0" bIns="0" rtlCol="0" anchor="ctr"/>
          <a:lstStyle/>
          <a:p>
            <a:pPr indent="0" marL="0">
              <a:buNone/>
            </a:pPr>
            <a:r>
              <a:rPr lang="en-US" sz="1250" b="1" dirty="0">
                <a:solidFill>
                  <a:srgbClr val="141413"/>
                </a:solidFill>
                <a:latin typeface="Meiryo" pitchFamily="34" charset="0"/>
                <a:ea typeface="Meiryo" pitchFamily="34" charset="-122"/>
                <a:cs typeface="Meiryo" pitchFamily="34" charset="-120"/>
              </a:rPr>
              <a:t>Google しごと検索</a:t>
            </a:r>
            <a:endParaRPr lang="en-US" sz="1250" dirty="0"/>
          </a:p>
        </p:txBody>
      </p:sp>
      <p:sp>
        <p:nvSpPr>
          <p:cNvPr id="16" name="Text 14"/>
          <p:cNvSpPr/>
          <p:nvPr/>
        </p:nvSpPr>
        <p:spPr>
          <a:xfrm>
            <a:off x="4800600" y="2935224"/>
            <a:ext cx="2834640" cy="237744"/>
          </a:xfrm>
          <a:prstGeom prst="rect">
            <a:avLst/>
          </a:prstGeom>
          <a:noFill/>
          <a:ln/>
        </p:spPr>
        <p:txBody>
          <a:bodyPr wrap="square" lIns="0" tIns="0" rIns="0" bIns="0" rtlCol="0" anchor="ctr"/>
          <a:lstStyle/>
          <a:p>
            <a:pPr indent="0" marL="0">
              <a:buNone/>
            </a:pPr>
            <a:r>
              <a:rPr lang="en-US" sz="1000" dirty="0">
                <a:solidFill>
                  <a:srgbClr val="6E6C63"/>
                </a:solidFill>
                <a:latin typeface="Meiryo" pitchFamily="34" charset="0"/>
                <a:ea typeface="Meiryo" pitchFamily="34" charset="-122"/>
                <a:cs typeface="Meiryo" pitchFamily="34" charset="-120"/>
              </a:rPr>
              <a:t>検索結果の上部に表示</a:t>
            </a:r>
            <a:endParaRPr lang="en-US" sz="1000" dirty="0"/>
          </a:p>
        </p:txBody>
      </p:sp>
      <p:sp>
        <p:nvSpPr>
          <p:cNvPr id="17" name="Shape 15"/>
          <p:cNvSpPr/>
          <p:nvPr/>
        </p:nvSpPr>
        <p:spPr>
          <a:xfrm>
            <a:off x="4617720" y="3346704"/>
            <a:ext cx="3200400" cy="585216"/>
          </a:xfrm>
          <a:prstGeom prst="roundRect">
            <a:avLst>
              <a:gd name="adj" fmla="val 7813"/>
            </a:avLst>
          </a:prstGeom>
          <a:solidFill>
            <a:srgbClr val="FFFFFF"/>
          </a:solidFill>
          <a:ln w="12700">
            <a:solidFill>
              <a:srgbClr val="141413"/>
            </a:solidFill>
            <a:prstDash val="solid"/>
          </a:ln>
        </p:spPr>
      </p:sp>
      <p:sp>
        <p:nvSpPr>
          <p:cNvPr id="18" name="Text 16"/>
          <p:cNvSpPr/>
          <p:nvPr/>
        </p:nvSpPr>
        <p:spPr>
          <a:xfrm>
            <a:off x="4800600" y="3392424"/>
            <a:ext cx="2834640" cy="274320"/>
          </a:xfrm>
          <a:prstGeom prst="rect">
            <a:avLst/>
          </a:prstGeom>
          <a:noFill/>
          <a:ln/>
        </p:spPr>
        <p:txBody>
          <a:bodyPr wrap="square" lIns="0" tIns="0" rIns="0" bIns="0" rtlCol="0" anchor="ctr"/>
          <a:lstStyle/>
          <a:p>
            <a:pPr indent="0" marL="0">
              <a:buNone/>
            </a:pPr>
            <a:r>
              <a:rPr lang="en-US" sz="1250" b="1" dirty="0">
                <a:solidFill>
                  <a:srgbClr val="141413"/>
                </a:solidFill>
                <a:latin typeface="Meiryo" pitchFamily="34" charset="0"/>
                <a:ea typeface="Meiryo" pitchFamily="34" charset="-122"/>
                <a:cs typeface="Meiryo" pitchFamily="34" charset="-120"/>
              </a:rPr>
              <a:t>求人ボックス 他</a:t>
            </a:r>
            <a:endParaRPr lang="en-US" sz="1250" dirty="0"/>
          </a:p>
        </p:txBody>
      </p:sp>
      <p:sp>
        <p:nvSpPr>
          <p:cNvPr id="19" name="Text 17"/>
          <p:cNvSpPr/>
          <p:nvPr/>
        </p:nvSpPr>
        <p:spPr>
          <a:xfrm>
            <a:off x="4800600" y="3648456"/>
            <a:ext cx="2834640" cy="237744"/>
          </a:xfrm>
          <a:prstGeom prst="rect">
            <a:avLst/>
          </a:prstGeom>
          <a:noFill/>
          <a:ln/>
        </p:spPr>
        <p:txBody>
          <a:bodyPr wrap="square" lIns="0" tIns="0" rIns="0" bIns="0" rtlCol="0" anchor="ctr"/>
          <a:lstStyle/>
          <a:p>
            <a:pPr indent="0" marL="0">
              <a:buNone/>
            </a:pPr>
            <a:r>
              <a:rPr lang="en-US" sz="1000" dirty="0">
                <a:solidFill>
                  <a:srgbClr val="6E6C63"/>
                </a:solidFill>
                <a:latin typeface="Meiryo" pitchFamily="34" charset="0"/>
                <a:ea typeface="Meiryo" pitchFamily="34" charset="-122"/>
                <a:cs typeface="Meiryo" pitchFamily="34" charset="-120"/>
              </a:rPr>
              <a:t>主要アグリゲータに連携</a:t>
            </a:r>
            <a:endParaRPr lang="en-US" sz="1000" dirty="0"/>
          </a:p>
        </p:txBody>
      </p:sp>
      <p:sp>
        <p:nvSpPr>
          <p:cNvPr id="20" name="Shape 18"/>
          <p:cNvSpPr/>
          <p:nvPr/>
        </p:nvSpPr>
        <p:spPr>
          <a:xfrm>
            <a:off x="7955280" y="2770632"/>
            <a:ext cx="594360" cy="502920"/>
          </a:xfrm>
          <a:prstGeom prst="rightArrow">
            <a:avLst/>
          </a:prstGeom>
          <a:solidFill>
            <a:srgbClr val="D97757"/>
          </a:solidFill>
          <a:ln/>
        </p:spPr>
      </p:sp>
      <p:sp>
        <p:nvSpPr>
          <p:cNvPr id="21" name="Shape 19"/>
          <p:cNvSpPr/>
          <p:nvPr/>
        </p:nvSpPr>
        <p:spPr>
          <a:xfrm>
            <a:off x="8732520" y="1920240"/>
            <a:ext cx="2788920" cy="2011680"/>
          </a:xfrm>
          <a:prstGeom prst="roundRect">
            <a:avLst>
              <a:gd name="adj" fmla="val 2727"/>
            </a:avLst>
          </a:prstGeom>
          <a:solidFill>
            <a:srgbClr val="F5E3DA"/>
          </a:solidFill>
          <a:ln w="15875">
            <a:solidFill>
              <a:srgbClr val="D97757"/>
            </a:solidFill>
            <a:prstDash val="solid"/>
          </a:ln>
        </p:spPr>
      </p:sp>
      <p:sp>
        <p:nvSpPr>
          <p:cNvPr id="22" name="Text 20"/>
          <p:cNvSpPr/>
          <p:nvPr/>
        </p:nvSpPr>
        <p:spPr>
          <a:xfrm>
            <a:off x="8915400" y="2286000"/>
            <a:ext cx="2423160" cy="731520"/>
          </a:xfrm>
          <a:prstGeom prst="rect">
            <a:avLst/>
          </a:prstGeom>
          <a:noFill/>
          <a:ln/>
        </p:spPr>
        <p:txBody>
          <a:bodyPr wrap="square" lIns="0" tIns="0" rIns="0" bIns="0" rtlCol="0" anchor="ctr"/>
          <a:lstStyle/>
          <a:p>
            <a:pPr algn="ctr" indent="0" marL="0">
              <a:lnSpc>
                <a:spcPts val="2600"/>
              </a:lnSpc>
              <a:buNone/>
            </a:pPr>
            <a:r>
              <a:rPr lang="en-US" sz="1700" b="1" dirty="0">
                <a:solidFill>
                  <a:srgbClr val="141413"/>
                </a:solidFill>
                <a:latin typeface="Meiryo" pitchFamily="34" charset="0"/>
                <a:ea typeface="Meiryo" pitchFamily="34" charset="-122"/>
                <a:cs typeface="Meiryo" pitchFamily="34" charset="-120"/>
              </a:rPr>
              <a:t>求職者の目に</a:t>
            </a:r>
            <a:endParaRPr lang="en-US" sz="1700" dirty="0"/>
          </a:p>
          <a:p>
            <a:pPr algn="ctr" indent="0" marL="0">
              <a:lnSpc>
                <a:spcPts val="2600"/>
              </a:lnSpc>
              <a:buNone/>
            </a:pPr>
            <a:r>
              <a:rPr lang="en-US" sz="1700" b="1" dirty="0">
                <a:solidFill>
                  <a:srgbClr val="141413"/>
                </a:solidFill>
                <a:latin typeface="Meiryo" pitchFamily="34" charset="0"/>
                <a:ea typeface="Meiryo" pitchFamily="34" charset="-122"/>
                <a:cs typeface="Meiryo" pitchFamily="34" charset="-120"/>
              </a:rPr>
              <a:t>触れる</a:t>
            </a:r>
            <a:endParaRPr lang="en-US" sz="1700" dirty="0"/>
          </a:p>
        </p:txBody>
      </p:sp>
      <p:sp>
        <p:nvSpPr>
          <p:cNvPr id="23" name="Text 21"/>
          <p:cNvSpPr/>
          <p:nvPr/>
        </p:nvSpPr>
        <p:spPr>
          <a:xfrm>
            <a:off x="8915400" y="3063240"/>
            <a:ext cx="2423160" cy="640080"/>
          </a:xfrm>
          <a:prstGeom prst="rect">
            <a:avLst/>
          </a:prstGeom>
          <a:noFill/>
          <a:ln/>
        </p:spPr>
        <p:txBody>
          <a:bodyPr wrap="square" lIns="0" tIns="0" rIns="0" bIns="0" rtlCol="0" anchor="t"/>
          <a:lstStyle/>
          <a:p>
            <a:pPr algn="ctr" indent="0" marL="0">
              <a:lnSpc>
                <a:spcPts val="1900"/>
              </a:lnSpc>
              <a:buNone/>
            </a:pPr>
            <a:r>
              <a:rPr lang="en-US" sz="1150" dirty="0">
                <a:solidFill>
                  <a:srgbClr val="4A4943"/>
                </a:solidFill>
                <a:latin typeface="Meiryo" pitchFamily="34" charset="0"/>
                <a:ea typeface="Meiryo" pitchFamily="34" charset="-122"/>
                <a:cs typeface="Meiryo" pitchFamily="34" charset="-120"/>
              </a:rPr>
              <a:t>掲載料 0 円のまま</a:t>
            </a:r>
            <a:endParaRPr lang="en-US" sz="1150" dirty="0"/>
          </a:p>
          <a:p>
            <a:pPr algn="ctr" indent="0" marL="0">
              <a:lnSpc>
                <a:spcPts val="1900"/>
              </a:lnSpc>
              <a:buNone/>
            </a:pPr>
            <a:r>
              <a:rPr lang="en-US" sz="1150" dirty="0">
                <a:solidFill>
                  <a:srgbClr val="4A4943"/>
                </a:solidFill>
                <a:latin typeface="Meiryo" pitchFamily="34" charset="0"/>
                <a:ea typeface="Meiryo" pitchFamily="34" charset="-122"/>
                <a:cs typeface="Meiryo" pitchFamily="34" charset="-120"/>
              </a:rPr>
              <a:t>露出が積み上がる</a:t>
            </a:r>
            <a:endParaRPr lang="en-US" sz="1150" dirty="0"/>
          </a:p>
        </p:txBody>
      </p:sp>
      <p:sp>
        <p:nvSpPr>
          <p:cNvPr id="24" name="Text 22"/>
          <p:cNvSpPr/>
          <p:nvPr/>
        </p:nvSpPr>
        <p:spPr>
          <a:xfrm>
            <a:off x="640080" y="4206240"/>
            <a:ext cx="10881360" cy="365760"/>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求人票に必ず入れる 3 つ</a:t>
            </a:r>
            <a:endParaRPr lang="en-US" sz="1500" dirty="0"/>
          </a:p>
        </p:txBody>
      </p:sp>
      <p:sp>
        <p:nvSpPr>
          <p:cNvPr id="25" name="Shape 23"/>
          <p:cNvSpPr/>
          <p:nvPr/>
        </p:nvSpPr>
        <p:spPr>
          <a:xfrm>
            <a:off x="640080" y="4645152"/>
            <a:ext cx="3413760" cy="960120"/>
          </a:xfrm>
          <a:prstGeom prst="roundRect">
            <a:avLst>
              <a:gd name="adj" fmla="val 4762"/>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pic>
        <p:nvPicPr>
          <p:cNvPr id="26" name="Image 0" descr="preencoded.png">    </p:cNvPr>
          <p:cNvPicPr>
            <a:picLocks noChangeAspect="1"/>
          </p:cNvPicPr>
          <p:nvPr/>
        </p:nvPicPr>
        <p:blipFill>
          <a:blip r:embed="rId1"/>
          <a:stretch>
            <a:fillRect/>
          </a:stretch>
        </p:blipFill>
        <p:spPr>
          <a:xfrm>
            <a:off x="896112" y="4882896"/>
            <a:ext cx="237744" cy="237744"/>
          </a:xfrm>
          <a:prstGeom prst="rect">
            <a:avLst/>
          </a:prstGeom>
        </p:spPr>
      </p:pic>
      <p:sp>
        <p:nvSpPr>
          <p:cNvPr id="27" name="Text 24"/>
          <p:cNvSpPr/>
          <p:nvPr/>
        </p:nvSpPr>
        <p:spPr>
          <a:xfrm>
            <a:off x="1225296" y="4754880"/>
            <a:ext cx="2590800" cy="292608"/>
          </a:xfrm>
          <a:prstGeom prst="rect">
            <a:avLst/>
          </a:prstGeom>
          <a:noFill/>
          <a:ln/>
        </p:spPr>
        <p:txBody>
          <a:bodyPr wrap="square" lIns="0" tIns="0" rIns="0" bIns="0" rtlCol="0" anchor="ctr"/>
          <a:lstStyle/>
          <a:p>
            <a:pPr indent="0" marL="0">
              <a:buNone/>
            </a:pPr>
            <a:r>
              <a:rPr lang="en-US" sz="1300" b="1" dirty="0">
                <a:solidFill>
                  <a:srgbClr val="141413"/>
                </a:solidFill>
                <a:latin typeface="Meiryo" pitchFamily="34" charset="0"/>
                <a:ea typeface="Meiryo" pitchFamily="34" charset="-122"/>
                <a:cs typeface="Meiryo" pitchFamily="34" charset="-120"/>
              </a:rPr>
              <a:t>理念・ミッション</a:t>
            </a:r>
            <a:endParaRPr lang="en-US" sz="1300" dirty="0"/>
          </a:p>
        </p:txBody>
      </p:sp>
      <p:sp>
        <p:nvSpPr>
          <p:cNvPr id="28" name="Text 25"/>
          <p:cNvSpPr/>
          <p:nvPr/>
        </p:nvSpPr>
        <p:spPr>
          <a:xfrm>
            <a:off x="1225296" y="5056632"/>
            <a:ext cx="2590800" cy="411480"/>
          </a:xfrm>
          <a:prstGeom prst="rect">
            <a:avLst/>
          </a:prstGeom>
          <a:noFill/>
          <a:ln/>
        </p:spPr>
        <p:txBody>
          <a:bodyPr wrap="square" lIns="0" tIns="0" rIns="0" bIns="0" rtlCol="0" anchor="t"/>
          <a:lstStyle/>
          <a:p>
            <a:pPr indent="0" marL="0">
              <a:lnSpc>
                <a:spcPts val="1600"/>
              </a:lnSpc>
              <a:buNone/>
            </a:pPr>
            <a:r>
              <a:rPr lang="en-US" sz="1050" dirty="0">
                <a:solidFill>
                  <a:srgbClr val="6E6C63"/>
                </a:solidFill>
                <a:latin typeface="Meiryo" pitchFamily="34" charset="0"/>
                <a:ea typeface="Meiryo" pitchFamily="34" charset="-122"/>
                <a:cs typeface="Meiryo" pitchFamily="34" charset="-120"/>
              </a:rPr>
              <a:t>何のためにこの仕事をしているのか</a:t>
            </a:r>
            <a:endParaRPr lang="en-US" sz="1050" dirty="0"/>
          </a:p>
        </p:txBody>
      </p:sp>
      <p:sp>
        <p:nvSpPr>
          <p:cNvPr id="29" name="Shape 26"/>
          <p:cNvSpPr/>
          <p:nvPr/>
        </p:nvSpPr>
        <p:spPr>
          <a:xfrm>
            <a:off x="4373880" y="4645152"/>
            <a:ext cx="3413760" cy="960120"/>
          </a:xfrm>
          <a:prstGeom prst="roundRect">
            <a:avLst>
              <a:gd name="adj" fmla="val 4762"/>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pic>
        <p:nvPicPr>
          <p:cNvPr id="30" name="Image 1" descr="preencoded.png">    </p:cNvPr>
          <p:cNvPicPr>
            <a:picLocks noChangeAspect="1"/>
          </p:cNvPicPr>
          <p:nvPr/>
        </p:nvPicPr>
        <p:blipFill>
          <a:blip r:embed="rId2"/>
          <a:stretch>
            <a:fillRect/>
          </a:stretch>
        </p:blipFill>
        <p:spPr>
          <a:xfrm>
            <a:off x="4629912" y="4882896"/>
            <a:ext cx="237744" cy="237744"/>
          </a:xfrm>
          <a:prstGeom prst="rect">
            <a:avLst/>
          </a:prstGeom>
        </p:spPr>
      </p:pic>
      <p:sp>
        <p:nvSpPr>
          <p:cNvPr id="31" name="Text 27"/>
          <p:cNvSpPr/>
          <p:nvPr/>
        </p:nvSpPr>
        <p:spPr>
          <a:xfrm>
            <a:off x="4959096" y="4754880"/>
            <a:ext cx="2590800" cy="292608"/>
          </a:xfrm>
          <a:prstGeom prst="rect">
            <a:avLst/>
          </a:prstGeom>
          <a:noFill/>
          <a:ln/>
        </p:spPr>
        <p:txBody>
          <a:bodyPr wrap="square" lIns="0" tIns="0" rIns="0" bIns="0" rtlCol="0" anchor="ctr"/>
          <a:lstStyle/>
          <a:p>
            <a:pPr indent="0" marL="0">
              <a:buNone/>
            </a:pPr>
            <a:r>
              <a:rPr lang="en-US" sz="1300" b="1" dirty="0">
                <a:solidFill>
                  <a:srgbClr val="141413"/>
                </a:solidFill>
                <a:latin typeface="Meiryo" pitchFamily="34" charset="0"/>
                <a:ea typeface="Meiryo" pitchFamily="34" charset="-122"/>
                <a:cs typeface="Meiryo" pitchFamily="34" charset="-120"/>
              </a:rPr>
              <a:t>他施設との違い</a:t>
            </a:r>
            <a:endParaRPr lang="en-US" sz="1300" dirty="0"/>
          </a:p>
        </p:txBody>
      </p:sp>
      <p:sp>
        <p:nvSpPr>
          <p:cNvPr id="32" name="Text 28"/>
          <p:cNvSpPr/>
          <p:nvPr/>
        </p:nvSpPr>
        <p:spPr>
          <a:xfrm>
            <a:off x="4959096" y="5056632"/>
            <a:ext cx="2590800" cy="411480"/>
          </a:xfrm>
          <a:prstGeom prst="rect">
            <a:avLst/>
          </a:prstGeom>
          <a:noFill/>
          <a:ln/>
        </p:spPr>
        <p:txBody>
          <a:bodyPr wrap="square" lIns="0" tIns="0" rIns="0" bIns="0" rtlCol="0" anchor="t"/>
          <a:lstStyle/>
          <a:p>
            <a:pPr indent="0" marL="0">
              <a:lnSpc>
                <a:spcPts val="1600"/>
              </a:lnSpc>
              <a:buNone/>
            </a:pPr>
            <a:r>
              <a:rPr lang="en-US" sz="1050" dirty="0">
                <a:solidFill>
                  <a:srgbClr val="6E6C63"/>
                </a:solidFill>
                <a:latin typeface="Meiryo" pitchFamily="34" charset="0"/>
                <a:ea typeface="Meiryo" pitchFamily="34" charset="-122"/>
                <a:cs typeface="Meiryo" pitchFamily="34" charset="-120"/>
              </a:rPr>
              <a:t>同じ地域の求人と何が違うのか</a:t>
            </a:r>
            <a:endParaRPr lang="en-US" sz="1050" dirty="0"/>
          </a:p>
        </p:txBody>
      </p:sp>
      <p:sp>
        <p:nvSpPr>
          <p:cNvPr id="33" name="Shape 29"/>
          <p:cNvSpPr/>
          <p:nvPr/>
        </p:nvSpPr>
        <p:spPr>
          <a:xfrm>
            <a:off x="8107680" y="4645152"/>
            <a:ext cx="3413760" cy="960120"/>
          </a:xfrm>
          <a:prstGeom prst="roundRect">
            <a:avLst>
              <a:gd name="adj" fmla="val 4762"/>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pic>
        <p:nvPicPr>
          <p:cNvPr id="34" name="Image 2" descr="preencoded.png">    </p:cNvPr>
          <p:cNvPicPr>
            <a:picLocks noChangeAspect="1"/>
          </p:cNvPicPr>
          <p:nvPr/>
        </p:nvPicPr>
        <p:blipFill>
          <a:blip r:embed="rId3"/>
          <a:stretch>
            <a:fillRect/>
          </a:stretch>
        </p:blipFill>
        <p:spPr>
          <a:xfrm>
            <a:off x="8363712" y="4882896"/>
            <a:ext cx="237744" cy="237744"/>
          </a:xfrm>
          <a:prstGeom prst="rect">
            <a:avLst/>
          </a:prstGeom>
        </p:spPr>
      </p:pic>
      <p:sp>
        <p:nvSpPr>
          <p:cNvPr id="35" name="Text 30"/>
          <p:cNvSpPr/>
          <p:nvPr/>
        </p:nvSpPr>
        <p:spPr>
          <a:xfrm>
            <a:off x="8692896" y="4754880"/>
            <a:ext cx="2590800" cy="292608"/>
          </a:xfrm>
          <a:prstGeom prst="rect">
            <a:avLst/>
          </a:prstGeom>
          <a:noFill/>
          <a:ln/>
        </p:spPr>
        <p:txBody>
          <a:bodyPr wrap="square" lIns="0" tIns="0" rIns="0" bIns="0" rtlCol="0" anchor="ctr"/>
          <a:lstStyle/>
          <a:p>
            <a:pPr indent="0" marL="0">
              <a:buNone/>
            </a:pPr>
            <a:r>
              <a:rPr lang="en-US" sz="1300" b="1" dirty="0">
                <a:solidFill>
                  <a:srgbClr val="141413"/>
                </a:solidFill>
                <a:latin typeface="Meiryo" pitchFamily="34" charset="0"/>
                <a:ea typeface="Meiryo" pitchFamily="34" charset="-122"/>
                <a:cs typeface="Meiryo" pitchFamily="34" charset="-120"/>
              </a:rPr>
              <a:t>働く環境の具体</a:t>
            </a:r>
            <a:endParaRPr lang="en-US" sz="1300" dirty="0"/>
          </a:p>
        </p:txBody>
      </p:sp>
      <p:sp>
        <p:nvSpPr>
          <p:cNvPr id="36" name="Text 31"/>
          <p:cNvSpPr/>
          <p:nvPr/>
        </p:nvSpPr>
        <p:spPr>
          <a:xfrm>
            <a:off x="8692896" y="5056632"/>
            <a:ext cx="2590800" cy="411480"/>
          </a:xfrm>
          <a:prstGeom prst="rect">
            <a:avLst/>
          </a:prstGeom>
          <a:noFill/>
          <a:ln/>
        </p:spPr>
        <p:txBody>
          <a:bodyPr wrap="square" lIns="0" tIns="0" rIns="0" bIns="0" rtlCol="0" anchor="t"/>
          <a:lstStyle/>
          <a:p>
            <a:pPr indent="0" marL="0">
              <a:lnSpc>
                <a:spcPts val="1600"/>
              </a:lnSpc>
              <a:buNone/>
            </a:pPr>
            <a:r>
              <a:rPr lang="en-US" sz="1050" dirty="0">
                <a:solidFill>
                  <a:srgbClr val="6E6C63"/>
                </a:solidFill>
                <a:latin typeface="Meiryo" pitchFamily="34" charset="0"/>
                <a:ea typeface="Meiryo" pitchFamily="34" charset="-122"/>
                <a:cs typeface="Meiryo" pitchFamily="34" charset="-120"/>
              </a:rPr>
              <a:t>体制・シフト・研修・休日の実態</a:t>
            </a:r>
            <a:endParaRPr lang="en-US" sz="1050" dirty="0"/>
          </a:p>
        </p:txBody>
      </p:sp>
      <p:sp>
        <p:nvSpPr>
          <p:cNvPr id="37" name="Text 32"/>
          <p:cNvSpPr/>
          <p:nvPr/>
        </p:nvSpPr>
        <p:spPr>
          <a:xfrm>
            <a:off x="640080" y="5806440"/>
            <a:ext cx="10881360" cy="274320"/>
          </a:xfrm>
          <a:prstGeom prst="rect">
            <a:avLst/>
          </a:prstGeom>
          <a:noFill/>
          <a:ln/>
        </p:spPr>
        <p:txBody>
          <a:bodyPr wrap="square" lIns="0" tIns="0" rIns="0" bIns="0" rtlCol="0" anchor="ctr"/>
          <a:lstStyle/>
          <a:p>
            <a:pPr indent="0" marL="0">
              <a:buNone/>
            </a:pPr>
            <a:r>
              <a:rPr lang="en-US" sz="1000" dirty="0">
                <a:solidFill>
                  <a:srgbClr val="8A887E"/>
                </a:solidFill>
                <a:latin typeface="Meiryo" pitchFamily="34" charset="0"/>
                <a:ea typeface="Meiryo" pitchFamily="34" charset="-122"/>
                <a:cs typeface="Meiryo" pitchFamily="34" charset="-120"/>
              </a:rPr>
              <a:t>※「0円」は掲載料が 0 円という意味です。求人票を書き、写真を撮り、応募に対応する自社の工数は必ずかかります。</a:t>
            </a:r>
            <a:endParaRPr lang="en-US" sz="1000" dirty="0"/>
          </a:p>
        </p:txBody>
      </p:sp>
      <p:sp>
        <p:nvSpPr>
          <p:cNvPr id="38" name="Text 33"/>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39" name="Text 34"/>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09 / 19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2</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採用を「コスト」から「資産」に変える</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紹介会社は採るたびに払う。自社の仕組みは、つくれば残り続けます</a:t>
            </a:r>
            <a:endParaRPr lang="en-US" sz="1300" dirty="0"/>
          </a:p>
        </p:txBody>
      </p:sp>
      <p:sp>
        <p:nvSpPr>
          <p:cNvPr id="6" name="Shape 4"/>
          <p:cNvSpPr/>
          <p:nvPr/>
        </p:nvSpPr>
        <p:spPr>
          <a:xfrm>
            <a:off x="640080" y="1874520"/>
            <a:ext cx="6309360" cy="3977640"/>
          </a:xfrm>
          <a:prstGeom prst="roundRect">
            <a:avLst>
              <a:gd name="adj" fmla="val 1379"/>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7" name="Text 5"/>
          <p:cNvSpPr/>
          <p:nvPr/>
        </p:nvSpPr>
        <p:spPr>
          <a:xfrm>
            <a:off x="914400" y="1929384"/>
            <a:ext cx="5760720" cy="274320"/>
          </a:xfrm>
          <a:prstGeom prst="rect">
            <a:avLst/>
          </a:prstGeom>
          <a:noFill/>
          <a:ln/>
        </p:spPr>
        <p:txBody>
          <a:bodyPr wrap="square" lIns="0" tIns="0" rIns="0" bIns="0" rtlCol="0" anchor="ctr"/>
          <a:lstStyle/>
          <a:p>
            <a:pPr indent="0" marL="0">
              <a:buNone/>
            </a:pPr>
            <a:r>
              <a:rPr lang="en-US" sz="1100" b="1" dirty="0">
                <a:solidFill>
                  <a:srgbClr val="141413"/>
                </a:solidFill>
                <a:latin typeface="Meiryo" pitchFamily="34" charset="0"/>
                <a:ea typeface="Meiryo" pitchFamily="34" charset="-122"/>
                <a:cs typeface="Meiryo" pitchFamily="34" charset="-120"/>
              </a:rPr>
              <a:t>累計採用コストの推移（万円・試算例）</a:t>
            </a:r>
            <a:endParaRPr lang="en-US" sz="1100" dirty="0"/>
          </a:p>
        </p:txBody>
      </p:sp>
      <p:graphicFrame>
        <p:nvGraphicFramePr>
          <p:cNvPr id="8" name="Chart 0" descr=""/>
          <p:cNvGraphicFramePr/>
          <p:nvPr/>
        </p:nvGraphicFramePr>
        <p:xfrm>
          <a:off x="777240" y="2194560"/>
          <a:ext cx="6035040" cy="352044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223760" y="1874520"/>
          <a:ext cx="4297680" cy="914400"/>
        </p:xfrm>
        <a:graphic>
          <a:graphicData uri="http://schemas.openxmlformats.org/drawingml/2006/table">
            <a:tbl>
              <a:tblPr/>
              <a:tblGrid>
                <a:gridCol w="1417320"/>
                <a:gridCol w="1783080"/>
                <a:gridCol w="1463040"/>
              </a:tblGrid>
              <a:tr h="484632">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観点</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紹介会社に依存</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自社で内製</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r>
              <a:tr h="484632">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費用の型</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変動費（採るたび）</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b="1" dirty="0">
                          <a:solidFill>
                            <a:srgbClr val="141413"/>
                          </a:solidFill>
                          <a:latin typeface="Meiryo" pitchFamily="34" charset="0"/>
                          <a:ea typeface="Meiryo" pitchFamily="34" charset="-122"/>
                          <a:cs typeface="Meiryo" pitchFamily="34" charset="-120"/>
                        </a:rPr>
                        <a:t>固定費に近い</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84632">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人数が増えると</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比例して増える</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b="1" dirty="0">
                          <a:solidFill>
                            <a:srgbClr val="141413"/>
                          </a:solidFill>
                          <a:latin typeface="Meiryo" pitchFamily="34" charset="0"/>
                          <a:ea typeface="Meiryo" pitchFamily="34" charset="-122"/>
                          <a:cs typeface="Meiryo" pitchFamily="34" charset="-120"/>
                        </a:rPr>
                        <a:t>1 人あたりが下がる</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84632">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社内に残るもの</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何も残らない</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b="1" dirty="0">
                          <a:solidFill>
                            <a:srgbClr val="141413"/>
                          </a:solidFill>
                          <a:latin typeface="Meiryo" pitchFamily="34" charset="0"/>
                          <a:ea typeface="Meiryo" pitchFamily="34" charset="-122"/>
                          <a:cs typeface="Meiryo" pitchFamily="34" charset="-120"/>
                        </a:rPr>
                        <a:t>求人票・ページ・型</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84632">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立ち上げの速さ</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速い</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3 か月ほどかかる</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84632">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向いている場面</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急な欠員・専門職</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計画的な採用の主軸</a:t>
                      </a:r>
                      <a:endParaRPr lang="en-US" sz="1050" dirty="0">
                        <a:latin typeface="Meiryo" charset="0"/>
                        <a:ea typeface="Meiryo" charset="0"/>
                        <a:cs typeface="Meiryo" charset="0"/>
                      </a:endParaRPr>
                    </a:p>
                  </a:txBody>
                  <a:tcPr marL="63500" marR="63500" marT="63500" marB="635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bl>
          </a:graphicData>
        </a:graphic>
      </p:graphicFrame>
      <p:sp>
        <p:nvSpPr>
          <p:cNvPr id="10" name="Shape 6"/>
          <p:cNvSpPr/>
          <p:nvPr/>
        </p:nvSpPr>
        <p:spPr>
          <a:xfrm>
            <a:off x="7223760" y="4892040"/>
            <a:ext cx="4297680" cy="914400"/>
          </a:xfrm>
          <a:prstGeom prst="roundRect">
            <a:avLst>
              <a:gd name="adj" fmla="val 6000"/>
            </a:avLst>
          </a:prstGeom>
          <a:solidFill>
            <a:srgbClr val="141413"/>
          </a:solidFill>
          <a:ln/>
        </p:spPr>
      </p:sp>
      <p:sp>
        <p:nvSpPr>
          <p:cNvPr id="11" name="Text 7"/>
          <p:cNvSpPr/>
          <p:nvPr/>
        </p:nvSpPr>
        <p:spPr>
          <a:xfrm>
            <a:off x="7443216" y="4892040"/>
            <a:ext cx="3858768" cy="914400"/>
          </a:xfrm>
          <a:prstGeom prst="rect">
            <a:avLst/>
          </a:prstGeom>
          <a:noFill/>
          <a:ln/>
        </p:spPr>
        <p:txBody>
          <a:bodyPr wrap="square" lIns="0" tIns="0" rIns="0" bIns="0" rtlCol="0" anchor="ctr"/>
          <a:lstStyle/>
          <a:p>
            <a:pPr indent="0" marL="0">
              <a:lnSpc>
                <a:spcPts val="1800"/>
              </a:lnSpc>
              <a:buNone/>
            </a:pPr>
            <a:r>
              <a:rPr lang="en-US" sz="1100" dirty="0">
                <a:solidFill>
                  <a:srgbClr val="FFFFFF"/>
                </a:solidFill>
                <a:latin typeface="Meiryo" pitchFamily="34" charset="0"/>
                <a:ea typeface="Meiryo" pitchFamily="34" charset="-122"/>
                <a:cs typeface="Meiryo" pitchFamily="34" charset="-120"/>
              </a:rPr>
              <a:t>紹介会社をゼロにする必要はありません。</a:t>
            </a:r>
            <a:endParaRPr lang="en-US" sz="1100" dirty="0"/>
          </a:p>
          <a:p>
            <a:pPr indent="0" marL="0">
              <a:lnSpc>
                <a:spcPts val="1800"/>
              </a:lnSpc>
              <a:buNone/>
            </a:pPr>
            <a:r>
              <a:rPr lang="en-US" sz="1100" dirty="0">
                <a:solidFill>
                  <a:srgbClr val="FFFFFF"/>
                </a:solidFill>
                <a:latin typeface="Meiryo" pitchFamily="34" charset="0"/>
                <a:ea typeface="Meiryo" pitchFamily="34" charset="-122"/>
                <a:cs typeface="Meiryo" pitchFamily="34" charset="-120"/>
              </a:rPr>
              <a:t>主軸を内製に移し、紹介は緊急時の保険にします。</a:t>
            </a:r>
            <a:endParaRPr lang="en-US" sz="1100" dirty="0"/>
          </a:p>
        </p:txBody>
      </p:sp>
      <p:sp>
        <p:nvSpPr>
          <p:cNvPr id="12" name="Text 8"/>
          <p:cNvSpPr/>
          <p:nvPr/>
        </p:nvSpPr>
        <p:spPr>
          <a:xfrm>
            <a:off x="640080" y="5943600"/>
            <a:ext cx="10881360" cy="274320"/>
          </a:xfrm>
          <a:prstGeom prst="rect">
            <a:avLst/>
          </a:prstGeom>
          <a:noFill/>
          <a:ln/>
        </p:spPr>
        <p:txBody>
          <a:bodyPr wrap="square" lIns="0" tIns="0" rIns="0" bIns="0" rtlCol="0" anchor="ctr"/>
          <a:lstStyle/>
          <a:p>
            <a:pPr indent="0" marL="0">
              <a:buNone/>
            </a:pPr>
            <a:r>
              <a:rPr lang="en-US" sz="1000" dirty="0">
                <a:solidFill>
                  <a:srgbClr val="8A887E"/>
                </a:solidFill>
                <a:latin typeface="Meiryo" pitchFamily="34" charset="0"/>
                <a:ea typeface="Meiryo" pitchFamily="34" charset="-122"/>
                <a:cs typeface="Meiryo" pitchFamily="34" charset="-120"/>
              </a:rPr>
              <a:t>※ 内製側の初期 60 万円は、ページ制作・写真・動画・初期工数を含む試算例です。</a:t>
            </a:r>
            <a:endParaRPr lang="en-US" sz="1000" dirty="0"/>
          </a:p>
        </p:txBody>
      </p:sp>
      <p:sp>
        <p:nvSpPr>
          <p:cNvPr id="13" name="Text 9"/>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14" name="Text 10"/>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10 / 19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3</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採用ページの鉄板構成 ｜ 6 ブロック</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告知の場ではなく、上から順に読ませる 1 本のストーリーとして組みます</a:t>
            </a:r>
            <a:endParaRPr lang="en-US" sz="1300" dirty="0"/>
          </a:p>
        </p:txBody>
      </p:sp>
      <p:sp>
        <p:nvSpPr>
          <p:cNvPr id="6" name="Shape 4"/>
          <p:cNvSpPr/>
          <p:nvPr/>
        </p:nvSpPr>
        <p:spPr>
          <a:xfrm>
            <a:off x="640080" y="1874520"/>
            <a:ext cx="5234940" cy="1188720"/>
          </a:xfrm>
          <a:prstGeom prst="roundRect">
            <a:avLst>
              <a:gd name="adj" fmla="val 384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7" name="Shape 5"/>
          <p:cNvSpPr/>
          <p:nvPr/>
        </p:nvSpPr>
        <p:spPr>
          <a:xfrm>
            <a:off x="896112" y="2130552"/>
            <a:ext cx="502920" cy="502920"/>
          </a:xfrm>
          <a:prstGeom prst="ellipse">
            <a:avLst/>
          </a:prstGeom>
          <a:solidFill>
            <a:srgbClr val="141413"/>
          </a:solidFill>
          <a:ln/>
        </p:spPr>
      </p:sp>
      <p:sp>
        <p:nvSpPr>
          <p:cNvPr id="8" name="Text 6"/>
          <p:cNvSpPr/>
          <p:nvPr/>
        </p:nvSpPr>
        <p:spPr>
          <a:xfrm>
            <a:off x="896112" y="21305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1</a:t>
            </a:r>
            <a:endParaRPr lang="en-US" sz="1600" dirty="0"/>
          </a:p>
        </p:txBody>
      </p:sp>
      <p:sp>
        <p:nvSpPr>
          <p:cNvPr id="9" name="Text 7"/>
          <p:cNvSpPr/>
          <p:nvPr/>
        </p:nvSpPr>
        <p:spPr>
          <a:xfrm>
            <a:off x="1554480" y="2039112"/>
            <a:ext cx="4046220" cy="329184"/>
          </a:xfrm>
          <a:prstGeom prst="rect">
            <a:avLst/>
          </a:prstGeom>
          <a:noFill/>
          <a:ln/>
        </p:spPr>
        <p:txBody>
          <a:bodyPr wrap="square" lIns="0" tIns="0" rIns="0" bIns="0" rtlCol="0" anchor="ctr"/>
          <a:lstStyle/>
          <a:p>
            <a:pPr indent="0" marL="0">
              <a:buNone/>
            </a:pPr>
            <a:r>
              <a:rPr lang="en-US" sz="1400" b="1" dirty="0">
                <a:solidFill>
                  <a:srgbClr val="141413"/>
                </a:solidFill>
                <a:latin typeface="Meiryo" pitchFamily="34" charset="0"/>
                <a:ea typeface="Meiryo" pitchFamily="34" charset="-122"/>
                <a:cs typeface="Meiryo" pitchFamily="34" charset="-120"/>
              </a:rPr>
              <a:t>メインパネル（キャッチコピー）</a:t>
            </a:r>
            <a:endParaRPr lang="en-US" sz="1400" dirty="0"/>
          </a:p>
        </p:txBody>
      </p:sp>
      <p:sp>
        <p:nvSpPr>
          <p:cNvPr id="10" name="Text 8"/>
          <p:cNvSpPr/>
          <p:nvPr/>
        </p:nvSpPr>
        <p:spPr>
          <a:xfrm>
            <a:off x="1554480" y="2386584"/>
            <a:ext cx="4046220" cy="566928"/>
          </a:xfrm>
          <a:prstGeom prst="rect">
            <a:avLst/>
          </a:prstGeom>
          <a:noFill/>
          <a:ln/>
        </p:spPr>
        <p:txBody>
          <a:bodyPr wrap="square" lIns="0" tIns="0" rIns="0" bIns="0" rtlCol="0" anchor="t"/>
          <a:lstStyle/>
          <a:p>
            <a:pPr indent="0" marL="0">
              <a:lnSpc>
                <a:spcPts val="1600"/>
              </a:lnSpc>
              <a:buNone/>
            </a:pPr>
            <a:r>
              <a:rPr lang="en-US" sz="1050" dirty="0">
                <a:solidFill>
                  <a:srgbClr val="6E6C63"/>
                </a:solidFill>
                <a:latin typeface="Meiryo" pitchFamily="34" charset="0"/>
                <a:ea typeface="Meiryo" pitchFamily="34" charset="-122"/>
                <a:cs typeface="Meiryo" pitchFamily="34" charset="-120"/>
              </a:rPr>
              <a:t>ターゲットが今かかえている状況と本音を言語化し、「これは自分向けの求人だ」と気づかせる。</a:t>
            </a:r>
            <a:endParaRPr lang="en-US" sz="1050" dirty="0"/>
          </a:p>
        </p:txBody>
      </p:sp>
      <p:sp>
        <p:nvSpPr>
          <p:cNvPr id="11" name="Shape 9"/>
          <p:cNvSpPr/>
          <p:nvPr/>
        </p:nvSpPr>
        <p:spPr>
          <a:xfrm>
            <a:off x="6286500" y="1874520"/>
            <a:ext cx="5234940" cy="1188720"/>
          </a:xfrm>
          <a:prstGeom prst="roundRect">
            <a:avLst>
              <a:gd name="adj" fmla="val 384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2" name="Shape 10"/>
          <p:cNvSpPr/>
          <p:nvPr/>
        </p:nvSpPr>
        <p:spPr>
          <a:xfrm>
            <a:off x="6542532" y="2130552"/>
            <a:ext cx="502920" cy="502920"/>
          </a:xfrm>
          <a:prstGeom prst="ellipse">
            <a:avLst/>
          </a:prstGeom>
          <a:solidFill>
            <a:srgbClr val="141413"/>
          </a:solidFill>
          <a:ln/>
        </p:spPr>
      </p:sp>
      <p:sp>
        <p:nvSpPr>
          <p:cNvPr id="13" name="Text 11"/>
          <p:cNvSpPr/>
          <p:nvPr/>
        </p:nvSpPr>
        <p:spPr>
          <a:xfrm>
            <a:off x="6542532" y="21305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2</a:t>
            </a:r>
            <a:endParaRPr lang="en-US" sz="1600" dirty="0"/>
          </a:p>
        </p:txBody>
      </p:sp>
      <p:sp>
        <p:nvSpPr>
          <p:cNvPr id="14" name="Text 12"/>
          <p:cNvSpPr/>
          <p:nvPr/>
        </p:nvSpPr>
        <p:spPr>
          <a:xfrm>
            <a:off x="7200900" y="2039112"/>
            <a:ext cx="4046220" cy="329184"/>
          </a:xfrm>
          <a:prstGeom prst="rect">
            <a:avLst/>
          </a:prstGeom>
          <a:noFill/>
          <a:ln/>
        </p:spPr>
        <p:txBody>
          <a:bodyPr wrap="square" lIns="0" tIns="0" rIns="0" bIns="0" rtlCol="0" anchor="ctr"/>
          <a:lstStyle/>
          <a:p>
            <a:pPr indent="0" marL="0">
              <a:buNone/>
            </a:pPr>
            <a:r>
              <a:rPr lang="en-US" sz="1400" b="1" dirty="0">
                <a:solidFill>
                  <a:srgbClr val="141413"/>
                </a:solidFill>
                <a:latin typeface="Meiryo" pitchFamily="34" charset="0"/>
                <a:ea typeface="Meiryo" pitchFamily="34" charset="-122"/>
                <a:cs typeface="Meiryo" pitchFamily="34" charset="-120"/>
              </a:rPr>
              <a:t>悩みへの共感</a:t>
            </a:r>
            <a:endParaRPr lang="en-US" sz="1400" dirty="0"/>
          </a:p>
        </p:txBody>
      </p:sp>
      <p:sp>
        <p:nvSpPr>
          <p:cNvPr id="15" name="Text 13"/>
          <p:cNvSpPr/>
          <p:nvPr/>
        </p:nvSpPr>
        <p:spPr>
          <a:xfrm>
            <a:off x="7200900" y="2386584"/>
            <a:ext cx="4046220" cy="566928"/>
          </a:xfrm>
          <a:prstGeom prst="rect">
            <a:avLst/>
          </a:prstGeom>
          <a:noFill/>
          <a:ln/>
        </p:spPr>
        <p:txBody>
          <a:bodyPr wrap="square" lIns="0" tIns="0" rIns="0" bIns="0" rtlCol="0" anchor="t"/>
          <a:lstStyle/>
          <a:p>
            <a:pPr indent="0" marL="0">
              <a:lnSpc>
                <a:spcPts val="1600"/>
              </a:lnSpc>
              <a:buNone/>
            </a:pPr>
            <a:r>
              <a:rPr lang="en-US" sz="1050" dirty="0">
                <a:solidFill>
                  <a:srgbClr val="6E6C63"/>
                </a:solidFill>
                <a:latin typeface="Meiryo" pitchFamily="34" charset="0"/>
                <a:ea typeface="Meiryo" pitchFamily="34" charset="-122"/>
                <a:cs typeface="Meiryo" pitchFamily="34" charset="-120"/>
              </a:rPr>
              <a:t>「毎日記録に追われている」「今の職場ではスキルが活かせない」など、不満をこちらから言葉にする。</a:t>
            </a:r>
            <a:endParaRPr lang="en-US" sz="1050" dirty="0"/>
          </a:p>
        </p:txBody>
      </p:sp>
      <p:sp>
        <p:nvSpPr>
          <p:cNvPr id="16" name="Shape 14"/>
          <p:cNvSpPr/>
          <p:nvPr/>
        </p:nvSpPr>
        <p:spPr>
          <a:xfrm>
            <a:off x="640080" y="3300984"/>
            <a:ext cx="5234940" cy="1188720"/>
          </a:xfrm>
          <a:prstGeom prst="roundRect">
            <a:avLst>
              <a:gd name="adj" fmla="val 384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7" name="Shape 15"/>
          <p:cNvSpPr/>
          <p:nvPr/>
        </p:nvSpPr>
        <p:spPr>
          <a:xfrm>
            <a:off x="896112" y="3557016"/>
            <a:ext cx="502920" cy="502920"/>
          </a:xfrm>
          <a:prstGeom prst="ellipse">
            <a:avLst/>
          </a:prstGeom>
          <a:solidFill>
            <a:srgbClr val="141413"/>
          </a:solidFill>
          <a:ln/>
        </p:spPr>
      </p:sp>
      <p:sp>
        <p:nvSpPr>
          <p:cNvPr id="18" name="Text 16"/>
          <p:cNvSpPr/>
          <p:nvPr/>
        </p:nvSpPr>
        <p:spPr>
          <a:xfrm>
            <a:off x="896112" y="355701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3</a:t>
            </a:r>
            <a:endParaRPr lang="en-US" sz="1600" dirty="0"/>
          </a:p>
        </p:txBody>
      </p:sp>
      <p:sp>
        <p:nvSpPr>
          <p:cNvPr id="19" name="Text 17"/>
          <p:cNvSpPr/>
          <p:nvPr/>
        </p:nvSpPr>
        <p:spPr>
          <a:xfrm>
            <a:off x="1554480" y="3465576"/>
            <a:ext cx="4046220" cy="329184"/>
          </a:xfrm>
          <a:prstGeom prst="rect">
            <a:avLst/>
          </a:prstGeom>
          <a:noFill/>
          <a:ln/>
        </p:spPr>
        <p:txBody>
          <a:bodyPr wrap="square" lIns="0" tIns="0" rIns="0" bIns="0" rtlCol="0" anchor="ctr"/>
          <a:lstStyle/>
          <a:p>
            <a:pPr indent="0" marL="0">
              <a:buNone/>
            </a:pPr>
            <a:r>
              <a:rPr lang="en-US" sz="1400" b="1" dirty="0">
                <a:solidFill>
                  <a:srgbClr val="141413"/>
                </a:solidFill>
                <a:latin typeface="Meiryo" pitchFamily="34" charset="0"/>
                <a:ea typeface="Meiryo" pitchFamily="34" charset="-122"/>
                <a:cs typeface="Meiryo" pitchFamily="34" charset="-120"/>
              </a:rPr>
              <a:t>本当の原因と解決策</a:t>
            </a:r>
            <a:endParaRPr lang="en-US" sz="1400" dirty="0"/>
          </a:p>
        </p:txBody>
      </p:sp>
      <p:sp>
        <p:nvSpPr>
          <p:cNvPr id="20" name="Text 18"/>
          <p:cNvSpPr/>
          <p:nvPr/>
        </p:nvSpPr>
        <p:spPr>
          <a:xfrm>
            <a:off x="1554480" y="3813048"/>
            <a:ext cx="4046220" cy="566928"/>
          </a:xfrm>
          <a:prstGeom prst="rect">
            <a:avLst/>
          </a:prstGeom>
          <a:noFill/>
          <a:ln/>
        </p:spPr>
        <p:txBody>
          <a:bodyPr wrap="square" lIns="0" tIns="0" rIns="0" bIns="0" rtlCol="0" anchor="t"/>
          <a:lstStyle/>
          <a:p>
            <a:pPr indent="0" marL="0">
              <a:lnSpc>
                <a:spcPts val="1600"/>
              </a:lnSpc>
              <a:buNone/>
            </a:pPr>
            <a:r>
              <a:rPr lang="en-US" sz="1050" dirty="0">
                <a:solidFill>
                  <a:srgbClr val="6E6C63"/>
                </a:solidFill>
                <a:latin typeface="Meiryo" pitchFamily="34" charset="0"/>
                <a:ea typeface="Meiryo" pitchFamily="34" charset="-122"/>
                <a:cs typeface="Meiryo" pitchFamily="34" charset="-120"/>
              </a:rPr>
              <a:t>なぜその悩みが起きるのか（雑務の多さ・担当業務の広さ）を明かし、自社での解決策を具体的に示す。</a:t>
            </a:r>
            <a:endParaRPr lang="en-US" sz="1050" dirty="0"/>
          </a:p>
        </p:txBody>
      </p:sp>
      <p:sp>
        <p:nvSpPr>
          <p:cNvPr id="21" name="Shape 19"/>
          <p:cNvSpPr/>
          <p:nvPr/>
        </p:nvSpPr>
        <p:spPr>
          <a:xfrm>
            <a:off x="6286500" y="3300984"/>
            <a:ext cx="5234940" cy="1188720"/>
          </a:xfrm>
          <a:prstGeom prst="roundRect">
            <a:avLst>
              <a:gd name="adj" fmla="val 384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22" name="Shape 20"/>
          <p:cNvSpPr/>
          <p:nvPr/>
        </p:nvSpPr>
        <p:spPr>
          <a:xfrm>
            <a:off x="6542532" y="3557016"/>
            <a:ext cx="502920" cy="502920"/>
          </a:xfrm>
          <a:prstGeom prst="ellipse">
            <a:avLst/>
          </a:prstGeom>
          <a:solidFill>
            <a:srgbClr val="141413"/>
          </a:solidFill>
          <a:ln/>
        </p:spPr>
      </p:sp>
      <p:sp>
        <p:nvSpPr>
          <p:cNvPr id="23" name="Text 21"/>
          <p:cNvSpPr/>
          <p:nvPr/>
        </p:nvSpPr>
        <p:spPr>
          <a:xfrm>
            <a:off x="6542532" y="355701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4</a:t>
            </a:r>
            <a:endParaRPr lang="en-US" sz="1600" dirty="0"/>
          </a:p>
        </p:txBody>
      </p:sp>
      <p:sp>
        <p:nvSpPr>
          <p:cNvPr id="24" name="Text 22"/>
          <p:cNvSpPr/>
          <p:nvPr/>
        </p:nvSpPr>
        <p:spPr>
          <a:xfrm>
            <a:off x="7200900" y="3465576"/>
            <a:ext cx="4046220" cy="329184"/>
          </a:xfrm>
          <a:prstGeom prst="rect">
            <a:avLst/>
          </a:prstGeom>
          <a:noFill/>
          <a:ln/>
        </p:spPr>
        <p:txBody>
          <a:bodyPr wrap="square" lIns="0" tIns="0" rIns="0" bIns="0" rtlCol="0" anchor="ctr"/>
          <a:lstStyle/>
          <a:p>
            <a:pPr indent="0" marL="0">
              <a:buNone/>
            </a:pPr>
            <a:r>
              <a:rPr lang="en-US" sz="1400" b="1" dirty="0">
                <a:solidFill>
                  <a:srgbClr val="141413"/>
                </a:solidFill>
                <a:latin typeface="Meiryo" pitchFamily="34" charset="0"/>
                <a:ea typeface="Meiryo" pitchFamily="34" charset="-122"/>
                <a:cs typeface="Meiryo" pitchFamily="34" charset="-120"/>
              </a:rPr>
              <a:t>どんなふうに働けるか</a:t>
            </a:r>
            <a:endParaRPr lang="en-US" sz="1400" dirty="0"/>
          </a:p>
        </p:txBody>
      </p:sp>
      <p:sp>
        <p:nvSpPr>
          <p:cNvPr id="25" name="Text 23"/>
          <p:cNvSpPr/>
          <p:nvPr/>
        </p:nvSpPr>
        <p:spPr>
          <a:xfrm>
            <a:off x="7200900" y="3813048"/>
            <a:ext cx="4046220" cy="566928"/>
          </a:xfrm>
          <a:prstGeom prst="rect">
            <a:avLst/>
          </a:prstGeom>
          <a:noFill/>
          <a:ln/>
        </p:spPr>
        <p:txBody>
          <a:bodyPr wrap="square" lIns="0" tIns="0" rIns="0" bIns="0" rtlCol="0" anchor="t"/>
          <a:lstStyle/>
          <a:p>
            <a:pPr indent="0" marL="0">
              <a:lnSpc>
                <a:spcPts val="1600"/>
              </a:lnSpc>
              <a:buNone/>
            </a:pPr>
            <a:r>
              <a:rPr lang="en-US" sz="1050" dirty="0">
                <a:solidFill>
                  <a:srgbClr val="6E6C63"/>
                </a:solidFill>
                <a:latin typeface="Meiryo" pitchFamily="34" charset="0"/>
                <a:ea typeface="Meiryo" pitchFamily="34" charset="-122"/>
                <a:cs typeface="Meiryo" pitchFamily="34" charset="-120"/>
              </a:rPr>
              <a:t>1 日のスケジュール、研修制度、キャリアの道すじを見せ、入社後の姿を想像できるようにする。</a:t>
            </a:r>
            <a:endParaRPr lang="en-US" sz="1050" dirty="0"/>
          </a:p>
        </p:txBody>
      </p:sp>
      <p:sp>
        <p:nvSpPr>
          <p:cNvPr id="26" name="Shape 24"/>
          <p:cNvSpPr/>
          <p:nvPr/>
        </p:nvSpPr>
        <p:spPr>
          <a:xfrm>
            <a:off x="640080" y="4727448"/>
            <a:ext cx="5234940" cy="1188720"/>
          </a:xfrm>
          <a:prstGeom prst="roundRect">
            <a:avLst>
              <a:gd name="adj" fmla="val 384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27" name="Shape 25"/>
          <p:cNvSpPr/>
          <p:nvPr/>
        </p:nvSpPr>
        <p:spPr>
          <a:xfrm>
            <a:off x="896112" y="4983480"/>
            <a:ext cx="502920" cy="502920"/>
          </a:xfrm>
          <a:prstGeom prst="ellipse">
            <a:avLst/>
          </a:prstGeom>
          <a:solidFill>
            <a:srgbClr val="141413"/>
          </a:solidFill>
          <a:ln/>
        </p:spPr>
      </p:sp>
      <p:sp>
        <p:nvSpPr>
          <p:cNvPr id="28" name="Text 26"/>
          <p:cNvSpPr/>
          <p:nvPr/>
        </p:nvSpPr>
        <p:spPr>
          <a:xfrm>
            <a:off x="896112" y="4983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5</a:t>
            </a:r>
            <a:endParaRPr lang="en-US" sz="1600" dirty="0"/>
          </a:p>
        </p:txBody>
      </p:sp>
      <p:sp>
        <p:nvSpPr>
          <p:cNvPr id="29" name="Text 27"/>
          <p:cNvSpPr/>
          <p:nvPr/>
        </p:nvSpPr>
        <p:spPr>
          <a:xfrm>
            <a:off x="1554480" y="4892040"/>
            <a:ext cx="4046220" cy="329184"/>
          </a:xfrm>
          <a:prstGeom prst="rect">
            <a:avLst/>
          </a:prstGeom>
          <a:noFill/>
          <a:ln/>
        </p:spPr>
        <p:txBody>
          <a:bodyPr wrap="square" lIns="0" tIns="0" rIns="0" bIns="0" rtlCol="0" anchor="ctr"/>
          <a:lstStyle/>
          <a:p>
            <a:pPr indent="0" marL="0">
              <a:buNone/>
            </a:pPr>
            <a:r>
              <a:rPr lang="en-US" sz="1400" b="1" dirty="0">
                <a:solidFill>
                  <a:srgbClr val="141413"/>
                </a:solidFill>
                <a:latin typeface="Meiryo" pitchFamily="34" charset="0"/>
                <a:ea typeface="Meiryo" pitchFamily="34" charset="-122"/>
                <a:cs typeface="Meiryo" pitchFamily="34" charset="-120"/>
              </a:rPr>
              <a:t>スタッフの紹介・声（動画）</a:t>
            </a:r>
            <a:endParaRPr lang="en-US" sz="1400" dirty="0"/>
          </a:p>
        </p:txBody>
      </p:sp>
      <p:sp>
        <p:nvSpPr>
          <p:cNvPr id="30" name="Text 28"/>
          <p:cNvSpPr/>
          <p:nvPr/>
        </p:nvSpPr>
        <p:spPr>
          <a:xfrm>
            <a:off x="1554480" y="5239512"/>
            <a:ext cx="4046220" cy="566928"/>
          </a:xfrm>
          <a:prstGeom prst="rect">
            <a:avLst/>
          </a:prstGeom>
          <a:noFill/>
          <a:ln/>
        </p:spPr>
        <p:txBody>
          <a:bodyPr wrap="square" lIns="0" tIns="0" rIns="0" bIns="0" rtlCol="0" anchor="t"/>
          <a:lstStyle/>
          <a:p>
            <a:pPr indent="0" marL="0">
              <a:lnSpc>
                <a:spcPts val="1600"/>
              </a:lnSpc>
              <a:buNone/>
            </a:pPr>
            <a:r>
              <a:rPr lang="en-US" sz="1050" dirty="0">
                <a:solidFill>
                  <a:srgbClr val="6E6C63"/>
                </a:solidFill>
                <a:latin typeface="Meiryo" pitchFamily="34" charset="0"/>
                <a:ea typeface="Meiryo" pitchFamily="34" charset="-122"/>
                <a:cs typeface="Meiryo" pitchFamily="34" charset="-120"/>
              </a:rPr>
              <a:t>30〜40 秒のインタビュー動画。表情や声色といった、文字では伝わらない空気感を届ける。</a:t>
            </a:r>
            <a:endParaRPr lang="en-US" sz="1050" dirty="0"/>
          </a:p>
        </p:txBody>
      </p:sp>
      <p:sp>
        <p:nvSpPr>
          <p:cNvPr id="31" name="Shape 29"/>
          <p:cNvSpPr/>
          <p:nvPr/>
        </p:nvSpPr>
        <p:spPr>
          <a:xfrm>
            <a:off x="6286500" y="4727448"/>
            <a:ext cx="5234940" cy="1188720"/>
          </a:xfrm>
          <a:prstGeom prst="roundRect">
            <a:avLst>
              <a:gd name="adj" fmla="val 3846"/>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32" name="Shape 30"/>
          <p:cNvSpPr/>
          <p:nvPr/>
        </p:nvSpPr>
        <p:spPr>
          <a:xfrm>
            <a:off x="6542532" y="4983480"/>
            <a:ext cx="502920" cy="502920"/>
          </a:xfrm>
          <a:prstGeom prst="ellipse">
            <a:avLst/>
          </a:prstGeom>
          <a:solidFill>
            <a:srgbClr val="141413"/>
          </a:solidFill>
          <a:ln/>
        </p:spPr>
      </p:sp>
      <p:sp>
        <p:nvSpPr>
          <p:cNvPr id="33" name="Text 31"/>
          <p:cNvSpPr/>
          <p:nvPr/>
        </p:nvSpPr>
        <p:spPr>
          <a:xfrm>
            <a:off x="6542532" y="49834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eiryo" pitchFamily="34" charset="0"/>
                <a:ea typeface="Meiryo" pitchFamily="34" charset="-122"/>
                <a:cs typeface="Meiryo" pitchFamily="34" charset="-120"/>
              </a:rPr>
              <a:t>6</a:t>
            </a:r>
            <a:endParaRPr lang="en-US" sz="1600" dirty="0"/>
          </a:p>
        </p:txBody>
      </p:sp>
      <p:sp>
        <p:nvSpPr>
          <p:cNvPr id="34" name="Text 32"/>
          <p:cNvSpPr/>
          <p:nvPr/>
        </p:nvSpPr>
        <p:spPr>
          <a:xfrm>
            <a:off x="7200900" y="4892040"/>
            <a:ext cx="4046220" cy="329184"/>
          </a:xfrm>
          <a:prstGeom prst="rect">
            <a:avLst/>
          </a:prstGeom>
          <a:noFill/>
          <a:ln/>
        </p:spPr>
        <p:txBody>
          <a:bodyPr wrap="square" lIns="0" tIns="0" rIns="0" bIns="0" rtlCol="0" anchor="ctr"/>
          <a:lstStyle/>
          <a:p>
            <a:pPr indent="0" marL="0">
              <a:buNone/>
            </a:pPr>
            <a:r>
              <a:rPr lang="en-US" sz="1400" b="1" dirty="0">
                <a:solidFill>
                  <a:srgbClr val="141413"/>
                </a:solidFill>
                <a:latin typeface="Meiryo" pitchFamily="34" charset="0"/>
                <a:ea typeface="Meiryo" pitchFamily="34" charset="-122"/>
                <a:cs typeface="Meiryo" pitchFamily="34" charset="-120"/>
              </a:rPr>
              <a:t>数字で見える会社</a:t>
            </a:r>
            <a:endParaRPr lang="en-US" sz="1400" dirty="0"/>
          </a:p>
        </p:txBody>
      </p:sp>
      <p:sp>
        <p:nvSpPr>
          <p:cNvPr id="35" name="Text 33"/>
          <p:cNvSpPr/>
          <p:nvPr/>
        </p:nvSpPr>
        <p:spPr>
          <a:xfrm>
            <a:off x="7200900" y="5239512"/>
            <a:ext cx="4046220" cy="566928"/>
          </a:xfrm>
          <a:prstGeom prst="rect">
            <a:avLst/>
          </a:prstGeom>
          <a:noFill/>
          <a:ln/>
        </p:spPr>
        <p:txBody>
          <a:bodyPr wrap="square" lIns="0" tIns="0" rIns="0" bIns="0" rtlCol="0" anchor="t"/>
          <a:lstStyle/>
          <a:p>
            <a:pPr indent="0" marL="0">
              <a:lnSpc>
                <a:spcPts val="1600"/>
              </a:lnSpc>
              <a:buNone/>
            </a:pPr>
            <a:r>
              <a:rPr lang="en-US" sz="1050" dirty="0">
                <a:solidFill>
                  <a:srgbClr val="6E6C63"/>
                </a:solidFill>
                <a:latin typeface="Meiryo" pitchFamily="34" charset="0"/>
                <a:ea typeface="Meiryo" pitchFamily="34" charset="-122"/>
                <a:cs typeface="Meiryo" pitchFamily="34" charset="-120"/>
              </a:rPr>
              <a:t>年間休日、平均年齢、勤続年数、有給取得率。客観的な数字が最後の安心材料になります。</a:t>
            </a:r>
            <a:endParaRPr lang="en-US" sz="1050" dirty="0"/>
          </a:p>
        </p:txBody>
      </p:sp>
      <p:sp>
        <p:nvSpPr>
          <p:cNvPr id="36" name="Text 34"/>
          <p:cNvSpPr/>
          <p:nvPr/>
        </p:nvSpPr>
        <p:spPr>
          <a:xfrm>
            <a:off x="640080" y="5943600"/>
            <a:ext cx="10881360" cy="274320"/>
          </a:xfrm>
          <a:prstGeom prst="rect">
            <a:avLst/>
          </a:prstGeom>
          <a:noFill/>
          <a:ln/>
        </p:spPr>
        <p:txBody>
          <a:bodyPr wrap="square" lIns="0" tIns="0" rIns="0" bIns="0" rtlCol="0" anchor="ctr"/>
          <a:lstStyle/>
          <a:p>
            <a:pPr indent="0" marL="0">
              <a:buNone/>
            </a:pPr>
            <a:r>
              <a:rPr lang="en-US" sz="1000" dirty="0">
                <a:solidFill>
                  <a:srgbClr val="8A887E"/>
                </a:solidFill>
                <a:latin typeface="Meiryo" pitchFamily="34" charset="0"/>
                <a:ea typeface="Meiryo" pitchFamily="34" charset="-122"/>
                <a:cs typeface="Meiryo" pitchFamily="34" charset="-120"/>
              </a:rPr>
              <a:t>※ 上から 1→6 の順に並べます。順番を入れ替えると、共感が生まれる前に条件の話が始まってしまいます。</a:t>
            </a:r>
            <a:endParaRPr lang="en-US" sz="1000" dirty="0"/>
          </a:p>
        </p:txBody>
      </p:sp>
      <p:sp>
        <p:nvSpPr>
          <p:cNvPr id="37" name="Text 35"/>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38" name="Text 36"/>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11 / 19</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646920" y="457200"/>
            <a:ext cx="1874520" cy="310896"/>
          </a:xfrm>
          <a:prstGeom prst="roundRect">
            <a:avLst>
              <a:gd name="adj" fmla="val 14706"/>
            </a:avLst>
          </a:prstGeom>
          <a:solidFill>
            <a:srgbClr val="E7ECDD"/>
          </a:solidFill>
          <a:ln w="12700">
            <a:solidFill>
              <a:srgbClr val="788C5D"/>
            </a:solidFill>
            <a:prstDash val="solid"/>
          </a:ln>
        </p:spPr>
      </p:sp>
      <p:sp>
        <p:nvSpPr>
          <p:cNvPr id="3" name="Text 1"/>
          <p:cNvSpPr/>
          <p:nvPr/>
        </p:nvSpPr>
        <p:spPr>
          <a:xfrm>
            <a:off x="9646920" y="457200"/>
            <a:ext cx="1874520" cy="310896"/>
          </a:xfrm>
          <a:prstGeom prst="rect">
            <a:avLst/>
          </a:prstGeom>
          <a:noFill/>
          <a:ln/>
        </p:spPr>
        <p:txBody>
          <a:bodyPr wrap="square" lIns="0" tIns="0" rIns="0" bIns="0" rtlCol="0" anchor="ctr"/>
          <a:lstStyle/>
          <a:p>
            <a:pPr algn="ctr" indent="0" marL="0">
              <a:buNone/>
            </a:pPr>
            <a:r>
              <a:rPr lang="en-US" sz="1050" b="1" dirty="0">
                <a:solidFill>
                  <a:srgbClr val="788C5D"/>
                </a:solidFill>
                <a:latin typeface="Meiryo" pitchFamily="34" charset="0"/>
                <a:ea typeface="Meiryo" pitchFamily="34" charset="-122"/>
                <a:cs typeface="Meiryo" pitchFamily="34" charset="-120"/>
              </a:rPr>
              <a:t>AI 講座パート</a:t>
            </a:r>
            <a:endParaRPr lang="en-US" sz="1050" dirty="0"/>
          </a:p>
        </p:txBody>
      </p:sp>
      <p:sp>
        <p:nvSpPr>
          <p:cNvPr id="4" name="Shape 2"/>
          <p:cNvSpPr/>
          <p:nvPr/>
        </p:nvSpPr>
        <p:spPr>
          <a:xfrm>
            <a:off x="640080" y="457200"/>
            <a:ext cx="1783080" cy="310896"/>
          </a:xfrm>
          <a:prstGeom prst="roundRect">
            <a:avLst>
              <a:gd name="adj" fmla="val 14706"/>
            </a:avLst>
          </a:prstGeom>
          <a:solidFill>
            <a:srgbClr val="D97757"/>
          </a:solidFill>
          <a:ln/>
        </p:spPr>
      </p:sp>
      <p:sp>
        <p:nvSpPr>
          <p:cNvPr id="5" name="Text 3"/>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3</a:t>
            </a:r>
            <a:endParaRPr lang="en-US" sz="1100" dirty="0"/>
          </a:p>
        </p:txBody>
      </p:sp>
      <p:sp>
        <p:nvSpPr>
          <p:cNvPr id="6" name="Text 4"/>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AI で原稿をつくる ｜ プロンプトの型</a:t>
            </a:r>
            <a:endParaRPr lang="en-US" sz="2700" dirty="0"/>
          </a:p>
        </p:txBody>
      </p:sp>
      <p:sp>
        <p:nvSpPr>
          <p:cNvPr id="7" name="Text 5"/>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この 5 つを埋めて渡すだけで、たたき台の質が大きく変わります</a:t>
            </a:r>
            <a:endParaRPr lang="en-US" sz="1300" dirty="0"/>
          </a:p>
        </p:txBody>
      </p:sp>
      <p:sp>
        <p:nvSpPr>
          <p:cNvPr id="8" name="Shape 6"/>
          <p:cNvSpPr/>
          <p:nvPr/>
        </p:nvSpPr>
        <p:spPr>
          <a:xfrm>
            <a:off x="640080" y="1874520"/>
            <a:ext cx="5029200" cy="566928"/>
          </a:xfrm>
          <a:prstGeom prst="roundRect">
            <a:avLst>
              <a:gd name="adj" fmla="val 8065"/>
            </a:avLst>
          </a:prstGeom>
          <a:solidFill>
            <a:srgbClr val="FFFFFF"/>
          </a:solidFill>
          <a:ln w="12700">
            <a:solidFill>
              <a:srgbClr val="E8E6DC"/>
            </a:solidFill>
            <a:prstDash val="solid"/>
          </a:ln>
        </p:spPr>
      </p:sp>
      <p:sp>
        <p:nvSpPr>
          <p:cNvPr id="9" name="Text 7"/>
          <p:cNvSpPr/>
          <p:nvPr/>
        </p:nvSpPr>
        <p:spPr>
          <a:xfrm>
            <a:off x="822960" y="1874520"/>
            <a:ext cx="777240" cy="566928"/>
          </a:xfrm>
          <a:prstGeom prst="rect">
            <a:avLst/>
          </a:prstGeom>
          <a:noFill/>
          <a:ln/>
        </p:spPr>
        <p:txBody>
          <a:bodyPr wrap="square" lIns="0" tIns="0" rIns="0" bIns="0" rtlCol="0" anchor="ctr"/>
          <a:lstStyle/>
          <a:p>
            <a:pPr indent="0" marL="0">
              <a:buNone/>
            </a:pPr>
            <a:r>
              <a:rPr lang="en-US" sz="1250" b="1" dirty="0">
                <a:solidFill>
                  <a:srgbClr val="D97757"/>
                </a:solidFill>
                <a:latin typeface="Meiryo" pitchFamily="34" charset="0"/>
                <a:ea typeface="Meiryo" pitchFamily="34" charset="-122"/>
                <a:cs typeface="Meiryo" pitchFamily="34" charset="-120"/>
              </a:rPr>
              <a:t>① 役割</a:t>
            </a:r>
            <a:endParaRPr lang="en-US" sz="1250" dirty="0"/>
          </a:p>
        </p:txBody>
      </p:sp>
      <p:sp>
        <p:nvSpPr>
          <p:cNvPr id="10" name="Text 8"/>
          <p:cNvSpPr/>
          <p:nvPr/>
        </p:nvSpPr>
        <p:spPr>
          <a:xfrm>
            <a:off x="1645920" y="1874520"/>
            <a:ext cx="3840480" cy="566928"/>
          </a:xfrm>
          <a:prstGeom prst="rect">
            <a:avLst/>
          </a:prstGeom>
          <a:noFill/>
          <a:ln/>
        </p:spPr>
        <p:txBody>
          <a:bodyPr wrap="square" lIns="0" tIns="0" rIns="0" bIns="0" rtlCol="0" anchor="ctr"/>
          <a:lstStyle/>
          <a:p>
            <a:pPr indent="0" marL="0">
              <a:buNone/>
            </a:pPr>
            <a:r>
              <a:rPr lang="en-US" sz="1100" dirty="0">
                <a:solidFill>
                  <a:srgbClr val="4A4943"/>
                </a:solidFill>
                <a:latin typeface="Meiryo" pitchFamily="34" charset="0"/>
                <a:ea typeface="Meiryo" pitchFamily="34" charset="-122"/>
                <a:cs typeface="Meiryo" pitchFamily="34" charset="-120"/>
              </a:rPr>
              <a:t>「介護業界の採用コピーライターとして」</a:t>
            </a:r>
            <a:endParaRPr lang="en-US" sz="1100" dirty="0"/>
          </a:p>
        </p:txBody>
      </p:sp>
      <p:sp>
        <p:nvSpPr>
          <p:cNvPr id="11" name="Shape 9"/>
          <p:cNvSpPr/>
          <p:nvPr/>
        </p:nvSpPr>
        <p:spPr>
          <a:xfrm>
            <a:off x="640080" y="2514600"/>
            <a:ext cx="5029200" cy="566928"/>
          </a:xfrm>
          <a:prstGeom prst="roundRect">
            <a:avLst>
              <a:gd name="adj" fmla="val 8065"/>
            </a:avLst>
          </a:prstGeom>
          <a:solidFill>
            <a:srgbClr val="FFFFFF"/>
          </a:solidFill>
          <a:ln w="12700">
            <a:solidFill>
              <a:srgbClr val="E8E6DC"/>
            </a:solidFill>
            <a:prstDash val="solid"/>
          </a:ln>
        </p:spPr>
      </p:sp>
      <p:sp>
        <p:nvSpPr>
          <p:cNvPr id="12" name="Text 10"/>
          <p:cNvSpPr/>
          <p:nvPr/>
        </p:nvSpPr>
        <p:spPr>
          <a:xfrm>
            <a:off x="822960" y="2514600"/>
            <a:ext cx="777240" cy="566928"/>
          </a:xfrm>
          <a:prstGeom prst="rect">
            <a:avLst/>
          </a:prstGeom>
          <a:noFill/>
          <a:ln/>
        </p:spPr>
        <p:txBody>
          <a:bodyPr wrap="square" lIns="0" tIns="0" rIns="0" bIns="0" rtlCol="0" anchor="ctr"/>
          <a:lstStyle/>
          <a:p>
            <a:pPr indent="0" marL="0">
              <a:buNone/>
            </a:pPr>
            <a:r>
              <a:rPr lang="en-US" sz="1250" b="1" dirty="0">
                <a:solidFill>
                  <a:srgbClr val="D97757"/>
                </a:solidFill>
                <a:latin typeface="Meiryo" pitchFamily="34" charset="0"/>
                <a:ea typeface="Meiryo" pitchFamily="34" charset="-122"/>
                <a:cs typeface="Meiryo" pitchFamily="34" charset="-120"/>
              </a:rPr>
              <a:t>② 前提</a:t>
            </a:r>
            <a:endParaRPr lang="en-US" sz="1250" dirty="0"/>
          </a:p>
        </p:txBody>
      </p:sp>
      <p:sp>
        <p:nvSpPr>
          <p:cNvPr id="13" name="Text 11"/>
          <p:cNvSpPr/>
          <p:nvPr/>
        </p:nvSpPr>
        <p:spPr>
          <a:xfrm>
            <a:off x="1645920" y="2514600"/>
            <a:ext cx="3840480" cy="566928"/>
          </a:xfrm>
          <a:prstGeom prst="rect">
            <a:avLst/>
          </a:prstGeom>
          <a:noFill/>
          <a:ln/>
        </p:spPr>
        <p:txBody>
          <a:bodyPr wrap="square" lIns="0" tIns="0" rIns="0" bIns="0" rtlCol="0" anchor="ctr"/>
          <a:lstStyle/>
          <a:p>
            <a:pPr indent="0" marL="0">
              <a:buNone/>
            </a:pPr>
            <a:r>
              <a:rPr lang="en-US" sz="1100" dirty="0">
                <a:solidFill>
                  <a:srgbClr val="4A4943"/>
                </a:solidFill>
                <a:latin typeface="Meiryo" pitchFamily="34" charset="0"/>
                <a:ea typeface="Meiryo" pitchFamily="34" charset="-122"/>
                <a:cs typeface="Meiryo" pitchFamily="34" charset="-120"/>
              </a:rPr>
              <a:t>理念・体制・シフト・研修を箇条書きで渡す</a:t>
            </a:r>
            <a:endParaRPr lang="en-US" sz="1100" dirty="0"/>
          </a:p>
        </p:txBody>
      </p:sp>
      <p:sp>
        <p:nvSpPr>
          <p:cNvPr id="14" name="Shape 12"/>
          <p:cNvSpPr/>
          <p:nvPr/>
        </p:nvSpPr>
        <p:spPr>
          <a:xfrm>
            <a:off x="640080" y="3154680"/>
            <a:ext cx="5029200" cy="566928"/>
          </a:xfrm>
          <a:prstGeom prst="roundRect">
            <a:avLst>
              <a:gd name="adj" fmla="val 8065"/>
            </a:avLst>
          </a:prstGeom>
          <a:solidFill>
            <a:srgbClr val="FFFFFF"/>
          </a:solidFill>
          <a:ln w="12700">
            <a:solidFill>
              <a:srgbClr val="E8E6DC"/>
            </a:solidFill>
            <a:prstDash val="solid"/>
          </a:ln>
        </p:spPr>
      </p:sp>
      <p:sp>
        <p:nvSpPr>
          <p:cNvPr id="15" name="Text 13"/>
          <p:cNvSpPr/>
          <p:nvPr/>
        </p:nvSpPr>
        <p:spPr>
          <a:xfrm>
            <a:off x="822960" y="3154680"/>
            <a:ext cx="777240" cy="566928"/>
          </a:xfrm>
          <a:prstGeom prst="rect">
            <a:avLst/>
          </a:prstGeom>
          <a:noFill/>
          <a:ln/>
        </p:spPr>
        <p:txBody>
          <a:bodyPr wrap="square" lIns="0" tIns="0" rIns="0" bIns="0" rtlCol="0" anchor="ctr"/>
          <a:lstStyle/>
          <a:p>
            <a:pPr indent="0" marL="0">
              <a:buNone/>
            </a:pPr>
            <a:r>
              <a:rPr lang="en-US" sz="1250" b="1" dirty="0">
                <a:solidFill>
                  <a:srgbClr val="D97757"/>
                </a:solidFill>
                <a:latin typeface="Meiryo" pitchFamily="34" charset="0"/>
                <a:ea typeface="Meiryo" pitchFamily="34" charset="-122"/>
                <a:cs typeface="Meiryo" pitchFamily="34" charset="-120"/>
              </a:rPr>
              <a:t>③ 相手</a:t>
            </a:r>
            <a:endParaRPr lang="en-US" sz="1250" dirty="0"/>
          </a:p>
        </p:txBody>
      </p:sp>
      <p:sp>
        <p:nvSpPr>
          <p:cNvPr id="16" name="Text 14"/>
          <p:cNvSpPr/>
          <p:nvPr/>
        </p:nvSpPr>
        <p:spPr>
          <a:xfrm>
            <a:off x="1645920" y="3154680"/>
            <a:ext cx="3840480" cy="566928"/>
          </a:xfrm>
          <a:prstGeom prst="rect">
            <a:avLst/>
          </a:prstGeom>
          <a:noFill/>
          <a:ln/>
        </p:spPr>
        <p:txBody>
          <a:bodyPr wrap="square" lIns="0" tIns="0" rIns="0" bIns="0" rtlCol="0" anchor="ctr"/>
          <a:lstStyle/>
          <a:p>
            <a:pPr indent="0" marL="0">
              <a:buNone/>
            </a:pPr>
            <a:r>
              <a:rPr lang="en-US" sz="1100" dirty="0">
                <a:solidFill>
                  <a:srgbClr val="4A4943"/>
                </a:solidFill>
                <a:latin typeface="Meiryo" pitchFamily="34" charset="0"/>
                <a:ea typeface="Meiryo" pitchFamily="34" charset="-122"/>
                <a:cs typeface="Meiryo" pitchFamily="34" charset="-120"/>
              </a:rPr>
              <a:t>誰に読ませたいか（例：記録に疲れた 30 代職員）</a:t>
            </a:r>
            <a:endParaRPr lang="en-US" sz="1100" dirty="0"/>
          </a:p>
        </p:txBody>
      </p:sp>
      <p:sp>
        <p:nvSpPr>
          <p:cNvPr id="17" name="Shape 15"/>
          <p:cNvSpPr/>
          <p:nvPr/>
        </p:nvSpPr>
        <p:spPr>
          <a:xfrm>
            <a:off x="640080" y="3794760"/>
            <a:ext cx="5029200" cy="566928"/>
          </a:xfrm>
          <a:prstGeom prst="roundRect">
            <a:avLst>
              <a:gd name="adj" fmla="val 8065"/>
            </a:avLst>
          </a:prstGeom>
          <a:solidFill>
            <a:srgbClr val="FFFFFF"/>
          </a:solidFill>
          <a:ln w="12700">
            <a:solidFill>
              <a:srgbClr val="E8E6DC"/>
            </a:solidFill>
            <a:prstDash val="solid"/>
          </a:ln>
        </p:spPr>
      </p:sp>
      <p:sp>
        <p:nvSpPr>
          <p:cNvPr id="18" name="Text 16"/>
          <p:cNvSpPr/>
          <p:nvPr/>
        </p:nvSpPr>
        <p:spPr>
          <a:xfrm>
            <a:off x="822960" y="3794760"/>
            <a:ext cx="777240" cy="566928"/>
          </a:xfrm>
          <a:prstGeom prst="rect">
            <a:avLst/>
          </a:prstGeom>
          <a:noFill/>
          <a:ln/>
        </p:spPr>
        <p:txBody>
          <a:bodyPr wrap="square" lIns="0" tIns="0" rIns="0" bIns="0" rtlCol="0" anchor="ctr"/>
          <a:lstStyle/>
          <a:p>
            <a:pPr indent="0" marL="0">
              <a:buNone/>
            </a:pPr>
            <a:r>
              <a:rPr lang="en-US" sz="1250" b="1" dirty="0">
                <a:solidFill>
                  <a:srgbClr val="D97757"/>
                </a:solidFill>
                <a:latin typeface="Meiryo" pitchFamily="34" charset="0"/>
                <a:ea typeface="Meiryo" pitchFamily="34" charset="-122"/>
                <a:cs typeface="Meiryo" pitchFamily="34" charset="-120"/>
              </a:rPr>
              <a:t>④ 形式</a:t>
            </a:r>
            <a:endParaRPr lang="en-US" sz="1250" dirty="0"/>
          </a:p>
        </p:txBody>
      </p:sp>
      <p:sp>
        <p:nvSpPr>
          <p:cNvPr id="19" name="Text 17"/>
          <p:cNvSpPr/>
          <p:nvPr/>
        </p:nvSpPr>
        <p:spPr>
          <a:xfrm>
            <a:off x="1645920" y="3794760"/>
            <a:ext cx="3840480" cy="566928"/>
          </a:xfrm>
          <a:prstGeom prst="rect">
            <a:avLst/>
          </a:prstGeom>
          <a:noFill/>
          <a:ln/>
        </p:spPr>
        <p:txBody>
          <a:bodyPr wrap="square" lIns="0" tIns="0" rIns="0" bIns="0" rtlCol="0" anchor="ctr"/>
          <a:lstStyle/>
          <a:p>
            <a:pPr indent="0" marL="0">
              <a:buNone/>
            </a:pPr>
            <a:r>
              <a:rPr lang="en-US" sz="1100" dirty="0">
                <a:solidFill>
                  <a:srgbClr val="4A4943"/>
                </a:solidFill>
                <a:latin typeface="Meiryo" pitchFamily="34" charset="0"/>
                <a:ea typeface="Meiryo" pitchFamily="34" charset="-122"/>
                <a:cs typeface="Meiryo" pitchFamily="34" charset="-120"/>
              </a:rPr>
              <a:t>「キャッチコピー 10 案、25 字以内」と形を指定</a:t>
            </a:r>
            <a:endParaRPr lang="en-US" sz="1100" dirty="0"/>
          </a:p>
        </p:txBody>
      </p:sp>
      <p:sp>
        <p:nvSpPr>
          <p:cNvPr id="20" name="Shape 18"/>
          <p:cNvSpPr/>
          <p:nvPr/>
        </p:nvSpPr>
        <p:spPr>
          <a:xfrm>
            <a:off x="640080" y="4434840"/>
            <a:ext cx="5029200" cy="566928"/>
          </a:xfrm>
          <a:prstGeom prst="roundRect">
            <a:avLst>
              <a:gd name="adj" fmla="val 8065"/>
            </a:avLst>
          </a:prstGeom>
          <a:solidFill>
            <a:srgbClr val="FFFFFF"/>
          </a:solidFill>
          <a:ln w="12700">
            <a:solidFill>
              <a:srgbClr val="E8E6DC"/>
            </a:solidFill>
            <a:prstDash val="solid"/>
          </a:ln>
        </p:spPr>
      </p:sp>
      <p:sp>
        <p:nvSpPr>
          <p:cNvPr id="21" name="Text 19"/>
          <p:cNvSpPr/>
          <p:nvPr/>
        </p:nvSpPr>
        <p:spPr>
          <a:xfrm>
            <a:off x="822960" y="4434840"/>
            <a:ext cx="777240" cy="566928"/>
          </a:xfrm>
          <a:prstGeom prst="rect">
            <a:avLst/>
          </a:prstGeom>
          <a:noFill/>
          <a:ln/>
        </p:spPr>
        <p:txBody>
          <a:bodyPr wrap="square" lIns="0" tIns="0" rIns="0" bIns="0" rtlCol="0" anchor="ctr"/>
          <a:lstStyle/>
          <a:p>
            <a:pPr indent="0" marL="0">
              <a:buNone/>
            </a:pPr>
            <a:r>
              <a:rPr lang="en-US" sz="1250" b="1" dirty="0">
                <a:solidFill>
                  <a:srgbClr val="D97757"/>
                </a:solidFill>
                <a:latin typeface="Meiryo" pitchFamily="34" charset="0"/>
                <a:ea typeface="Meiryo" pitchFamily="34" charset="-122"/>
                <a:cs typeface="Meiryo" pitchFamily="34" charset="-120"/>
              </a:rPr>
              <a:t>⑤ 制約</a:t>
            </a:r>
            <a:endParaRPr lang="en-US" sz="1250" dirty="0"/>
          </a:p>
        </p:txBody>
      </p:sp>
      <p:sp>
        <p:nvSpPr>
          <p:cNvPr id="22" name="Text 20"/>
          <p:cNvSpPr/>
          <p:nvPr/>
        </p:nvSpPr>
        <p:spPr>
          <a:xfrm>
            <a:off x="1645920" y="4434840"/>
            <a:ext cx="3840480" cy="566928"/>
          </a:xfrm>
          <a:prstGeom prst="rect">
            <a:avLst/>
          </a:prstGeom>
          <a:noFill/>
          <a:ln/>
        </p:spPr>
        <p:txBody>
          <a:bodyPr wrap="square" lIns="0" tIns="0" rIns="0" bIns="0" rtlCol="0" anchor="ctr"/>
          <a:lstStyle/>
          <a:p>
            <a:pPr indent="0" marL="0">
              <a:buNone/>
            </a:pPr>
            <a:r>
              <a:rPr lang="en-US" sz="1100" dirty="0">
                <a:solidFill>
                  <a:srgbClr val="4A4943"/>
                </a:solidFill>
                <a:latin typeface="Meiryo" pitchFamily="34" charset="0"/>
                <a:ea typeface="Meiryo" pitchFamily="34" charset="-122"/>
                <a:cs typeface="Meiryo" pitchFamily="34" charset="-120"/>
              </a:rPr>
              <a:t>「誇張表現は使わない」「事実にない数字は書かない」</a:t>
            </a:r>
            <a:endParaRPr lang="en-US" sz="1100" dirty="0"/>
          </a:p>
        </p:txBody>
      </p:sp>
      <p:sp>
        <p:nvSpPr>
          <p:cNvPr id="23" name="Text 21"/>
          <p:cNvSpPr/>
          <p:nvPr/>
        </p:nvSpPr>
        <p:spPr>
          <a:xfrm>
            <a:off x="640080" y="5120640"/>
            <a:ext cx="5029200" cy="320040"/>
          </a:xfrm>
          <a:prstGeom prst="rect">
            <a:avLst/>
          </a:prstGeom>
          <a:noFill/>
          <a:ln/>
        </p:spPr>
        <p:txBody>
          <a:bodyPr wrap="square" lIns="0" tIns="0" rIns="0" bIns="0" rtlCol="0" anchor="ctr"/>
          <a:lstStyle/>
          <a:p>
            <a:pPr indent="0" marL="0">
              <a:buNone/>
            </a:pPr>
            <a:r>
              <a:rPr lang="en-US" sz="1300" b="1" dirty="0">
                <a:solidFill>
                  <a:srgbClr val="141413"/>
                </a:solidFill>
                <a:latin typeface="Meiryo" pitchFamily="34" charset="0"/>
                <a:ea typeface="Meiryo" pitchFamily="34" charset="-122"/>
                <a:cs typeface="Meiryo" pitchFamily="34" charset="-120"/>
              </a:rPr>
              <a:t>出てきた原稿のチェック 3 点</a:t>
            </a:r>
            <a:endParaRPr lang="en-US" sz="1300" dirty="0"/>
          </a:p>
        </p:txBody>
      </p:sp>
      <p:pic>
        <p:nvPicPr>
          <p:cNvPr id="24" name="Image 0" descr="preencoded.png">    </p:cNvPr>
          <p:cNvPicPr>
            <a:picLocks noChangeAspect="1"/>
          </p:cNvPicPr>
          <p:nvPr/>
        </p:nvPicPr>
        <p:blipFill>
          <a:blip r:embed="rId1"/>
          <a:stretch>
            <a:fillRect/>
          </a:stretch>
        </p:blipFill>
        <p:spPr>
          <a:xfrm>
            <a:off x="640080" y="5486400"/>
            <a:ext cx="210312" cy="210312"/>
          </a:xfrm>
          <a:prstGeom prst="rect">
            <a:avLst/>
          </a:prstGeom>
        </p:spPr>
      </p:pic>
      <p:sp>
        <p:nvSpPr>
          <p:cNvPr id="25" name="Text 22"/>
          <p:cNvSpPr/>
          <p:nvPr/>
        </p:nvSpPr>
        <p:spPr>
          <a:xfrm>
            <a:off x="941832" y="5468112"/>
            <a:ext cx="4663440" cy="274320"/>
          </a:xfrm>
          <a:prstGeom prst="rect">
            <a:avLst/>
          </a:prstGeom>
          <a:noFill/>
          <a:ln/>
        </p:spPr>
        <p:txBody>
          <a:bodyPr wrap="square" lIns="0" tIns="0" rIns="0" bIns="0" rtlCol="0" anchor="ctr"/>
          <a:lstStyle/>
          <a:p>
            <a:pPr indent="0" marL="0">
              <a:buNone/>
            </a:pPr>
            <a:r>
              <a:rPr lang="en-US" sz="1100" dirty="0">
                <a:solidFill>
                  <a:srgbClr val="4A4943"/>
                </a:solidFill>
                <a:latin typeface="Meiryo" pitchFamily="34" charset="0"/>
                <a:ea typeface="Meiryo" pitchFamily="34" charset="-122"/>
                <a:cs typeface="Meiryo" pitchFamily="34" charset="-120"/>
              </a:rPr>
              <a:t>書かれた数字は事実か</a:t>
            </a:r>
            <a:endParaRPr lang="en-US" sz="1100" dirty="0"/>
          </a:p>
        </p:txBody>
      </p:sp>
      <p:pic>
        <p:nvPicPr>
          <p:cNvPr id="26" name="Image 1" descr="preencoded.png">    </p:cNvPr>
          <p:cNvPicPr>
            <a:picLocks noChangeAspect="1"/>
          </p:cNvPicPr>
          <p:nvPr/>
        </p:nvPicPr>
        <p:blipFill>
          <a:blip r:embed="rId2"/>
          <a:stretch>
            <a:fillRect/>
          </a:stretch>
        </p:blipFill>
        <p:spPr>
          <a:xfrm>
            <a:off x="640080" y="5769864"/>
            <a:ext cx="210312" cy="210312"/>
          </a:xfrm>
          <a:prstGeom prst="rect">
            <a:avLst/>
          </a:prstGeom>
        </p:spPr>
      </p:pic>
      <p:sp>
        <p:nvSpPr>
          <p:cNvPr id="27" name="Text 23"/>
          <p:cNvSpPr/>
          <p:nvPr/>
        </p:nvSpPr>
        <p:spPr>
          <a:xfrm>
            <a:off x="941832" y="5751576"/>
            <a:ext cx="4663440" cy="274320"/>
          </a:xfrm>
          <a:prstGeom prst="rect">
            <a:avLst/>
          </a:prstGeom>
          <a:noFill/>
          <a:ln/>
        </p:spPr>
        <p:txBody>
          <a:bodyPr wrap="square" lIns="0" tIns="0" rIns="0" bIns="0" rtlCol="0" anchor="ctr"/>
          <a:lstStyle/>
          <a:p>
            <a:pPr indent="0" marL="0">
              <a:buNone/>
            </a:pPr>
            <a:r>
              <a:rPr lang="en-US" sz="1100" dirty="0">
                <a:solidFill>
                  <a:srgbClr val="4A4943"/>
                </a:solidFill>
                <a:latin typeface="Meiryo" pitchFamily="34" charset="0"/>
                <a:ea typeface="Meiryo" pitchFamily="34" charset="-122"/>
                <a:cs typeface="Meiryo" pitchFamily="34" charset="-120"/>
              </a:rPr>
              <a:t>現場の人が読んで違和感がないか</a:t>
            </a:r>
            <a:endParaRPr lang="en-US" sz="1100" dirty="0"/>
          </a:p>
        </p:txBody>
      </p:sp>
      <p:pic>
        <p:nvPicPr>
          <p:cNvPr id="28" name="Image 2" descr="preencoded.png">    </p:cNvPr>
          <p:cNvPicPr>
            <a:picLocks noChangeAspect="1"/>
          </p:cNvPicPr>
          <p:nvPr/>
        </p:nvPicPr>
        <p:blipFill>
          <a:blip r:embed="rId3"/>
          <a:stretch>
            <a:fillRect/>
          </a:stretch>
        </p:blipFill>
        <p:spPr>
          <a:xfrm>
            <a:off x="640080" y="6053328"/>
            <a:ext cx="210312" cy="210312"/>
          </a:xfrm>
          <a:prstGeom prst="rect">
            <a:avLst/>
          </a:prstGeom>
        </p:spPr>
      </p:pic>
      <p:sp>
        <p:nvSpPr>
          <p:cNvPr id="29" name="Text 24"/>
          <p:cNvSpPr/>
          <p:nvPr/>
        </p:nvSpPr>
        <p:spPr>
          <a:xfrm>
            <a:off x="941832" y="6035040"/>
            <a:ext cx="4663440" cy="274320"/>
          </a:xfrm>
          <a:prstGeom prst="rect">
            <a:avLst/>
          </a:prstGeom>
          <a:noFill/>
          <a:ln/>
        </p:spPr>
        <p:txBody>
          <a:bodyPr wrap="square" lIns="0" tIns="0" rIns="0" bIns="0" rtlCol="0" anchor="ctr"/>
          <a:lstStyle/>
          <a:p>
            <a:pPr indent="0" marL="0">
              <a:buNone/>
            </a:pPr>
            <a:r>
              <a:rPr lang="en-US" sz="1100" dirty="0">
                <a:solidFill>
                  <a:srgbClr val="4A4943"/>
                </a:solidFill>
                <a:latin typeface="Meiryo" pitchFamily="34" charset="0"/>
                <a:ea typeface="Meiryo" pitchFamily="34" charset="-122"/>
                <a:cs typeface="Meiryo" pitchFamily="34" charset="-120"/>
              </a:rPr>
              <a:t>他施設でも成立する文章になっていないか</a:t>
            </a:r>
            <a:endParaRPr lang="en-US" sz="1100" dirty="0"/>
          </a:p>
        </p:txBody>
      </p:sp>
      <p:sp>
        <p:nvSpPr>
          <p:cNvPr id="30" name="Shape 25"/>
          <p:cNvSpPr/>
          <p:nvPr/>
        </p:nvSpPr>
        <p:spPr>
          <a:xfrm>
            <a:off x="6126480" y="1874520"/>
            <a:ext cx="5394960" cy="3017520"/>
          </a:xfrm>
          <a:prstGeom prst="roundRect">
            <a:avLst>
              <a:gd name="adj" fmla="val 1818"/>
            </a:avLst>
          </a:prstGeom>
          <a:solidFill>
            <a:srgbClr val="141413"/>
          </a:solidFill>
          <a:ln/>
        </p:spPr>
      </p:sp>
      <p:sp>
        <p:nvSpPr>
          <p:cNvPr id="31" name="Text 26"/>
          <p:cNvSpPr/>
          <p:nvPr/>
        </p:nvSpPr>
        <p:spPr>
          <a:xfrm>
            <a:off x="6400800" y="2002536"/>
            <a:ext cx="4846320" cy="320040"/>
          </a:xfrm>
          <a:prstGeom prst="rect">
            <a:avLst/>
          </a:prstGeom>
          <a:noFill/>
          <a:ln/>
        </p:spPr>
        <p:txBody>
          <a:bodyPr wrap="square" lIns="0" tIns="0" rIns="0" bIns="0" rtlCol="0" anchor="ctr"/>
          <a:lstStyle/>
          <a:p>
            <a:pPr indent="0" marL="0">
              <a:buNone/>
            </a:pPr>
            <a:r>
              <a:rPr lang="en-US" sz="1250" b="1" dirty="0">
                <a:solidFill>
                  <a:srgbClr val="D97757"/>
                </a:solidFill>
                <a:latin typeface="Meiryo" pitchFamily="34" charset="0"/>
                <a:ea typeface="Meiryo" pitchFamily="34" charset="-122"/>
                <a:cs typeface="Meiryo" pitchFamily="34" charset="-120"/>
              </a:rPr>
              <a:t>記入例（そのまま使えます）</a:t>
            </a:r>
            <a:endParaRPr lang="en-US" sz="1250" dirty="0"/>
          </a:p>
        </p:txBody>
      </p:sp>
      <p:sp>
        <p:nvSpPr>
          <p:cNvPr id="32" name="Text 27"/>
          <p:cNvSpPr/>
          <p:nvPr/>
        </p:nvSpPr>
        <p:spPr>
          <a:xfrm>
            <a:off x="6400800" y="2377440"/>
            <a:ext cx="4846320" cy="2377440"/>
          </a:xfrm>
          <a:prstGeom prst="rect">
            <a:avLst/>
          </a:prstGeom>
          <a:noFill/>
          <a:ln/>
        </p:spPr>
        <p:txBody>
          <a:bodyPr wrap="square" lIns="0" tIns="0" rIns="0" bIns="0" rtlCol="0" anchor="t"/>
          <a:lstStyle/>
          <a:p>
            <a:pPr indent="0" marL="0">
              <a:lnSpc>
                <a:spcPts val="1800"/>
              </a:lnSpc>
              <a:buNone/>
            </a:pPr>
            <a:r>
              <a:rPr lang="en-US" sz="1100" dirty="0">
                <a:solidFill>
                  <a:srgbClr val="D6D3C8"/>
                </a:solidFill>
                <a:latin typeface="Meiryo" pitchFamily="34" charset="0"/>
                <a:ea typeface="Meiryo" pitchFamily="34" charset="-122"/>
                <a:cs typeface="Meiryo" pitchFamily="34" charset="-120"/>
              </a:rPr>
              <a:t>あなたは介護業界の採用コピーライターです。</a:t>
            </a:r>
            <a:endParaRPr lang="en-US" sz="1100" dirty="0"/>
          </a:p>
          <a:p>
            <a:pPr indent="0" marL="0">
              <a:lnSpc>
                <a:spcPts val="1800"/>
              </a:lnSpc>
              <a:buNone/>
            </a:pPr>
            <a:endParaRPr lang="en-US" sz="1100" dirty="0"/>
          </a:p>
          <a:p>
            <a:pPr indent="0" marL="0">
              <a:lnSpc>
                <a:spcPts val="1800"/>
              </a:lnSpc>
              <a:buNone/>
            </a:pPr>
            <a:r>
              <a:rPr lang="en-US" sz="1100" dirty="0">
                <a:solidFill>
                  <a:srgbClr val="D6D3C8"/>
                </a:solidFill>
                <a:latin typeface="Meiryo" pitchFamily="34" charset="0"/>
                <a:ea typeface="Meiryo" pitchFamily="34" charset="-122"/>
                <a:cs typeface="Meiryo" pitchFamily="34" charset="-120"/>
              </a:rPr>
              <a:t>【施設】訪問介護・スタッフ 28 名・年間休日 118 日</a:t>
            </a:r>
            <a:endParaRPr lang="en-US" sz="1100" dirty="0"/>
          </a:p>
          <a:p>
            <a:pPr indent="0" marL="0">
              <a:lnSpc>
                <a:spcPts val="1800"/>
              </a:lnSpc>
              <a:buNone/>
            </a:pPr>
            <a:r>
              <a:rPr lang="en-US" sz="1100" dirty="0">
                <a:solidFill>
                  <a:srgbClr val="D6D3C8"/>
                </a:solidFill>
                <a:latin typeface="Meiryo" pitchFamily="34" charset="0"/>
                <a:ea typeface="Meiryo" pitchFamily="34" charset="-122"/>
                <a:cs typeface="Meiryo" pitchFamily="34" charset="-120"/>
              </a:rPr>
              <a:t>　記録は音声入力に切替済み／残業は月平均 4 時間</a:t>
            </a:r>
            <a:endParaRPr lang="en-US" sz="1100" dirty="0"/>
          </a:p>
          <a:p>
            <a:pPr indent="0" marL="0">
              <a:lnSpc>
                <a:spcPts val="1800"/>
              </a:lnSpc>
              <a:buNone/>
            </a:pPr>
            <a:r>
              <a:rPr lang="en-US" sz="1100" dirty="0">
                <a:solidFill>
                  <a:srgbClr val="D6D3C8"/>
                </a:solidFill>
                <a:latin typeface="Meiryo" pitchFamily="34" charset="0"/>
                <a:ea typeface="Meiryo" pitchFamily="34" charset="-122"/>
                <a:cs typeface="Meiryo" pitchFamily="34" charset="-120"/>
              </a:rPr>
              <a:t>【読み手】記録と残業に疲れた 30 代の介護福祉士</a:t>
            </a:r>
            <a:endParaRPr lang="en-US" sz="1100" dirty="0"/>
          </a:p>
          <a:p>
            <a:pPr indent="0" marL="0">
              <a:lnSpc>
                <a:spcPts val="1800"/>
              </a:lnSpc>
              <a:buNone/>
            </a:pPr>
            <a:r>
              <a:rPr lang="en-US" sz="1100" dirty="0">
                <a:solidFill>
                  <a:srgbClr val="D6D3C8"/>
                </a:solidFill>
                <a:latin typeface="Meiryo" pitchFamily="34" charset="0"/>
                <a:ea typeface="Meiryo" pitchFamily="34" charset="-122"/>
                <a:cs typeface="Meiryo" pitchFamily="34" charset="-120"/>
              </a:rPr>
              <a:t>【出力】求人ページのキャッチコピーを 10 案、</a:t>
            </a:r>
            <a:endParaRPr lang="en-US" sz="1100" dirty="0"/>
          </a:p>
          <a:p>
            <a:pPr indent="0" marL="0">
              <a:lnSpc>
                <a:spcPts val="1800"/>
              </a:lnSpc>
              <a:buNone/>
            </a:pPr>
            <a:r>
              <a:rPr lang="en-US" sz="1100" dirty="0">
                <a:solidFill>
                  <a:srgbClr val="D6D3C8"/>
                </a:solidFill>
                <a:latin typeface="Meiryo" pitchFamily="34" charset="0"/>
                <a:ea typeface="Meiryo" pitchFamily="34" charset="-122"/>
                <a:cs typeface="Meiryo" pitchFamily="34" charset="-120"/>
              </a:rPr>
              <a:t>　各 25 字以内。悩みを言い当てる形にする。</a:t>
            </a:r>
            <a:endParaRPr lang="en-US" sz="1100" dirty="0"/>
          </a:p>
          <a:p>
            <a:pPr indent="0" marL="0">
              <a:lnSpc>
                <a:spcPts val="1800"/>
              </a:lnSpc>
              <a:buNone/>
            </a:pPr>
            <a:r>
              <a:rPr lang="en-US" sz="1100" dirty="0">
                <a:solidFill>
                  <a:srgbClr val="D6D3C8"/>
                </a:solidFill>
                <a:latin typeface="Meiryo" pitchFamily="34" charset="0"/>
                <a:ea typeface="Meiryo" pitchFamily="34" charset="-122"/>
                <a:cs typeface="Meiryo" pitchFamily="34" charset="-120"/>
              </a:rPr>
              <a:t>【制約】事実にない数字は書かない。</a:t>
            </a:r>
            <a:endParaRPr lang="en-US" sz="1100" dirty="0"/>
          </a:p>
          <a:p>
            <a:pPr indent="0" marL="0">
              <a:lnSpc>
                <a:spcPts val="1800"/>
              </a:lnSpc>
              <a:buNone/>
            </a:pPr>
            <a:r>
              <a:rPr lang="en-US" sz="1100" dirty="0">
                <a:solidFill>
                  <a:srgbClr val="D6D3C8"/>
                </a:solidFill>
                <a:latin typeface="Meiryo" pitchFamily="34" charset="0"/>
                <a:ea typeface="Meiryo" pitchFamily="34" charset="-122"/>
                <a:cs typeface="Meiryo" pitchFamily="34" charset="-120"/>
              </a:rPr>
              <a:t>　「アットホーム」など曖昧な言葉は使わない。</a:t>
            </a:r>
            <a:endParaRPr lang="en-US" sz="1100" dirty="0"/>
          </a:p>
        </p:txBody>
      </p:sp>
      <p:sp>
        <p:nvSpPr>
          <p:cNvPr id="33" name="Shape 28"/>
          <p:cNvSpPr/>
          <p:nvPr/>
        </p:nvSpPr>
        <p:spPr>
          <a:xfrm>
            <a:off x="6126480" y="5074920"/>
            <a:ext cx="5394960" cy="1051560"/>
          </a:xfrm>
          <a:prstGeom prst="roundRect">
            <a:avLst>
              <a:gd name="adj" fmla="val 5217"/>
            </a:avLst>
          </a:prstGeom>
          <a:solidFill>
            <a:srgbClr val="E7ECDD"/>
          </a:solidFill>
          <a:ln w="12700">
            <a:solidFill>
              <a:srgbClr val="788C5D"/>
            </a:solidFill>
            <a:prstDash val="solid"/>
          </a:ln>
        </p:spPr>
      </p:sp>
      <p:sp>
        <p:nvSpPr>
          <p:cNvPr id="34" name="Text 29"/>
          <p:cNvSpPr/>
          <p:nvPr/>
        </p:nvSpPr>
        <p:spPr>
          <a:xfrm>
            <a:off x="6400800" y="5074920"/>
            <a:ext cx="4846320" cy="1051560"/>
          </a:xfrm>
          <a:prstGeom prst="rect">
            <a:avLst/>
          </a:prstGeom>
          <a:noFill/>
          <a:ln/>
        </p:spPr>
        <p:txBody>
          <a:bodyPr wrap="square" lIns="0" tIns="0" rIns="0" bIns="0" rtlCol="0" anchor="ctr"/>
          <a:lstStyle/>
          <a:p>
            <a:pPr indent="0" marL="0">
              <a:lnSpc>
                <a:spcPts val="1900"/>
              </a:lnSpc>
              <a:buNone/>
            </a:pPr>
            <a:r>
              <a:rPr lang="en-US" sz="1100" b="1" dirty="0">
                <a:solidFill>
                  <a:srgbClr val="4A4943"/>
                </a:solidFill>
                <a:latin typeface="Meiryo" pitchFamily="34" charset="0"/>
                <a:ea typeface="Meiryo" pitchFamily="34" charset="-122"/>
                <a:cs typeface="Meiryo" pitchFamily="34" charset="-120"/>
              </a:rPr>
              <a:t>3 番目のチェックが最重要です。他施設に貼り替えても通る文章は、</a:t>
            </a:r>
            <a:endParaRPr lang="en-US" sz="1100" dirty="0"/>
          </a:p>
          <a:p>
            <a:pPr indent="0" marL="0">
              <a:lnSpc>
                <a:spcPts val="1900"/>
              </a:lnSpc>
              <a:buNone/>
            </a:pPr>
            <a:r>
              <a:rPr lang="en-US" sz="1100" b="1" dirty="0">
                <a:solidFill>
                  <a:srgbClr val="4A4943"/>
                </a:solidFill>
                <a:latin typeface="Meiryo" pitchFamily="34" charset="0"/>
                <a:ea typeface="Meiryo" pitchFamily="34" charset="-122"/>
                <a:cs typeface="Meiryo" pitchFamily="34" charset="-120"/>
              </a:rPr>
              <a:t>求職者にとって「選ぶ理由」になりません。</a:t>
            </a:r>
            <a:endParaRPr lang="en-US" sz="1100" dirty="0"/>
          </a:p>
        </p:txBody>
      </p:sp>
      <p:sp>
        <p:nvSpPr>
          <p:cNvPr id="35" name="Text 30"/>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36" name="Text 31"/>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12 / 19</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3</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ワーク③：ペルソナと「介護職の本音」</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共感は想像では書けません。実際に出ている声を材料にします</a:t>
            </a:r>
            <a:endParaRPr lang="en-US" sz="1300" dirty="0"/>
          </a:p>
        </p:txBody>
      </p:sp>
      <p:sp>
        <p:nvSpPr>
          <p:cNvPr id="6" name="Shape 4"/>
          <p:cNvSpPr/>
          <p:nvPr/>
        </p:nvSpPr>
        <p:spPr>
          <a:xfrm>
            <a:off x="640080" y="1874520"/>
            <a:ext cx="4754880" cy="3840480"/>
          </a:xfrm>
          <a:prstGeom prst="roundRect">
            <a:avLst>
              <a:gd name="adj" fmla="val 1429"/>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7" name="Text 5"/>
          <p:cNvSpPr/>
          <p:nvPr/>
        </p:nvSpPr>
        <p:spPr>
          <a:xfrm>
            <a:off x="932688" y="2020824"/>
            <a:ext cx="4169664" cy="365760"/>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採用要件は 1 枚に絞る</a:t>
            </a:r>
            <a:endParaRPr lang="en-US" sz="1500" dirty="0"/>
          </a:p>
        </p:txBody>
      </p:sp>
      <p:sp>
        <p:nvSpPr>
          <p:cNvPr id="8" name="Shape 6"/>
          <p:cNvSpPr/>
          <p:nvPr/>
        </p:nvSpPr>
        <p:spPr>
          <a:xfrm>
            <a:off x="932688" y="2478024"/>
            <a:ext cx="4169664" cy="822960"/>
          </a:xfrm>
          <a:prstGeom prst="roundRect">
            <a:avLst>
              <a:gd name="adj" fmla="val 5556"/>
            </a:avLst>
          </a:prstGeom>
          <a:solidFill>
            <a:srgbClr val="F1EFE7"/>
          </a:solidFill>
          <a:ln w="12700">
            <a:solidFill>
              <a:srgbClr val="E8E6DC"/>
            </a:solidFill>
            <a:prstDash val="solid"/>
          </a:ln>
        </p:spPr>
      </p:sp>
      <p:sp>
        <p:nvSpPr>
          <p:cNvPr id="9" name="Text 7"/>
          <p:cNvSpPr/>
          <p:nvPr/>
        </p:nvSpPr>
        <p:spPr>
          <a:xfrm>
            <a:off x="1097280" y="2478024"/>
            <a:ext cx="1005840" cy="822960"/>
          </a:xfrm>
          <a:prstGeom prst="rect">
            <a:avLst/>
          </a:prstGeom>
          <a:noFill/>
          <a:ln/>
        </p:spPr>
        <p:txBody>
          <a:bodyPr wrap="square" lIns="0" tIns="0" rIns="0" bIns="0" rtlCol="0" anchor="ctr"/>
          <a:lstStyle/>
          <a:p>
            <a:pPr indent="0" marL="0">
              <a:buNone/>
            </a:pPr>
            <a:r>
              <a:rPr lang="en-US" sz="1500" b="1" dirty="0">
                <a:solidFill>
                  <a:srgbClr val="D97757"/>
                </a:solidFill>
                <a:latin typeface="Meiryo" pitchFamily="34" charset="0"/>
                <a:ea typeface="Meiryo" pitchFamily="34" charset="-122"/>
                <a:cs typeface="Meiryo" pitchFamily="34" charset="-120"/>
              </a:rPr>
              <a:t>MUST</a:t>
            </a:r>
            <a:endParaRPr lang="en-US" sz="1500" dirty="0"/>
          </a:p>
        </p:txBody>
      </p:sp>
      <p:sp>
        <p:nvSpPr>
          <p:cNvPr id="10" name="Text 8"/>
          <p:cNvSpPr/>
          <p:nvPr/>
        </p:nvSpPr>
        <p:spPr>
          <a:xfrm>
            <a:off x="2103120" y="2596896"/>
            <a:ext cx="2971800" cy="292608"/>
          </a:xfrm>
          <a:prstGeom prst="rect">
            <a:avLst/>
          </a:prstGeom>
          <a:noFill/>
          <a:ln/>
        </p:spPr>
        <p:txBody>
          <a:bodyPr wrap="square" lIns="0" tIns="0" rIns="0" bIns="0" rtlCol="0" anchor="ctr"/>
          <a:lstStyle/>
          <a:p>
            <a:pPr indent="0" marL="0">
              <a:buNone/>
            </a:pPr>
            <a:r>
              <a:rPr lang="en-US" sz="1250" b="1" dirty="0">
                <a:solidFill>
                  <a:srgbClr val="141413"/>
                </a:solidFill>
                <a:latin typeface="Meiryo" pitchFamily="34" charset="0"/>
                <a:ea typeface="Meiryo" pitchFamily="34" charset="-122"/>
                <a:cs typeface="Meiryo" pitchFamily="34" charset="-120"/>
              </a:rPr>
              <a:t>3 つまで</a:t>
            </a:r>
            <a:endParaRPr lang="en-US" sz="1250" dirty="0"/>
          </a:p>
        </p:txBody>
      </p:sp>
      <p:sp>
        <p:nvSpPr>
          <p:cNvPr id="11" name="Text 9"/>
          <p:cNvSpPr/>
          <p:nvPr/>
        </p:nvSpPr>
        <p:spPr>
          <a:xfrm>
            <a:off x="2103120" y="2889504"/>
            <a:ext cx="2971800" cy="329184"/>
          </a:xfrm>
          <a:prstGeom prst="rect">
            <a:avLst/>
          </a:prstGeom>
          <a:noFill/>
          <a:ln/>
        </p:spPr>
        <p:txBody>
          <a:bodyPr wrap="square" lIns="0" tIns="0" rIns="0" bIns="0" rtlCol="0" anchor="ctr"/>
          <a:lstStyle/>
          <a:p>
            <a:pPr indent="0" marL="0">
              <a:buNone/>
            </a:pPr>
            <a:r>
              <a:rPr lang="en-US" sz="1050" dirty="0">
                <a:solidFill>
                  <a:srgbClr val="6E6C63"/>
                </a:solidFill>
                <a:latin typeface="Meiryo" pitchFamily="34" charset="0"/>
                <a:ea typeface="Meiryo" pitchFamily="34" charset="-122"/>
                <a:cs typeface="Meiryo" pitchFamily="34" charset="-120"/>
              </a:rPr>
              <a:t>資格・経験年数など、無いと成立しない条件</a:t>
            </a:r>
            <a:endParaRPr lang="en-US" sz="1050" dirty="0"/>
          </a:p>
        </p:txBody>
      </p:sp>
      <p:sp>
        <p:nvSpPr>
          <p:cNvPr id="12" name="Shape 10"/>
          <p:cNvSpPr/>
          <p:nvPr/>
        </p:nvSpPr>
        <p:spPr>
          <a:xfrm>
            <a:off x="932688" y="3447288"/>
            <a:ext cx="4169664" cy="822960"/>
          </a:xfrm>
          <a:prstGeom prst="roundRect">
            <a:avLst>
              <a:gd name="adj" fmla="val 5556"/>
            </a:avLst>
          </a:prstGeom>
          <a:solidFill>
            <a:srgbClr val="F1EFE7"/>
          </a:solidFill>
          <a:ln w="12700">
            <a:solidFill>
              <a:srgbClr val="E8E6DC"/>
            </a:solidFill>
            <a:prstDash val="solid"/>
          </a:ln>
        </p:spPr>
      </p:sp>
      <p:sp>
        <p:nvSpPr>
          <p:cNvPr id="13" name="Text 11"/>
          <p:cNvSpPr/>
          <p:nvPr/>
        </p:nvSpPr>
        <p:spPr>
          <a:xfrm>
            <a:off x="1097280" y="3447288"/>
            <a:ext cx="1005840" cy="822960"/>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WANT</a:t>
            </a:r>
            <a:endParaRPr lang="en-US" sz="1500" dirty="0"/>
          </a:p>
        </p:txBody>
      </p:sp>
      <p:sp>
        <p:nvSpPr>
          <p:cNvPr id="14" name="Text 12"/>
          <p:cNvSpPr/>
          <p:nvPr/>
        </p:nvSpPr>
        <p:spPr>
          <a:xfrm>
            <a:off x="2103120" y="3566160"/>
            <a:ext cx="2971800" cy="292608"/>
          </a:xfrm>
          <a:prstGeom prst="rect">
            <a:avLst/>
          </a:prstGeom>
          <a:noFill/>
          <a:ln/>
        </p:spPr>
        <p:txBody>
          <a:bodyPr wrap="square" lIns="0" tIns="0" rIns="0" bIns="0" rtlCol="0" anchor="ctr"/>
          <a:lstStyle/>
          <a:p>
            <a:pPr indent="0" marL="0">
              <a:buNone/>
            </a:pPr>
            <a:r>
              <a:rPr lang="en-US" sz="1250" b="1" dirty="0">
                <a:solidFill>
                  <a:srgbClr val="141413"/>
                </a:solidFill>
                <a:latin typeface="Meiryo" pitchFamily="34" charset="0"/>
                <a:ea typeface="Meiryo" pitchFamily="34" charset="-122"/>
                <a:cs typeface="Meiryo" pitchFamily="34" charset="-120"/>
              </a:rPr>
              <a:t>自由に</a:t>
            </a:r>
            <a:endParaRPr lang="en-US" sz="1250" dirty="0"/>
          </a:p>
        </p:txBody>
      </p:sp>
      <p:sp>
        <p:nvSpPr>
          <p:cNvPr id="15" name="Text 13"/>
          <p:cNvSpPr/>
          <p:nvPr/>
        </p:nvSpPr>
        <p:spPr>
          <a:xfrm>
            <a:off x="2103120" y="3858768"/>
            <a:ext cx="2971800" cy="329184"/>
          </a:xfrm>
          <a:prstGeom prst="rect">
            <a:avLst/>
          </a:prstGeom>
          <a:noFill/>
          <a:ln/>
        </p:spPr>
        <p:txBody>
          <a:bodyPr wrap="square" lIns="0" tIns="0" rIns="0" bIns="0" rtlCol="0" anchor="ctr"/>
          <a:lstStyle/>
          <a:p>
            <a:pPr indent="0" marL="0">
              <a:buNone/>
            </a:pPr>
            <a:r>
              <a:rPr lang="en-US" sz="1050" dirty="0">
                <a:solidFill>
                  <a:srgbClr val="6E6C63"/>
                </a:solidFill>
                <a:latin typeface="Meiryo" pitchFamily="34" charset="0"/>
                <a:ea typeface="Meiryo" pitchFamily="34" charset="-122"/>
                <a:cs typeface="Meiryo" pitchFamily="34" charset="-120"/>
              </a:rPr>
              <a:t>あれば嬉しい。無くても採用する条件</a:t>
            </a:r>
            <a:endParaRPr lang="en-US" sz="1050" dirty="0"/>
          </a:p>
        </p:txBody>
      </p:sp>
      <p:sp>
        <p:nvSpPr>
          <p:cNvPr id="16" name="Shape 14"/>
          <p:cNvSpPr/>
          <p:nvPr/>
        </p:nvSpPr>
        <p:spPr>
          <a:xfrm>
            <a:off x="932688" y="4416552"/>
            <a:ext cx="4169664" cy="822960"/>
          </a:xfrm>
          <a:prstGeom prst="roundRect">
            <a:avLst>
              <a:gd name="adj" fmla="val 5556"/>
            </a:avLst>
          </a:prstGeom>
          <a:solidFill>
            <a:srgbClr val="F1EFE7"/>
          </a:solidFill>
          <a:ln w="12700">
            <a:solidFill>
              <a:srgbClr val="E8E6DC"/>
            </a:solidFill>
            <a:prstDash val="solid"/>
          </a:ln>
        </p:spPr>
      </p:sp>
      <p:sp>
        <p:nvSpPr>
          <p:cNvPr id="17" name="Text 15"/>
          <p:cNvSpPr/>
          <p:nvPr/>
        </p:nvSpPr>
        <p:spPr>
          <a:xfrm>
            <a:off x="1097280" y="4416552"/>
            <a:ext cx="1005840" cy="822960"/>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NG</a:t>
            </a:r>
            <a:endParaRPr lang="en-US" sz="1500" dirty="0"/>
          </a:p>
        </p:txBody>
      </p:sp>
      <p:sp>
        <p:nvSpPr>
          <p:cNvPr id="18" name="Text 16"/>
          <p:cNvSpPr/>
          <p:nvPr/>
        </p:nvSpPr>
        <p:spPr>
          <a:xfrm>
            <a:off x="2103120" y="4535424"/>
            <a:ext cx="2971800" cy="292608"/>
          </a:xfrm>
          <a:prstGeom prst="rect">
            <a:avLst/>
          </a:prstGeom>
          <a:noFill/>
          <a:ln/>
        </p:spPr>
        <p:txBody>
          <a:bodyPr wrap="square" lIns="0" tIns="0" rIns="0" bIns="0" rtlCol="0" anchor="ctr"/>
          <a:lstStyle/>
          <a:p>
            <a:pPr indent="0" marL="0">
              <a:buNone/>
            </a:pPr>
            <a:r>
              <a:rPr lang="en-US" sz="1250" b="1" dirty="0">
                <a:solidFill>
                  <a:srgbClr val="141413"/>
                </a:solidFill>
                <a:latin typeface="Meiryo" pitchFamily="34" charset="0"/>
                <a:ea typeface="Meiryo" pitchFamily="34" charset="-122"/>
                <a:cs typeface="Meiryo" pitchFamily="34" charset="-120"/>
              </a:rPr>
              <a:t>2 つまで</a:t>
            </a:r>
            <a:endParaRPr lang="en-US" sz="1250" dirty="0"/>
          </a:p>
        </p:txBody>
      </p:sp>
      <p:sp>
        <p:nvSpPr>
          <p:cNvPr id="19" name="Text 17"/>
          <p:cNvSpPr/>
          <p:nvPr/>
        </p:nvSpPr>
        <p:spPr>
          <a:xfrm>
            <a:off x="2103120" y="4828032"/>
            <a:ext cx="2971800" cy="329184"/>
          </a:xfrm>
          <a:prstGeom prst="rect">
            <a:avLst/>
          </a:prstGeom>
          <a:noFill/>
          <a:ln/>
        </p:spPr>
        <p:txBody>
          <a:bodyPr wrap="square" lIns="0" tIns="0" rIns="0" bIns="0" rtlCol="0" anchor="ctr"/>
          <a:lstStyle/>
          <a:p>
            <a:pPr indent="0" marL="0">
              <a:buNone/>
            </a:pPr>
            <a:r>
              <a:rPr lang="en-US" sz="1050" dirty="0">
                <a:solidFill>
                  <a:srgbClr val="6E6C63"/>
                </a:solidFill>
                <a:latin typeface="Meiryo" pitchFamily="34" charset="0"/>
                <a:ea typeface="Meiryo" pitchFamily="34" charset="-122"/>
                <a:cs typeface="Meiryo" pitchFamily="34" charset="-120"/>
              </a:rPr>
              <a:t>これがあったら見送る、と決めておく条件</a:t>
            </a:r>
            <a:endParaRPr lang="en-US" sz="1050" dirty="0"/>
          </a:p>
        </p:txBody>
      </p:sp>
      <p:sp>
        <p:nvSpPr>
          <p:cNvPr id="20" name="Text 18"/>
          <p:cNvSpPr/>
          <p:nvPr/>
        </p:nvSpPr>
        <p:spPr>
          <a:xfrm>
            <a:off x="932688" y="5285232"/>
            <a:ext cx="4169664" cy="347472"/>
          </a:xfrm>
          <a:prstGeom prst="rect">
            <a:avLst/>
          </a:prstGeom>
          <a:noFill/>
          <a:ln/>
        </p:spPr>
        <p:txBody>
          <a:bodyPr wrap="square" lIns="0" tIns="0" rIns="0" bIns="0" rtlCol="0" anchor="ctr"/>
          <a:lstStyle/>
          <a:p>
            <a:pPr indent="0" marL="0">
              <a:buNone/>
            </a:pPr>
            <a:r>
              <a:rPr lang="en-US" sz="1100" b="1" dirty="0">
                <a:solidFill>
                  <a:srgbClr val="D97757"/>
                </a:solidFill>
                <a:latin typeface="Meiryo" pitchFamily="34" charset="0"/>
                <a:ea typeface="Meiryo" pitchFamily="34" charset="-122"/>
                <a:cs typeface="Meiryo" pitchFamily="34" charset="-120"/>
              </a:rPr>
              <a:t>MUST は 3 つまで。絞るほど会える人は増えます。</a:t>
            </a:r>
            <a:endParaRPr lang="en-US" sz="1100" dirty="0"/>
          </a:p>
        </p:txBody>
      </p:sp>
      <p:sp>
        <p:nvSpPr>
          <p:cNvPr id="21" name="Text 19"/>
          <p:cNvSpPr/>
          <p:nvPr/>
        </p:nvSpPr>
        <p:spPr>
          <a:xfrm>
            <a:off x="5852160" y="2020824"/>
            <a:ext cx="5669280" cy="365760"/>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転職を考える介護職の「本音」</a:t>
            </a:r>
            <a:endParaRPr lang="en-US" sz="1500" dirty="0"/>
          </a:p>
        </p:txBody>
      </p:sp>
      <p:sp>
        <p:nvSpPr>
          <p:cNvPr id="22" name="Shape 20"/>
          <p:cNvSpPr/>
          <p:nvPr/>
        </p:nvSpPr>
        <p:spPr>
          <a:xfrm>
            <a:off x="5852160" y="2450592"/>
            <a:ext cx="5669280" cy="594360"/>
          </a:xfrm>
          <a:prstGeom prst="roundRect">
            <a:avLst>
              <a:gd name="adj" fmla="val 7692"/>
            </a:avLst>
          </a:prstGeom>
          <a:solidFill>
            <a:srgbClr val="FFFFFF"/>
          </a:solidFill>
          <a:ln w="12700">
            <a:solidFill>
              <a:srgbClr val="E8E6DC"/>
            </a:solidFill>
            <a:prstDash val="solid"/>
          </a:ln>
        </p:spPr>
      </p:sp>
      <p:sp>
        <p:nvSpPr>
          <p:cNvPr id="23" name="Text 21"/>
          <p:cNvSpPr/>
          <p:nvPr/>
        </p:nvSpPr>
        <p:spPr>
          <a:xfrm>
            <a:off x="6053328" y="2496312"/>
            <a:ext cx="5266944" cy="274320"/>
          </a:xfrm>
          <a:prstGeom prst="rect">
            <a:avLst/>
          </a:prstGeom>
          <a:noFill/>
          <a:ln/>
        </p:spPr>
        <p:txBody>
          <a:bodyPr wrap="square" lIns="0" tIns="0" rIns="0" bIns="0" rtlCol="0" anchor="ctr"/>
          <a:lstStyle/>
          <a:p>
            <a:pPr indent="0" marL="0">
              <a:buNone/>
            </a:pPr>
            <a:r>
              <a:rPr lang="en-US" sz="1150" b="1" dirty="0">
                <a:solidFill>
                  <a:srgbClr val="4A4943"/>
                </a:solidFill>
                <a:latin typeface="Meiryo" pitchFamily="34" charset="0"/>
                <a:ea typeface="Meiryo" pitchFamily="34" charset="-122"/>
                <a:cs typeface="Meiryo" pitchFamily="34" charset="-120"/>
              </a:rPr>
              <a:t>「記録と事務に追われて、利用者と向き合う時間がない」</a:t>
            </a:r>
            <a:endParaRPr lang="en-US" sz="1150" dirty="0"/>
          </a:p>
        </p:txBody>
      </p:sp>
      <p:sp>
        <p:nvSpPr>
          <p:cNvPr id="24" name="Text 22"/>
          <p:cNvSpPr/>
          <p:nvPr/>
        </p:nvSpPr>
        <p:spPr>
          <a:xfrm>
            <a:off x="6053328" y="2761488"/>
            <a:ext cx="5266944" cy="237744"/>
          </a:xfrm>
          <a:prstGeom prst="rect">
            <a:avLst/>
          </a:prstGeom>
          <a:noFill/>
          <a:ln/>
        </p:spPr>
        <p:txBody>
          <a:bodyPr wrap="square" lIns="0" tIns="0" rIns="0" bIns="0" rtlCol="0" anchor="ctr"/>
          <a:lstStyle/>
          <a:p>
            <a:pPr indent="0" marL="0">
              <a:buNone/>
            </a:pPr>
            <a:r>
              <a:rPr lang="en-US" sz="1050" dirty="0">
                <a:solidFill>
                  <a:srgbClr val="D97757"/>
                </a:solidFill>
                <a:latin typeface="Meiryo" pitchFamily="34" charset="0"/>
                <a:ea typeface="Meiryo" pitchFamily="34" charset="-122"/>
                <a:cs typeface="Meiryo" pitchFamily="34" charset="-120"/>
              </a:rPr>
              <a:t>→ 記録の効率化・間接業務の削減を示す</a:t>
            </a:r>
            <a:endParaRPr lang="en-US" sz="1050" dirty="0"/>
          </a:p>
        </p:txBody>
      </p:sp>
      <p:sp>
        <p:nvSpPr>
          <p:cNvPr id="25" name="Shape 23"/>
          <p:cNvSpPr/>
          <p:nvPr/>
        </p:nvSpPr>
        <p:spPr>
          <a:xfrm>
            <a:off x="5852160" y="3136392"/>
            <a:ext cx="5669280" cy="594360"/>
          </a:xfrm>
          <a:prstGeom prst="roundRect">
            <a:avLst>
              <a:gd name="adj" fmla="val 7692"/>
            </a:avLst>
          </a:prstGeom>
          <a:solidFill>
            <a:srgbClr val="FFFFFF"/>
          </a:solidFill>
          <a:ln w="12700">
            <a:solidFill>
              <a:srgbClr val="E8E6DC"/>
            </a:solidFill>
            <a:prstDash val="solid"/>
          </a:ln>
        </p:spPr>
      </p:sp>
      <p:sp>
        <p:nvSpPr>
          <p:cNvPr id="26" name="Text 24"/>
          <p:cNvSpPr/>
          <p:nvPr/>
        </p:nvSpPr>
        <p:spPr>
          <a:xfrm>
            <a:off x="6053328" y="3182112"/>
            <a:ext cx="5266944" cy="274320"/>
          </a:xfrm>
          <a:prstGeom prst="rect">
            <a:avLst/>
          </a:prstGeom>
          <a:noFill/>
          <a:ln/>
        </p:spPr>
        <p:txBody>
          <a:bodyPr wrap="square" lIns="0" tIns="0" rIns="0" bIns="0" rtlCol="0" anchor="ctr"/>
          <a:lstStyle/>
          <a:p>
            <a:pPr indent="0" marL="0">
              <a:buNone/>
            </a:pPr>
            <a:r>
              <a:rPr lang="en-US" sz="1150" b="1" dirty="0">
                <a:solidFill>
                  <a:srgbClr val="4A4943"/>
                </a:solidFill>
                <a:latin typeface="Meiryo" pitchFamily="34" charset="0"/>
                <a:ea typeface="Meiryo" pitchFamily="34" charset="-122"/>
                <a:cs typeface="Meiryo" pitchFamily="34" charset="-120"/>
              </a:rPr>
              <a:t>「人間関係が読めない。入ってみないと分からない」</a:t>
            </a:r>
            <a:endParaRPr lang="en-US" sz="1150" dirty="0"/>
          </a:p>
        </p:txBody>
      </p:sp>
      <p:sp>
        <p:nvSpPr>
          <p:cNvPr id="27" name="Text 25"/>
          <p:cNvSpPr/>
          <p:nvPr/>
        </p:nvSpPr>
        <p:spPr>
          <a:xfrm>
            <a:off x="6053328" y="3447288"/>
            <a:ext cx="5266944" cy="237744"/>
          </a:xfrm>
          <a:prstGeom prst="rect">
            <a:avLst/>
          </a:prstGeom>
          <a:noFill/>
          <a:ln/>
        </p:spPr>
        <p:txBody>
          <a:bodyPr wrap="square" lIns="0" tIns="0" rIns="0" bIns="0" rtlCol="0" anchor="ctr"/>
          <a:lstStyle/>
          <a:p>
            <a:pPr indent="0" marL="0">
              <a:buNone/>
            </a:pPr>
            <a:r>
              <a:rPr lang="en-US" sz="1050" dirty="0">
                <a:solidFill>
                  <a:srgbClr val="D97757"/>
                </a:solidFill>
                <a:latin typeface="Meiryo" pitchFamily="34" charset="0"/>
                <a:ea typeface="Meiryo" pitchFamily="34" charset="-122"/>
                <a:cs typeface="Meiryo" pitchFamily="34" charset="-120"/>
              </a:rPr>
              <a:t>→ 職場体験会とスタッフ動画で先に見せる</a:t>
            </a:r>
            <a:endParaRPr lang="en-US" sz="1050" dirty="0"/>
          </a:p>
        </p:txBody>
      </p:sp>
      <p:sp>
        <p:nvSpPr>
          <p:cNvPr id="28" name="Shape 26"/>
          <p:cNvSpPr/>
          <p:nvPr/>
        </p:nvSpPr>
        <p:spPr>
          <a:xfrm>
            <a:off x="5852160" y="3822192"/>
            <a:ext cx="5669280" cy="594360"/>
          </a:xfrm>
          <a:prstGeom prst="roundRect">
            <a:avLst>
              <a:gd name="adj" fmla="val 7692"/>
            </a:avLst>
          </a:prstGeom>
          <a:solidFill>
            <a:srgbClr val="FFFFFF"/>
          </a:solidFill>
          <a:ln w="12700">
            <a:solidFill>
              <a:srgbClr val="E8E6DC"/>
            </a:solidFill>
            <a:prstDash val="solid"/>
          </a:ln>
        </p:spPr>
      </p:sp>
      <p:sp>
        <p:nvSpPr>
          <p:cNvPr id="29" name="Text 27"/>
          <p:cNvSpPr/>
          <p:nvPr/>
        </p:nvSpPr>
        <p:spPr>
          <a:xfrm>
            <a:off x="6053328" y="3867912"/>
            <a:ext cx="5266944" cy="274320"/>
          </a:xfrm>
          <a:prstGeom prst="rect">
            <a:avLst/>
          </a:prstGeom>
          <a:noFill/>
          <a:ln/>
        </p:spPr>
        <p:txBody>
          <a:bodyPr wrap="square" lIns="0" tIns="0" rIns="0" bIns="0" rtlCol="0" anchor="ctr"/>
          <a:lstStyle/>
          <a:p>
            <a:pPr indent="0" marL="0">
              <a:buNone/>
            </a:pPr>
            <a:r>
              <a:rPr lang="en-US" sz="1150" b="1" dirty="0">
                <a:solidFill>
                  <a:srgbClr val="4A4943"/>
                </a:solidFill>
                <a:latin typeface="Meiryo" pitchFamily="34" charset="0"/>
                <a:ea typeface="Meiryo" pitchFamily="34" charset="-122"/>
                <a:cs typeface="Meiryo" pitchFamily="34" charset="-120"/>
              </a:rPr>
              <a:t>「シフトが急に変わる。休みの予定が立てられない」</a:t>
            </a:r>
            <a:endParaRPr lang="en-US" sz="1150" dirty="0"/>
          </a:p>
        </p:txBody>
      </p:sp>
      <p:sp>
        <p:nvSpPr>
          <p:cNvPr id="30" name="Text 28"/>
          <p:cNvSpPr/>
          <p:nvPr/>
        </p:nvSpPr>
        <p:spPr>
          <a:xfrm>
            <a:off x="6053328" y="4133088"/>
            <a:ext cx="5266944" cy="237744"/>
          </a:xfrm>
          <a:prstGeom prst="rect">
            <a:avLst/>
          </a:prstGeom>
          <a:noFill/>
          <a:ln/>
        </p:spPr>
        <p:txBody>
          <a:bodyPr wrap="square" lIns="0" tIns="0" rIns="0" bIns="0" rtlCol="0" anchor="ctr"/>
          <a:lstStyle/>
          <a:p>
            <a:pPr indent="0" marL="0">
              <a:buNone/>
            </a:pPr>
            <a:r>
              <a:rPr lang="en-US" sz="1050" dirty="0">
                <a:solidFill>
                  <a:srgbClr val="D97757"/>
                </a:solidFill>
                <a:latin typeface="Meiryo" pitchFamily="34" charset="0"/>
                <a:ea typeface="Meiryo" pitchFamily="34" charset="-122"/>
                <a:cs typeface="Meiryo" pitchFamily="34" charset="-120"/>
              </a:rPr>
              <a:t>→ シフトの決め方と年間休日を数字で示す</a:t>
            </a:r>
            <a:endParaRPr lang="en-US" sz="1050" dirty="0"/>
          </a:p>
        </p:txBody>
      </p:sp>
      <p:sp>
        <p:nvSpPr>
          <p:cNvPr id="31" name="Shape 29"/>
          <p:cNvSpPr/>
          <p:nvPr/>
        </p:nvSpPr>
        <p:spPr>
          <a:xfrm>
            <a:off x="5852160" y="4507992"/>
            <a:ext cx="5669280" cy="594360"/>
          </a:xfrm>
          <a:prstGeom prst="roundRect">
            <a:avLst>
              <a:gd name="adj" fmla="val 7692"/>
            </a:avLst>
          </a:prstGeom>
          <a:solidFill>
            <a:srgbClr val="FFFFFF"/>
          </a:solidFill>
          <a:ln w="12700">
            <a:solidFill>
              <a:srgbClr val="E8E6DC"/>
            </a:solidFill>
            <a:prstDash val="solid"/>
          </a:ln>
        </p:spPr>
      </p:sp>
      <p:sp>
        <p:nvSpPr>
          <p:cNvPr id="32" name="Text 30"/>
          <p:cNvSpPr/>
          <p:nvPr/>
        </p:nvSpPr>
        <p:spPr>
          <a:xfrm>
            <a:off x="6053328" y="4553712"/>
            <a:ext cx="5266944" cy="274320"/>
          </a:xfrm>
          <a:prstGeom prst="rect">
            <a:avLst/>
          </a:prstGeom>
          <a:noFill/>
          <a:ln/>
        </p:spPr>
        <p:txBody>
          <a:bodyPr wrap="square" lIns="0" tIns="0" rIns="0" bIns="0" rtlCol="0" anchor="ctr"/>
          <a:lstStyle/>
          <a:p>
            <a:pPr indent="0" marL="0">
              <a:buNone/>
            </a:pPr>
            <a:r>
              <a:rPr lang="en-US" sz="1150" b="1" dirty="0">
                <a:solidFill>
                  <a:srgbClr val="4A4943"/>
                </a:solidFill>
                <a:latin typeface="Meiryo" pitchFamily="34" charset="0"/>
                <a:ea typeface="Meiryo" pitchFamily="34" charset="-122"/>
                <a:cs typeface="Meiryo" pitchFamily="34" charset="-120"/>
              </a:rPr>
              <a:t>「がんばっても評価されない。給与が上がらない」</a:t>
            </a:r>
            <a:endParaRPr lang="en-US" sz="1150" dirty="0"/>
          </a:p>
        </p:txBody>
      </p:sp>
      <p:sp>
        <p:nvSpPr>
          <p:cNvPr id="33" name="Text 31"/>
          <p:cNvSpPr/>
          <p:nvPr/>
        </p:nvSpPr>
        <p:spPr>
          <a:xfrm>
            <a:off x="6053328" y="4818888"/>
            <a:ext cx="5266944" cy="237744"/>
          </a:xfrm>
          <a:prstGeom prst="rect">
            <a:avLst/>
          </a:prstGeom>
          <a:noFill/>
          <a:ln/>
        </p:spPr>
        <p:txBody>
          <a:bodyPr wrap="square" lIns="0" tIns="0" rIns="0" bIns="0" rtlCol="0" anchor="ctr"/>
          <a:lstStyle/>
          <a:p>
            <a:pPr indent="0" marL="0">
              <a:buNone/>
            </a:pPr>
            <a:r>
              <a:rPr lang="en-US" sz="1050" dirty="0">
                <a:solidFill>
                  <a:srgbClr val="D97757"/>
                </a:solidFill>
                <a:latin typeface="Meiryo" pitchFamily="34" charset="0"/>
                <a:ea typeface="Meiryo" pitchFamily="34" charset="-122"/>
                <a:cs typeface="Meiryo" pitchFamily="34" charset="-120"/>
              </a:rPr>
              <a:t>→ 評価基準とキャリアの道すじを明記する</a:t>
            </a:r>
            <a:endParaRPr lang="en-US" sz="1050" dirty="0"/>
          </a:p>
        </p:txBody>
      </p:sp>
      <p:sp>
        <p:nvSpPr>
          <p:cNvPr id="34" name="Shape 32"/>
          <p:cNvSpPr/>
          <p:nvPr/>
        </p:nvSpPr>
        <p:spPr>
          <a:xfrm>
            <a:off x="5852160" y="5193792"/>
            <a:ext cx="5669280" cy="594360"/>
          </a:xfrm>
          <a:prstGeom prst="roundRect">
            <a:avLst>
              <a:gd name="adj" fmla="val 7692"/>
            </a:avLst>
          </a:prstGeom>
          <a:solidFill>
            <a:srgbClr val="FFFFFF"/>
          </a:solidFill>
          <a:ln w="12700">
            <a:solidFill>
              <a:srgbClr val="E8E6DC"/>
            </a:solidFill>
            <a:prstDash val="solid"/>
          </a:ln>
        </p:spPr>
      </p:sp>
      <p:sp>
        <p:nvSpPr>
          <p:cNvPr id="35" name="Text 33"/>
          <p:cNvSpPr/>
          <p:nvPr/>
        </p:nvSpPr>
        <p:spPr>
          <a:xfrm>
            <a:off x="6053328" y="5239512"/>
            <a:ext cx="5266944" cy="274320"/>
          </a:xfrm>
          <a:prstGeom prst="rect">
            <a:avLst/>
          </a:prstGeom>
          <a:noFill/>
          <a:ln/>
        </p:spPr>
        <p:txBody>
          <a:bodyPr wrap="square" lIns="0" tIns="0" rIns="0" bIns="0" rtlCol="0" anchor="ctr"/>
          <a:lstStyle/>
          <a:p>
            <a:pPr indent="0" marL="0">
              <a:buNone/>
            </a:pPr>
            <a:r>
              <a:rPr lang="en-US" sz="1150" b="1" dirty="0">
                <a:solidFill>
                  <a:srgbClr val="4A4943"/>
                </a:solidFill>
                <a:latin typeface="Meiryo" pitchFamily="34" charset="0"/>
                <a:ea typeface="Meiryo" pitchFamily="34" charset="-122"/>
                <a:cs typeface="Meiryo" pitchFamily="34" charset="-120"/>
              </a:rPr>
              <a:t>「自分のスキルがこの職場では活かせていない」</a:t>
            </a:r>
            <a:endParaRPr lang="en-US" sz="1150" dirty="0"/>
          </a:p>
        </p:txBody>
      </p:sp>
      <p:sp>
        <p:nvSpPr>
          <p:cNvPr id="36" name="Text 34"/>
          <p:cNvSpPr/>
          <p:nvPr/>
        </p:nvSpPr>
        <p:spPr>
          <a:xfrm>
            <a:off x="6053328" y="5504688"/>
            <a:ext cx="5266944" cy="237744"/>
          </a:xfrm>
          <a:prstGeom prst="rect">
            <a:avLst/>
          </a:prstGeom>
          <a:noFill/>
          <a:ln/>
        </p:spPr>
        <p:txBody>
          <a:bodyPr wrap="square" lIns="0" tIns="0" rIns="0" bIns="0" rtlCol="0" anchor="ctr"/>
          <a:lstStyle/>
          <a:p>
            <a:pPr indent="0" marL="0">
              <a:buNone/>
            </a:pPr>
            <a:r>
              <a:rPr lang="en-US" sz="1050" dirty="0">
                <a:solidFill>
                  <a:srgbClr val="D97757"/>
                </a:solidFill>
                <a:latin typeface="Meiryo" pitchFamily="34" charset="0"/>
                <a:ea typeface="Meiryo" pitchFamily="34" charset="-122"/>
                <a:cs typeface="Meiryo" pitchFamily="34" charset="-120"/>
              </a:rPr>
              <a:t>→ 任せたい役割を具体的に書く</a:t>
            </a:r>
            <a:endParaRPr lang="en-US" sz="1050" dirty="0"/>
          </a:p>
        </p:txBody>
      </p:sp>
      <p:sp>
        <p:nvSpPr>
          <p:cNvPr id="37" name="Text 35"/>
          <p:cNvSpPr/>
          <p:nvPr/>
        </p:nvSpPr>
        <p:spPr>
          <a:xfrm>
            <a:off x="640080" y="5870448"/>
            <a:ext cx="10881360" cy="274320"/>
          </a:xfrm>
          <a:prstGeom prst="rect">
            <a:avLst/>
          </a:prstGeom>
          <a:noFill/>
          <a:ln/>
        </p:spPr>
        <p:txBody>
          <a:bodyPr wrap="square" lIns="0" tIns="0" rIns="0" bIns="0" rtlCol="0" anchor="ctr"/>
          <a:lstStyle/>
          <a:p>
            <a:pPr indent="0" marL="0">
              <a:buNone/>
            </a:pPr>
            <a:r>
              <a:rPr lang="en-US" sz="1000" dirty="0">
                <a:solidFill>
                  <a:srgbClr val="8A887E"/>
                </a:solidFill>
                <a:latin typeface="Meiryo" pitchFamily="34" charset="0"/>
                <a:ea typeface="Meiryo" pitchFamily="34" charset="-122"/>
                <a:cs typeface="Meiryo" pitchFamily="34" charset="-120"/>
              </a:rPr>
              <a:t>※ 本音は自社の退職面談・面接メモから集めるのが最も正確です。AI には整理と分類をさせます。</a:t>
            </a:r>
            <a:endParaRPr lang="en-US" sz="1000" dirty="0"/>
          </a:p>
        </p:txBody>
      </p:sp>
      <p:sp>
        <p:nvSpPr>
          <p:cNvPr id="38" name="Text 36"/>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39" name="Text 37"/>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13 / 19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4</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体験型選考 ｜ 職場体験会のつくり方</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求職者の最大の不安は「入ってみないと分からない」。それを先に解消します</a:t>
            </a:r>
            <a:endParaRPr lang="en-US" sz="1300" dirty="0"/>
          </a:p>
        </p:txBody>
      </p:sp>
      <p:sp>
        <p:nvSpPr>
          <p:cNvPr id="6" name="Shape 4"/>
          <p:cNvSpPr/>
          <p:nvPr/>
        </p:nvSpPr>
        <p:spPr>
          <a:xfrm>
            <a:off x="640080" y="1874520"/>
            <a:ext cx="1993392" cy="2286000"/>
          </a:xfrm>
          <a:prstGeom prst="roundRect">
            <a:avLst>
              <a:gd name="adj" fmla="val 2752"/>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7" name="Shape 5"/>
          <p:cNvSpPr/>
          <p:nvPr/>
        </p:nvSpPr>
        <p:spPr>
          <a:xfrm>
            <a:off x="841248" y="2057400"/>
            <a:ext cx="1591056" cy="310896"/>
          </a:xfrm>
          <a:prstGeom prst="roundRect">
            <a:avLst>
              <a:gd name="adj" fmla="val 14706"/>
            </a:avLst>
          </a:prstGeom>
          <a:solidFill>
            <a:srgbClr val="141413"/>
          </a:solidFill>
          <a:ln/>
        </p:spPr>
      </p:sp>
      <p:sp>
        <p:nvSpPr>
          <p:cNvPr id="8" name="Text 6"/>
          <p:cNvSpPr/>
          <p:nvPr/>
        </p:nvSpPr>
        <p:spPr>
          <a:xfrm>
            <a:off x="841248" y="2057400"/>
            <a:ext cx="159105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10分</a:t>
            </a:r>
            <a:endParaRPr lang="en-US" sz="1050" dirty="0"/>
          </a:p>
        </p:txBody>
      </p:sp>
      <p:sp>
        <p:nvSpPr>
          <p:cNvPr id="9" name="Text 7"/>
          <p:cNvSpPr/>
          <p:nvPr/>
        </p:nvSpPr>
        <p:spPr>
          <a:xfrm>
            <a:off x="841248" y="2441448"/>
            <a:ext cx="1591056" cy="384048"/>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① 出迎え</a:t>
            </a:r>
            <a:endParaRPr lang="en-US" sz="1500" dirty="0"/>
          </a:p>
        </p:txBody>
      </p:sp>
      <p:sp>
        <p:nvSpPr>
          <p:cNvPr id="10" name="Text 8"/>
          <p:cNvSpPr/>
          <p:nvPr/>
        </p:nvSpPr>
        <p:spPr>
          <a:xfrm>
            <a:off x="841248" y="2862072"/>
            <a:ext cx="1591056" cy="1170432"/>
          </a:xfrm>
          <a:prstGeom prst="rect">
            <a:avLst/>
          </a:prstGeom>
          <a:noFill/>
          <a:ln/>
        </p:spPr>
        <p:txBody>
          <a:bodyPr wrap="square" lIns="0" tIns="0" rIns="0" bIns="0" rtlCol="0" anchor="t"/>
          <a:lstStyle/>
          <a:p>
            <a:pPr indent="0" marL="0">
              <a:lnSpc>
                <a:spcPts val="1700"/>
              </a:lnSpc>
              <a:buNone/>
            </a:pPr>
            <a:r>
              <a:rPr lang="en-US" sz="1050" dirty="0">
                <a:solidFill>
                  <a:srgbClr val="6E6C63"/>
                </a:solidFill>
                <a:latin typeface="Meiryo" pitchFamily="34" charset="0"/>
                <a:ea typeface="Meiryo" pitchFamily="34" charset="-122"/>
                <a:cs typeface="Meiryo" pitchFamily="34" charset="-120"/>
              </a:rPr>
              <a:t>採用担当ではなく、</a:t>
            </a:r>
            <a:endParaRPr lang="en-US" sz="1050" dirty="0"/>
          </a:p>
          <a:p>
            <a:pPr indent="0" marL="0">
              <a:lnSpc>
                <a:spcPts val="1700"/>
              </a:lnSpc>
              <a:buNone/>
            </a:pPr>
            <a:r>
              <a:rPr lang="en-US" sz="1050" dirty="0">
                <a:solidFill>
                  <a:srgbClr val="6E6C63"/>
                </a:solidFill>
                <a:latin typeface="Meiryo" pitchFamily="34" charset="0"/>
                <a:ea typeface="Meiryo" pitchFamily="34" charset="-122"/>
                <a:cs typeface="Meiryo" pitchFamily="34" charset="-120"/>
              </a:rPr>
              <a:t>一緒に働く現場の</a:t>
            </a:r>
            <a:endParaRPr lang="en-US" sz="1050" dirty="0"/>
          </a:p>
          <a:p>
            <a:pPr indent="0" marL="0">
              <a:lnSpc>
                <a:spcPts val="1700"/>
              </a:lnSpc>
              <a:buNone/>
            </a:pPr>
            <a:r>
              <a:rPr lang="en-US" sz="1050" dirty="0">
                <a:solidFill>
                  <a:srgbClr val="6E6C63"/>
                </a:solidFill>
                <a:latin typeface="Meiryo" pitchFamily="34" charset="0"/>
                <a:ea typeface="Meiryo" pitchFamily="34" charset="-122"/>
                <a:cs typeface="Meiryo" pitchFamily="34" charset="-120"/>
              </a:rPr>
              <a:t>スタッフが出迎える</a:t>
            </a:r>
            <a:endParaRPr lang="en-US" sz="1050" dirty="0"/>
          </a:p>
        </p:txBody>
      </p:sp>
      <p:sp>
        <p:nvSpPr>
          <p:cNvPr id="11" name="Shape 9"/>
          <p:cNvSpPr/>
          <p:nvPr/>
        </p:nvSpPr>
        <p:spPr>
          <a:xfrm>
            <a:off x="2862072" y="1874520"/>
            <a:ext cx="1993392" cy="2286000"/>
          </a:xfrm>
          <a:prstGeom prst="roundRect">
            <a:avLst>
              <a:gd name="adj" fmla="val 2752"/>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2" name="Shape 10"/>
          <p:cNvSpPr/>
          <p:nvPr/>
        </p:nvSpPr>
        <p:spPr>
          <a:xfrm>
            <a:off x="3063240" y="2057400"/>
            <a:ext cx="1591056" cy="310896"/>
          </a:xfrm>
          <a:prstGeom prst="roundRect">
            <a:avLst>
              <a:gd name="adj" fmla="val 14706"/>
            </a:avLst>
          </a:prstGeom>
          <a:solidFill>
            <a:srgbClr val="141413"/>
          </a:solidFill>
          <a:ln/>
        </p:spPr>
      </p:sp>
      <p:sp>
        <p:nvSpPr>
          <p:cNvPr id="13" name="Text 11"/>
          <p:cNvSpPr/>
          <p:nvPr/>
        </p:nvSpPr>
        <p:spPr>
          <a:xfrm>
            <a:off x="3063240" y="2057400"/>
            <a:ext cx="159105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30分</a:t>
            </a:r>
            <a:endParaRPr lang="en-US" sz="1050" dirty="0"/>
          </a:p>
        </p:txBody>
      </p:sp>
      <p:sp>
        <p:nvSpPr>
          <p:cNvPr id="14" name="Text 12"/>
          <p:cNvSpPr/>
          <p:nvPr/>
        </p:nvSpPr>
        <p:spPr>
          <a:xfrm>
            <a:off x="3063240" y="2441448"/>
            <a:ext cx="1591056" cy="384048"/>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② 現場を歩く</a:t>
            </a:r>
            <a:endParaRPr lang="en-US" sz="1500" dirty="0"/>
          </a:p>
        </p:txBody>
      </p:sp>
      <p:sp>
        <p:nvSpPr>
          <p:cNvPr id="15" name="Text 13"/>
          <p:cNvSpPr/>
          <p:nvPr/>
        </p:nvSpPr>
        <p:spPr>
          <a:xfrm>
            <a:off x="3063240" y="2862072"/>
            <a:ext cx="1591056" cy="1170432"/>
          </a:xfrm>
          <a:prstGeom prst="rect">
            <a:avLst/>
          </a:prstGeom>
          <a:noFill/>
          <a:ln/>
        </p:spPr>
        <p:txBody>
          <a:bodyPr wrap="square" lIns="0" tIns="0" rIns="0" bIns="0" rtlCol="0" anchor="t"/>
          <a:lstStyle/>
          <a:p>
            <a:pPr indent="0" marL="0">
              <a:lnSpc>
                <a:spcPts val="1700"/>
              </a:lnSpc>
              <a:buNone/>
            </a:pPr>
            <a:r>
              <a:rPr lang="en-US" sz="1050" dirty="0">
                <a:solidFill>
                  <a:srgbClr val="6E6C63"/>
                </a:solidFill>
                <a:latin typeface="Meiryo" pitchFamily="34" charset="0"/>
                <a:ea typeface="Meiryo" pitchFamily="34" charset="-122"/>
                <a:cs typeface="Meiryo" pitchFamily="34" charset="-120"/>
              </a:rPr>
              <a:t>挨拶、笑顔、</a:t>
            </a:r>
            <a:endParaRPr lang="en-US" sz="1050" dirty="0"/>
          </a:p>
          <a:p>
            <a:pPr indent="0" marL="0">
              <a:lnSpc>
                <a:spcPts val="1700"/>
              </a:lnSpc>
              <a:buNone/>
            </a:pPr>
            <a:r>
              <a:rPr lang="en-US" sz="1050" dirty="0">
                <a:solidFill>
                  <a:srgbClr val="6E6C63"/>
                </a:solidFill>
                <a:latin typeface="Meiryo" pitchFamily="34" charset="0"/>
                <a:ea typeface="Meiryo" pitchFamily="34" charset="-122"/>
                <a:cs typeface="Meiryo" pitchFamily="34" charset="-120"/>
              </a:rPr>
              <a:t>利用者との関わり。</a:t>
            </a:r>
            <a:endParaRPr lang="en-US" sz="1050" dirty="0"/>
          </a:p>
          <a:p>
            <a:pPr indent="0" marL="0">
              <a:lnSpc>
                <a:spcPts val="1700"/>
              </a:lnSpc>
              <a:buNone/>
            </a:pPr>
            <a:r>
              <a:rPr lang="en-US" sz="1050" dirty="0">
                <a:solidFill>
                  <a:srgbClr val="6E6C63"/>
                </a:solidFill>
                <a:latin typeface="Meiryo" pitchFamily="34" charset="0"/>
                <a:ea typeface="Meiryo" pitchFamily="34" charset="-122"/>
                <a:cs typeface="Meiryo" pitchFamily="34" charset="-120"/>
              </a:rPr>
              <a:t>作り込まない普段の姿</a:t>
            </a:r>
            <a:endParaRPr lang="en-US" sz="1050" dirty="0"/>
          </a:p>
        </p:txBody>
      </p:sp>
      <p:sp>
        <p:nvSpPr>
          <p:cNvPr id="16" name="Shape 14"/>
          <p:cNvSpPr/>
          <p:nvPr/>
        </p:nvSpPr>
        <p:spPr>
          <a:xfrm>
            <a:off x="5084064" y="1874520"/>
            <a:ext cx="1993392" cy="2286000"/>
          </a:xfrm>
          <a:prstGeom prst="roundRect">
            <a:avLst>
              <a:gd name="adj" fmla="val 2752"/>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7" name="Shape 15"/>
          <p:cNvSpPr/>
          <p:nvPr/>
        </p:nvSpPr>
        <p:spPr>
          <a:xfrm>
            <a:off x="5285232" y="2057400"/>
            <a:ext cx="1591056" cy="310896"/>
          </a:xfrm>
          <a:prstGeom prst="roundRect">
            <a:avLst>
              <a:gd name="adj" fmla="val 14706"/>
            </a:avLst>
          </a:prstGeom>
          <a:solidFill>
            <a:srgbClr val="141413"/>
          </a:solidFill>
          <a:ln/>
        </p:spPr>
      </p:sp>
      <p:sp>
        <p:nvSpPr>
          <p:cNvPr id="18" name="Text 16"/>
          <p:cNvSpPr/>
          <p:nvPr/>
        </p:nvSpPr>
        <p:spPr>
          <a:xfrm>
            <a:off x="5285232" y="2057400"/>
            <a:ext cx="159105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40分</a:t>
            </a:r>
            <a:endParaRPr lang="en-US" sz="1050" dirty="0"/>
          </a:p>
        </p:txBody>
      </p:sp>
      <p:sp>
        <p:nvSpPr>
          <p:cNvPr id="19" name="Text 17"/>
          <p:cNvSpPr/>
          <p:nvPr/>
        </p:nvSpPr>
        <p:spPr>
          <a:xfrm>
            <a:off x="5285232" y="2441448"/>
            <a:ext cx="1591056" cy="384048"/>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③ 体験・同行</a:t>
            </a:r>
            <a:endParaRPr lang="en-US" sz="1500" dirty="0"/>
          </a:p>
        </p:txBody>
      </p:sp>
      <p:sp>
        <p:nvSpPr>
          <p:cNvPr id="20" name="Text 18"/>
          <p:cNvSpPr/>
          <p:nvPr/>
        </p:nvSpPr>
        <p:spPr>
          <a:xfrm>
            <a:off x="5285232" y="2862072"/>
            <a:ext cx="1591056" cy="1170432"/>
          </a:xfrm>
          <a:prstGeom prst="rect">
            <a:avLst/>
          </a:prstGeom>
          <a:noFill/>
          <a:ln/>
        </p:spPr>
        <p:txBody>
          <a:bodyPr wrap="square" lIns="0" tIns="0" rIns="0" bIns="0" rtlCol="0" anchor="t"/>
          <a:lstStyle/>
          <a:p>
            <a:pPr indent="0" marL="0">
              <a:lnSpc>
                <a:spcPts val="1700"/>
              </a:lnSpc>
              <a:buNone/>
            </a:pPr>
            <a:r>
              <a:rPr lang="en-US" sz="1050" dirty="0">
                <a:solidFill>
                  <a:srgbClr val="6E6C63"/>
                </a:solidFill>
                <a:latin typeface="Meiryo" pitchFamily="34" charset="0"/>
                <a:ea typeface="Meiryo" pitchFamily="34" charset="-122"/>
                <a:cs typeface="Meiryo" pitchFamily="34" charset="-120"/>
              </a:rPr>
              <a:t>実際の業務を</a:t>
            </a:r>
            <a:endParaRPr lang="en-US" sz="1050" dirty="0"/>
          </a:p>
          <a:p>
            <a:pPr indent="0" marL="0">
              <a:lnSpc>
                <a:spcPts val="1700"/>
              </a:lnSpc>
              <a:buNone/>
            </a:pPr>
            <a:r>
              <a:rPr lang="en-US" sz="1050" dirty="0">
                <a:solidFill>
                  <a:srgbClr val="6E6C63"/>
                </a:solidFill>
                <a:latin typeface="Meiryo" pitchFamily="34" charset="0"/>
                <a:ea typeface="Meiryo" pitchFamily="34" charset="-122"/>
                <a:cs typeface="Meiryo" pitchFamily="34" charset="-120"/>
              </a:rPr>
              <a:t>一部体験してもらう。</a:t>
            </a:r>
            <a:endParaRPr lang="en-US" sz="1050" dirty="0"/>
          </a:p>
          <a:p>
            <a:pPr indent="0" marL="0">
              <a:lnSpc>
                <a:spcPts val="1700"/>
              </a:lnSpc>
              <a:buNone/>
            </a:pPr>
            <a:r>
              <a:rPr lang="en-US" sz="1050" dirty="0">
                <a:solidFill>
                  <a:srgbClr val="6E6C63"/>
                </a:solidFill>
                <a:latin typeface="Meiryo" pitchFamily="34" charset="0"/>
                <a:ea typeface="Meiryo" pitchFamily="34" charset="-122"/>
                <a:cs typeface="Meiryo" pitchFamily="34" charset="-120"/>
              </a:rPr>
              <a:t>記録画面も触る</a:t>
            </a:r>
            <a:endParaRPr lang="en-US" sz="1050" dirty="0"/>
          </a:p>
        </p:txBody>
      </p:sp>
      <p:sp>
        <p:nvSpPr>
          <p:cNvPr id="21" name="Shape 19"/>
          <p:cNvSpPr/>
          <p:nvPr/>
        </p:nvSpPr>
        <p:spPr>
          <a:xfrm>
            <a:off x="7306056" y="1874520"/>
            <a:ext cx="1993392" cy="2286000"/>
          </a:xfrm>
          <a:prstGeom prst="roundRect">
            <a:avLst>
              <a:gd name="adj" fmla="val 2752"/>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22" name="Shape 20"/>
          <p:cNvSpPr/>
          <p:nvPr/>
        </p:nvSpPr>
        <p:spPr>
          <a:xfrm>
            <a:off x="7507224" y="2057400"/>
            <a:ext cx="1591056" cy="310896"/>
          </a:xfrm>
          <a:prstGeom prst="roundRect">
            <a:avLst>
              <a:gd name="adj" fmla="val 14706"/>
            </a:avLst>
          </a:prstGeom>
          <a:solidFill>
            <a:srgbClr val="141413"/>
          </a:solidFill>
          <a:ln/>
        </p:spPr>
      </p:sp>
      <p:sp>
        <p:nvSpPr>
          <p:cNvPr id="23" name="Text 21"/>
          <p:cNvSpPr/>
          <p:nvPr/>
        </p:nvSpPr>
        <p:spPr>
          <a:xfrm>
            <a:off x="7507224" y="2057400"/>
            <a:ext cx="159105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30分</a:t>
            </a:r>
            <a:endParaRPr lang="en-US" sz="1050" dirty="0"/>
          </a:p>
        </p:txBody>
      </p:sp>
      <p:sp>
        <p:nvSpPr>
          <p:cNvPr id="24" name="Text 22"/>
          <p:cNvSpPr/>
          <p:nvPr/>
        </p:nvSpPr>
        <p:spPr>
          <a:xfrm>
            <a:off x="7507224" y="2441448"/>
            <a:ext cx="1591056" cy="384048"/>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④ 本音の面談</a:t>
            </a:r>
            <a:endParaRPr lang="en-US" sz="1500" dirty="0"/>
          </a:p>
        </p:txBody>
      </p:sp>
      <p:sp>
        <p:nvSpPr>
          <p:cNvPr id="25" name="Text 23"/>
          <p:cNvSpPr/>
          <p:nvPr/>
        </p:nvSpPr>
        <p:spPr>
          <a:xfrm>
            <a:off x="7507224" y="2862072"/>
            <a:ext cx="1591056" cy="1170432"/>
          </a:xfrm>
          <a:prstGeom prst="rect">
            <a:avLst/>
          </a:prstGeom>
          <a:noFill/>
          <a:ln/>
        </p:spPr>
        <p:txBody>
          <a:bodyPr wrap="square" lIns="0" tIns="0" rIns="0" bIns="0" rtlCol="0" anchor="t"/>
          <a:lstStyle/>
          <a:p>
            <a:pPr indent="0" marL="0">
              <a:lnSpc>
                <a:spcPts val="1700"/>
              </a:lnSpc>
              <a:buNone/>
            </a:pPr>
            <a:r>
              <a:rPr lang="en-US" sz="1050" dirty="0">
                <a:solidFill>
                  <a:srgbClr val="6E6C63"/>
                </a:solidFill>
                <a:latin typeface="Meiryo" pitchFamily="34" charset="0"/>
                <a:ea typeface="Meiryo" pitchFamily="34" charset="-122"/>
                <a:cs typeface="Meiryo" pitchFamily="34" charset="-120"/>
              </a:rPr>
              <a:t>条件の説明より、</a:t>
            </a:r>
            <a:endParaRPr lang="en-US" sz="1050" dirty="0"/>
          </a:p>
          <a:p>
            <a:pPr indent="0" marL="0">
              <a:lnSpc>
                <a:spcPts val="1700"/>
              </a:lnSpc>
              <a:buNone/>
            </a:pPr>
            <a:r>
              <a:rPr lang="en-US" sz="1050" dirty="0">
                <a:solidFill>
                  <a:srgbClr val="6E6C63"/>
                </a:solidFill>
                <a:latin typeface="Meiryo" pitchFamily="34" charset="0"/>
                <a:ea typeface="Meiryo" pitchFamily="34" charset="-122"/>
                <a:cs typeface="Meiryo" pitchFamily="34" charset="-120"/>
              </a:rPr>
              <a:t>不安の聞き取り。</a:t>
            </a:r>
            <a:endParaRPr lang="en-US" sz="1050" dirty="0"/>
          </a:p>
          <a:p>
            <a:pPr indent="0" marL="0">
              <a:lnSpc>
                <a:spcPts val="1700"/>
              </a:lnSpc>
              <a:buNone/>
            </a:pPr>
            <a:r>
              <a:rPr lang="en-US" sz="1050" dirty="0">
                <a:solidFill>
                  <a:srgbClr val="6E6C63"/>
                </a:solidFill>
                <a:latin typeface="Meiryo" pitchFamily="34" charset="0"/>
                <a:ea typeface="Meiryo" pitchFamily="34" charset="-122"/>
                <a:cs typeface="Meiryo" pitchFamily="34" charset="-120"/>
              </a:rPr>
              <a:t>その場で答える</a:t>
            </a:r>
            <a:endParaRPr lang="en-US" sz="1050" dirty="0"/>
          </a:p>
        </p:txBody>
      </p:sp>
      <p:sp>
        <p:nvSpPr>
          <p:cNvPr id="26" name="Shape 24"/>
          <p:cNvSpPr/>
          <p:nvPr/>
        </p:nvSpPr>
        <p:spPr>
          <a:xfrm>
            <a:off x="9528048" y="1874520"/>
            <a:ext cx="1993392" cy="2286000"/>
          </a:xfrm>
          <a:prstGeom prst="roundRect">
            <a:avLst>
              <a:gd name="adj" fmla="val 2752"/>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27" name="Shape 25"/>
          <p:cNvSpPr/>
          <p:nvPr/>
        </p:nvSpPr>
        <p:spPr>
          <a:xfrm>
            <a:off x="9729216" y="2057400"/>
            <a:ext cx="1591056" cy="310896"/>
          </a:xfrm>
          <a:prstGeom prst="roundRect">
            <a:avLst>
              <a:gd name="adj" fmla="val 14706"/>
            </a:avLst>
          </a:prstGeom>
          <a:solidFill>
            <a:srgbClr val="D97757"/>
          </a:solidFill>
          <a:ln/>
        </p:spPr>
      </p:sp>
      <p:sp>
        <p:nvSpPr>
          <p:cNvPr id="28" name="Text 26"/>
          <p:cNvSpPr/>
          <p:nvPr/>
        </p:nvSpPr>
        <p:spPr>
          <a:xfrm>
            <a:off x="9729216" y="2057400"/>
            <a:ext cx="1591056"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pitchFamily="34" charset="0"/>
                <a:ea typeface="Meiryo" pitchFamily="34" charset="-122"/>
                <a:cs typeface="Meiryo" pitchFamily="34" charset="-120"/>
              </a:rPr>
              <a:t>—</a:t>
            </a:r>
            <a:endParaRPr lang="en-US" sz="1050" dirty="0"/>
          </a:p>
        </p:txBody>
      </p:sp>
      <p:sp>
        <p:nvSpPr>
          <p:cNvPr id="29" name="Text 27"/>
          <p:cNvSpPr/>
          <p:nvPr/>
        </p:nvSpPr>
        <p:spPr>
          <a:xfrm>
            <a:off x="9729216" y="2441448"/>
            <a:ext cx="1591056" cy="384048"/>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⑤ 当日中に連絡</a:t>
            </a:r>
            <a:endParaRPr lang="en-US" sz="1500" dirty="0"/>
          </a:p>
        </p:txBody>
      </p:sp>
      <p:sp>
        <p:nvSpPr>
          <p:cNvPr id="30" name="Text 28"/>
          <p:cNvSpPr/>
          <p:nvPr/>
        </p:nvSpPr>
        <p:spPr>
          <a:xfrm>
            <a:off x="9729216" y="2862072"/>
            <a:ext cx="1591056" cy="1170432"/>
          </a:xfrm>
          <a:prstGeom prst="rect">
            <a:avLst/>
          </a:prstGeom>
          <a:noFill/>
          <a:ln/>
        </p:spPr>
        <p:txBody>
          <a:bodyPr wrap="square" lIns="0" tIns="0" rIns="0" bIns="0" rtlCol="0" anchor="t"/>
          <a:lstStyle/>
          <a:p>
            <a:pPr indent="0" marL="0">
              <a:lnSpc>
                <a:spcPts val="1700"/>
              </a:lnSpc>
              <a:buNone/>
            </a:pPr>
            <a:r>
              <a:rPr lang="en-US" sz="1050" dirty="0">
                <a:solidFill>
                  <a:srgbClr val="6E6C63"/>
                </a:solidFill>
                <a:latin typeface="Meiryo" pitchFamily="34" charset="0"/>
                <a:ea typeface="Meiryo" pitchFamily="34" charset="-122"/>
                <a:cs typeface="Meiryo" pitchFamily="34" charset="-120"/>
              </a:rPr>
              <a:t>お礼と次の案内を</a:t>
            </a:r>
            <a:endParaRPr lang="en-US" sz="1050" dirty="0"/>
          </a:p>
          <a:p>
            <a:pPr indent="0" marL="0">
              <a:lnSpc>
                <a:spcPts val="1700"/>
              </a:lnSpc>
              <a:buNone/>
            </a:pPr>
            <a:r>
              <a:rPr lang="en-US" sz="1050" dirty="0">
                <a:solidFill>
                  <a:srgbClr val="6E6C63"/>
                </a:solidFill>
                <a:latin typeface="Meiryo" pitchFamily="34" charset="0"/>
                <a:ea typeface="Meiryo" pitchFamily="34" charset="-122"/>
                <a:cs typeface="Meiryo" pitchFamily="34" charset="-120"/>
              </a:rPr>
              <a:t>当日中に送る。</a:t>
            </a:r>
            <a:endParaRPr lang="en-US" sz="1050" dirty="0"/>
          </a:p>
          <a:p>
            <a:pPr indent="0" marL="0">
              <a:lnSpc>
                <a:spcPts val="1700"/>
              </a:lnSpc>
              <a:buNone/>
            </a:pPr>
            <a:r>
              <a:rPr lang="en-US" sz="1050" dirty="0">
                <a:solidFill>
                  <a:srgbClr val="6E6C63"/>
                </a:solidFill>
                <a:latin typeface="Meiryo" pitchFamily="34" charset="0"/>
                <a:ea typeface="Meiryo" pitchFamily="34" charset="-122"/>
                <a:cs typeface="Meiryo" pitchFamily="34" charset="-120"/>
              </a:rPr>
              <a:t>迷う間に他社が決まる</a:t>
            </a:r>
            <a:endParaRPr lang="en-US" sz="1050" dirty="0"/>
          </a:p>
        </p:txBody>
      </p:sp>
      <p:sp>
        <p:nvSpPr>
          <p:cNvPr id="31" name="Shape 29"/>
          <p:cNvSpPr/>
          <p:nvPr/>
        </p:nvSpPr>
        <p:spPr>
          <a:xfrm>
            <a:off x="640080" y="4370832"/>
            <a:ext cx="5234940" cy="1389888"/>
          </a:xfrm>
          <a:prstGeom prst="roundRect">
            <a:avLst>
              <a:gd name="adj" fmla="val 3947"/>
            </a:avLst>
          </a:prstGeom>
          <a:solidFill>
            <a:srgbClr val="141413"/>
          </a:solidFill>
          <a:ln/>
        </p:spPr>
      </p:sp>
      <p:sp>
        <p:nvSpPr>
          <p:cNvPr id="32" name="Text 30"/>
          <p:cNvSpPr/>
          <p:nvPr/>
        </p:nvSpPr>
        <p:spPr>
          <a:xfrm>
            <a:off x="914400" y="4507992"/>
            <a:ext cx="4686300" cy="320040"/>
          </a:xfrm>
          <a:prstGeom prst="rect">
            <a:avLst/>
          </a:prstGeom>
          <a:noFill/>
          <a:ln/>
        </p:spPr>
        <p:txBody>
          <a:bodyPr wrap="square" lIns="0" tIns="0" rIns="0" bIns="0" rtlCol="0" anchor="ctr"/>
          <a:lstStyle/>
          <a:p>
            <a:pPr indent="0" marL="0">
              <a:buNone/>
            </a:pPr>
            <a:r>
              <a:rPr lang="en-US" sz="1350" b="1" dirty="0">
                <a:solidFill>
                  <a:srgbClr val="D97757"/>
                </a:solidFill>
                <a:latin typeface="Meiryo" pitchFamily="34" charset="0"/>
                <a:ea typeface="Meiryo" pitchFamily="34" charset="-122"/>
                <a:cs typeface="Meiryo" pitchFamily="34" charset="-120"/>
              </a:rPr>
              <a:t>必ず見せる 3 つ</a:t>
            </a:r>
            <a:endParaRPr lang="en-US" sz="1350" dirty="0"/>
          </a:p>
        </p:txBody>
      </p:sp>
      <p:sp>
        <p:nvSpPr>
          <p:cNvPr id="33" name="Text 31"/>
          <p:cNvSpPr/>
          <p:nvPr/>
        </p:nvSpPr>
        <p:spPr>
          <a:xfrm>
            <a:off x="914400" y="4846320"/>
            <a:ext cx="4686300" cy="841248"/>
          </a:xfrm>
          <a:prstGeom prst="rect">
            <a:avLst/>
          </a:prstGeom>
          <a:noFill/>
          <a:ln/>
        </p:spPr>
        <p:txBody>
          <a:bodyPr wrap="square" lIns="0" tIns="0" rIns="0" bIns="0" rtlCol="0" anchor="t"/>
          <a:lstStyle/>
          <a:p>
            <a:pPr indent="0" marL="0">
              <a:lnSpc>
                <a:spcPts val="1900"/>
              </a:lnSpc>
              <a:buNone/>
            </a:pPr>
            <a:r>
              <a:rPr lang="en-US" sz="1150" dirty="0">
                <a:solidFill>
                  <a:srgbClr val="FFFFFF"/>
                </a:solidFill>
                <a:latin typeface="Meiryo" pitchFamily="34" charset="0"/>
                <a:ea typeface="Meiryo" pitchFamily="34" charset="-122"/>
                <a:cs typeface="Meiryo" pitchFamily="34" charset="-120"/>
              </a:rPr>
              <a:t>・スタッフ同士の会話（作らない、普段のまま）</a:t>
            </a:r>
            <a:endParaRPr lang="en-US" sz="1150" dirty="0"/>
          </a:p>
          <a:p>
            <a:pPr indent="0" marL="0">
              <a:lnSpc>
                <a:spcPts val="1900"/>
              </a:lnSpc>
              <a:buNone/>
            </a:pPr>
            <a:r>
              <a:rPr lang="en-US" sz="1150" dirty="0">
                <a:solidFill>
                  <a:srgbClr val="FFFFFF"/>
                </a:solidFill>
                <a:latin typeface="Meiryo" pitchFamily="34" charset="0"/>
                <a:ea typeface="Meiryo" pitchFamily="34" charset="-122"/>
                <a:cs typeface="Meiryo" pitchFamily="34" charset="-120"/>
              </a:rPr>
              <a:t>・利用者との関わり方</a:t>
            </a:r>
            <a:endParaRPr lang="en-US" sz="1150" dirty="0"/>
          </a:p>
          <a:p>
            <a:pPr indent="0" marL="0">
              <a:lnSpc>
                <a:spcPts val="1900"/>
              </a:lnSpc>
              <a:buNone/>
            </a:pPr>
            <a:r>
              <a:rPr lang="en-US" sz="1150" dirty="0">
                <a:solidFill>
                  <a:srgbClr val="FFFFFF"/>
                </a:solidFill>
                <a:latin typeface="Meiryo" pitchFamily="34" charset="0"/>
                <a:ea typeface="Meiryo" pitchFamily="34" charset="-122"/>
                <a:cs typeface="Meiryo" pitchFamily="34" charset="-120"/>
              </a:rPr>
              <a:t>・記録や申し送りの実際の運用画面</a:t>
            </a:r>
            <a:endParaRPr lang="en-US" sz="1150" dirty="0"/>
          </a:p>
        </p:txBody>
      </p:sp>
      <p:sp>
        <p:nvSpPr>
          <p:cNvPr id="34" name="Shape 32"/>
          <p:cNvSpPr/>
          <p:nvPr/>
        </p:nvSpPr>
        <p:spPr>
          <a:xfrm>
            <a:off x="6286500" y="4370832"/>
            <a:ext cx="5234940" cy="1389888"/>
          </a:xfrm>
          <a:prstGeom prst="roundRect">
            <a:avLst>
              <a:gd name="adj" fmla="val 3947"/>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35" name="Text 33"/>
          <p:cNvSpPr/>
          <p:nvPr/>
        </p:nvSpPr>
        <p:spPr>
          <a:xfrm>
            <a:off x="6560820" y="4507992"/>
            <a:ext cx="4686300" cy="320040"/>
          </a:xfrm>
          <a:prstGeom prst="rect">
            <a:avLst/>
          </a:prstGeom>
          <a:noFill/>
          <a:ln/>
        </p:spPr>
        <p:txBody>
          <a:bodyPr wrap="square" lIns="0" tIns="0" rIns="0" bIns="0" rtlCol="0" anchor="ctr"/>
          <a:lstStyle/>
          <a:p>
            <a:pPr indent="0" marL="0">
              <a:buNone/>
            </a:pPr>
            <a:r>
              <a:rPr lang="en-US" sz="1350" b="1" dirty="0">
                <a:solidFill>
                  <a:srgbClr val="D97757"/>
                </a:solidFill>
                <a:latin typeface="Meiryo" pitchFamily="34" charset="0"/>
                <a:ea typeface="Meiryo" pitchFamily="34" charset="-122"/>
                <a:cs typeface="Meiryo" pitchFamily="34" charset="-120"/>
              </a:rPr>
              <a:t>やってはいけない 3 つ</a:t>
            </a:r>
            <a:endParaRPr lang="en-US" sz="1350" dirty="0"/>
          </a:p>
        </p:txBody>
      </p:sp>
      <p:sp>
        <p:nvSpPr>
          <p:cNvPr id="36" name="Text 34"/>
          <p:cNvSpPr/>
          <p:nvPr/>
        </p:nvSpPr>
        <p:spPr>
          <a:xfrm>
            <a:off x="6560820" y="4846320"/>
            <a:ext cx="4686300" cy="841248"/>
          </a:xfrm>
          <a:prstGeom prst="rect">
            <a:avLst/>
          </a:prstGeom>
          <a:noFill/>
          <a:ln/>
        </p:spPr>
        <p:txBody>
          <a:bodyPr wrap="square" lIns="0" tIns="0" rIns="0" bIns="0" rtlCol="0" anchor="t"/>
          <a:lstStyle/>
          <a:p>
            <a:pPr indent="0" marL="0">
              <a:lnSpc>
                <a:spcPts val="1900"/>
              </a:lnSpc>
              <a:buNone/>
            </a:pPr>
            <a:r>
              <a:rPr lang="en-US" sz="1150" dirty="0">
                <a:solidFill>
                  <a:srgbClr val="6E6C63"/>
                </a:solidFill>
                <a:latin typeface="Meiryo" pitchFamily="34" charset="0"/>
                <a:ea typeface="Meiryo" pitchFamily="34" charset="-122"/>
                <a:cs typeface="Meiryo" pitchFamily="34" charset="-120"/>
              </a:rPr>
              <a:t>・当日だけ特別にきれいにする</a:t>
            </a:r>
            <a:endParaRPr lang="en-US" sz="1150" dirty="0"/>
          </a:p>
          <a:p>
            <a:pPr indent="0" marL="0">
              <a:lnSpc>
                <a:spcPts val="1900"/>
              </a:lnSpc>
              <a:buNone/>
            </a:pPr>
            <a:r>
              <a:rPr lang="en-US" sz="1150" dirty="0">
                <a:solidFill>
                  <a:srgbClr val="6E6C63"/>
                </a:solidFill>
                <a:latin typeface="Meiryo" pitchFamily="34" charset="0"/>
                <a:ea typeface="Meiryo" pitchFamily="34" charset="-122"/>
                <a:cs typeface="Meiryo" pitchFamily="34" charset="-120"/>
              </a:rPr>
              <a:t>・採用担当が最後まで付きっきりで説明する</a:t>
            </a:r>
            <a:endParaRPr lang="en-US" sz="1150" dirty="0"/>
          </a:p>
          <a:p>
            <a:pPr indent="0" marL="0">
              <a:lnSpc>
                <a:spcPts val="1900"/>
              </a:lnSpc>
              <a:buNone/>
            </a:pPr>
            <a:r>
              <a:rPr lang="en-US" sz="1150" dirty="0">
                <a:solidFill>
                  <a:srgbClr val="6E6C63"/>
                </a:solidFill>
                <a:latin typeface="Meiryo" pitchFamily="34" charset="0"/>
                <a:ea typeface="Meiryo" pitchFamily="34" charset="-122"/>
                <a:cs typeface="Meiryo" pitchFamily="34" charset="-120"/>
              </a:rPr>
              <a:t>・条件面の話だけで時間を使い切る</a:t>
            </a:r>
            <a:endParaRPr lang="en-US" sz="1150" dirty="0"/>
          </a:p>
        </p:txBody>
      </p:sp>
      <p:sp>
        <p:nvSpPr>
          <p:cNvPr id="37" name="Text 35"/>
          <p:cNvSpPr/>
          <p:nvPr/>
        </p:nvSpPr>
        <p:spPr>
          <a:xfrm>
            <a:off x="640080" y="5897880"/>
            <a:ext cx="10881360" cy="274320"/>
          </a:xfrm>
          <a:prstGeom prst="rect">
            <a:avLst/>
          </a:prstGeom>
          <a:noFill/>
          <a:ln/>
        </p:spPr>
        <p:txBody>
          <a:bodyPr wrap="square" lIns="0" tIns="0" rIns="0" bIns="0" rtlCol="0" anchor="ctr"/>
          <a:lstStyle/>
          <a:p>
            <a:pPr indent="0" marL="0">
              <a:buNone/>
            </a:pPr>
            <a:r>
              <a:rPr lang="en-US" sz="1000" dirty="0">
                <a:solidFill>
                  <a:srgbClr val="8A887E"/>
                </a:solidFill>
                <a:latin typeface="Meiryo" pitchFamily="34" charset="0"/>
                <a:ea typeface="Meiryo" pitchFamily="34" charset="-122"/>
                <a:cs typeface="Meiryo" pitchFamily="34" charset="-120"/>
              </a:rPr>
              <a:t>※ 体験会は「選考」ではなく「相互確認の場」と伝えると、参加のハードルが大きく下がります。</a:t>
            </a:r>
            <a:endParaRPr lang="en-US" sz="1000" dirty="0"/>
          </a:p>
        </p:txBody>
      </p:sp>
      <p:sp>
        <p:nvSpPr>
          <p:cNvPr id="38" name="Text 36"/>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39" name="Text 37"/>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14 / 19</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646920" y="457200"/>
            <a:ext cx="1874520" cy="310896"/>
          </a:xfrm>
          <a:prstGeom prst="roundRect">
            <a:avLst>
              <a:gd name="adj" fmla="val 14706"/>
            </a:avLst>
          </a:prstGeom>
          <a:solidFill>
            <a:srgbClr val="E7ECDD"/>
          </a:solidFill>
          <a:ln w="12700">
            <a:solidFill>
              <a:srgbClr val="788C5D"/>
            </a:solidFill>
            <a:prstDash val="solid"/>
          </a:ln>
        </p:spPr>
      </p:sp>
      <p:sp>
        <p:nvSpPr>
          <p:cNvPr id="3" name="Text 1"/>
          <p:cNvSpPr/>
          <p:nvPr/>
        </p:nvSpPr>
        <p:spPr>
          <a:xfrm>
            <a:off x="9646920" y="457200"/>
            <a:ext cx="1874520" cy="310896"/>
          </a:xfrm>
          <a:prstGeom prst="rect">
            <a:avLst/>
          </a:prstGeom>
          <a:noFill/>
          <a:ln/>
        </p:spPr>
        <p:txBody>
          <a:bodyPr wrap="square" lIns="0" tIns="0" rIns="0" bIns="0" rtlCol="0" anchor="ctr"/>
          <a:lstStyle/>
          <a:p>
            <a:pPr algn="ctr" indent="0" marL="0">
              <a:buNone/>
            </a:pPr>
            <a:r>
              <a:rPr lang="en-US" sz="1050" b="1" dirty="0">
                <a:solidFill>
                  <a:srgbClr val="788C5D"/>
                </a:solidFill>
                <a:latin typeface="Meiryo" pitchFamily="34" charset="0"/>
                <a:ea typeface="Meiryo" pitchFamily="34" charset="-122"/>
                <a:cs typeface="Meiryo" pitchFamily="34" charset="-120"/>
              </a:rPr>
              <a:t>AI 講座パート</a:t>
            </a:r>
            <a:endParaRPr lang="en-US" sz="1050" dirty="0"/>
          </a:p>
        </p:txBody>
      </p:sp>
      <p:sp>
        <p:nvSpPr>
          <p:cNvPr id="4" name="Shape 2"/>
          <p:cNvSpPr/>
          <p:nvPr/>
        </p:nvSpPr>
        <p:spPr>
          <a:xfrm>
            <a:off x="640080" y="457200"/>
            <a:ext cx="1783080" cy="310896"/>
          </a:xfrm>
          <a:prstGeom prst="roundRect">
            <a:avLst>
              <a:gd name="adj" fmla="val 14706"/>
            </a:avLst>
          </a:prstGeom>
          <a:solidFill>
            <a:srgbClr val="D97757"/>
          </a:solidFill>
          <a:ln/>
        </p:spPr>
      </p:sp>
      <p:sp>
        <p:nvSpPr>
          <p:cNvPr id="5" name="Text 3"/>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4</a:t>
            </a:r>
            <a:endParaRPr lang="en-US" sz="1100" dirty="0"/>
          </a:p>
        </p:txBody>
      </p:sp>
      <p:sp>
        <p:nvSpPr>
          <p:cNvPr id="6" name="Text 4"/>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スタッフ動画 ｜ 30〜40 秒でつくる</a:t>
            </a:r>
            <a:endParaRPr lang="en-US" sz="2700" dirty="0"/>
          </a:p>
        </p:txBody>
      </p:sp>
      <p:sp>
        <p:nvSpPr>
          <p:cNvPr id="7" name="Text 5"/>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文字では伝わらない「空気感」を運ぶ、いちばん効率のいい素材です</a:t>
            </a:r>
            <a:endParaRPr lang="en-US" sz="1300" dirty="0"/>
          </a:p>
        </p:txBody>
      </p:sp>
      <p:sp>
        <p:nvSpPr>
          <p:cNvPr id="8" name="Shape 6"/>
          <p:cNvSpPr/>
          <p:nvPr/>
        </p:nvSpPr>
        <p:spPr>
          <a:xfrm>
            <a:off x="640080" y="1874520"/>
            <a:ext cx="3352800" cy="2103120"/>
          </a:xfrm>
          <a:prstGeom prst="roundRect">
            <a:avLst>
              <a:gd name="adj" fmla="val 2609"/>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9" name="Shape 7"/>
          <p:cNvSpPr/>
          <p:nvPr/>
        </p:nvSpPr>
        <p:spPr>
          <a:xfrm>
            <a:off x="932688" y="2093976"/>
            <a:ext cx="658368" cy="658368"/>
          </a:xfrm>
          <a:prstGeom prst="ellipse">
            <a:avLst/>
          </a:prstGeom>
          <a:solidFill>
            <a:srgbClr val="F5E3DA"/>
          </a:solidFill>
          <a:ln/>
        </p:spPr>
      </p:sp>
      <p:pic>
        <p:nvPicPr>
          <p:cNvPr id="10" name="Image 0" descr="preencoded.png">    </p:cNvPr>
          <p:cNvPicPr>
            <a:picLocks noChangeAspect="1"/>
          </p:cNvPicPr>
          <p:nvPr/>
        </p:nvPicPr>
        <p:blipFill>
          <a:blip r:embed="rId1"/>
          <a:stretch>
            <a:fillRect/>
          </a:stretch>
        </p:blipFill>
        <p:spPr>
          <a:xfrm>
            <a:off x="1097280" y="2258568"/>
            <a:ext cx="329184" cy="329184"/>
          </a:xfrm>
          <a:prstGeom prst="rect">
            <a:avLst/>
          </a:prstGeom>
        </p:spPr>
      </p:pic>
      <p:sp>
        <p:nvSpPr>
          <p:cNvPr id="11" name="Text 8"/>
          <p:cNvSpPr/>
          <p:nvPr/>
        </p:nvSpPr>
        <p:spPr>
          <a:xfrm>
            <a:off x="932688" y="2843784"/>
            <a:ext cx="2767584" cy="365760"/>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スマホ 1 台でいい</a:t>
            </a:r>
            <a:endParaRPr lang="en-US" sz="1500" dirty="0"/>
          </a:p>
        </p:txBody>
      </p:sp>
      <p:sp>
        <p:nvSpPr>
          <p:cNvPr id="12" name="Text 9"/>
          <p:cNvSpPr/>
          <p:nvPr/>
        </p:nvSpPr>
        <p:spPr>
          <a:xfrm>
            <a:off x="932688" y="3246120"/>
            <a:ext cx="2767584" cy="658368"/>
          </a:xfrm>
          <a:prstGeom prst="rect">
            <a:avLst/>
          </a:prstGeom>
          <a:noFill/>
          <a:ln/>
        </p:spPr>
        <p:txBody>
          <a:bodyPr wrap="square" lIns="0" tIns="0" rIns="0" bIns="0" rtlCol="0" anchor="t"/>
          <a:lstStyle/>
          <a:p>
            <a:pPr indent="0" marL="0">
              <a:lnSpc>
                <a:spcPts val="1700"/>
              </a:lnSpc>
              <a:buNone/>
            </a:pPr>
            <a:r>
              <a:rPr lang="en-US" sz="1100" dirty="0">
                <a:solidFill>
                  <a:srgbClr val="6E6C63"/>
                </a:solidFill>
                <a:latin typeface="Meiryo" pitchFamily="34" charset="0"/>
                <a:ea typeface="Meiryo" pitchFamily="34" charset="-122"/>
                <a:cs typeface="Meiryo" pitchFamily="34" charset="-120"/>
              </a:rPr>
              <a:t>三脚とピンマイクだけ用意。</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照明は窓際の自然光で十分です。</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背景は実際の職場を写します。</a:t>
            </a:r>
            <a:endParaRPr lang="en-US" sz="1100" dirty="0"/>
          </a:p>
        </p:txBody>
      </p:sp>
      <p:sp>
        <p:nvSpPr>
          <p:cNvPr id="13" name="Shape 10"/>
          <p:cNvSpPr/>
          <p:nvPr/>
        </p:nvSpPr>
        <p:spPr>
          <a:xfrm>
            <a:off x="4404360" y="1874520"/>
            <a:ext cx="3352800" cy="2103120"/>
          </a:xfrm>
          <a:prstGeom prst="roundRect">
            <a:avLst>
              <a:gd name="adj" fmla="val 2609"/>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4" name="Shape 11"/>
          <p:cNvSpPr/>
          <p:nvPr/>
        </p:nvSpPr>
        <p:spPr>
          <a:xfrm>
            <a:off x="4696968" y="2093976"/>
            <a:ext cx="658368" cy="658368"/>
          </a:xfrm>
          <a:prstGeom prst="ellipse">
            <a:avLst/>
          </a:prstGeom>
          <a:solidFill>
            <a:srgbClr val="F5E3DA"/>
          </a:solidFill>
          <a:ln/>
        </p:spPr>
      </p:sp>
      <p:pic>
        <p:nvPicPr>
          <p:cNvPr id="15" name="Image 1" descr="preencoded.png">    </p:cNvPr>
          <p:cNvPicPr>
            <a:picLocks noChangeAspect="1"/>
          </p:cNvPicPr>
          <p:nvPr/>
        </p:nvPicPr>
        <p:blipFill>
          <a:blip r:embed="rId2"/>
          <a:stretch>
            <a:fillRect/>
          </a:stretch>
        </p:blipFill>
        <p:spPr>
          <a:xfrm>
            <a:off x="4861560" y="2258568"/>
            <a:ext cx="329184" cy="329184"/>
          </a:xfrm>
          <a:prstGeom prst="rect">
            <a:avLst/>
          </a:prstGeom>
        </p:spPr>
      </p:pic>
      <p:sp>
        <p:nvSpPr>
          <p:cNvPr id="16" name="Text 12"/>
          <p:cNvSpPr/>
          <p:nvPr/>
        </p:nvSpPr>
        <p:spPr>
          <a:xfrm>
            <a:off x="4696968" y="2843784"/>
            <a:ext cx="2767584" cy="365760"/>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台本は書かない</a:t>
            </a:r>
            <a:endParaRPr lang="en-US" sz="1500" dirty="0"/>
          </a:p>
        </p:txBody>
      </p:sp>
      <p:sp>
        <p:nvSpPr>
          <p:cNvPr id="17" name="Text 13"/>
          <p:cNvSpPr/>
          <p:nvPr/>
        </p:nvSpPr>
        <p:spPr>
          <a:xfrm>
            <a:off x="4696968" y="3246120"/>
            <a:ext cx="2767584" cy="658368"/>
          </a:xfrm>
          <a:prstGeom prst="rect">
            <a:avLst/>
          </a:prstGeom>
          <a:noFill/>
          <a:ln/>
        </p:spPr>
        <p:txBody>
          <a:bodyPr wrap="square" lIns="0" tIns="0" rIns="0" bIns="0" rtlCol="0" anchor="t"/>
          <a:lstStyle/>
          <a:p>
            <a:pPr indent="0" marL="0">
              <a:lnSpc>
                <a:spcPts val="1700"/>
              </a:lnSpc>
              <a:buNone/>
            </a:pPr>
            <a:r>
              <a:rPr lang="en-US" sz="1100" dirty="0">
                <a:solidFill>
                  <a:srgbClr val="6E6C63"/>
                </a:solidFill>
                <a:latin typeface="Meiryo" pitchFamily="34" charset="0"/>
                <a:ea typeface="Meiryo" pitchFamily="34" charset="-122"/>
                <a:cs typeface="Meiryo" pitchFamily="34" charset="-120"/>
              </a:rPr>
              <a:t>質問を投げて答えてもらう形式に。</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言い直しはそのまま残したほうが</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かえって信用されます。</a:t>
            </a:r>
            <a:endParaRPr lang="en-US" sz="1100" dirty="0"/>
          </a:p>
        </p:txBody>
      </p:sp>
      <p:sp>
        <p:nvSpPr>
          <p:cNvPr id="18" name="Shape 14"/>
          <p:cNvSpPr/>
          <p:nvPr/>
        </p:nvSpPr>
        <p:spPr>
          <a:xfrm>
            <a:off x="8168640" y="1874520"/>
            <a:ext cx="3352800" cy="2103120"/>
          </a:xfrm>
          <a:prstGeom prst="roundRect">
            <a:avLst>
              <a:gd name="adj" fmla="val 2609"/>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19" name="Shape 15"/>
          <p:cNvSpPr/>
          <p:nvPr/>
        </p:nvSpPr>
        <p:spPr>
          <a:xfrm>
            <a:off x="8461248" y="2093976"/>
            <a:ext cx="658368" cy="658368"/>
          </a:xfrm>
          <a:prstGeom prst="ellipse">
            <a:avLst/>
          </a:prstGeom>
          <a:solidFill>
            <a:srgbClr val="F5E3DA"/>
          </a:solidFill>
          <a:ln/>
        </p:spPr>
      </p:sp>
      <p:pic>
        <p:nvPicPr>
          <p:cNvPr id="20" name="Image 2" descr="preencoded.png">    </p:cNvPr>
          <p:cNvPicPr>
            <a:picLocks noChangeAspect="1"/>
          </p:cNvPicPr>
          <p:nvPr/>
        </p:nvPicPr>
        <p:blipFill>
          <a:blip r:embed="rId3"/>
          <a:stretch>
            <a:fillRect/>
          </a:stretch>
        </p:blipFill>
        <p:spPr>
          <a:xfrm>
            <a:off x="8625840" y="2258568"/>
            <a:ext cx="329184" cy="329184"/>
          </a:xfrm>
          <a:prstGeom prst="rect">
            <a:avLst/>
          </a:prstGeom>
        </p:spPr>
      </p:pic>
      <p:sp>
        <p:nvSpPr>
          <p:cNvPr id="21" name="Text 16"/>
          <p:cNvSpPr/>
          <p:nvPr/>
        </p:nvSpPr>
        <p:spPr>
          <a:xfrm>
            <a:off x="8461248" y="2843784"/>
            <a:ext cx="2767584" cy="365760"/>
          </a:xfrm>
          <a:prstGeom prst="rect">
            <a:avLst/>
          </a:prstGeom>
          <a:noFill/>
          <a:ln/>
        </p:spPr>
        <p:txBody>
          <a:bodyPr wrap="square" lIns="0" tIns="0" rIns="0" bIns="0" rtlCol="0" anchor="ctr"/>
          <a:lstStyle/>
          <a:p>
            <a:pPr indent="0" marL="0">
              <a:buNone/>
            </a:pPr>
            <a:r>
              <a:rPr lang="en-US" sz="1500" b="1" dirty="0">
                <a:solidFill>
                  <a:srgbClr val="141413"/>
                </a:solidFill>
                <a:latin typeface="Meiryo" pitchFamily="34" charset="0"/>
                <a:ea typeface="Meiryo" pitchFamily="34" charset="-122"/>
                <a:cs typeface="Meiryo" pitchFamily="34" charset="-120"/>
              </a:rPr>
              <a:t>字幕は必ず入れる</a:t>
            </a:r>
            <a:endParaRPr lang="en-US" sz="1500" dirty="0"/>
          </a:p>
        </p:txBody>
      </p:sp>
      <p:sp>
        <p:nvSpPr>
          <p:cNvPr id="22" name="Text 17"/>
          <p:cNvSpPr/>
          <p:nvPr/>
        </p:nvSpPr>
        <p:spPr>
          <a:xfrm>
            <a:off x="8461248" y="3246120"/>
            <a:ext cx="2767584" cy="658368"/>
          </a:xfrm>
          <a:prstGeom prst="rect">
            <a:avLst/>
          </a:prstGeom>
          <a:noFill/>
          <a:ln/>
        </p:spPr>
        <p:txBody>
          <a:bodyPr wrap="square" lIns="0" tIns="0" rIns="0" bIns="0" rtlCol="0" anchor="t"/>
          <a:lstStyle/>
          <a:p>
            <a:pPr indent="0" marL="0">
              <a:lnSpc>
                <a:spcPts val="1700"/>
              </a:lnSpc>
              <a:buNone/>
            </a:pPr>
            <a:r>
              <a:rPr lang="en-US" sz="1100" dirty="0">
                <a:solidFill>
                  <a:srgbClr val="6E6C63"/>
                </a:solidFill>
                <a:latin typeface="Meiryo" pitchFamily="34" charset="0"/>
                <a:ea typeface="Meiryo" pitchFamily="34" charset="-122"/>
                <a:cs typeface="Meiryo" pitchFamily="34" charset="-120"/>
              </a:rPr>
              <a:t>求職者の多くは音を出さずに見ます。</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字幕がないと、内容が</a:t>
            </a:r>
            <a:endParaRPr lang="en-US" sz="1100" dirty="0"/>
          </a:p>
          <a:p>
            <a:pPr indent="0" marL="0">
              <a:lnSpc>
                <a:spcPts val="1700"/>
              </a:lnSpc>
              <a:buNone/>
            </a:pPr>
            <a:r>
              <a:rPr lang="en-US" sz="1100" dirty="0">
                <a:solidFill>
                  <a:srgbClr val="6E6C63"/>
                </a:solidFill>
                <a:latin typeface="Meiryo" pitchFamily="34" charset="0"/>
                <a:ea typeface="Meiryo" pitchFamily="34" charset="-122"/>
                <a:cs typeface="Meiryo" pitchFamily="34" charset="-120"/>
              </a:rPr>
              <a:t>まったく届きません。</a:t>
            </a:r>
            <a:endParaRPr lang="en-US" sz="1100" dirty="0"/>
          </a:p>
        </p:txBody>
      </p:sp>
      <p:sp>
        <p:nvSpPr>
          <p:cNvPr id="23" name="Text 18"/>
          <p:cNvSpPr/>
          <p:nvPr/>
        </p:nvSpPr>
        <p:spPr>
          <a:xfrm>
            <a:off x="640080" y="4224528"/>
            <a:ext cx="5852160" cy="347472"/>
          </a:xfrm>
          <a:prstGeom prst="rect">
            <a:avLst/>
          </a:prstGeom>
          <a:noFill/>
          <a:ln/>
        </p:spPr>
        <p:txBody>
          <a:bodyPr wrap="square" lIns="0" tIns="0" rIns="0" bIns="0" rtlCol="0" anchor="ctr"/>
          <a:lstStyle/>
          <a:p>
            <a:pPr indent="0" marL="0">
              <a:buNone/>
            </a:pPr>
            <a:r>
              <a:rPr lang="en-US" sz="1400" b="1" dirty="0">
                <a:solidFill>
                  <a:srgbClr val="141413"/>
                </a:solidFill>
                <a:latin typeface="Meiryo" pitchFamily="34" charset="0"/>
                <a:ea typeface="Meiryo" pitchFamily="34" charset="-122"/>
                <a:cs typeface="Meiryo" pitchFamily="34" charset="-120"/>
              </a:rPr>
              <a:t>そのまま使える質問 5 つ</a:t>
            </a:r>
            <a:endParaRPr lang="en-US" sz="1400" dirty="0"/>
          </a:p>
        </p:txBody>
      </p:sp>
      <p:sp>
        <p:nvSpPr>
          <p:cNvPr id="24" name="Text 19"/>
          <p:cNvSpPr/>
          <p:nvPr/>
        </p:nvSpPr>
        <p:spPr>
          <a:xfrm>
            <a:off x="640080" y="4626864"/>
            <a:ext cx="411480" cy="292608"/>
          </a:xfrm>
          <a:prstGeom prst="rect">
            <a:avLst/>
          </a:prstGeom>
          <a:noFill/>
          <a:ln/>
        </p:spPr>
        <p:txBody>
          <a:bodyPr wrap="square" lIns="0" tIns="0" rIns="0" bIns="0" rtlCol="0" anchor="ctr"/>
          <a:lstStyle/>
          <a:p>
            <a:pPr indent="0" marL="0">
              <a:buNone/>
            </a:pPr>
            <a:r>
              <a:rPr lang="en-US" sz="1100" b="1" dirty="0">
                <a:solidFill>
                  <a:srgbClr val="D97757"/>
                </a:solidFill>
                <a:latin typeface="Meiryo" pitchFamily="34" charset="0"/>
                <a:ea typeface="Meiryo" pitchFamily="34" charset="-122"/>
                <a:cs typeface="Meiryo" pitchFamily="34" charset="-120"/>
              </a:rPr>
              <a:t>Q1</a:t>
            </a:r>
            <a:endParaRPr lang="en-US" sz="1100" dirty="0"/>
          </a:p>
        </p:txBody>
      </p:sp>
      <p:sp>
        <p:nvSpPr>
          <p:cNvPr id="25" name="Text 20"/>
          <p:cNvSpPr/>
          <p:nvPr/>
        </p:nvSpPr>
        <p:spPr>
          <a:xfrm>
            <a:off x="1097280" y="4626864"/>
            <a:ext cx="5394960" cy="292608"/>
          </a:xfrm>
          <a:prstGeom prst="rect">
            <a:avLst/>
          </a:prstGeom>
          <a:noFill/>
          <a:ln/>
        </p:spPr>
        <p:txBody>
          <a:bodyPr wrap="square" lIns="0" tIns="0" rIns="0" bIns="0" rtlCol="0" anchor="ctr"/>
          <a:lstStyle/>
          <a:p>
            <a:pPr indent="0" marL="0">
              <a:buNone/>
            </a:pPr>
            <a:r>
              <a:rPr lang="en-US" sz="1150" dirty="0">
                <a:solidFill>
                  <a:srgbClr val="4A4943"/>
                </a:solidFill>
                <a:latin typeface="Meiryo" pitchFamily="34" charset="0"/>
                <a:ea typeface="Meiryo" pitchFamily="34" charset="-122"/>
                <a:cs typeface="Meiryo" pitchFamily="34" charset="-120"/>
              </a:rPr>
              <a:t>入る前に不安だったことは何でしたか？</a:t>
            </a:r>
            <a:endParaRPr lang="en-US" sz="1150" dirty="0"/>
          </a:p>
        </p:txBody>
      </p:sp>
      <p:sp>
        <p:nvSpPr>
          <p:cNvPr id="26" name="Text 21"/>
          <p:cNvSpPr/>
          <p:nvPr/>
        </p:nvSpPr>
        <p:spPr>
          <a:xfrm>
            <a:off x="640080" y="4937760"/>
            <a:ext cx="411480" cy="292608"/>
          </a:xfrm>
          <a:prstGeom prst="rect">
            <a:avLst/>
          </a:prstGeom>
          <a:noFill/>
          <a:ln/>
        </p:spPr>
        <p:txBody>
          <a:bodyPr wrap="square" lIns="0" tIns="0" rIns="0" bIns="0" rtlCol="0" anchor="ctr"/>
          <a:lstStyle/>
          <a:p>
            <a:pPr indent="0" marL="0">
              <a:buNone/>
            </a:pPr>
            <a:r>
              <a:rPr lang="en-US" sz="1100" b="1" dirty="0">
                <a:solidFill>
                  <a:srgbClr val="D97757"/>
                </a:solidFill>
                <a:latin typeface="Meiryo" pitchFamily="34" charset="0"/>
                <a:ea typeface="Meiryo" pitchFamily="34" charset="-122"/>
                <a:cs typeface="Meiryo" pitchFamily="34" charset="-120"/>
              </a:rPr>
              <a:t>Q2</a:t>
            </a:r>
            <a:endParaRPr lang="en-US" sz="1100" dirty="0"/>
          </a:p>
        </p:txBody>
      </p:sp>
      <p:sp>
        <p:nvSpPr>
          <p:cNvPr id="27" name="Text 22"/>
          <p:cNvSpPr/>
          <p:nvPr/>
        </p:nvSpPr>
        <p:spPr>
          <a:xfrm>
            <a:off x="1097280" y="4937760"/>
            <a:ext cx="5394960" cy="292608"/>
          </a:xfrm>
          <a:prstGeom prst="rect">
            <a:avLst/>
          </a:prstGeom>
          <a:noFill/>
          <a:ln/>
        </p:spPr>
        <p:txBody>
          <a:bodyPr wrap="square" lIns="0" tIns="0" rIns="0" bIns="0" rtlCol="0" anchor="ctr"/>
          <a:lstStyle/>
          <a:p>
            <a:pPr indent="0" marL="0">
              <a:buNone/>
            </a:pPr>
            <a:r>
              <a:rPr lang="en-US" sz="1150" dirty="0">
                <a:solidFill>
                  <a:srgbClr val="4A4943"/>
                </a:solidFill>
                <a:latin typeface="Meiryo" pitchFamily="34" charset="0"/>
                <a:ea typeface="Meiryo" pitchFamily="34" charset="-122"/>
                <a:cs typeface="Meiryo" pitchFamily="34" charset="-120"/>
              </a:rPr>
              <a:t>実際に入ってみて、その不安はどうなりましたか？</a:t>
            </a:r>
            <a:endParaRPr lang="en-US" sz="1150" dirty="0"/>
          </a:p>
        </p:txBody>
      </p:sp>
      <p:sp>
        <p:nvSpPr>
          <p:cNvPr id="28" name="Text 23"/>
          <p:cNvSpPr/>
          <p:nvPr/>
        </p:nvSpPr>
        <p:spPr>
          <a:xfrm>
            <a:off x="640080" y="5248656"/>
            <a:ext cx="411480" cy="292608"/>
          </a:xfrm>
          <a:prstGeom prst="rect">
            <a:avLst/>
          </a:prstGeom>
          <a:noFill/>
          <a:ln/>
        </p:spPr>
        <p:txBody>
          <a:bodyPr wrap="square" lIns="0" tIns="0" rIns="0" bIns="0" rtlCol="0" anchor="ctr"/>
          <a:lstStyle/>
          <a:p>
            <a:pPr indent="0" marL="0">
              <a:buNone/>
            </a:pPr>
            <a:r>
              <a:rPr lang="en-US" sz="1100" b="1" dirty="0">
                <a:solidFill>
                  <a:srgbClr val="D97757"/>
                </a:solidFill>
                <a:latin typeface="Meiryo" pitchFamily="34" charset="0"/>
                <a:ea typeface="Meiryo" pitchFamily="34" charset="-122"/>
                <a:cs typeface="Meiryo" pitchFamily="34" charset="-120"/>
              </a:rPr>
              <a:t>Q3</a:t>
            </a:r>
            <a:endParaRPr lang="en-US" sz="1100" dirty="0"/>
          </a:p>
        </p:txBody>
      </p:sp>
      <p:sp>
        <p:nvSpPr>
          <p:cNvPr id="29" name="Text 24"/>
          <p:cNvSpPr/>
          <p:nvPr/>
        </p:nvSpPr>
        <p:spPr>
          <a:xfrm>
            <a:off x="1097280" y="5248656"/>
            <a:ext cx="5394960" cy="292608"/>
          </a:xfrm>
          <a:prstGeom prst="rect">
            <a:avLst/>
          </a:prstGeom>
          <a:noFill/>
          <a:ln/>
        </p:spPr>
        <p:txBody>
          <a:bodyPr wrap="square" lIns="0" tIns="0" rIns="0" bIns="0" rtlCol="0" anchor="ctr"/>
          <a:lstStyle/>
          <a:p>
            <a:pPr indent="0" marL="0">
              <a:buNone/>
            </a:pPr>
            <a:r>
              <a:rPr lang="en-US" sz="1150" dirty="0">
                <a:solidFill>
                  <a:srgbClr val="4A4943"/>
                </a:solidFill>
                <a:latin typeface="Meiryo" pitchFamily="34" charset="0"/>
                <a:ea typeface="Meiryo" pitchFamily="34" charset="-122"/>
                <a:cs typeface="Meiryo" pitchFamily="34" charset="-120"/>
              </a:rPr>
              <a:t>この職場で「いいな」と思う瞬間はいつですか？</a:t>
            </a:r>
            <a:endParaRPr lang="en-US" sz="1150" dirty="0"/>
          </a:p>
        </p:txBody>
      </p:sp>
      <p:sp>
        <p:nvSpPr>
          <p:cNvPr id="30" name="Text 25"/>
          <p:cNvSpPr/>
          <p:nvPr/>
        </p:nvSpPr>
        <p:spPr>
          <a:xfrm>
            <a:off x="640080" y="5559552"/>
            <a:ext cx="411480" cy="292608"/>
          </a:xfrm>
          <a:prstGeom prst="rect">
            <a:avLst/>
          </a:prstGeom>
          <a:noFill/>
          <a:ln/>
        </p:spPr>
        <p:txBody>
          <a:bodyPr wrap="square" lIns="0" tIns="0" rIns="0" bIns="0" rtlCol="0" anchor="ctr"/>
          <a:lstStyle/>
          <a:p>
            <a:pPr indent="0" marL="0">
              <a:buNone/>
            </a:pPr>
            <a:r>
              <a:rPr lang="en-US" sz="1100" b="1" dirty="0">
                <a:solidFill>
                  <a:srgbClr val="D97757"/>
                </a:solidFill>
                <a:latin typeface="Meiryo" pitchFamily="34" charset="0"/>
                <a:ea typeface="Meiryo" pitchFamily="34" charset="-122"/>
                <a:cs typeface="Meiryo" pitchFamily="34" charset="-120"/>
              </a:rPr>
              <a:t>Q4</a:t>
            </a:r>
            <a:endParaRPr lang="en-US" sz="1100" dirty="0"/>
          </a:p>
        </p:txBody>
      </p:sp>
      <p:sp>
        <p:nvSpPr>
          <p:cNvPr id="31" name="Text 26"/>
          <p:cNvSpPr/>
          <p:nvPr/>
        </p:nvSpPr>
        <p:spPr>
          <a:xfrm>
            <a:off x="1097280" y="5559552"/>
            <a:ext cx="5394960" cy="292608"/>
          </a:xfrm>
          <a:prstGeom prst="rect">
            <a:avLst/>
          </a:prstGeom>
          <a:noFill/>
          <a:ln/>
        </p:spPr>
        <p:txBody>
          <a:bodyPr wrap="square" lIns="0" tIns="0" rIns="0" bIns="0" rtlCol="0" anchor="ctr"/>
          <a:lstStyle/>
          <a:p>
            <a:pPr indent="0" marL="0">
              <a:buNone/>
            </a:pPr>
            <a:r>
              <a:rPr lang="en-US" sz="1150" dirty="0">
                <a:solidFill>
                  <a:srgbClr val="4A4943"/>
                </a:solidFill>
                <a:latin typeface="Meiryo" pitchFamily="34" charset="0"/>
                <a:ea typeface="Meiryo" pitchFamily="34" charset="-122"/>
                <a:cs typeface="Meiryo" pitchFamily="34" charset="-120"/>
              </a:rPr>
              <a:t>1 日のうち、いちばん好きな時間は？</a:t>
            </a:r>
            <a:endParaRPr lang="en-US" sz="1150" dirty="0"/>
          </a:p>
        </p:txBody>
      </p:sp>
      <p:sp>
        <p:nvSpPr>
          <p:cNvPr id="32" name="Text 27"/>
          <p:cNvSpPr/>
          <p:nvPr/>
        </p:nvSpPr>
        <p:spPr>
          <a:xfrm>
            <a:off x="640080" y="5870448"/>
            <a:ext cx="411480" cy="292608"/>
          </a:xfrm>
          <a:prstGeom prst="rect">
            <a:avLst/>
          </a:prstGeom>
          <a:noFill/>
          <a:ln/>
        </p:spPr>
        <p:txBody>
          <a:bodyPr wrap="square" lIns="0" tIns="0" rIns="0" bIns="0" rtlCol="0" anchor="ctr"/>
          <a:lstStyle/>
          <a:p>
            <a:pPr indent="0" marL="0">
              <a:buNone/>
            </a:pPr>
            <a:r>
              <a:rPr lang="en-US" sz="1100" b="1" dirty="0">
                <a:solidFill>
                  <a:srgbClr val="D97757"/>
                </a:solidFill>
                <a:latin typeface="Meiryo" pitchFamily="34" charset="0"/>
                <a:ea typeface="Meiryo" pitchFamily="34" charset="-122"/>
                <a:cs typeface="Meiryo" pitchFamily="34" charset="-120"/>
              </a:rPr>
              <a:t>Q5</a:t>
            </a:r>
            <a:endParaRPr lang="en-US" sz="1100" dirty="0"/>
          </a:p>
        </p:txBody>
      </p:sp>
      <p:sp>
        <p:nvSpPr>
          <p:cNvPr id="33" name="Text 28"/>
          <p:cNvSpPr/>
          <p:nvPr/>
        </p:nvSpPr>
        <p:spPr>
          <a:xfrm>
            <a:off x="1097280" y="5870448"/>
            <a:ext cx="5394960" cy="292608"/>
          </a:xfrm>
          <a:prstGeom prst="rect">
            <a:avLst/>
          </a:prstGeom>
          <a:noFill/>
          <a:ln/>
        </p:spPr>
        <p:txBody>
          <a:bodyPr wrap="square" lIns="0" tIns="0" rIns="0" bIns="0" rtlCol="0" anchor="ctr"/>
          <a:lstStyle/>
          <a:p>
            <a:pPr indent="0" marL="0">
              <a:buNone/>
            </a:pPr>
            <a:r>
              <a:rPr lang="en-US" sz="1150" dirty="0">
                <a:solidFill>
                  <a:srgbClr val="4A4943"/>
                </a:solidFill>
                <a:latin typeface="Meiryo" pitchFamily="34" charset="0"/>
                <a:ea typeface="Meiryo" pitchFamily="34" charset="-122"/>
                <a:cs typeface="Meiryo" pitchFamily="34" charset="-120"/>
              </a:rPr>
              <a:t>どんな人と一緒に働きたいですか？</a:t>
            </a:r>
            <a:endParaRPr lang="en-US" sz="1150" dirty="0"/>
          </a:p>
        </p:txBody>
      </p:sp>
      <p:sp>
        <p:nvSpPr>
          <p:cNvPr id="34" name="Shape 29"/>
          <p:cNvSpPr/>
          <p:nvPr/>
        </p:nvSpPr>
        <p:spPr>
          <a:xfrm>
            <a:off x="6949440" y="4224528"/>
            <a:ext cx="4572000" cy="1920240"/>
          </a:xfrm>
          <a:prstGeom prst="roundRect">
            <a:avLst>
              <a:gd name="adj" fmla="val 2857"/>
            </a:avLst>
          </a:prstGeom>
          <a:solidFill>
            <a:srgbClr val="E7ECDD"/>
          </a:solidFill>
          <a:ln w="12700">
            <a:solidFill>
              <a:srgbClr val="788C5D"/>
            </a:solidFill>
            <a:prstDash val="solid"/>
          </a:ln>
        </p:spPr>
      </p:sp>
      <p:pic>
        <p:nvPicPr>
          <p:cNvPr id="35" name="Image 3" descr="preencoded.png">    </p:cNvPr>
          <p:cNvPicPr>
            <a:picLocks noChangeAspect="1"/>
          </p:cNvPicPr>
          <p:nvPr/>
        </p:nvPicPr>
        <p:blipFill>
          <a:blip r:embed="rId4"/>
          <a:stretch>
            <a:fillRect/>
          </a:stretch>
        </p:blipFill>
        <p:spPr>
          <a:xfrm>
            <a:off x="7223760" y="4407408"/>
            <a:ext cx="292608" cy="292608"/>
          </a:xfrm>
          <a:prstGeom prst="rect">
            <a:avLst/>
          </a:prstGeom>
        </p:spPr>
      </p:pic>
      <p:sp>
        <p:nvSpPr>
          <p:cNvPr id="36" name="Text 30"/>
          <p:cNvSpPr/>
          <p:nvPr/>
        </p:nvSpPr>
        <p:spPr>
          <a:xfrm>
            <a:off x="7607808" y="4407408"/>
            <a:ext cx="3657600" cy="292608"/>
          </a:xfrm>
          <a:prstGeom prst="rect">
            <a:avLst/>
          </a:prstGeom>
          <a:noFill/>
          <a:ln/>
        </p:spPr>
        <p:txBody>
          <a:bodyPr wrap="square" lIns="0" tIns="0" rIns="0" bIns="0" rtlCol="0" anchor="ctr"/>
          <a:lstStyle/>
          <a:p>
            <a:pPr indent="0" marL="0">
              <a:buNone/>
            </a:pPr>
            <a:r>
              <a:rPr lang="en-US" sz="1350" b="1" dirty="0">
                <a:solidFill>
                  <a:srgbClr val="788C5D"/>
                </a:solidFill>
                <a:latin typeface="Meiryo" pitchFamily="34" charset="0"/>
                <a:ea typeface="Meiryo" pitchFamily="34" charset="-122"/>
                <a:cs typeface="Meiryo" pitchFamily="34" charset="-120"/>
              </a:rPr>
              <a:t>編集は AI に任せる</a:t>
            </a:r>
            <a:endParaRPr lang="en-US" sz="1350" dirty="0"/>
          </a:p>
        </p:txBody>
      </p:sp>
      <p:sp>
        <p:nvSpPr>
          <p:cNvPr id="37" name="Text 31"/>
          <p:cNvSpPr/>
          <p:nvPr/>
        </p:nvSpPr>
        <p:spPr>
          <a:xfrm>
            <a:off x="7223760" y="4791456"/>
            <a:ext cx="4023360" cy="1234440"/>
          </a:xfrm>
          <a:prstGeom prst="rect">
            <a:avLst/>
          </a:prstGeom>
          <a:noFill/>
          <a:ln/>
        </p:spPr>
        <p:txBody>
          <a:bodyPr wrap="square" lIns="0" tIns="0" rIns="0" bIns="0" rtlCol="0" anchor="t"/>
          <a:lstStyle/>
          <a:p>
            <a:pPr indent="0" marL="0">
              <a:lnSpc>
                <a:spcPts val="1900"/>
              </a:lnSpc>
              <a:buNone/>
            </a:pPr>
            <a:r>
              <a:rPr lang="en-US" sz="1100" dirty="0">
                <a:solidFill>
                  <a:srgbClr val="4A4943"/>
                </a:solidFill>
                <a:latin typeface="Meiryo" pitchFamily="34" charset="0"/>
                <a:ea typeface="Meiryo" pitchFamily="34" charset="-122"/>
                <a:cs typeface="Meiryo" pitchFamily="34" charset="-120"/>
              </a:rPr>
              <a:t>① 撮った動画を文字起こしする</a:t>
            </a:r>
            <a:endParaRPr lang="en-US" sz="1100" dirty="0"/>
          </a:p>
          <a:p>
            <a:pPr indent="0" marL="0">
              <a:lnSpc>
                <a:spcPts val="1900"/>
              </a:lnSpc>
              <a:buNone/>
            </a:pPr>
            <a:r>
              <a:rPr lang="en-US" sz="1100" dirty="0">
                <a:solidFill>
                  <a:srgbClr val="4A4943"/>
                </a:solidFill>
                <a:latin typeface="Meiryo" pitchFamily="34" charset="0"/>
                <a:ea typeface="Meiryo" pitchFamily="34" charset="-122"/>
                <a:cs typeface="Meiryo" pitchFamily="34" charset="-120"/>
              </a:rPr>
              <a:t>② 一番いい 30〜40 秒をどこか選ばせる</a:t>
            </a:r>
            <a:endParaRPr lang="en-US" sz="1100" dirty="0"/>
          </a:p>
          <a:p>
            <a:pPr indent="0" marL="0">
              <a:lnSpc>
                <a:spcPts val="1900"/>
              </a:lnSpc>
              <a:buNone/>
            </a:pPr>
            <a:r>
              <a:rPr lang="en-US" sz="1100" dirty="0">
                <a:solidFill>
                  <a:srgbClr val="4A4943"/>
                </a:solidFill>
                <a:latin typeface="Meiryo" pitchFamily="34" charset="0"/>
                <a:ea typeface="Meiryo" pitchFamily="34" charset="-122"/>
                <a:cs typeface="Meiryo" pitchFamily="34" charset="-120"/>
              </a:rPr>
              <a:t>③ 字幕テキストを整える（言い間違いだけ直す）</a:t>
            </a:r>
            <a:endParaRPr lang="en-US" sz="1100" dirty="0"/>
          </a:p>
          <a:p>
            <a:pPr indent="0" marL="0">
              <a:lnSpc>
                <a:spcPts val="1900"/>
              </a:lnSpc>
              <a:buNone/>
            </a:pPr>
            <a:r>
              <a:rPr lang="en-US" sz="1100" dirty="0">
                <a:solidFill>
                  <a:srgbClr val="4A4943"/>
                </a:solidFill>
                <a:latin typeface="Meiryo" pitchFamily="34" charset="0"/>
                <a:ea typeface="Meiryo" pitchFamily="34" charset="-122"/>
                <a:cs typeface="Meiryo" pitchFamily="34" charset="-120"/>
              </a:rPr>
              <a:t>④ 求人ページ用の紹介文を 3 案つくらせる</a:t>
            </a:r>
            <a:endParaRPr lang="en-US" sz="1100" dirty="0"/>
          </a:p>
        </p:txBody>
      </p:sp>
      <p:sp>
        <p:nvSpPr>
          <p:cNvPr id="38" name="Text 32"/>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39" name="Text 33"/>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15 / 19</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MODULE 5</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毎週 15 分で回す ｜ 運用ダッシュボード</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つくって終わりにしないための、いちばん短い会議の型</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1965960"/>
                <a:gridCol w="2743200"/>
                <a:gridCol w="1874520"/>
                <a:gridCol w="4297680"/>
              </a:tblGrid>
              <a:tr h="502920">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見る数字</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どこで取るか</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目安</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100" b="1" dirty="0">
                          <a:solidFill>
                            <a:srgbClr val="FFFFFF"/>
                          </a:solidFill>
                          <a:latin typeface="Meiryo" pitchFamily="34" charset="0"/>
                          <a:ea typeface="Meiryo" pitchFamily="34" charset="-122"/>
                          <a:cs typeface="Meiryo" pitchFamily="34" charset="-120"/>
                        </a:rPr>
                        <a:t>下がっていたら直すところ</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求人の表示回数</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Engage / Indeed の管理画面</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前週比 ±20% 以内</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職種名と勤務地の書き方、掲載チャネルの数</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502920">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ページの閲覧数</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Engage の管理画面</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表示の 3〜5%</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キャッチコピー（1 行目で決まります）</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502920">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応募数</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Engage の応募者管理</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閲覧の 2〜5%</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応募フォームの項目数、共感パートの中身</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502920">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体験会の参加率</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自社の記録</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応募の 50% 以上</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案内メールの文面、日程の選択肢の少なさ</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502920">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内定の承諾率</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自社の記録</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70% 以上</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100" dirty="0">
                          <a:solidFill>
                            <a:srgbClr val="4A4943"/>
                          </a:solidFill>
                          <a:latin typeface="Meiryo" pitchFamily="34" charset="0"/>
                          <a:ea typeface="Meiryo" pitchFamily="34" charset="-122"/>
                          <a:cs typeface="Meiryo" pitchFamily="34" charset="-120"/>
                        </a:rPr>
                        <a:t>返信の速さ、条件の伝え方、体験会の質</a:t>
                      </a:r>
                      <a:endParaRPr lang="en-US" sz="11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bl>
          </a:graphicData>
        </a:graphic>
      </p:graphicFrame>
      <p:sp>
        <p:nvSpPr>
          <p:cNvPr id="7" name="Shape 4"/>
          <p:cNvSpPr/>
          <p:nvPr/>
        </p:nvSpPr>
        <p:spPr>
          <a:xfrm>
            <a:off x="640080" y="5029200"/>
            <a:ext cx="10881360" cy="822960"/>
          </a:xfrm>
          <a:prstGeom prst="roundRect">
            <a:avLst>
              <a:gd name="adj" fmla="val 6667"/>
            </a:avLst>
          </a:prstGeom>
          <a:solidFill>
            <a:srgbClr val="141413"/>
          </a:solidFill>
          <a:ln/>
        </p:spPr>
      </p:sp>
      <p:sp>
        <p:nvSpPr>
          <p:cNvPr id="8" name="Text 5"/>
          <p:cNvSpPr/>
          <p:nvPr/>
        </p:nvSpPr>
        <p:spPr>
          <a:xfrm>
            <a:off x="1005840" y="5029200"/>
            <a:ext cx="10149840" cy="822960"/>
          </a:xfrm>
          <a:prstGeom prst="rect">
            <a:avLst/>
          </a:prstGeom>
          <a:noFill/>
          <a:ln/>
        </p:spPr>
        <p:txBody>
          <a:bodyPr wrap="square" lIns="0" tIns="0" rIns="0" bIns="0" rtlCol="0" anchor="ctr"/>
          <a:lstStyle/>
          <a:p>
            <a:pPr algn="l" indent="0" marL="0">
              <a:lnSpc>
                <a:spcPts val="1900"/>
              </a:lnSpc>
              <a:buNone/>
            </a:pPr>
            <a:r>
              <a:rPr lang="en-US" sz="1250" b="1" dirty="0">
                <a:solidFill>
                  <a:srgbClr val="D97757"/>
                </a:solidFill>
                <a:latin typeface="Meiryo" pitchFamily="34" charset="0"/>
                <a:ea typeface="Meiryo" pitchFamily="34" charset="-122"/>
                <a:cs typeface="Meiryo" pitchFamily="34" charset="-120"/>
              </a:rPr>
              <a:t>週次ミーティング 15 分の型　</a:t>
            </a:r>
            <a:pPr algn="l" indent="0" marL="0">
              <a:lnSpc>
                <a:spcPts val="1900"/>
              </a:lnSpc>
              <a:buNone/>
            </a:pPr>
            <a:r>
              <a:rPr lang="en-US" sz="1200" dirty="0">
                <a:solidFill>
                  <a:srgbClr val="FFFFFF"/>
                </a:solidFill>
                <a:latin typeface="Meiryo" pitchFamily="34" charset="0"/>
                <a:ea typeface="Meiryo" pitchFamily="34" charset="-122"/>
                <a:cs typeface="Meiryo" pitchFamily="34" charset="-120"/>
              </a:rPr>
              <a:t>①数字を読み上げる（3 分）→ ②いちばん落ちている 1 か所を選ぶ（2 分）→ ③その 1 か所への対策を決める（7 分）→ ④担当と期限を決める（3 分）</a:t>
            </a:r>
            <a:endParaRPr lang="en-US" sz="1250" dirty="0"/>
          </a:p>
        </p:txBody>
      </p:sp>
      <p:sp>
        <p:nvSpPr>
          <p:cNvPr id="9" name="Text 6"/>
          <p:cNvSpPr/>
          <p:nvPr/>
        </p:nvSpPr>
        <p:spPr>
          <a:xfrm>
            <a:off x="640080" y="5943600"/>
            <a:ext cx="10881360" cy="274320"/>
          </a:xfrm>
          <a:prstGeom prst="rect">
            <a:avLst/>
          </a:prstGeom>
          <a:noFill/>
          <a:ln/>
        </p:spPr>
        <p:txBody>
          <a:bodyPr wrap="square" lIns="0" tIns="0" rIns="0" bIns="0" rtlCol="0" anchor="ctr"/>
          <a:lstStyle/>
          <a:p>
            <a:pPr indent="0" marL="0">
              <a:buNone/>
            </a:pPr>
            <a:r>
              <a:rPr lang="en-US" sz="1000" dirty="0">
                <a:solidFill>
                  <a:srgbClr val="8A887E"/>
                </a:solidFill>
                <a:latin typeface="Meiryo" pitchFamily="34" charset="0"/>
                <a:ea typeface="Meiryo" pitchFamily="34" charset="-122"/>
                <a:cs typeface="Meiryo" pitchFamily="34" charset="-120"/>
              </a:rPr>
              <a:t>※ 目安の数値は一般的なレンジです。2〜3 か月運用して、自社の平常値に置き換えてください。</a:t>
            </a:r>
            <a:endParaRPr lang="en-US" sz="1000" dirty="0"/>
          </a:p>
        </p:txBody>
      </p:sp>
      <p:sp>
        <p:nvSpPr>
          <p:cNvPr id="10" name="Text 7"/>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11" name="Text 8"/>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16 / 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9646920" y="457200"/>
            <a:ext cx="1874520" cy="310896"/>
          </a:xfrm>
          <a:prstGeom prst="roundRect">
            <a:avLst>
              <a:gd name="adj" fmla="val 14706"/>
            </a:avLst>
          </a:prstGeom>
          <a:solidFill>
            <a:srgbClr val="E7ECDD"/>
          </a:solidFill>
          <a:ln w="12700">
            <a:solidFill>
              <a:srgbClr val="788C5D"/>
            </a:solidFill>
            <a:prstDash val="solid"/>
          </a:ln>
        </p:spPr>
      </p:sp>
      <p:sp>
        <p:nvSpPr>
          <p:cNvPr id="3" name="Text 1"/>
          <p:cNvSpPr/>
          <p:nvPr/>
        </p:nvSpPr>
        <p:spPr>
          <a:xfrm>
            <a:off x="9646920" y="457200"/>
            <a:ext cx="1874520" cy="310896"/>
          </a:xfrm>
          <a:prstGeom prst="rect">
            <a:avLst/>
          </a:prstGeom>
          <a:noFill/>
          <a:ln/>
        </p:spPr>
        <p:txBody>
          <a:bodyPr wrap="square" lIns="0" tIns="0" rIns="0" bIns="0" rtlCol="0" anchor="ctr"/>
          <a:lstStyle/>
          <a:p>
            <a:pPr algn="ctr" indent="0" marL="0">
              <a:buNone/>
            </a:pPr>
            <a:r>
              <a:rPr lang="en-US" sz="1050" b="1" dirty="0">
                <a:solidFill>
                  <a:srgbClr val="788C5D"/>
                </a:solidFill>
                <a:latin typeface="Meiryo" pitchFamily="34" charset="0"/>
                <a:ea typeface="Meiryo" pitchFamily="34" charset="-122"/>
                <a:cs typeface="Meiryo" pitchFamily="34" charset="-120"/>
              </a:rPr>
              <a:t>AI 講座パート</a:t>
            </a:r>
            <a:endParaRPr lang="en-US" sz="1050" dirty="0"/>
          </a:p>
        </p:txBody>
      </p:sp>
      <p:sp>
        <p:nvSpPr>
          <p:cNvPr id="4" name="Shape 2"/>
          <p:cNvSpPr/>
          <p:nvPr/>
        </p:nvSpPr>
        <p:spPr>
          <a:xfrm>
            <a:off x="640080" y="457200"/>
            <a:ext cx="1783080" cy="310896"/>
          </a:xfrm>
          <a:prstGeom prst="roundRect">
            <a:avLst>
              <a:gd name="adj" fmla="val 14706"/>
            </a:avLst>
          </a:prstGeom>
          <a:solidFill>
            <a:srgbClr val="D97757"/>
          </a:solidFill>
          <a:ln/>
        </p:spPr>
      </p:sp>
      <p:sp>
        <p:nvSpPr>
          <p:cNvPr id="5" name="Text 3"/>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APPENDIX A</a:t>
            </a:r>
            <a:endParaRPr lang="en-US" sz="1100" dirty="0"/>
          </a:p>
        </p:txBody>
      </p:sp>
      <p:sp>
        <p:nvSpPr>
          <p:cNvPr id="6" name="Text 4"/>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AI 活用マップ ｜ どこを任せ、どこを人がやるか</a:t>
            </a:r>
            <a:endParaRPr lang="en-US" sz="2700" dirty="0"/>
          </a:p>
        </p:txBody>
      </p:sp>
      <p:sp>
        <p:nvSpPr>
          <p:cNvPr id="7" name="Text 5"/>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AI は作業を速くする道具です。判断と現場の関係づくりは人の仕事のまま（時間は 1 ポジションあたりの目安）</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1828800"/>
                <a:gridCol w="3794760"/>
                <a:gridCol w="3429000"/>
                <a:gridCol w="1828800"/>
              </a:tblGrid>
              <a:tr h="484632">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工程</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AI に任せること</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人がやること</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050" b="1" dirty="0">
                          <a:solidFill>
                            <a:srgbClr val="FFFFFF"/>
                          </a:solidFill>
                          <a:latin typeface="Meiryo" pitchFamily="34" charset="0"/>
                          <a:ea typeface="Meiryo" pitchFamily="34" charset="-122"/>
                          <a:cs typeface="Meiryo" pitchFamily="34" charset="-120"/>
                        </a:rPr>
                        <a:t>時間の目安</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r>
              <a:tr h="484632">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ペルソナ設計</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退職面談メモの分類・要約</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どの層を狙うかの決定</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3 時間 → 1 時間</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84632">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求人票づくり</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キャッチコピー案の量産、表現の統一</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事実確認、現場の言葉への修正</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8 時間 → 3 時間</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84632">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採用ページ</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6 ブロックの下書き、FAQ の生成</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理念パートの執筆、写真の選定</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20 時間 → 8 時間</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84632">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スカウト・案内文</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個別文面の下書き、日程調整文</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送る相手の選定、最終確認</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5 時間 → 1 時間</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84632">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動画</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文字起こし、字幕整形、紹介文案</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撮影、話し手の選定</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6 時間 → 3 時間</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484632">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週次の分析</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数値の集計と要約、変化点の指摘</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打ち手の決定、担当の割り当て</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50" dirty="0">
                          <a:solidFill>
                            <a:srgbClr val="4A4943"/>
                          </a:solidFill>
                          <a:latin typeface="Meiryo" pitchFamily="34" charset="0"/>
                          <a:ea typeface="Meiryo" pitchFamily="34" charset="-122"/>
                          <a:cs typeface="Meiryo" pitchFamily="34" charset="-120"/>
                        </a:rPr>
                        <a:t>2 時間 → 20 分</a:t>
                      </a:r>
                      <a:endParaRPr lang="en-US" sz="105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bl>
          </a:graphicData>
        </a:graphic>
      </p:graphicFrame>
      <p:sp>
        <p:nvSpPr>
          <p:cNvPr id="9" name="Shape 6"/>
          <p:cNvSpPr/>
          <p:nvPr/>
        </p:nvSpPr>
        <p:spPr>
          <a:xfrm>
            <a:off x="640080" y="5440680"/>
            <a:ext cx="10881360" cy="658368"/>
          </a:xfrm>
          <a:prstGeom prst="roundRect">
            <a:avLst>
              <a:gd name="adj" fmla="val 8333"/>
            </a:avLst>
          </a:prstGeom>
          <a:solidFill>
            <a:srgbClr val="E7ECDD"/>
          </a:solidFill>
          <a:ln w="12700">
            <a:solidFill>
              <a:srgbClr val="788C5D"/>
            </a:solidFill>
            <a:prstDash val="solid"/>
          </a:ln>
        </p:spPr>
      </p:sp>
      <p:pic>
        <p:nvPicPr>
          <p:cNvPr id="10" name="Image 0" descr="preencoded.png">    </p:cNvPr>
          <p:cNvPicPr>
            <a:picLocks noChangeAspect="1"/>
          </p:cNvPicPr>
          <p:nvPr/>
        </p:nvPicPr>
        <p:blipFill>
          <a:blip r:embed="rId1"/>
          <a:stretch>
            <a:fillRect/>
          </a:stretch>
        </p:blipFill>
        <p:spPr>
          <a:xfrm>
            <a:off x="896112" y="5614416"/>
            <a:ext cx="310896" cy="310896"/>
          </a:xfrm>
          <a:prstGeom prst="rect">
            <a:avLst/>
          </a:prstGeom>
        </p:spPr>
      </p:pic>
      <p:sp>
        <p:nvSpPr>
          <p:cNvPr id="11" name="Text 7"/>
          <p:cNvSpPr/>
          <p:nvPr/>
        </p:nvSpPr>
        <p:spPr>
          <a:xfrm>
            <a:off x="1325880" y="5440680"/>
            <a:ext cx="9966960" cy="658368"/>
          </a:xfrm>
          <a:prstGeom prst="rect">
            <a:avLst/>
          </a:prstGeom>
          <a:noFill/>
          <a:ln/>
        </p:spPr>
        <p:txBody>
          <a:bodyPr wrap="square" lIns="0" tIns="0" rIns="0" bIns="0" rtlCol="0" anchor="ctr"/>
          <a:lstStyle/>
          <a:p>
            <a:pPr indent="0" marL="0">
              <a:lnSpc>
                <a:spcPts val="1800"/>
              </a:lnSpc>
              <a:buNone/>
            </a:pPr>
            <a:r>
              <a:rPr lang="en-US" sz="1250" b="1" dirty="0">
                <a:solidFill>
                  <a:srgbClr val="788C5D"/>
                </a:solidFill>
                <a:latin typeface="Meiryo" pitchFamily="34" charset="0"/>
                <a:ea typeface="Meiryo" pitchFamily="34" charset="-122"/>
                <a:cs typeface="Meiryo" pitchFamily="34" charset="-120"/>
              </a:rPr>
              <a:t>使うときの原則　</a:t>
            </a:r>
            <a:pPr indent="0" marL="0">
              <a:lnSpc>
                <a:spcPts val="1800"/>
              </a:lnSpc>
              <a:buNone/>
            </a:pPr>
            <a:r>
              <a:rPr lang="en-US" sz="1150" dirty="0">
                <a:solidFill>
                  <a:srgbClr val="4A4943"/>
                </a:solidFill>
                <a:latin typeface="Meiryo" pitchFamily="34" charset="0"/>
                <a:ea typeface="Meiryo" pitchFamily="34" charset="-122"/>
                <a:cs typeface="Meiryo" pitchFamily="34" charset="-120"/>
              </a:rPr>
              <a:t>求職者の個人情報や利用者に関する情報は AI に入力しないでください。渡すのは公開できる自社情報だけにします。</a:t>
            </a:r>
            <a:endParaRPr lang="en-US" sz="1250" dirty="0"/>
          </a:p>
        </p:txBody>
      </p:sp>
      <p:sp>
        <p:nvSpPr>
          <p:cNvPr id="12" name="Text 8"/>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13" name="Text 9"/>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17 / 19</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1413"/>
        </a:solidFill>
      </p:bgPr>
    </p:bg>
    <p:spTree>
      <p:nvGrpSpPr>
        <p:cNvPr id="1" name=""/>
        <p:cNvGrpSpPr/>
        <p:nvPr/>
      </p:nvGrpSpPr>
      <p:grpSpPr>
        <a:xfrm>
          <a:off x="0" y="0"/>
          <a:ext cx="0" cy="0"/>
          <a:chOff x="0" y="0"/>
          <a:chExt cx="0" cy="0"/>
        </a:xfrm>
      </p:grpSpPr>
      <p:sp>
        <p:nvSpPr>
          <p:cNvPr id="2" name="Shape 0"/>
          <p:cNvSpPr/>
          <p:nvPr/>
        </p:nvSpPr>
        <p:spPr>
          <a:xfrm>
            <a:off x="-2103120" y="4297680"/>
            <a:ext cx="4754880" cy="4754880"/>
          </a:xfrm>
          <a:prstGeom prst="ellipse">
            <a:avLst/>
          </a:prstGeom>
          <a:solidFill>
            <a:srgbClr val="26241F"/>
          </a:solidFill>
          <a:ln/>
        </p:spPr>
      </p:sp>
      <p:sp>
        <p:nvSpPr>
          <p:cNvPr id="3" name="Shape 1"/>
          <p:cNvSpPr/>
          <p:nvPr/>
        </p:nvSpPr>
        <p:spPr>
          <a:xfrm>
            <a:off x="640080" y="457200"/>
            <a:ext cx="1783080" cy="310896"/>
          </a:xfrm>
          <a:prstGeom prst="roundRect">
            <a:avLst>
              <a:gd name="adj" fmla="val 14706"/>
            </a:avLst>
          </a:prstGeom>
          <a:solidFill>
            <a:srgbClr val="D97757"/>
          </a:solidFill>
          <a:ln/>
        </p:spPr>
      </p:sp>
      <p:sp>
        <p:nvSpPr>
          <p:cNvPr id="4" name="Text 2"/>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ROADMAP</a:t>
            </a:r>
            <a:endParaRPr lang="en-US" sz="1100" dirty="0"/>
          </a:p>
        </p:txBody>
      </p:sp>
      <p:sp>
        <p:nvSpPr>
          <p:cNvPr id="5" name="Text 3"/>
          <p:cNvSpPr/>
          <p:nvPr/>
        </p:nvSpPr>
        <p:spPr>
          <a:xfrm>
            <a:off x="640080" y="868680"/>
            <a:ext cx="10881360" cy="566928"/>
          </a:xfrm>
          <a:prstGeom prst="rect">
            <a:avLst/>
          </a:prstGeom>
          <a:noFill/>
          <a:ln/>
        </p:spPr>
        <p:txBody>
          <a:bodyPr wrap="square" lIns="0" tIns="0" rIns="0" bIns="0" rtlCol="0" anchor="ctr"/>
          <a:lstStyle/>
          <a:p>
            <a:pPr indent="0" marL="0">
              <a:buNone/>
            </a:pPr>
            <a:r>
              <a:rPr lang="en-US" sz="2700" b="1" dirty="0">
                <a:solidFill>
                  <a:srgbClr val="FFFFFF"/>
                </a:solidFill>
                <a:latin typeface="Meiryo" pitchFamily="34" charset="0"/>
                <a:ea typeface="Meiryo" pitchFamily="34" charset="-122"/>
                <a:cs typeface="Meiryo" pitchFamily="34" charset="-120"/>
              </a:rPr>
              <a:t>90 日ロードマップ</a:t>
            </a:r>
            <a:endParaRPr lang="en-US" sz="2700" dirty="0"/>
          </a:p>
        </p:txBody>
      </p:sp>
      <p:sp>
        <p:nvSpPr>
          <p:cNvPr id="6" name="Text 4"/>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D6D3C8"/>
                </a:solidFill>
                <a:latin typeface="Meiryo" pitchFamily="34" charset="0"/>
                <a:ea typeface="Meiryo" pitchFamily="34" charset="-122"/>
                <a:cs typeface="Meiryo" pitchFamily="34" charset="-120"/>
              </a:rPr>
              <a:t>まずは 1 ポジションだけで型をつくり、うまくいったやり方を他へ広げます。</a:t>
            </a:r>
            <a:endParaRPr lang="en-US" sz="1300" dirty="0"/>
          </a:p>
        </p:txBody>
      </p:sp>
      <p:sp>
        <p:nvSpPr>
          <p:cNvPr id="7" name="Shape 5"/>
          <p:cNvSpPr/>
          <p:nvPr/>
        </p:nvSpPr>
        <p:spPr>
          <a:xfrm>
            <a:off x="640080" y="1874520"/>
            <a:ext cx="3352800" cy="2926080"/>
          </a:xfrm>
          <a:prstGeom prst="roundRect">
            <a:avLst>
              <a:gd name="adj" fmla="val 1875"/>
            </a:avLst>
          </a:prstGeom>
          <a:solidFill>
            <a:srgbClr val="FFFFFF"/>
          </a:solidFill>
          <a:ln/>
        </p:spPr>
      </p:sp>
      <p:sp>
        <p:nvSpPr>
          <p:cNvPr id="8" name="Text 6"/>
          <p:cNvSpPr/>
          <p:nvPr/>
        </p:nvSpPr>
        <p:spPr>
          <a:xfrm>
            <a:off x="932688" y="2039112"/>
            <a:ext cx="2767584" cy="320040"/>
          </a:xfrm>
          <a:prstGeom prst="rect">
            <a:avLst/>
          </a:prstGeom>
          <a:noFill/>
          <a:ln/>
        </p:spPr>
        <p:txBody>
          <a:bodyPr wrap="square" lIns="0" tIns="0" rIns="0" bIns="0" rtlCol="0" anchor="ctr"/>
          <a:lstStyle/>
          <a:p>
            <a:pPr indent="0" marL="0">
              <a:buNone/>
            </a:pPr>
            <a:r>
              <a:rPr lang="en-US" sz="1200" b="1" spc="100" kern="0" dirty="0">
                <a:solidFill>
                  <a:srgbClr val="D97757"/>
                </a:solidFill>
                <a:latin typeface="Meiryo" pitchFamily="34" charset="0"/>
                <a:ea typeface="Meiryo" pitchFamily="34" charset="-122"/>
                <a:cs typeface="Meiryo" pitchFamily="34" charset="-120"/>
              </a:rPr>
              <a:t>PHASE 1</a:t>
            </a:r>
            <a:pPr indent="0" marL="0">
              <a:buNone/>
            </a:pPr>
            <a:r>
              <a:rPr lang="en-US" sz="1100" dirty="0">
                <a:solidFill>
                  <a:srgbClr val="6E6C63"/>
                </a:solidFill>
                <a:latin typeface="Meiryo" pitchFamily="34" charset="0"/>
                <a:ea typeface="Meiryo" pitchFamily="34" charset="-122"/>
                <a:cs typeface="Meiryo" pitchFamily="34" charset="-120"/>
              </a:rPr>
              <a:t>　1〜30 日</a:t>
            </a:r>
            <a:endParaRPr lang="en-US" sz="1200" dirty="0"/>
          </a:p>
        </p:txBody>
      </p:sp>
      <p:sp>
        <p:nvSpPr>
          <p:cNvPr id="9" name="Text 7"/>
          <p:cNvSpPr/>
          <p:nvPr/>
        </p:nvSpPr>
        <p:spPr>
          <a:xfrm>
            <a:off x="932688" y="2386584"/>
            <a:ext cx="2767584" cy="457200"/>
          </a:xfrm>
          <a:prstGeom prst="rect">
            <a:avLst/>
          </a:prstGeom>
          <a:noFill/>
          <a:ln/>
        </p:spPr>
        <p:txBody>
          <a:bodyPr wrap="square" lIns="0" tIns="0" rIns="0" bIns="0" rtlCol="0" anchor="ctr"/>
          <a:lstStyle/>
          <a:p>
            <a:pPr indent="0" marL="0">
              <a:buNone/>
            </a:pPr>
            <a:r>
              <a:rPr lang="en-US" sz="2100" b="1" dirty="0">
                <a:solidFill>
                  <a:srgbClr val="141413"/>
                </a:solidFill>
                <a:latin typeface="Meiryo" pitchFamily="34" charset="0"/>
                <a:ea typeface="Meiryo" pitchFamily="34" charset="-122"/>
                <a:cs typeface="Meiryo" pitchFamily="34" charset="-120"/>
              </a:rPr>
              <a:t>測る・決める</a:t>
            </a:r>
            <a:endParaRPr lang="en-US" sz="2100" dirty="0"/>
          </a:p>
        </p:txBody>
      </p:sp>
      <p:sp>
        <p:nvSpPr>
          <p:cNvPr id="10" name="Text 8"/>
          <p:cNvSpPr/>
          <p:nvPr/>
        </p:nvSpPr>
        <p:spPr>
          <a:xfrm>
            <a:off x="932688" y="2916936"/>
            <a:ext cx="2767584" cy="1737360"/>
          </a:xfrm>
          <a:prstGeom prst="rect">
            <a:avLst/>
          </a:prstGeom>
          <a:noFill/>
          <a:ln/>
        </p:spPr>
        <p:txBody>
          <a:bodyPr wrap="square" lIns="0" tIns="0" rIns="0" bIns="0" rtlCol="0" anchor="t"/>
          <a:lstStyle/>
          <a:p>
            <a:pPr indent="0" marL="0">
              <a:lnSpc>
                <a:spcPts val="2300"/>
              </a:lnSpc>
              <a:buNone/>
            </a:pPr>
            <a:r>
              <a:rPr lang="en-US" sz="1200" dirty="0">
                <a:solidFill>
                  <a:srgbClr val="6E6C63"/>
                </a:solidFill>
                <a:latin typeface="Meiryo" pitchFamily="34" charset="0"/>
                <a:ea typeface="Meiryo" pitchFamily="34" charset="-122"/>
                <a:cs typeface="Meiryo" pitchFamily="34" charset="-120"/>
              </a:rPr>
              <a:t>・採用単価と定着率を出す</a:t>
            </a:r>
            <a:endParaRPr lang="en-US" sz="1200" dirty="0"/>
          </a:p>
          <a:p>
            <a:pPr indent="0" marL="0">
              <a:lnSpc>
                <a:spcPts val="2300"/>
              </a:lnSpc>
              <a:buNone/>
            </a:pPr>
            <a:r>
              <a:rPr lang="en-US" sz="1200" dirty="0">
                <a:solidFill>
                  <a:srgbClr val="6E6C63"/>
                </a:solidFill>
                <a:latin typeface="Meiryo" pitchFamily="34" charset="0"/>
                <a:ea typeface="Meiryo" pitchFamily="34" charset="-122"/>
                <a:cs typeface="Meiryo" pitchFamily="34" charset="-120"/>
              </a:rPr>
              <a:t>・ファネルのボトルネックを特定</a:t>
            </a:r>
            <a:endParaRPr lang="en-US" sz="1200" dirty="0"/>
          </a:p>
          <a:p>
            <a:pPr indent="0" marL="0">
              <a:lnSpc>
                <a:spcPts val="2300"/>
              </a:lnSpc>
              <a:buNone/>
            </a:pPr>
            <a:r>
              <a:rPr lang="en-US" sz="1200" dirty="0">
                <a:solidFill>
                  <a:srgbClr val="6E6C63"/>
                </a:solidFill>
                <a:latin typeface="Meiryo" pitchFamily="34" charset="0"/>
                <a:ea typeface="Meiryo" pitchFamily="34" charset="-122"/>
                <a:cs typeface="Meiryo" pitchFamily="34" charset="-120"/>
              </a:rPr>
              <a:t>・ペルソナと MUST / NG を確定</a:t>
            </a:r>
            <a:endParaRPr lang="en-US" sz="1200" dirty="0"/>
          </a:p>
          <a:p>
            <a:pPr indent="0" marL="0">
              <a:lnSpc>
                <a:spcPts val="2300"/>
              </a:lnSpc>
              <a:buNone/>
            </a:pPr>
            <a:r>
              <a:rPr lang="en-US" sz="1200" dirty="0">
                <a:solidFill>
                  <a:srgbClr val="6E6C63"/>
                </a:solidFill>
                <a:latin typeface="Meiryo" pitchFamily="34" charset="0"/>
                <a:ea typeface="Meiryo" pitchFamily="34" charset="-122"/>
                <a:cs typeface="Meiryo" pitchFamily="34" charset="-120"/>
              </a:rPr>
              <a:t>・Engage のアカウントを開設</a:t>
            </a:r>
            <a:endParaRPr lang="en-US" sz="1200" dirty="0"/>
          </a:p>
        </p:txBody>
      </p:sp>
      <p:sp>
        <p:nvSpPr>
          <p:cNvPr id="11" name="Shape 9"/>
          <p:cNvSpPr/>
          <p:nvPr/>
        </p:nvSpPr>
        <p:spPr>
          <a:xfrm>
            <a:off x="4404360" y="1874520"/>
            <a:ext cx="3352800" cy="2926080"/>
          </a:xfrm>
          <a:prstGeom prst="roundRect">
            <a:avLst>
              <a:gd name="adj" fmla="val 1875"/>
            </a:avLst>
          </a:prstGeom>
          <a:solidFill>
            <a:srgbClr val="FFFFFF"/>
          </a:solidFill>
          <a:ln/>
        </p:spPr>
      </p:sp>
      <p:sp>
        <p:nvSpPr>
          <p:cNvPr id="12" name="Text 10"/>
          <p:cNvSpPr/>
          <p:nvPr/>
        </p:nvSpPr>
        <p:spPr>
          <a:xfrm>
            <a:off x="4696968" y="2039112"/>
            <a:ext cx="2767584" cy="320040"/>
          </a:xfrm>
          <a:prstGeom prst="rect">
            <a:avLst/>
          </a:prstGeom>
          <a:noFill/>
          <a:ln/>
        </p:spPr>
        <p:txBody>
          <a:bodyPr wrap="square" lIns="0" tIns="0" rIns="0" bIns="0" rtlCol="0" anchor="ctr"/>
          <a:lstStyle/>
          <a:p>
            <a:pPr indent="0" marL="0">
              <a:buNone/>
            </a:pPr>
            <a:r>
              <a:rPr lang="en-US" sz="1200" b="1" spc="100" kern="0" dirty="0">
                <a:solidFill>
                  <a:srgbClr val="D97757"/>
                </a:solidFill>
                <a:latin typeface="Meiryo" pitchFamily="34" charset="0"/>
                <a:ea typeface="Meiryo" pitchFamily="34" charset="-122"/>
                <a:cs typeface="Meiryo" pitchFamily="34" charset="-120"/>
              </a:rPr>
              <a:t>PHASE 2</a:t>
            </a:r>
            <a:pPr indent="0" marL="0">
              <a:buNone/>
            </a:pPr>
            <a:r>
              <a:rPr lang="en-US" sz="1100" dirty="0">
                <a:solidFill>
                  <a:srgbClr val="6E6C63"/>
                </a:solidFill>
                <a:latin typeface="Meiryo" pitchFamily="34" charset="0"/>
                <a:ea typeface="Meiryo" pitchFamily="34" charset="-122"/>
                <a:cs typeface="Meiryo" pitchFamily="34" charset="-120"/>
              </a:rPr>
              <a:t>　31〜60 日</a:t>
            </a:r>
            <a:endParaRPr lang="en-US" sz="1200" dirty="0"/>
          </a:p>
        </p:txBody>
      </p:sp>
      <p:sp>
        <p:nvSpPr>
          <p:cNvPr id="13" name="Text 11"/>
          <p:cNvSpPr/>
          <p:nvPr/>
        </p:nvSpPr>
        <p:spPr>
          <a:xfrm>
            <a:off x="4696968" y="2386584"/>
            <a:ext cx="2767584" cy="457200"/>
          </a:xfrm>
          <a:prstGeom prst="rect">
            <a:avLst/>
          </a:prstGeom>
          <a:noFill/>
          <a:ln/>
        </p:spPr>
        <p:txBody>
          <a:bodyPr wrap="square" lIns="0" tIns="0" rIns="0" bIns="0" rtlCol="0" anchor="ctr"/>
          <a:lstStyle/>
          <a:p>
            <a:pPr indent="0" marL="0">
              <a:buNone/>
            </a:pPr>
            <a:r>
              <a:rPr lang="en-US" sz="2100" b="1" dirty="0">
                <a:solidFill>
                  <a:srgbClr val="141413"/>
                </a:solidFill>
                <a:latin typeface="Meiryo" pitchFamily="34" charset="0"/>
                <a:ea typeface="Meiryo" pitchFamily="34" charset="-122"/>
                <a:cs typeface="Meiryo" pitchFamily="34" charset="-120"/>
              </a:rPr>
              <a:t>つくる</a:t>
            </a:r>
            <a:endParaRPr lang="en-US" sz="2100" dirty="0"/>
          </a:p>
        </p:txBody>
      </p:sp>
      <p:sp>
        <p:nvSpPr>
          <p:cNvPr id="14" name="Text 12"/>
          <p:cNvSpPr/>
          <p:nvPr/>
        </p:nvSpPr>
        <p:spPr>
          <a:xfrm>
            <a:off x="4696968" y="2916936"/>
            <a:ext cx="2767584" cy="1737360"/>
          </a:xfrm>
          <a:prstGeom prst="rect">
            <a:avLst/>
          </a:prstGeom>
          <a:noFill/>
          <a:ln/>
        </p:spPr>
        <p:txBody>
          <a:bodyPr wrap="square" lIns="0" tIns="0" rIns="0" bIns="0" rtlCol="0" anchor="t"/>
          <a:lstStyle/>
          <a:p>
            <a:pPr indent="0" marL="0">
              <a:lnSpc>
                <a:spcPts val="2300"/>
              </a:lnSpc>
              <a:buNone/>
            </a:pPr>
            <a:r>
              <a:rPr lang="en-US" sz="1200" dirty="0">
                <a:solidFill>
                  <a:srgbClr val="6E6C63"/>
                </a:solidFill>
                <a:latin typeface="Meiryo" pitchFamily="34" charset="0"/>
                <a:ea typeface="Meiryo" pitchFamily="34" charset="-122"/>
                <a:cs typeface="Meiryo" pitchFamily="34" charset="-120"/>
              </a:rPr>
              <a:t>・採用ページを 6 ブロックで作成</a:t>
            </a:r>
            <a:endParaRPr lang="en-US" sz="1200" dirty="0"/>
          </a:p>
          <a:p>
            <a:pPr indent="0" marL="0">
              <a:lnSpc>
                <a:spcPts val="2300"/>
              </a:lnSpc>
              <a:buNone/>
            </a:pPr>
            <a:r>
              <a:rPr lang="en-US" sz="1200" dirty="0">
                <a:solidFill>
                  <a:srgbClr val="6E6C63"/>
                </a:solidFill>
                <a:latin typeface="Meiryo" pitchFamily="34" charset="0"/>
                <a:ea typeface="Meiryo" pitchFamily="34" charset="-122"/>
                <a:cs typeface="Meiryo" pitchFamily="34" charset="-120"/>
              </a:rPr>
              <a:t>・スタッフ動画を 2 本撮影</a:t>
            </a:r>
            <a:endParaRPr lang="en-US" sz="1200" dirty="0"/>
          </a:p>
          <a:p>
            <a:pPr indent="0" marL="0">
              <a:lnSpc>
                <a:spcPts val="2300"/>
              </a:lnSpc>
              <a:buNone/>
            </a:pPr>
            <a:r>
              <a:rPr lang="en-US" sz="1200" dirty="0">
                <a:solidFill>
                  <a:srgbClr val="6E6C63"/>
                </a:solidFill>
                <a:latin typeface="Meiryo" pitchFamily="34" charset="0"/>
                <a:ea typeface="Meiryo" pitchFamily="34" charset="-122"/>
                <a:cs typeface="Meiryo" pitchFamily="34" charset="-120"/>
              </a:rPr>
              <a:t>・求人票を公開し、露出を開始</a:t>
            </a:r>
            <a:endParaRPr lang="en-US" sz="1200" dirty="0"/>
          </a:p>
          <a:p>
            <a:pPr indent="0" marL="0">
              <a:lnSpc>
                <a:spcPts val="2300"/>
              </a:lnSpc>
              <a:buNone/>
            </a:pPr>
            <a:r>
              <a:rPr lang="en-US" sz="1200" dirty="0">
                <a:solidFill>
                  <a:srgbClr val="6E6C63"/>
                </a:solidFill>
                <a:latin typeface="Meiryo" pitchFamily="34" charset="0"/>
                <a:ea typeface="Meiryo" pitchFamily="34" charset="-122"/>
                <a:cs typeface="Meiryo" pitchFamily="34" charset="-120"/>
              </a:rPr>
              <a:t>・職場体験会の当日台本を用意</a:t>
            </a:r>
            <a:endParaRPr lang="en-US" sz="1200" dirty="0"/>
          </a:p>
        </p:txBody>
      </p:sp>
      <p:sp>
        <p:nvSpPr>
          <p:cNvPr id="15" name="Shape 13"/>
          <p:cNvSpPr/>
          <p:nvPr/>
        </p:nvSpPr>
        <p:spPr>
          <a:xfrm>
            <a:off x="8168640" y="1874520"/>
            <a:ext cx="3352800" cy="2926080"/>
          </a:xfrm>
          <a:prstGeom prst="roundRect">
            <a:avLst>
              <a:gd name="adj" fmla="val 1875"/>
            </a:avLst>
          </a:prstGeom>
          <a:solidFill>
            <a:srgbClr val="FFFFFF"/>
          </a:solidFill>
          <a:ln/>
        </p:spPr>
      </p:sp>
      <p:sp>
        <p:nvSpPr>
          <p:cNvPr id="16" name="Text 14"/>
          <p:cNvSpPr/>
          <p:nvPr/>
        </p:nvSpPr>
        <p:spPr>
          <a:xfrm>
            <a:off x="8461248" y="2039112"/>
            <a:ext cx="2767584" cy="320040"/>
          </a:xfrm>
          <a:prstGeom prst="rect">
            <a:avLst/>
          </a:prstGeom>
          <a:noFill/>
          <a:ln/>
        </p:spPr>
        <p:txBody>
          <a:bodyPr wrap="square" lIns="0" tIns="0" rIns="0" bIns="0" rtlCol="0" anchor="ctr"/>
          <a:lstStyle/>
          <a:p>
            <a:pPr indent="0" marL="0">
              <a:buNone/>
            </a:pPr>
            <a:r>
              <a:rPr lang="en-US" sz="1200" b="1" spc="100" kern="0" dirty="0">
                <a:solidFill>
                  <a:srgbClr val="D97757"/>
                </a:solidFill>
                <a:latin typeface="Meiryo" pitchFamily="34" charset="0"/>
                <a:ea typeface="Meiryo" pitchFamily="34" charset="-122"/>
                <a:cs typeface="Meiryo" pitchFamily="34" charset="-120"/>
              </a:rPr>
              <a:t>PHASE 3</a:t>
            </a:r>
            <a:pPr indent="0" marL="0">
              <a:buNone/>
            </a:pPr>
            <a:r>
              <a:rPr lang="en-US" sz="1100" dirty="0">
                <a:solidFill>
                  <a:srgbClr val="6E6C63"/>
                </a:solidFill>
                <a:latin typeface="Meiryo" pitchFamily="34" charset="0"/>
                <a:ea typeface="Meiryo" pitchFamily="34" charset="-122"/>
                <a:cs typeface="Meiryo" pitchFamily="34" charset="-120"/>
              </a:rPr>
              <a:t>　61〜90 日</a:t>
            </a:r>
            <a:endParaRPr lang="en-US" sz="1200" dirty="0"/>
          </a:p>
        </p:txBody>
      </p:sp>
      <p:sp>
        <p:nvSpPr>
          <p:cNvPr id="17" name="Text 15"/>
          <p:cNvSpPr/>
          <p:nvPr/>
        </p:nvSpPr>
        <p:spPr>
          <a:xfrm>
            <a:off x="8461248" y="2386584"/>
            <a:ext cx="2767584" cy="457200"/>
          </a:xfrm>
          <a:prstGeom prst="rect">
            <a:avLst/>
          </a:prstGeom>
          <a:noFill/>
          <a:ln/>
        </p:spPr>
        <p:txBody>
          <a:bodyPr wrap="square" lIns="0" tIns="0" rIns="0" bIns="0" rtlCol="0" anchor="ctr"/>
          <a:lstStyle/>
          <a:p>
            <a:pPr indent="0" marL="0">
              <a:buNone/>
            </a:pPr>
            <a:r>
              <a:rPr lang="en-US" sz="2100" b="1" dirty="0">
                <a:solidFill>
                  <a:srgbClr val="141413"/>
                </a:solidFill>
                <a:latin typeface="Meiryo" pitchFamily="34" charset="0"/>
                <a:ea typeface="Meiryo" pitchFamily="34" charset="-122"/>
                <a:cs typeface="Meiryo" pitchFamily="34" charset="-120"/>
              </a:rPr>
              <a:t>回す・直す</a:t>
            </a:r>
            <a:endParaRPr lang="en-US" sz="2100" dirty="0"/>
          </a:p>
        </p:txBody>
      </p:sp>
      <p:sp>
        <p:nvSpPr>
          <p:cNvPr id="18" name="Text 16"/>
          <p:cNvSpPr/>
          <p:nvPr/>
        </p:nvSpPr>
        <p:spPr>
          <a:xfrm>
            <a:off x="8461248" y="2916936"/>
            <a:ext cx="2767584" cy="1737360"/>
          </a:xfrm>
          <a:prstGeom prst="rect">
            <a:avLst/>
          </a:prstGeom>
          <a:noFill/>
          <a:ln/>
        </p:spPr>
        <p:txBody>
          <a:bodyPr wrap="square" lIns="0" tIns="0" rIns="0" bIns="0" rtlCol="0" anchor="t"/>
          <a:lstStyle/>
          <a:p>
            <a:pPr indent="0" marL="0">
              <a:lnSpc>
                <a:spcPts val="2300"/>
              </a:lnSpc>
              <a:buNone/>
            </a:pPr>
            <a:r>
              <a:rPr lang="en-US" sz="1200" dirty="0">
                <a:solidFill>
                  <a:srgbClr val="6E6C63"/>
                </a:solidFill>
                <a:latin typeface="Meiryo" pitchFamily="34" charset="0"/>
                <a:ea typeface="Meiryo" pitchFamily="34" charset="-122"/>
                <a:cs typeface="Meiryo" pitchFamily="34" charset="-120"/>
              </a:rPr>
              <a:t>・週次 15 分の会議を開始</a:t>
            </a:r>
            <a:endParaRPr lang="en-US" sz="1200" dirty="0"/>
          </a:p>
          <a:p>
            <a:pPr indent="0" marL="0">
              <a:lnSpc>
                <a:spcPts val="2300"/>
              </a:lnSpc>
              <a:buNone/>
            </a:pPr>
            <a:r>
              <a:rPr lang="en-US" sz="1200" dirty="0">
                <a:solidFill>
                  <a:srgbClr val="6E6C63"/>
                </a:solidFill>
                <a:latin typeface="Meiryo" pitchFamily="34" charset="0"/>
                <a:ea typeface="Meiryo" pitchFamily="34" charset="-122"/>
                <a:cs typeface="Meiryo" pitchFamily="34" charset="-120"/>
              </a:rPr>
              <a:t>・体験会を月 2 回のペースで実施</a:t>
            </a:r>
            <a:endParaRPr lang="en-US" sz="1200" dirty="0"/>
          </a:p>
          <a:p>
            <a:pPr indent="0" marL="0">
              <a:lnSpc>
                <a:spcPts val="2300"/>
              </a:lnSpc>
              <a:buNone/>
            </a:pPr>
            <a:r>
              <a:rPr lang="en-US" sz="1200" dirty="0">
                <a:solidFill>
                  <a:srgbClr val="6E6C63"/>
                </a:solidFill>
                <a:latin typeface="Meiryo" pitchFamily="34" charset="0"/>
                <a:ea typeface="Meiryo" pitchFamily="34" charset="-122"/>
                <a:cs typeface="Meiryo" pitchFamily="34" charset="-120"/>
              </a:rPr>
              <a:t>・落ちている 1 か所を毎週改善</a:t>
            </a:r>
            <a:endParaRPr lang="en-US" sz="1200" dirty="0"/>
          </a:p>
          <a:p>
            <a:pPr indent="0" marL="0">
              <a:lnSpc>
                <a:spcPts val="2300"/>
              </a:lnSpc>
              <a:buNone/>
            </a:pPr>
            <a:r>
              <a:rPr lang="en-US" sz="1200" dirty="0">
                <a:solidFill>
                  <a:srgbClr val="6E6C63"/>
                </a:solidFill>
                <a:latin typeface="Meiryo" pitchFamily="34" charset="0"/>
                <a:ea typeface="Meiryo" pitchFamily="34" charset="-122"/>
                <a:cs typeface="Meiryo" pitchFamily="34" charset="-120"/>
              </a:rPr>
              <a:t>・単価を初月の数字と比較する</a:t>
            </a:r>
            <a:endParaRPr lang="en-US" sz="1200" dirty="0"/>
          </a:p>
        </p:txBody>
      </p:sp>
      <p:sp>
        <p:nvSpPr>
          <p:cNvPr id="19" name="Shape 17"/>
          <p:cNvSpPr/>
          <p:nvPr/>
        </p:nvSpPr>
        <p:spPr>
          <a:xfrm>
            <a:off x="640080" y="4956048"/>
            <a:ext cx="10881360" cy="804672"/>
          </a:xfrm>
          <a:prstGeom prst="roundRect">
            <a:avLst>
              <a:gd name="adj" fmla="val 6818"/>
            </a:avLst>
          </a:prstGeom>
          <a:solidFill>
            <a:srgbClr val="26241F"/>
          </a:solidFill>
          <a:ln w="15875">
            <a:solidFill>
              <a:srgbClr val="D97757"/>
            </a:solidFill>
            <a:prstDash val="solid"/>
          </a:ln>
        </p:spPr>
      </p:sp>
      <p:sp>
        <p:nvSpPr>
          <p:cNvPr id="20" name="Text 18"/>
          <p:cNvSpPr/>
          <p:nvPr/>
        </p:nvSpPr>
        <p:spPr>
          <a:xfrm>
            <a:off x="960120" y="4956048"/>
            <a:ext cx="10241280" cy="804672"/>
          </a:xfrm>
          <a:prstGeom prst="rect">
            <a:avLst/>
          </a:prstGeom>
          <a:noFill/>
          <a:ln/>
        </p:spPr>
        <p:txBody>
          <a:bodyPr wrap="square" lIns="0" tIns="0" rIns="0" bIns="0" rtlCol="0" anchor="ctr"/>
          <a:lstStyle/>
          <a:p>
            <a:pPr indent="0" marL="0">
              <a:lnSpc>
                <a:spcPts val="1900"/>
              </a:lnSpc>
              <a:buNone/>
            </a:pPr>
            <a:r>
              <a:rPr lang="en-US" sz="1300" b="1" dirty="0">
                <a:solidFill>
                  <a:srgbClr val="D97757"/>
                </a:solidFill>
                <a:latin typeface="Meiryo" pitchFamily="34" charset="0"/>
                <a:ea typeface="Meiryo" pitchFamily="34" charset="-122"/>
                <a:cs typeface="Meiryo" pitchFamily="34" charset="-120"/>
              </a:rPr>
              <a:t>明日やる 3 つ　</a:t>
            </a:r>
            <a:pPr indent="0" marL="0">
              <a:lnSpc>
                <a:spcPts val="1900"/>
              </a:lnSpc>
              <a:buNone/>
            </a:pPr>
            <a:r>
              <a:rPr lang="en-US" sz="1150" dirty="0">
                <a:solidFill>
                  <a:srgbClr val="FFFFFF"/>
                </a:solidFill>
                <a:latin typeface="Meiryo" pitchFamily="34" charset="0"/>
                <a:ea typeface="Meiryo" pitchFamily="34" charset="-122"/>
                <a:cs typeface="Meiryo" pitchFamily="34" charset="-120"/>
              </a:rPr>
              <a:t>① 昨年の採用人数と費用を経理から取り寄せる　② 「入る前に不安だったこと」を現場スタッフ 3 人に聞く　③ Engage のアカウントを開設する</a:t>
            </a:r>
            <a:endParaRPr lang="en-US" sz="1300" dirty="0"/>
          </a:p>
        </p:txBody>
      </p:sp>
      <p:sp>
        <p:nvSpPr>
          <p:cNvPr id="21" name="Text 19"/>
          <p:cNvSpPr/>
          <p:nvPr/>
        </p:nvSpPr>
        <p:spPr>
          <a:xfrm>
            <a:off x="640080" y="5870448"/>
            <a:ext cx="1088136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Meiryo" pitchFamily="34" charset="0"/>
                <a:ea typeface="Meiryo" pitchFamily="34" charset="-122"/>
                <a:cs typeface="Meiryo" pitchFamily="34" charset="-120"/>
              </a:rPr>
              <a:t>採用は「才能」ではなく「手順」です。90 日で、自社の型がひとつ完成します。</a:t>
            </a:r>
            <a:endParaRPr lang="en-US" sz="1400" dirty="0"/>
          </a:p>
        </p:txBody>
      </p:sp>
      <p:sp>
        <p:nvSpPr>
          <p:cNvPr id="22" name="Text 20"/>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6E6C63"/>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23" name="Text 21"/>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6E6C63"/>
                </a:solidFill>
                <a:latin typeface="Meiryo" pitchFamily="34" charset="0"/>
                <a:ea typeface="Meiryo" pitchFamily="34" charset="-122"/>
                <a:cs typeface="Meiryo" pitchFamily="34" charset="-120"/>
              </a:rPr>
              <a:t>18 / 19</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9F5"/>
        </a:solidFill>
      </p:bgPr>
    </p:bg>
    <p:spTree>
      <p:nvGrpSpPr>
        <p:cNvPr id="1" name=""/>
        <p:cNvGrpSpPr/>
        <p:nvPr/>
      </p:nvGrpSpPr>
      <p:grpSpPr>
        <a:xfrm>
          <a:off x="0" y="0"/>
          <a:ext cx="0" cy="0"/>
          <a:chOff x="0" y="0"/>
          <a:chExt cx="0" cy="0"/>
        </a:xfrm>
      </p:grpSpPr>
      <p:sp>
        <p:nvSpPr>
          <p:cNvPr id="2" name="Shape 0"/>
          <p:cNvSpPr/>
          <p:nvPr/>
        </p:nvSpPr>
        <p:spPr>
          <a:xfrm>
            <a:off x="640080" y="457200"/>
            <a:ext cx="1783080" cy="310896"/>
          </a:xfrm>
          <a:prstGeom prst="roundRect">
            <a:avLst>
              <a:gd name="adj" fmla="val 14706"/>
            </a:avLst>
          </a:prstGeom>
          <a:solidFill>
            <a:srgbClr val="D97757"/>
          </a:solidFill>
          <a:ln/>
        </p:spPr>
      </p:sp>
      <p:sp>
        <p:nvSpPr>
          <p:cNvPr id="3" name="Text 1"/>
          <p:cNvSpPr/>
          <p:nvPr/>
        </p:nvSpPr>
        <p:spPr>
          <a:xfrm>
            <a:off x="640080" y="457200"/>
            <a:ext cx="1783080" cy="310896"/>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eiryo" pitchFamily="34" charset="0"/>
                <a:ea typeface="Meiryo" pitchFamily="34" charset="-122"/>
                <a:cs typeface="Meiryo" pitchFamily="34" charset="-120"/>
              </a:rPr>
              <a:t>APPENDIX B</a:t>
            </a:r>
            <a:endParaRPr lang="en-US" sz="1100" dirty="0"/>
          </a:p>
        </p:txBody>
      </p:sp>
      <p:sp>
        <p:nvSpPr>
          <p:cNvPr id="4" name="Text 2"/>
          <p:cNvSpPr/>
          <p:nvPr/>
        </p:nvSpPr>
        <p:spPr>
          <a:xfrm>
            <a:off x="640080" y="868680"/>
            <a:ext cx="8686800" cy="566928"/>
          </a:xfrm>
          <a:prstGeom prst="rect">
            <a:avLst/>
          </a:prstGeom>
          <a:noFill/>
          <a:ln/>
        </p:spPr>
        <p:txBody>
          <a:bodyPr wrap="square" lIns="0" tIns="0" rIns="0" bIns="0" rtlCol="0" anchor="ctr"/>
          <a:lstStyle/>
          <a:p>
            <a:pPr indent="0" marL="0">
              <a:buNone/>
            </a:pPr>
            <a:r>
              <a:rPr lang="en-US" sz="2700" b="1" dirty="0">
                <a:solidFill>
                  <a:srgbClr val="141413"/>
                </a:solidFill>
                <a:latin typeface="Meiryo" pitchFamily="34" charset="0"/>
                <a:ea typeface="Meiryo" pitchFamily="34" charset="-122"/>
                <a:cs typeface="Meiryo" pitchFamily="34" charset="-120"/>
              </a:rPr>
              <a:t>出典と作成方針</a:t>
            </a:r>
            <a:endParaRPr lang="en-US" sz="2700" dirty="0"/>
          </a:p>
        </p:txBody>
      </p:sp>
      <p:sp>
        <p:nvSpPr>
          <p:cNvPr id="5" name="Text 3"/>
          <p:cNvSpPr/>
          <p:nvPr/>
        </p:nvSpPr>
        <p:spPr>
          <a:xfrm>
            <a:off x="640080" y="1463040"/>
            <a:ext cx="10881360" cy="310896"/>
          </a:xfrm>
          <a:prstGeom prst="rect">
            <a:avLst/>
          </a:prstGeom>
          <a:noFill/>
          <a:ln/>
        </p:spPr>
        <p:txBody>
          <a:bodyPr wrap="square" lIns="0" tIns="0" rIns="0" bIns="0" rtlCol="0" anchor="ctr"/>
          <a:lstStyle/>
          <a:p>
            <a:pPr indent="0" marL="0">
              <a:buNone/>
            </a:pPr>
            <a:r>
              <a:rPr lang="en-US" sz="1300" dirty="0">
                <a:solidFill>
                  <a:srgbClr val="6E6C63"/>
                </a:solidFill>
                <a:latin typeface="Meiryo" pitchFamily="34" charset="0"/>
                <a:ea typeface="Meiryo" pitchFamily="34" charset="-122"/>
                <a:cs typeface="Meiryo" pitchFamily="34" charset="-120"/>
              </a:rPr>
              <a:t>各ページが、どの情報にもとづいて書かれているかの内訳です</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40080" y="1874520"/>
          <a:ext cx="10881360" cy="914400"/>
        </p:xfrm>
        <a:graphic>
          <a:graphicData uri="http://schemas.openxmlformats.org/drawingml/2006/table">
            <a:tbl>
              <a:tblPr/>
              <a:tblGrid>
                <a:gridCol w="1920240"/>
                <a:gridCol w="2377440"/>
                <a:gridCol w="4389120"/>
                <a:gridCol w="2194560"/>
              </a:tblGrid>
              <a:tr h="521208">
                <a:tc>
                  <a:txBody>
                    <a:bodyPr/>
                    <a:lstStyle/>
                    <a:p>
                      <a:pPr algn="l" indent="0" marL="0">
                        <a:buNone/>
                      </a:pPr>
                      <a:r>
                        <a:rPr lang="en-US" sz="1000" b="1" dirty="0">
                          <a:solidFill>
                            <a:srgbClr val="FFFFFF"/>
                          </a:solidFill>
                          <a:latin typeface="Meiryo" pitchFamily="34" charset="0"/>
                          <a:ea typeface="Meiryo" pitchFamily="34" charset="-122"/>
                          <a:cs typeface="Meiryo" pitchFamily="34" charset="-120"/>
                        </a:rPr>
                        <a:t>区分</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000" b="1" dirty="0">
                          <a:solidFill>
                            <a:srgbClr val="FFFFFF"/>
                          </a:solidFill>
                          <a:latin typeface="Meiryo" pitchFamily="34" charset="0"/>
                          <a:ea typeface="Meiryo" pitchFamily="34" charset="-122"/>
                          <a:cs typeface="Meiryo" pitchFamily="34" charset="-120"/>
                        </a:rPr>
                        <a:t>該当ページ</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000" b="1" dirty="0">
                          <a:solidFill>
                            <a:srgbClr val="FFFFFF"/>
                          </a:solidFill>
                          <a:latin typeface="Meiryo" pitchFamily="34" charset="0"/>
                          <a:ea typeface="Meiryo" pitchFamily="34" charset="-122"/>
                          <a:cs typeface="Meiryo" pitchFamily="34" charset="-120"/>
                        </a:rPr>
                        <a:t>主な内容</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000" b="1" dirty="0">
                          <a:solidFill>
                            <a:srgbClr val="FFFFFF"/>
                          </a:solidFill>
                          <a:latin typeface="Meiryo" pitchFamily="34" charset="0"/>
                          <a:ea typeface="Meiryo" pitchFamily="34" charset="-122"/>
                          <a:cs typeface="Meiryo" pitchFamily="34" charset="-120"/>
                        </a:rPr>
                        <a:t>出どころ</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solidFill>
                      <a:srgbClr val="141413"/>
                    </a:solidFill>
                  </a:tcPr>
                </a:tc>
              </a:tr>
              <a:tr h="521208">
                <a:tc>
                  <a:txBody>
                    <a:bodyPr/>
                    <a:lstStyle/>
                    <a:p>
                      <a:pPr algn="l" indent="0" marL="0">
                        <a:buNone/>
                      </a:pPr>
                      <a:r>
                        <a:rPr lang="en-US" sz="1000" b="1" dirty="0">
                          <a:solidFill>
                            <a:srgbClr val="141413"/>
                          </a:solidFill>
                          <a:latin typeface="Meiryo" pitchFamily="34" charset="0"/>
                          <a:ea typeface="Meiryo" pitchFamily="34" charset="-122"/>
                          <a:cs typeface="Meiryo" pitchFamily="34" charset="-120"/>
                        </a:rPr>
                        <a:t>提案書の内容を反映</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dirty="0">
                          <a:solidFill>
                            <a:srgbClr val="4A4943"/>
                          </a:solidFill>
                          <a:latin typeface="Meiryo" pitchFamily="34" charset="0"/>
                          <a:ea typeface="Meiryo" pitchFamily="34" charset="-122"/>
                          <a:cs typeface="Meiryo" pitchFamily="34" charset="-120"/>
                        </a:rPr>
                        <a:t>P4・6・9・11・14</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dirty="0">
                          <a:solidFill>
                            <a:srgbClr val="4A4943"/>
                          </a:solidFill>
                          <a:latin typeface="Meiryo" pitchFamily="34" charset="0"/>
                          <a:ea typeface="Meiryo" pitchFamily="34" charset="-122"/>
                          <a:cs typeface="Meiryo" pitchFamily="34" charset="-120"/>
                        </a:rPr>
                        <a:t>構造的課題／採用ファネル 4 段階／Engage の 0 円掲載／採用ページ 6 ブロック／職場体験会</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b="1" dirty="0">
                          <a:solidFill>
                            <a:srgbClr val="141413"/>
                          </a:solidFill>
                          <a:latin typeface="Meiryo" pitchFamily="34" charset="0"/>
                          <a:ea typeface="Meiryo" pitchFamily="34" charset="-122"/>
                          <a:cs typeface="Meiryo" pitchFamily="34" charset="-120"/>
                        </a:rPr>
                        <a:t>出典 ①</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521208">
                <a:tc>
                  <a:txBody>
                    <a:bodyPr/>
                    <a:lstStyle/>
                    <a:p>
                      <a:pPr algn="l" indent="0" marL="0">
                        <a:buNone/>
                      </a:pPr>
                      <a:r>
                        <a:rPr lang="en-US" sz="1000" b="1" dirty="0">
                          <a:solidFill>
                            <a:srgbClr val="141413"/>
                          </a:solidFill>
                          <a:latin typeface="Meiryo" pitchFamily="34" charset="0"/>
                          <a:ea typeface="Meiryo" pitchFamily="34" charset="-122"/>
                          <a:cs typeface="Meiryo" pitchFamily="34" charset="-120"/>
                        </a:rPr>
                        <a:t>提案書の方針を実務手順に展開</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dirty="0">
                          <a:solidFill>
                            <a:srgbClr val="4A4943"/>
                          </a:solidFill>
                          <a:latin typeface="Meiryo" pitchFamily="34" charset="0"/>
                          <a:ea typeface="Meiryo" pitchFamily="34" charset="-122"/>
                          <a:cs typeface="Meiryo" pitchFamily="34" charset="-120"/>
                        </a:rPr>
                        <a:t>P2・5・8・10・13・16・18</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dirty="0">
                          <a:solidFill>
                            <a:srgbClr val="4A4943"/>
                          </a:solidFill>
                          <a:latin typeface="Meiryo" pitchFamily="34" charset="0"/>
                          <a:ea typeface="Meiryo" pitchFamily="34" charset="-122"/>
                          <a:cs typeface="Meiryo" pitchFamily="34" charset="-120"/>
                        </a:rPr>
                        <a:t>採用単価の算出ワーク／ボトルネック診断／内製と外注の比較／ペルソナ設計／週次運用／90 日計画</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dirty="0">
                          <a:solidFill>
                            <a:srgbClr val="4A4943"/>
                          </a:solidFill>
                          <a:latin typeface="Meiryo" pitchFamily="34" charset="0"/>
                          <a:ea typeface="Meiryo" pitchFamily="34" charset="-122"/>
                          <a:cs typeface="Meiryo" pitchFamily="34" charset="-120"/>
                        </a:rPr>
                        <a:t>本資料で独自に作成</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521208">
                <a:tc>
                  <a:txBody>
                    <a:bodyPr/>
                    <a:lstStyle/>
                    <a:p>
                      <a:pPr algn="l" indent="0" marL="0">
                        <a:buNone/>
                      </a:pPr>
                      <a:r>
                        <a:rPr lang="en-US" sz="1000" b="1" dirty="0">
                          <a:solidFill>
                            <a:srgbClr val="788C5D"/>
                          </a:solidFill>
                          <a:latin typeface="Meiryo" pitchFamily="34" charset="0"/>
                          <a:ea typeface="Meiryo" pitchFamily="34" charset="-122"/>
                          <a:cs typeface="Meiryo" pitchFamily="34" charset="-120"/>
                        </a:rPr>
                        <a:t>AI 講座パート</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b="1" dirty="0">
                          <a:solidFill>
                            <a:srgbClr val="788C5D"/>
                          </a:solidFill>
                          <a:latin typeface="Meiryo" pitchFamily="34" charset="0"/>
                          <a:ea typeface="Meiryo" pitchFamily="34" charset="-122"/>
                          <a:cs typeface="Meiryo" pitchFamily="34" charset="-120"/>
                        </a:rPr>
                        <a:t>P3・7・12・15・17</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dirty="0">
                          <a:solidFill>
                            <a:srgbClr val="788C5D"/>
                          </a:solidFill>
                          <a:latin typeface="Meiryo" pitchFamily="34" charset="0"/>
                          <a:ea typeface="Meiryo" pitchFamily="34" charset="-122"/>
                          <a:cs typeface="Meiryo" pitchFamily="34" charset="-120"/>
                        </a:rPr>
                        <a:t>段階別の AI 活用／プロンプトの 5 要素と記入例／動画編集の AI 活用／AI 活用マップ</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b="1" dirty="0">
                          <a:solidFill>
                            <a:srgbClr val="788C5D"/>
                          </a:solidFill>
                          <a:latin typeface="Meiryo" pitchFamily="34" charset="0"/>
                          <a:ea typeface="Meiryo" pitchFamily="34" charset="-122"/>
                          <a:cs typeface="Meiryo" pitchFamily="34" charset="-120"/>
                        </a:rPr>
                        <a:t>出典 ③</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r h="521208">
                <a:tc>
                  <a:txBody>
                    <a:bodyPr/>
                    <a:lstStyle/>
                    <a:p>
                      <a:pPr algn="l" indent="0" marL="0">
                        <a:buNone/>
                      </a:pPr>
                      <a:r>
                        <a:rPr lang="en-US" sz="1000" b="1" dirty="0">
                          <a:solidFill>
                            <a:srgbClr val="141413"/>
                          </a:solidFill>
                          <a:latin typeface="Meiryo" pitchFamily="34" charset="0"/>
                          <a:ea typeface="Meiryo" pitchFamily="34" charset="-122"/>
                          <a:cs typeface="Meiryo" pitchFamily="34" charset="-120"/>
                        </a:rPr>
                        <a:t>金額・比率・目安</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dirty="0">
                          <a:solidFill>
                            <a:srgbClr val="4A4943"/>
                          </a:solidFill>
                          <a:latin typeface="Meiryo" pitchFamily="34" charset="0"/>
                          <a:ea typeface="Meiryo" pitchFamily="34" charset="-122"/>
                          <a:cs typeface="Meiryo" pitchFamily="34" charset="-120"/>
                        </a:rPr>
                        <a:t>P2・5・10・16</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dirty="0">
                          <a:solidFill>
                            <a:srgbClr val="4A4943"/>
                          </a:solidFill>
                          <a:latin typeface="Meiryo" pitchFamily="34" charset="0"/>
                          <a:ea typeface="Meiryo" pitchFamily="34" charset="-122"/>
                          <a:cs typeface="Meiryo" pitchFamily="34" charset="-120"/>
                        </a:rPr>
                        <a:t>紹介手数料の相場、採用単価、KPI の目安レンジ</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c>
                  <a:txBody>
                    <a:bodyPr/>
                    <a:lstStyle/>
                    <a:p>
                      <a:pPr algn="l" indent="0" marL="0">
                        <a:buNone/>
                      </a:pPr>
                      <a:r>
                        <a:rPr lang="en-US" sz="1000" dirty="0">
                          <a:solidFill>
                            <a:srgbClr val="4A4943"/>
                          </a:solidFill>
                          <a:latin typeface="Meiryo" pitchFamily="34" charset="0"/>
                          <a:ea typeface="Meiryo" pitchFamily="34" charset="-122"/>
                          <a:cs typeface="Meiryo" pitchFamily="34" charset="-120"/>
                        </a:rPr>
                        <a:t>業界一般の相場からの試算例</a:t>
                      </a:r>
                      <a:endParaRPr lang="en-US" sz="1000" dirty="0">
                        <a:latin typeface="Meiryo" charset="0"/>
                        <a:ea typeface="Meiryo" charset="0"/>
                        <a:cs typeface="Meiryo" charset="0"/>
                      </a:endParaRPr>
                    </a:p>
                  </a:txBody>
                  <a:tcPr marL="76200" marR="76200" marT="76200" marB="76200" anchor="ctr">
                    <a:lnL w="12700" cap="flat" cmpd="sng" algn="ctr">
                      <a:solidFill>
                        <a:srgbClr val="E8E6DC"/>
                      </a:solidFill>
                      <a:prstDash val="solid"/>
                      <a:round/>
                      <a:headEnd type="none" w="med" len="med"/>
                      <a:tailEnd type="none" w="med" len="med"/>
                    </a:lnL>
                    <a:lnR w="12700" cap="flat" cmpd="sng" algn="ctr">
                      <a:solidFill>
                        <a:srgbClr val="E8E6DC"/>
                      </a:solidFill>
                      <a:prstDash val="solid"/>
                      <a:round/>
                      <a:headEnd type="none" w="med" len="med"/>
                      <a:tailEnd type="none" w="med" len="med"/>
                    </a:lnR>
                    <a:lnT w="12700" cap="flat" cmpd="sng" algn="ctr">
                      <a:solidFill>
                        <a:srgbClr val="E8E6DC"/>
                      </a:solidFill>
                      <a:prstDash val="solid"/>
                      <a:round/>
                      <a:headEnd type="none" w="med" len="med"/>
                      <a:tailEnd type="none" w="med" len="med"/>
                    </a:lnT>
                    <a:lnB w="12700" cap="flat" cmpd="sng" algn="ctr">
                      <a:solidFill>
                        <a:srgbClr val="E8E6DC"/>
                      </a:solidFill>
                      <a:prstDash val="solid"/>
                      <a:round/>
                      <a:headEnd type="none" w="med" len="med"/>
                      <a:tailEnd type="none" w="med" len="med"/>
                    </a:lnB>
                  </a:tcPr>
                </a:tc>
              </a:tr>
            </a:tbl>
          </a:graphicData>
        </a:graphic>
      </p:graphicFrame>
      <p:sp>
        <p:nvSpPr>
          <p:cNvPr id="7" name="Shape 4"/>
          <p:cNvSpPr/>
          <p:nvPr/>
        </p:nvSpPr>
        <p:spPr>
          <a:xfrm>
            <a:off x="640080" y="4572000"/>
            <a:ext cx="10881360" cy="1325880"/>
          </a:xfrm>
          <a:prstGeom prst="roundRect">
            <a:avLst>
              <a:gd name="adj" fmla="val 4138"/>
            </a:avLst>
          </a:prstGeom>
          <a:solidFill>
            <a:srgbClr val="FFFFFF"/>
          </a:solidFill>
          <a:ln w="12700">
            <a:solidFill>
              <a:srgbClr val="E8E6DC"/>
            </a:solidFill>
            <a:prstDash val="solid"/>
          </a:ln>
          <a:effectLst>
            <a:outerShdw sx="100000" sy="100000" kx="0" ky="0" algn="bl" rotWithShape="0" blurRad="114300" dist="25400" dir="5400000">
              <a:srgbClr val="B0AEA5">
                <a:alpha val="30000"/>
              </a:srgbClr>
            </a:outerShdw>
          </a:effectLst>
        </p:spPr>
      </p:sp>
      <p:sp>
        <p:nvSpPr>
          <p:cNvPr id="8" name="Text 5"/>
          <p:cNvSpPr/>
          <p:nvPr/>
        </p:nvSpPr>
        <p:spPr>
          <a:xfrm>
            <a:off x="960120" y="4681728"/>
            <a:ext cx="10241280" cy="1133856"/>
          </a:xfrm>
          <a:prstGeom prst="rect">
            <a:avLst/>
          </a:prstGeom>
          <a:noFill/>
          <a:ln/>
        </p:spPr>
        <p:txBody>
          <a:bodyPr wrap="square" lIns="0" tIns="0" rIns="0" bIns="0" rtlCol="0" anchor="t"/>
          <a:lstStyle/>
          <a:p>
            <a:pPr indent="0" marL="0">
              <a:lnSpc>
                <a:spcPts val="1900"/>
              </a:lnSpc>
              <a:buNone/>
            </a:pPr>
            <a:r>
              <a:rPr lang="en-US" sz="1050" b="1" dirty="0">
                <a:solidFill>
                  <a:srgbClr val="141413"/>
                </a:solidFill>
                <a:latin typeface="Meiryo" pitchFamily="34" charset="0"/>
                <a:ea typeface="Meiryo" pitchFamily="34" charset="-122"/>
                <a:cs typeface="Meiryo" pitchFamily="34" charset="-120"/>
              </a:rPr>
              <a:t>① </a:t>
            </a:r>
            <a:pPr indent="0" marL="0">
              <a:lnSpc>
                <a:spcPts val="1900"/>
              </a:lnSpc>
              <a:buNone/>
            </a:pPr>
            <a:r>
              <a:rPr lang="en-US" sz="1050" dirty="0">
                <a:solidFill>
                  <a:srgbClr val="4A4943"/>
                </a:solidFill>
                <a:latin typeface="Meiryo" pitchFamily="34" charset="0"/>
                <a:ea typeface="Meiryo" pitchFamily="34" charset="-122"/>
                <a:cs typeface="Meiryo" pitchFamily="34" charset="-120"/>
              </a:rPr>
              <a:t>「介護・福祉事業における自社採用戦略提案書 ― 求めるケアスタッフを集める 0円採用術」（本資料の一次情報）</a:t>
            </a:r>
            <a:endParaRPr lang="en-US" sz="1050" dirty="0"/>
          </a:p>
          <a:p>
            <a:pPr indent="0" marL="0">
              <a:lnSpc>
                <a:spcPts val="1900"/>
              </a:lnSpc>
              <a:buNone/>
            </a:pPr>
            <a:r>
              <a:rPr lang="en-US" sz="1050" b="1" dirty="0">
                <a:solidFill>
                  <a:srgbClr val="141413"/>
                </a:solidFill>
                <a:latin typeface="Meiryo" pitchFamily="34" charset="0"/>
                <a:ea typeface="Meiryo" pitchFamily="34" charset="-122"/>
                <a:cs typeface="Meiryo" pitchFamily="34" charset="-120"/>
              </a:rPr>
              <a:t>② </a:t>
            </a:r>
            <a:pPr indent="0" marL="0">
              <a:lnSpc>
                <a:spcPts val="1900"/>
              </a:lnSpc>
              <a:buNone/>
            </a:pPr>
            <a:r>
              <a:rPr lang="en-US" sz="1050" dirty="0">
                <a:solidFill>
                  <a:srgbClr val="4A4943"/>
                </a:solidFill>
                <a:latin typeface="Meiryo" pitchFamily="34" charset="0"/>
                <a:ea typeface="Meiryo" pitchFamily="34" charset="-122"/>
                <a:cs typeface="Meiryo" pitchFamily="34" charset="-120"/>
              </a:rPr>
              <a:t>元のウェビナー（utlink.jp）および Canva 資料は、作成環境のネットワーク制限により直接参照できていません。① とご提供いただいた要約テキストを一次情報として使用しています。</a:t>
            </a:r>
            <a:endParaRPr lang="en-US" sz="1050" dirty="0"/>
          </a:p>
          <a:p>
            <a:pPr indent="0" marL="0">
              <a:lnSpc>
                <a:spcPts val="1900"/>
              </a:lnSpc>
              <a:buNone/>
            </a:pPr>
            <a:r>
              <a:rPr lang="en-US" sz="1050" b="1" dirty="0">
                <a:solidFill>
                  <a:srgbClr val="788C5D"/>
                </a:solidFill>
                <a:latin typeface="Meiryo" pitchFamily="34" charset="0"/>
                <a:ea typeface="Meiryo" pitchFamily="34" charset="-122"/>
                <a:cs typeface="Meiryo" pitchFamily="34" charset="-120"/>
              </a:rPr>
              <a:t>③ </a:t>
            </a:r>
            <a:pPr indent="0" marL="0">
              <a:lnSpc>
                <a:spcPts val="1900"/>
              </a:lnSpc>
              <a:buNone/>
            </a:pPr>
            <a:r>
              <a:rPr lang="en-US" sz="1050" dirty="0">
                <a:solidFill>
                  <a:srgbClr val="4A4943"/>
                </a:solidFill>
                <a:latin typeface="Meiryo" pitchFamily="34" charset="0"/>
                <a:ea typeface="Meiryo" pitchFamily="34" charset="-122"/>
                <a:cs typeface="Meiryo" pitchFamily="34" charset="-120"/>
              </a:rPr>
              <a:t>「AI採用アドバンス講座」の公式教材テキストは提供を受けていません。AI 講座パートは、生成 AI 活用の一般的な実務にもとづき、本資料の枠組みに合わせて独自に構成したものです。特定の講座の内容を引用したものではありません。</a:t>
            </a:r>
            <a:endParaRPr lang="en-US" sz="1050" dirty="0"/>
          </a:p>
        </p:txBody>
      </p:sp>
      <p:sp>
        <p:nvSpPr>
          <p:cNvPr id="9" name="Text 6"/>
          <p:cNvSpPr/>
          <p:nvPr/>
        </p:nvSpPr>
        <p:spPr>
          <a:xfrm>
            <a:off x="640080" y="5989320"/>
            <a:ext cx="10881360" cy="274320"/>
          </a:xfrm>
          <a:prstGeom prst="rect">
            <a:avLst/>
          </a:prstGeom>
          <a:noFill/>
          <a:ln/>
        </p:spPr>
        <p:txBody>
          <a:bodyPr wrap="square" lIns="0" tIns="0" rIns="0" bIns="0" rtlCol="0" anchor="ctr"/>
          <a:lstStyle/>
          <a:p>
            <a:pPr indent="0" marL="0">
              <a:buNone/>
            </a:pPr>
            <a:r>
              <a:rPr lang="en-US" sz="1000" dirty="0">
                <a:solidFill>
                  <a:srgbClr val="8A887E"/>
                </a:solidFill>
                <a:latin typeface="Meiryo" pitchFamily="34" charset="0"/>
                <a:ea typeface="Meiryo" pitchFamily="34" charset="-122"/>
                <a:cs typeface="Meiryo" pitchFamily="34" charset="-120"/>
              </a:rPr>
              <a:t>※ 実際の講座テキストをご提供いただければ、AI 講座パートを公式内容に差し替えます。</a:t>
            </a:r>
            <a:endParaRPr lang="en-US" sz="1000" dirty="0"/>
          </a:p>
        </p:txBody>
      </p:sp>
      <p:sp>
        <p:nvSpPr>
          <p:cNvPr id="10" name="Text 7"/>
          <p:cNvSpPr/>
          <p:nvPr/>
        </p:nvSpPr>
        <p:spPr>
          <a:xfrm>
            <a:off x="640080" y="6355080"/>
            <a:ext cx="7498080" cy="274320"/>
          </a:xfrm>
          <a:prstGeom prst="rect">
            <a:avLst/>
          </a:prstGeom>
          <a:noFill/>
          <a:ln/>
        </p:spPr>
        <p:txBody>
          <a:bodyPr wrap="square" lIns="0" tIns="0" rIns="0" bIns="0" rtlCol="0" anchor="ctr"/>
          <a:lstStyle/>
          <a:p>
            <a:pPr indent="0" marL="0">
              <a:buNone/>
            </a:pPr>
            <a:r>
              <a:rPr lang="en-US" sz="900" dirty="0">
                <a:solidFill>
                  <a:srgbClr val="8A887E"/>
                </a:solidFill>
                <a:latin typeface="Meiryo" pitchFamily="34" charset="0"/>
                <a:ea typeface="Meiryo" pitchFamily="34" charset="-122"/>
                <a:cs typeface="Meiryo" pitchFamily="34" charset="-120"/>
              </a:rPr>
              <a:t>AI採用アドバンス講座 ｜ 求めるケアスタッフを集める「0円採用」の設計図</a:t>
            </a:r>
            <a:endParaRPr lang="en-US" sz="900" dirty="0"/>
          </a:p>
        </p:txBody>
      </p:sp>
      <p:sp>
        <p:nvSpPr>
          <p:cNvPr id="11" name="Text 8"/>
          <p:cNvSpPr/>
          <p:nvPr/>
        </p:nvSpPr>
        <p:spPr>
          <a:xfrm>
            <a:off x="9692640" y="6355080"/>
            <a:ext cx="1828800" cy="274320"/>
          </a:xfrm>
          <a:prstGeom prst="rect">
            <a:avLst/>
          </a:prstGeom>
          <a:noFill/>
          <a:ln/>
        </p:spPr>
        <p:txBody>
          <a:bodyPr wrap="square" lIns="0" tIns="0" rIns="0" bIns="0" rtlCol="0" anchor="ctr"/>
          <a:lstStyle/>
          <a:p>
            <a:pPr algn="r" indent="0" marL="0">
              <a:buNone/>
            </a:pPr>
            <a:r>
              <a:rPr lang="en-US" sz="900" dirty="0">
                <a:solidFill>
                  <a:srgbClr val="8A887E"/>
                </a:solidFill>
                <a:latin typeface="Meiryo" pitchFamily="34" charset="0"/>
                <a:ea typeface="Meiryo" pitchFamily="34" charset="-122"/>
                <a:cs typeface="Meiryo" pitchFamily="34" charset="-120"/>
              </a:rPr>
              <a:t>19 / 19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2026-08-25T00:02:20Z</dcterms:created>
  <dcterms:modified xsi:type="dcterms:W3CDTF">2026-08-25T00:02:20Z</dcterms:modified>
</cp:coreProperties>
</file>