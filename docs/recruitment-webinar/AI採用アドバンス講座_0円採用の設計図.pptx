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2.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1人あたり採用単価</c:v>
                </c:pt>
              </c:strCache>
            </c:strRef>
          </c:tx>
          <c:spPr>
            <a:solidFill>
              <a:srgbClr val="2F5B87"/>
            </a:solidFill>
            <a:effectLst/>
          </c:spPr>
          <c:invertIfNegative val="0"/>
          <c:dLbls>
            <c:numFmt formatCode="#,##0" sourceLinked="0"/>
            <c:txPr>
              <a:bodyPr/>
              <a:lstStyle/>
              <a:p>
                <a:pPr>
                  <a:defRPr b="1" i="0" strike="noStrike" sz="1200" u="none">
                    <a:solidFill>
                      <a:srgbClr val="141413"/>
                    </a:solidFill>
                    <a:latin typeface="Meiryo"/>
                  </a:defRPr>
                </a:pPr>
              </a:p>
            </c:txPr>
            <c:showLegendKey val="0"/>
            <c:showVal val="1"/>
            <c:showCatName val="0"/>
            <c:showSerName val="0"/>
            <c:showPercent val="0"/>
            <c:showBubbleSize val="0"/>
            <c:showLeaderLines val="0"/>
          </c:dLbls>
          <c:cat>
            <c:multiLvlStrRef>
              <c:f>Sheet1!$A$2:$A$4</c:f>
              <c:multiLvlStrCache>
                <c:ptCount val="3"/>
                <c:lvl>
                  <c:pt idx="0">
                    <c:v>自社採用ページ
（Engage 中心）</c:v>
                  </c:pt>
                  <c:pt idx="1">
                    <c:v>求人媒体・
Indeed 運用</c:v>
                  </c:pt>
                  <c:pt idx="2">
                    <c:v>紹介会社
（年収の 25%）</c:v>
                  </c:pt>
                </c:lvl>
              </c:multiLvlStrCache>
            </c:multiLvlStrRef>
          </c:cat>
          <c:val>
            <c:numRef>
              <c:f>Sheet1!$B$2:$B$4</c:f>
              <c:numCache>
                <c:formatCode>General</c:formatCode>
                <c:ptCount val="3"/>
                <c:pt idx="0">
                  <c:v>12</c:v>
                </c:pt>
                <c:pt idx="1">
                  <c:v>45</c:v>
                </c:pt>
                <c:pt idx="2">
                  <c:v>90</c:v>
                </c:pt>
              </c:numCache>
            </c:numRef>
          </c:val>
        </c:ser>
        <c:dLbls>
          <c:numFmt formatCode="#,##0" sourceLinked="0"/>
          <c:txPr>
            <a:bodyPr/>
            <a:lstStyle/>
            <a:p>
              <a:pPr>
                <a:defRPr b="1" i="0" strike="noStrike" sz="1200" u="none">
                  <a:solidFill>
                    <a:srgbClr val="141413"/>
                  </a:solidFill>
                  <a:latin typeface="Meiryo"/>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141413"/>
                </a:solidFill>
                <a:latin typeface="Meiryo"/>
              </a:defRPr>
            </a:pPr>
            <a:endParaRPr lang="en-US"/>
          </a:p>
        </c:txPr>
        <c:crossAx val="2094734552"/>
        <c:crosses val="autoZero"/>
        <c:auto val="1"/>
        <c:lblAlgn val="ctr"/>
        <c:noMultiLvlLbl val="1"/>
      </c:catAx>
      <c:valAx>
        <c:axId val="2094734552"/>
        <c:scaling>
          <c:orientation val="minMax"/>
          <c:max val="100"/>
          <c:min val="0"/>
        </c:scaling>
        <c:delete val="0"/>
        <c:axPos val="b"/>
        <c:majorGridlines>
          <c:spPr>
            <a:ln w="12700" cap="flat">
              <a:solidFill>
                <a:srgbClr val="E8E6DC"/>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6E6C63"/>
                </a:solidFill>
                <a:latin typeface="Meiryo"/>
              </a:defRPr>
            </a:pPr>
            <a:endParaRPr lang="en-US"/>
          </a:p>
        </c:txPr>
        <c:crossAx val="2094734554"/>
        <c:crosses val="autoZero"/>
        <c:crossBetween val="between"/>
        <c:majorUnit val="25"/>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紹介会社に依存（累計）</c:v>
                </c:pt>
              </c:strCache>
            </c:strRef>
          </c:tx>
          <c:spPr>
            <a:solidFill>
              <a:srgbClr val="D97757"/>
            </a:solidFill>
            <a:ln w="38100" cap="flat">
              <a:solidFill>
                <a:srgbClr val="D97757"/>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D97757"/>
              </a:solidFill>
              <a:ln w="9525" cap="flat">
                <a:solidFill>
                  <a:srgbClr val="D97757"/>
                </a:solidFill>
                <a:prstDash val="solid"/>
                <a:round/>
              </a:ln>
              <a:effectLst/>
            </c:spPr>
          </c:marker>
          <c:cat>
            <c:multiLvlStrRef>
              <c:f>Sheet1!$A$2:$A$7</c:f>
              <c:multiLvlStrCache>
                <c:ptCount val="6"/>
                <c:lvl>
                  <c:pt idx="0">
                    <c:v>1人</c:v>
                  </c:pt>
                  <c:pt idx="1">
                    <c:v>2人</c:v>
                  </c:pt>
                  <c:pt idx="2">
                    <c:v>3人</c:v>
                  </c:pt>
                  <c:pt idx="3">
                    <c:v>4人</c:v>
                  </c:pt>
                  <c:pt idx="4">
                    <c:v>5人</c:v>
                  </c:pt>
                  <c:pt idx="5">
                    <c:v>6人</c:v>
                  </c:pt>
                </c:lvl>
              </c:multiLvlStrCache>
            </c:multiLvlStrRef>
          </c:cat>
          <c:val>
            <c:numRef>
              <c:f>Sheet1!$B$2:$B$7</c:f>
              <c:numCache>
                <c:formatCode>General</c:formatCode>
                <c:ptCount val="6"/>
                <c:pt idx="0">
                  <c:v>90</c:v>
                </c:pt>
                <c:pt idx="1">
                  <c:v>180</c:v>
                </c:pt>
                <c:pt idx="2">
                  <c:v>270</c:v>
                </c:pt>
                <c:pt idx="3">
                  <c:v>360</c:v>
                </c:pt>
                <c:pt idx="4">
                  <c:v>450</c:v>
                </c:pt>
                <c:pt idx="5">
                  <c:v>540</c:v>
                </c:pt>
              </c:numCache>
            </c:numRef>
          </c:val>
          <c:smooth val="0"/>
        </c:ser>
        <c:ser>
          <c:idx val="1"/>
          <c:order val="1"/>
          <c:tx>
            <c:strRef>
              <c:f>Sheet1!$C$1</c:f>
              <c:strCache>
                <c:ptCount val="1"/>
                <c:pt idx="0">
                  <c:v>自社採用を内製（累計）</c:v>
                </c:pt>
              </c:strCache>
            </c:strRef>
          </c:tx>
          <c:spPr>
            <a:solidFill>
              <a:srgbClr val="2F5B87"/>
            </a:solidFill>
            <a:ln w="38100" cap="flat">
              <a:solidFill>
                <a:srgbClr val="2F5B87"/>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2F5B87"/>
              </a:solidFill>
              <a:ln w="9525" cap="flat">
                <a:solidFill>
                  <a:srgbClr val="2F5B87"/>
                </a:solidFill>
                <a:prstDash val="solid"/>
                <a:round/>
              </a:ln>
              <a:effectLst/>
            </c:spPr>
          </c:marker>
          <c:cat>
            <c:multiLvlStrRef>
              <c:f>Sheet1!$A$2:$A$7</c:f>
              <c:multiLvlStrCache>
                <c:ptCount val="6"/>
                <c:lvl>
                  <c:pt idx="0">
                    <c:v>1人</c:v>
                  </c:pt>
                  <c:pt idx="1">
                    <c:v>2人</c:v>
                  </c:pt>
                  <c:pt idx="2">
                    <c:v>3人</c:v>
                  </c:pt>
                  <c:pt idx="3">
                    <c:v>4人</c:v>
                  </c:pt>
                  <c:pt idx="4">
                    <c:v>5人</c:v>
                  </c:pt>
                  <c:pt idx="5">
                    <c:v>6人</c:v>
                  </c:pt>
                </c:lvl>
              </c:multiLvlStrCache>
            </c:multiLvlStrRef>
          </c:cat>
          <c:val>
            <c:numRef>
              <c:f>Sheet1!$C$2:$C$7</c:f>
              <c:numCache>
                <c:formatCode>General</c:formatCode>
                <c:ptCount val="6"/>
                <c:pt idx="0">
                  <c:v>60</c:v>
                </c:pt>
                <c:pt idx="1">
                  <c:v>72</c:v>
                </c:pt>
                <c:pt idx="2">
                  <c:v>84</c:v>
                </c:pt>
                <c:pt idx="3">
                  <c:v>96</c:v>
                </c:pt>
                <c:pt idx="4">
                  <c:v>108</c:v>
                </c:pt>
                <c:pt idx="5">
                  <c:v>120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50" b="0" i="0" u="none" strike="noStrike">
                <a:solidFill>
                  <a:srgbClr val="141413"/>
                </a:solidFill>
                <a:latin typeface="Meiryo"/>
              </a:defRPr>
            </a:pPr>
            <a:endParaRPr lang="en-US"/>
          </a:p>
        </c:txPr>
        <c:crossAx val="2094734552"/>
        <c:crosses val="autoZero"/>
        <c:auto val="1"/>
        <c:lblAlgn val="ctr"/>
        <c:noMultiLvlLbl val="1"/>
      </c:catAx>
      <c:valAx>
        <c:axId val="2094734552"/>
        <c:scaling>
          <c:orientation val="minMax"/>
          <c:max val="600"/>
          <c:min val="0"/>
        </c:scaling>
        <c:delete val="0"/>
        <c:axPos val="l"/>
        <c:majorGridlines>
          <c:spPr>
            <a:ln w="12700" cap="flat">
              <a:solidFill>
                <a:srgbClr val="E8E6DC"/>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E6C63"/>
                </a:solidFill>
                <a:latin typeface="Meiryo"/>
              </a:defRPr>
            </a:pPr>
            <a:endParaRPr lang="en-US"/>
          </a:p>
        </c:txPr>
        <c:crossAx val="2094734554"/>
        <c:crosses val="autoZero"/>
        <c:crossBetween val="between"/>
        <c:majorUnit val="150"/>
      </c:valAx>
      <c:spPr>
        <a:noFill/>
        <a:ln>
          <a:noFill/>
        </a:ln>
        <a:effectLst/>
      </c:spPr>
    </c:plotArea>
    <c:legend>
      <c:legendPos val="b"/>
      <c:overlay val="0"/>
      <c:txPr>
        <a:bodyPr/>
        <a:lstStyle/>
        <a:p>
          <a:pPr>
            <a:defRPr sz="1050">
              <a:solidFill>
                <a:srgbClr val="4A4943"/>
              </a:solidFill>
              <a:latin typeface="Meiryo"/>
              <a:cs typeface="Meiryo"/>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本講座は「求めるケアスタッフを集める0円採用術」の提案内容を、実行できる教材の形に詳細化したものです。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ゴール像を先に共有する。数字は「置き換えの余地がこれだけある」ことを示すための目安。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6モジュールの地図。MODULE 0 の現状把握を飛ばすと、改善の効果が測れなくなる。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構造的課題は「部分最適の作業化」。ここを共通認識にしてからファネルの話に入る。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最初の宿題。この4つの数字が、以降すべてのモジュールの評価基準になる。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ファネルは提案書の中心概念。各段階の心理と打ち手をセットで覚えてもらう。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AIの役割分担を明確にする。生成物は必ず現場確認を通す。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診断シート。症状から段階を逆引きできるようにしてある。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Engageは無料の自社採用ツール。0円の意味を正確に伝えることで、期待値のずれを防ぐ。</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損益分岐は概ね2人目。ここを見せると経営判断が早くなる。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6ブロックは提案書の中核。順番そのものが設計であることを強調する。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プロンプトの型は5要素。制約条件を必ず入れることで、誇張表現とハルシネーションを抑える。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共感パートの材料集め。実データ（退職面談メモ）を起点にするのが精度の決め手。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体験会の時間配分は目安。作り込まないことが最大のポイント。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動画は最も費用対効果が高い素材。作り込まず、字幕を必ず付ける。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運用が続くかどうかは会議の短さで決まる。15分・1か所主義。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AI活用の全体像。個人情報の取り扱いは必ず釘を刺す。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最後は必ず「明日やる3つ」まで落とす。ここまで具体化しないと動き出さない。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提供資料に含まれていた内容と、こちらで補った内容の切り分け。AIパートは独自構成である点を明示している。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1.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image" Target="../media/image-6-8.png"/><Relationship Id="rId9" Type="http://schemas.openxmlformats.org/officeDocument/2006/relationships/slideLayout" Target="../slideLayouts/slideLayout1.xml"/><Relationship Id="rId10"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1.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slideLayout" Target="../slideLayouts/slideLayout1.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1413"/>
        </a:solidFill>
      </p:bgPr>
    </p:bg>
    <p:spTree>
      <p:nvGrpSpPr>
        <p:cNvPr id="1" name=""/>
        <p:cNvGrpSpPr/>
        <p:nvPr/>
      </p:nvGrpSpPr>
      <p:grpSpPr>
        <a:xfrm>
          <a:off x="0" y="0"/>
          <a:ext cx="0" cy="0"/>
          <a:chOff x="0" y="0"/>
          <a:chExt cx="0" cy="0"/>
        </a:xfrm>
      </p:grpSpPr>
      <p:sp>
        <p:nvSpPr>
          <p:cNvPr id="2" name="Shape 0"/>
          <p:cNvSpPr/>
          <p:nvPr/>
        </p:nvSpPr>
        <p:spPr>
          <a:xfrm>
            <a:off x="8961120" y="-1828800"/>
            <a:ext cx="5486400" cy="5486400"/>
          </a:xfrm>
          <a:prstGeom prst="ellipse">
            <a:avLst/>
          </a:prstGeom>
          <a:solidFill>
            <a:srgbClr val="2A2926"/>
          </a:solidFill>
          <a:ln/>
        </p:spPr>
      </p:sp>
      <p:sp>
        <p:nvSpPr>
          <p:cNvPr id="3" name="Shape 1"/>
          <p:cNvSpPr/>
          <p:nvPr/>
        </p:nvSpPr>
        <p:spPr>
          <a:xfrm>
            <a:off x="10607040" y="4754880"/>
            <a:ext cx="2743200" cy="2743200"/>
          </a:xfrm>
          <a:prstGeom prst="ellipse">
            <a:avLst/>
          </a:prstGeom>
          <a:solidFill>
            <a:srgbClr val="D97757">
              <a:alpha val="35000"/>
            </a:srgbClr>
          </a:solidFill>
          <a:ln/>
        </p:spPr>
      </p:sp>
      <p:sp>
        <p:nvSpPr>
          <p:cNvPr id="4" name="Text 2"/>
          <p:cNvSpPr/>
          <p:nvPr/>
        </p:nvSpPr>
        <p:spPr>
          <a:xfrm>
            <a:off x="822960" y="1005840"/>
            <a:ext cx="7772400" cy="384048"/>
          </a:xfrm>
          <a:prstGeom prst="rect">
            <a:avLst/>
          </a:prstGeom>
          <a:noFill/>
          <a:ln/>
        </p:spPr>
        <p:txBody>
          <a:bodyPr wrap="square" lIns="0" tIns="0" rIns="0" bIns="0" rtlCol="0" anchor="ctr"/>
          <a:lstStyle/>
          <a:p>
            <a:pPr indent="0" marL="0">
              <a:buNone/>
            </a:pPr>
            <a:r>
              <a:rPr lang="en-US" sz="1600" b="1" spc="200" kern="0" dirty="0">
                <a:solidFill>
                  <a:srgbClr val="D97757"/>
                </a:solidFill>
                <a:latin typeface="Meiryo" pitchFamily="34" charset="0"/>
                <a:ea typeface="Meiryo" pitchFamily="34" charset="-122"/>
                <a:cs typeface="Meiryo" pitchFamily="34" charset="-120"/>
              </a:rPr>
              <a:t>AI採用アドバンス講座</a:t>
            </a:r>
            <a:endParaRPr lang="en-US" sz="1600" dirty="0"/>
          </a:p>
        </p:txBody>
      </p:sp>
      <p:sp>
        <p:nvSpPr>
          <p:cNvPr id="5" name="Text 3"/>
          <p:cNvSpPr/>
          <p:nvPr/>
        </p:nvSpPr>
        <p:spPr>
          <a:xfrm>
            <a:off x="822960" y="1554480"/>
            <a:ext cx="9326880" cy="1920240"/>
          </a:xfrm>
          <a:prstGeom prst="rect">
            <a:avLst/>
          </a:prstGeom>
          <a:noFill/>
          <a:ln/>
        </p:spPr>
        <p:txBody>
          <a:bodyPr wrap="square" lIns="0" tIns="0" rIns="0" bIns="0" rtlCol="0" anchor="t"/>
          <a:lstStyle/>
          <a:p>
            <a:pPr indent="0" marL="0">
              <a:lnSpc>
                <a:spcPts val="5600"/>
              </a:lnSpc>
              <a:buNone/>
            </a:pPr>
            <a:r>
              <a:rPr lang="en-US" sz="4000" b="1" dirty="0">
                <a:solidFill>
                  <a:srgbClr val="FFFFFF"/>
                </a:solidFill>
                <a:latin typeface="Meiryo" pitchFamily="34" charset="0"/>
                <a:ea typeface="Meiryo" pitchFamily="34" charset="-122"/>
                <a:cs typeface="Meiryo" pitchFamily="34" charset="-120"/>
              </a:rPr>
              <a:t>求めるケアスタッフを集める</a:t>
            </a:r>
            <a:endParaRPr lang="en-US" sz="4000" dirty="0"/>
          </a:p>
          <a:p>
            <a:pPr indent="0" marL="0">
              <a:lnSpc>
                <a:spcPts val="5600"/>
              </a:lnSpc>
              <a:buNone/>
            </a:pPr>
            <a:r>
              <a:rPr lang="en-US" sz="4000" b="1" dirty="0">
                <a:solidFill>
                  <a:srgbClr val="FFFFFF"/>
                </a:solidFill>
                <a:latin typeface="Meiryo" pitchFamily="34" charset="0"/>
                <a:ea typeface="Meiryo" pitchFamily="34" charset="-122"/>
                <a:cs typeface="Meiryo" pitchFamily="34" charset="-120"/>
              </a:rPr>
              <a:t>「0円採用」の設計図</a:t>
            </a:r>
            <a:endParaRPr lang="en-US" sz="4000" dirty="0"/>
          </a:p>
        </p:txBody>
      </p:sp>
      <p:sp>
        <p:nvSpPr>
          <p:cNvPr id="6" name="Text 4"/>
          <p:cNvSpPr/>
          <p:nvPr/>
        </p:nvSpPr>
        <p:spPr>
          <a:xfrm>
            <a:off x="822960" y="3611880"/>
            <a:ext cx="9144000" cy="457200"/>
          </a:xfrm>
          <a:prstGeom prst="rect">
            <a:avLst/>
          </a:prstGeom>
          <a:noFill/>
          <a:ln/>
        </p:spPr>
        <p:txBody>
          <a:bodyPr wrap="square" lIns="0" tIns="0" rIns="0" bIns="0" rtlCol="0" anchor="ctr"/>
          <a:lstStyle/>
          <a:p>
            <a:pPr indent="0" marL="0">
              <a:buNone/>
            </a:pPr>
            <a:r>
              <a:rPr lang="en-US" sz="1700" dirty="0">
                <a:solidFill>
                  <a:srgbClr val="D6D3C8"/>
                </a:solidFill>
                <a:latin typeface="Meiryo" pitchFamily="34" charset="0"/>
                <a:ea typeface="Meiryo" pitchFamily="34" charset="-122"/>
                <a:cs typeface="Meiryo" pitchFamily="34" charset="-120"/>
              </a:rPr>
              <a:t>介護・福祉事業のための 自社採用 内製化プログラム ／ 全 6 モジュール</a:t>
            </a:r>
            <a:endParaRPr lang="en-US" sz="1700" dirty="0"/>
          </a:p>
        </p:txBody>
      </p:sp>
      <p:sp>
        <p:nvSpPr>
          <p:cNvPr id="7" name="Shape 5"/>
          <p:cNvSpPr/>
          <p:nvPr/>
        </p:nvSpPr>
        <p:spPr>
          <a:xfrm>
            <a:off x="822960" y="4800600"/>
            <a:ext cx="2487168" cy="822960"/>
          </a:xfrm>
          <a:prstGeom prst="roundRect">
            <a:avLst>
              <a:gd name="adj" fmla="val 13333"/>
            </a:avLst>
          </a:prstGeom>
          <a:solidFill>
            <a:srgbClr val="2A2926"/>
          </a:solidFill>
          <a:ln w="12700">
            <a:solidFill>
              <a:srgbClr val="D97757"/>
            </a:solidFill>
            <a:prstDash val="solid"/>
          </a:ln>
        </p:spPr>
      </p:sp>
      <p:sp>
        <p:nvSpPr>
          <p:cNvPr id="8" name="Text 6"/>
          <p:cNvSpPr/>
          <p:nvPr/>
        </p:nvSpPr>
        <p:spPr>
          <a:xfrm>
            <a:off x="914400" y="4800600"/>
            <a:ext cx="2304288" cy="822960"/>
          </a:xfrm>
          <a:prstGeom prst="rect">
            <a:avLst/>
          </a:prstGeom>
          <a:noFill/>
          <a:ln/>
        </p:spPr>
        <p:txBody>
          <a:bodyPr wrap="square" lIns="0" tIns="0" rIns="0" bIns="0" rtlCol="0" anchor="ctr"/>
          <a:lstStyle/>
          <a:p>
            <a:pPr algn="ctr" indent="0" marL="0">
              <a:buNone/>
            </a:pPr>
            <a:r>
              <a:rPr lang="en-US" sz="1250" dirty="0">
                <a:solidFill>
                  <a:srgbClr val="FFFFFF"/>
                </a:solidFill>
                <a:latin typeface="Meiryo" pitchFamily="34" charset="0"/>
                <a:ea typeface="Meiryo" pitchFamily="34" charset="-122"/>
                <a:cs typeface="Meiryo" pitchFamily="34" charset="-120"/>
              </a:rPr>
              <a:t>紹介手数料を ゼロ に</a:t>
            </a:r>
            <a:endParaRPr lang="en-US" sz="1250" dirty="0"/>
          </a:p>
        </p:txBody>
      </p:sp>
      <p:sp>
        <p:nvSpPr>
          <p:cNvPr id="9" name="Shape 7"/>
          <p:cNvSpPr/>
          <p:nvPr/>
        </p:nvSpPr>
        <p:spPr>
          <a:xfrm>
            <a:off x="3584448" y="4800600"/>
            <a:ext cx="2487168" cy="822960"/>
          </a:xfrm>
          <a:prstGeom prst="roundRect">
            <a:avLst>
              <a:gd name="adj" fmla="val 13333"/>
            </a:avLst>
          </a:prstGeom>
          <a:solidFill>
            <a:srgbClr val="2A2926"/>
          </a:solidFill>
          <a:ln w="12700">
            <a:solidFill>
              <a:srgbClr val="D97757"/>
            </a:solidFill>
            <a:prstDash val="solid"/>
          </a:ln>
        </p:spPr>
      </p:sp>
      <p:sp>
        <p:nvSpPr>
          <p:cNvPr id="10" name="Text 8"/>
          <p:cNvSpPr/>
          <p:nvPr/>
        </p:nvSpPr>
        <p:spPr>
          <a:xfrm>
            <a:off x="3675888" y="4800600"/>
            <a:ext cx="2304288" cy="822960"/>
          </a:xfrm>
          <a:prstGeom prst="rect">
            <a:avLst/>
          </a:prstGeom>
          <a:noFill/>
          <a:ln/>
        </p:spPr>
        <p:txBody>
          <a:bodyPr wrap="square" lIns="0" tIns="0" rIns="0" bIns="0" rtlCol="0" anchor="ctr"/>
          <a:lstStyle/>
          <a:p>
            <a:pPr algn="ctr" indent="0" marL="0">
              <a:buNone/>
            </a:pPr>
            <a:r>
              <a:rPr lang="en-US" sz="1250" dirty="0">
                <a:solidFill>
                  <a:srgbClr val="FFFFFF"/>
                </a:solidFill>
                <a:latin typeface="Meiryo" pitchFamily="34" charset="0"/>
                <a:ea typeface="Meiryo" pitchFamily="34" charset="-122"/>
                <a:cs typeface="Meiryo" pitchFamily="34" charset="-120"/>
              </a:rPr>
              <a:t>採用ファネル 4 段階</a:t>
            </a:r>
            <a:endParaRPr lang="en-US" sz="1250" dirty="0"/>
          </a:p>
        </p:txBody>
      </p:sp>
      <p:sp>
        <p:nvSpPr>
          <p:cNvPr id="11" name="Shape 9"/>
          <p:cNvSpPr/>
          <p:nvPr/>
        </p:nvSpPr>
        <p:spPr>
          <a:xfrm>
            <a:off x="6345936" y="4800600"/>
            <a:ext cx="2487168" cy="822960"/>
          </a:xfrm>
          <a:prstGeom prst="roundRect">
            <a:avLst>
              <a:gd name="adj" fmla="val 13333"/>
            </a:avLst>
          </a:prstGeom>
          <a:solidFill>
            <a:srgbClr val="2A2926"/>
          </a:solidFill>
          <a:ln w="12700">
            <a:solidFill>
              <a:srgbClr val="D97757"/>
            </a:solidFill>
            <a:prstDash val="solid"/>
          </a:ln>
        </p:spPr>
      </p:sp>
      <p:sp>
        <p:nvSpPr>
          <p:cNvPr id="12" name="Text 10"/>
          <p:cNvSpPr/>
          <p:nvPr/>
        </p:nvSpPr>
        <p:spPr>
          <a:xfrm>
            <a:off x="6437376" y="4800600"/>
            <a:ext cx="2304288" cy="822960"/>
          </a:xfrm>
          <a:prstGeom prst="rect">
            <a:avLst/>
          </a:prstGeom>
          <a:noFill/>
          <a:ln/>
        </p:spPr>
        <p:txBody>
          <a:bodyPr wrap="square" lIns="0" tIns="0" rIns="0" bIns="0" rtlCol="0" anchor="ctr"/>
          <a:lstStyle/>
          <a:p>
            <a:pPr algn="ctr" indent="0" marL="0">
              <a:buNone/>
            </a:pPr>
            <a:r>
              <a:rPr lang="en-US" sz="1250" dirty="0">
                <a:solidFill>
                  <a:srgbClr val="FFFFFF"/>
                </a:solidFill>
                <a:latin typeface="Meiryo" pitchFamily="34" charset="0"/>
                <a:ea typeface="Meiryo" pitchFamily="34" charset="-122"/>
                <a:cs typeface="Meiryo" pitchFamily="34" charset="-120"/>
              </a:rPr>
              <a:t>AI で原稿と分析を代行</a:t>
            </a:r>
            <a:endParaRPr lang="en-US" sz="1250" dirty="0"/>
          </a:p>
        </p:txBody>
      </p:sp>
      <p:sp>
        <p:nvSpPr>
          <p:cNvPr id="13" name="Shape 11"/>
          <p:cNvSpPr/>
          <p:nvPr/>
        </p:nvSpPr>
        <p:spPr>
          <a:xfrm>
            <a:off x="9107424" y="4800600"/>
            <a:ext cx="2487168" cy="822960"/>
          </a:xfrm>
          <a:prstGeom prst="roundRect">
            <a:avLst>
              <a:gd name="adj" fmla="val 13333"/>
            </a:avLst>
          </a:prstGeom>
          <a:solidFill>
            <a:srgbClr val="2A2926"/>
          </a:solidFill>
          <a:ln w="12700">
            <a:solidFill>
              <a:srgbClr val="D97757"/>
            </a:solidFill>
            <a:prstDash val="solid"/>
          </a:ln>
        </p:spPr>
      </p:sp>
      <p:sp>
        <p:nvSpPr>
          <p:cNvPr id="14" name="Text 12"/>
          <p:cNvSpPr/>
          <p:nvPr/>
        </p:nvSpPr>
        <p:spPr>
          <a:xfrm>
            <a:off x="9198864" y="4800600"/>
            <a:ext cx="2304288" cy="822960"/>
          </a:xfrm>
          <a:prstGeom prst="rect">
            <a:avLst/>
          </a:prstGeom>
          <a:noFill/>
          <a:ln/>
        </p:spPr>
        <p:txBody>
          <a:bodyPr wrap="square" lIns="0" tIns="0" rIns="0" bIns="0" rtlCol="0" anchor="ctr"/>
          <a:lstStyle/>
          <a:p>
            <a:pPr algn="ctr" indent="0" marL="0">
              <a:buNone/>
            </a:pPr>
            <a:r>
              <a:rPr lang="en-US" sz="1250" dirty="0">
                <a:solidFill>
                  <a:srgbClr val="FFFFFF"/>
                </a:solidFill>
                <a:latin typeface="Meiryo" pitchFamily="34" charset="0"/>
                <a:ea typeface="Meiryo" pitchFamily="34" charset="-122"/>
                <a:cs typeface="Meiryo" pitchFamily="34" charset="-120"/>
              </a:rPr>
              <a:t>90 日で仕組み化</a:t>
            </a:r>
            <a:endParaRPr lang="en-US" sz="1250" dirty="0"/>
          </a:p>
        </p:txBody>
      </p:sp>
      <p:sp>
        <p:nvSpPr>
          <p:cNvPr id="15" name="Text 13"/>
          <p:cNvSpPr/>
          <p:nvPr/>
        </p:nvSpPr>
        <p:spPr>
          <a:xfrm>
            <a:off x="822960" y="5897880"/>
            <a:ext cx="7315200" cy="320040"/>
          </a:xfrm>
          <a:prstGeom prst="rect">
            <a:avLst/>
          </a:prstGeom>
          <a:noFill/>
          <a:ln/>
        </p:spPr>
        <p:txBody>
          <a:bodyPr wrap="square" lIns="0" tIns="0" rIns="0" bIns="0" rtlCol="0" anchor="ctr"/>
          <a:lstStyle/>
          <a:p>
            <a:pPr indent="0" marL="0">
              <a:buNone/>
            </a:pPr>
            <a:r>
              <a:rPr lang="en-US" sz="1100" dirty="0">
                <a:solidFill>
                  <a:srgbClr val="8C8A80"/>
                </a:solidFill>
                <a:latin typeface="Meiryo" pitchFamily="34" charset="0"/>
                <a:ea typeface="Meiryo" pitchFamily="34" charset="-122"/>
                <a:cs typeface="Meiryo" pitchFamily="34" charset="-120"/>
              </a:rPr>
              <a:t>株式会社ヤマシタ 御中 ／ 2026年8月</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9F5"/>
        </a:solidFill>
      </p:bgPr>
    </p:bg>
    <p:spTree>
      <p:nvGrpSpPr>
        <p:cNvPr id="1" name=""/>
        <p:cNvGrpSpPr/>
        <p:nvPr/>
      </p:nvGrpSpPr>
      <p:grpSpPr>
        <a:xfrm>
          <a:off x="0" y="0"/>
          <a:ext cx="0" cy="0"/>
          <a:chOff x="0" y="0"/>
          <a:chExt cx="0" cy="0"/>
        </a:xfrm>
      </p:grpSpPr>
      <p:sp>
        <p:nvSpPr>
          <p:cNvPr id="2" name="Text 0"/>
          <p:cNvSpPr/>
          <p:nvPr/>
        </p:nvSpPr>
        <p:spPr>
          <a:xfrm>
            <a:off x="640080" y="411480"/>
            <a:ext cx="10881360" cy="566928"/>
          </a:xfrm>
          <a:prstGeom prst="rect">
            <a:avLst/>
          </a:prstGeom>
          <a:noFill/>
          <a:ln/>
        </p:spPr>
        <p:txBody>
          <a:bodyPr wrap="square" lIns="0" tIns="0" rIns="0" bIns="0" rtlCol="0" anchor="ctr"/>
          <a:lstStyle/>
          <a:p>
            <a:pPr indent="0" marL="0">
              <a:buNone/>
            </a:pPr>
            <a:r>
              <a:rPr lang="en-US" sz="2700" b="1" dirty="0">
                <a:solidFill>
                  <a:srgbClr val="141413"/>
                </a:solidFill>
                <a:latin typeface="Meiryo" pitchFamily="34" charset="0"/>
                <a:ea typeface="Meiryo" pitchFamily="34" charset="-122"/>
                <a:cs typeface="Meiryo" pitchFamily="34" charset="-120"/>
              </a:rPr>
              <a:t>この講座を終えたとき、何が変わるか</a:t>
            </a:r>
            <a:endParaRPr lang="en-US" sz="2700" dirty="0"/>
          </a:p>
        </p:txBody>
      </p:sp>
      <p:sp>
        <p:nvSpPr>
          <p:cNvPr id="3" name="Text 1"/>
          <p:cNvSpPr/>
          <p:nvPr/>
        </p:nvSpPr>
        <p:spPr>
          <a:xfrm>
            <a:off x="640080" y="960120"/>
            <a:ext cx="10881360" cy="329184"/>
          </a:xfrm>
          <a:prstGeom prst="rect">
            <a:avLst/>
          </a:prstGeom>
          <a:noFill/>
          <a:ln/>
        </p:spPr>
        <p:txBody>
          <a:bodyPr wrap="square" lIns="0" tIns="0" rIns="0" bIns="0" rtlCol="0" anchor="ctr"/>
          <a:lstStyle/>
          <a:p>
            <a:pPr indent="0" marL="0">
              <a:buNone/>
            </a:pPr>
            <a:r>
              <a:rPr lang="en-US" sz="1300" dirty="0">
                <a:solidFill>
                  <a:srgbClr val="6E6C63"/>
                </a:solidFill>
                <a:latin typeface="Meiryo" pitchFamily="34" charset="0"/>
                <a:ea typeface="Meiryo" pitchFamily="34" charset="-122"/>
                <a:cs typeface="Meiryo" pitchFamily="34" charset="-120"/>
              </a:rPr>
              <a:t>「採用がうまい会社」ではなく「採用が仕組みになっている会社」になる</a:t>
            </a:r>
            <a:endParaRPr lang="en-US" sz="1300" dirty="0"/>
          </a:p>
        </p:txBody>
      </p:sp>
      <p:sp>
        <p:nvSpPr>
          <p:cNvPr id="4" name="Shape 2"/>
          <p:cNvSpPr/>
          <p:nvPr/>
        </p:nvSpPr>
        <p:spPr>
          <a:xfrm>
            <a:off x="640080" y="1600200"/>
            <a:ext cx="5120640" cy="2788920"/>
          </a:xfrm>
          <a:prstGeom prst="roundRect">
            <a:avLst>
              <a:gd name="adj" fmla="val 1967"/>
            </a:avLst>
          </a:prstGeom>
          <a:solidFill>
            <a:srgbClr val="FFFFFF"/>
          </a:solidFill>
          <a:ln w="12700">
            <a:solidFill>
              <a:srgbClr val="E8E6DC"/>
            </a:solidFill>
            <a:prstDash val="solid"/>
          </a:ln>
        </p:spPr>
      </p:sp>
      <p:sp>
        <p:nvSpPr>
          <p:cNvPr id="5" name="Text 3"/>
          <p:cNvSpPr/>
          <p:nvPr/>
        </p:nvSpPr>
        <p:spPr>
          <a:xfrm>
            <a:off x="960120" y="1783080"/>
            <a:ext cx="4480560" cy="365760"/>
          </a:xfrm>
          <a:prstGeom prst="rect">
            <a:avLst/>
          </a:prstGeom>
          <a:noFill/>
          <a:ln/>
        </p:spPr>
        <p:txBody>
          <a:bodyPr wrap="square" lIns="0" tIns="0" rIns="0" bIns="0" rtlCol="0" anchor="ctr"/>
          <a:lstStyle/>
          <a:p>
            <a:pPr indent="0" marL="0">
              <a:buNone/>
            </a:pPr>
            <a:r>
              <a:rPr lang="en-US" sz="1400" b="1" dirty="0">
                <a:solidFill>
                  <a:srgbClr val="6E6C63"/>
                </a:solidFill>
                <a:latin typeface="Meiryo" pitchFamily="34" charset="0"/>
                <a:ea typeface="Meiryo" pitchFamily="34" charset="-122"/>
                <a:cs typeface="Meiryo" pitchFamily="34" charset="-120"/>
              </a:rPr>
              <a:t>BEFORE ｜ いまの採用</a:t>
            </a:r>
            <a:endParaRPr lang="en-US" sz="1400" dirty="0"/>
          </a:p>
        </p:txBody>
      </p:sp>
      <p:sp>
        <p:nvSpPr>
          <p:cNvPr id="6" name="Text 4"/>
          <p:cNvSpPr/>
          <p:nvPr/>
        </p:nvSpPr>
        <p:spPr>
          <a:xfrm>
            <a:off x="960120" y="2194560"/>
            <a:ext cx="4480560" cy="2103120"/>
          </a:xfrm>
          <a:prstGeom prst="rect">
            <a:avLst/>
          </a:prstGeom>
          <a:noFill/>
          <a:ln/>
        </p:spPr>
        <p:txBody>
          <a:bodyPr wrap="square" lIns="0" tIns="0" rIns="0" bIns="0" rtlCol="0" anchor="t"/>
          <a:lstStyle/>
          <a:p>
            <a:pPr indent="0" marL="0">
              <a:lnSpc>
                <a:spcPts val="2400"/>
              </a:lnSpc>
              <a:buNone/>
            </a:pPr>
            <a:r>
              <a:rPr lang="en-US" sz="1250" dirty="0">
                <a:solidFill>
                  <a:srgbClr val="6E6C63"/>
                </a:solidFill>
                <a:latin typeface="Meiryo" pitchFamily="34" charset="0"/>
                <a:ea typeface="Meiryo" pitchFamily="34" charset="-122"/>
                <a:cs typeface="Meiryo" pitchFamily="34" charset="-120"/>
              </a:rPr>
              <a:t>・求人を出して、応募が来るのを待つ</a:t>
            </a:r>
            <a:endParaRPr lang="en-US" sz="1250" dirty="0"/>
          </a:p>
          <a:p>
            <a:pPr indent="0" marL="0">
              <a:lnSpc>
                <a:spcPts val="2400"/>
              </a:lnSpc>
              <a:buNone/>
            </a:pPr>
            <a:r>
              <a:rPr lang="en-US" sz="1250" dirty="0">
                <a:solidFill>
                  <a:srgbClr val="6E6C63"/>
                </a:solidFill>
                <a:latin typeface="Meiryo" pitchFamily="34" charset="0"/>
                <a:ea typeface="Meiryo" pitchFamily="34" charset="-122"/>
                <a:cs typeface="Meiryo" pitchFamily="34" charset="-120"/>
              </a:rPr>
              <a:t>・足りなければ紹介会社に依頼する</a:t>
            </a:r>
            <a:endParaRPr lang="en-US" sz="1250" dirty="0"/>
          </a:p>
          <a:p>
            <a:pPr indent="0" marL="0">
              <a:lnSpc>
                <a:spcPts val="2400"/>
              </a:lnSpc>
              <a:buNone/>
            </a:pPr>
            <a:r>
              <a:rPr lang="en-US" sz="1250" dirty="0">
                <a:solidFill>
                  <a:srgbClr val="6E6C63"/>
                </a:solidFill>
                <a:latin typeface="Meiryo" pitchFamily="34" charset="0"/>
                <a:ea typeface="Meiryo" pitchFamily="34" charset="-122"/>
                <a:cs typeface="Meiryo" pitchFamily="34" charset="-120"/>
              </a:rPr>
              <a:t>・1 人採るたびに手数料が飛んでいく</a:t>
            </a:r>
            <a:endParaRPr lang="en-US" sz="1250" dirty="0"/>
          </a:p>
          <a:p>
            <a:pPr indent="0" marL="0">
              <a:lnSpc>
                <a:spcPts val="2400"/>
              </a:lnSpc>
              <a:buNone/>
            </a:pPr>
            <a:r>
              <a:rPr lang="en-US" sz="1250" dirty="0">
                <a:solidFill>
                  <a:srgbClr val="6E6C63"/>
                </a:solidFill>
                <a:latin typeface="Meiryo" pitchFamily="34" charset="0"/>
                <a:ea typeface="Meiryo" pitchFamily="34" charset="-122"/>
                <a:cs typeface="Meiryo" pitchFamily="34" charset="-120"/>
              </a:rPr>
              <a:t>・うまくいった理由が誰にも説明できない</a:t>
            </a:r>
            <a:endParaRPr lang="en-US" sz="1250" dirty="0"/>
          </a:p>
          <a:p>
            <a:pPr indent="0" marL="0">
              <a:lnSpc>
                <a:spcPts val="2400"/>
              </a:lnSpc>
              <a:buNone/>
            </a:pPr>
            <a:r>
              <a:rPr lang="en-US" sz="1250" dirty="0">
                <a:solidFill>
                  <a:srgbClr val="6E6C63"/>
                </a:solidFill>
                <a:latin typeface="Meiryo" pitchFamily="34" charset="0"/>
                <a:ea typeface="Meiryo" pitchFamily="34" charset="-122"/>
                <a:cs typeface="Meiryo" pitchFamily="34" charset="-120"/>
              </a:rPr>
              <a:t>・担当者が辞めると、やり方ごと消える</a:t>
            </a:r>
            <a:endParaRPr lang="en-US" sz="1250" dirty="0"/>
          </a:p>
        </p:txBody>
      </p:sp>
      <p:sp>
        <p:nvSpPr>
          <p:cNvPr id="7" name="Shape 5"/>
          <p:cNvSpPr/>
          <p:nvPr/>
        </p:nvSpPr>
        <p:spPr>
          <a:xfrm>
            <a:off x="6400800" y="1600200"/>
            <a:ext cx="5120640" cy="2788920"/>
          </a:xfrm>
          <a:prstGeom prst="roundRect">
            <a:avLst>
              <a:gd name="adj" fmla="val 1967"/>
            </a:avLst>
          </a:prstGeom>
          <a:solidFill>
            <a:srgbClr val="141413"/>
          </a:solidFill>
          <a:ln w="12700">
            <a:solidFill>
              <a:srgbClr val="141413"/>
            </a:solidFill>
            <a:prstDash val="solid"/>
          </a:ln>
        </p:spPr>
      </p:sp>
      <p:sp>
        <p:nvSpPr>
          <p:cNvPr id="8" name="Text 6"/>
          <p:cNvSpPr/>
          <p:nvPr/>
        </p:nvSpPr>
        <p:spPr>
          <a:xfrm>
            <a:off x="6720840" y="1783080"/>
            <a:ext cx="4480560" cy="365760"/>
          </a:xfrm>
          <a:prstGeom prst="rect">
            <a:avLst/>
          </a:prstGeom>
          <a:noFill/>
          <a:ln/>
        </p:spPr>
        <p:txBody>
          <a:bodyPr wrap="square" lIns="0" tIns="0" rIns="0" bIns="0" rtlCol="0" anchor="ctr"/>
          <a:lstStyle/>
          <a:p>
            <a:pPr indent="0" marL="0">
              <a:buNone/>
            </a:pPr>
            <a:r>
              <a:rPr lang="en-US" sz="1400" b="1" dirty="0">
                <a:solidFill>
                  <a:srgbClr val="D97757"/>
                </a:solidFill>
                <a:latin typeface="Meiryo" pitchFamily="34" charset="0"/>
                <a:ea typeface="Meiryo" pitchFamily="34" charset="-122"/>
                <a:cs typeface="Meiryo" pitchFamily="34" charset="-120"/>
              </a:rPr>
              <a:t>AFTER ｜ 講座を終えたあと</a:t>
            </a:r>
            <a:endParaRPr lang="en-US" sz="1400" dirty="0"/>
          </a:p>
        </p:txBody>
      </p:sp>
      <p:sp>
        <p:nvSpPr>
          <p:cNvPr id="9" name="Text 7"/>
          <p:cNvSpPr/>
          <p:nvPr/>
        </p:nvSpPr>
        <p:spPr>
          <a:xfrm>
            <a:off x="6720840" y="2194560"/>
            <a:ext cx="4480560" cy="2103120"/>
          </a:xfrm>
          <a:prstGeom prst="rect">
            <a:avLst/>
          </a:prstGeom>
          <a:noFill/>
          <a:ln/>
        </p:spPr>
        <p:txBody>
          <a:bodyPr wrap="square" lIns="0" tIns="0" rIns="0" bIns="0" rtlCol="0" anchor="t"/>
          <a:lstStyle/>
          <a:p>
            <a:pPr indent="0" marL="0">
              <a:lnSpc>
                <a:spcPts val="2400"/>
              </a:lnSpc>
              <a:buNone/>
            </a:pPr>
            <a:r>
              <a:rPr lang="en-US" sz="1250" dirty="0">
                <a:solidFill>
                  <a:srgbClr val="FFFFFF"/>
                </a:solidFill>
                <a:latin typeface="Meiryo" pitchFamily="34" charset="0"/>
                <a:ea typeface="Meiryo" pitchFamily="34" charset="-122"/>
                <a:cs typeface="Meiryo" pitchFamily="34" charset="-120"/>
              </a:rPr>
              <a:t>・求職者の心理段階ごとに打ち手を持っている</a:t>
            </a:r>
            <a:endParaRPr lang="en-US" sz="1250" dirty="0"/>
          </a:p>
          <a:p>
            <a:pPr indent="0" marL="0">
              <a:lnSpc>
                <a:spcPts val="2400"/>
              </a:lnSpc>
              <a:buNone/>
            </a:pPr>
            <a:r>
              <a:rPr lang="en-US" sz="1250" dirty="0">
                <a:solidFill>
                  <a:srgbClr val="FFFFFF"/>
                </a:solidFill>
                <a:latin typeface="Meiryo" pitchFamily="34" charset="0"/>
                <a:ea typeface="Meiryo" pitchFamily="34" charset="-122"/>
                <a:cs typeface="Meiryo" pitchFamily="34" charset="-120"/>
              </a:rPr>
              <a:t>・自社の採用ページに応募が入ってくる</a:t>
            </a:r>
            <a:endParaRPr lang="en-US" sz="1250" dirty="0"/>
          </a:p>
          <a:p>
            <a:pPr indent="0" marL="0">
              <a:lnSpc>
                <a:spcPts val="2400"/>
              </a:lnSpc>
              <a:buNone/>
            </a:pPr>
            <a:r>
              <a:rPr lang="en-US" sz="1250" dirty="0">
                <a:solidFill>
                  <a:srgbClr val="FFFFFF"/>
                </a:solidFill>
                <a:latin typeface="Meiryo" pitchFamily="34" charset="0"/>
                <a:ea typeface="Meiryo" pitchFamily="34" charset="-122"/>
                <a:cs typeface="Meiryo" pitchFamily="34" charset="-120"/>
              </a:rPr>
              <a:t>・掲載料 0 円のツールで露出が回り続ける</a:t>
            </a:r>
            <a:endParaRPr lang="en-US" sz="1250" dirty="0"/>
          </a:p>
          <a:p>
            <a:pPr indent="0" marL="0">
              <a:lnSpc>
                <a:spcPts val="2400"/>
              </a:lnSpc>
              <a:buNone/>
            </a:pPr>
            <a:r>
              <a:rPr lang="en-US" sz="1250" dirty="0">
                <a:solidFill>
                  <a:srgbClr val="FFFFFF"/>
                </a:solidFill>
                <a:latin typeface="Meiryo" pitchFamily="34" charset="0"/>
                <a:ea typeface="Meiryo" pitchFamily="34" charset="-122"/>
                <a:cs typeface="Meiryo" pitchFamily="34" charset="-120"/>
              </a:rPr>
              <a:t>・原稿づくりと数値集計を AI が代行する</a:t>
            </a:r>
            <a:endParaRPr lang="en-US" sz="1250" dirty="0"/>
          </a:p>
          <a:p>
            <a:pPr indent="0" marL="0">
              <a:lnSpc>
                <a:spcPts val="2400"/>
              </a:lnSpc>
              <a:buNone/>
            </a:pPr>
            <a:r>
              <a:rPr lang="en-US" sz="1250" dirty="0">
                <a:solidFill>
                  <a:srgbClr val="FFFFFF"/>
                </a:solidFill>
                <a:latin typeface="Meiryo" pitchFamily="34" charset="0"/>
                <a:ea typeface="Meiryo" pitchFamily="34" charset="-122"/>
                <a:cs typeface="Meiryo" pitchFamily="34" charset="-120"/>
              </a:rPr>
              <a:t>・仕組みが会社の資産として残る</a:t>
            </a:r>
            <a:endParaRPr lang="en-US" sz="1250" dirty="0"/>
          </a:p>
        </p:txBody>
      </p:sp>
      <p:sp>
        <p:nvSpPr>
          <p:cNvPr id="10" name="Shape 8"/>
          <p:cNvSpPr/>
          <p:nvPr/>
        </p:nvSpPr>
        <p:spPr>
          <a:xfrm>
            <a:off x="5879592" y="2743200"/>
            <a:ext cx="457200" cy="502920"/>
          </a:xfrm>
          <a:prstGeom prst="rightArrow">
            <a:avLst/>
          </a:prstGeom>
          <a:solidFill>
            <a:srgbClr val="D97757"/>
          </a:solidFill>
          <a:ln/>
        </p:spPr>
      </p:sp>
      <p:sp>
        <p:nvSpPr>
          <p:cNvPr id="11" name="Shape 9"/>
          <p:cNvSpPr/>
          <p:nvPr/>
        </p:nvSpPr>
        <p:spPr>
          <a:xfrm>
            <a:off x="640080" y="4572000"/>
            <a:ext cx="3352800" cy="1371600"/>
          </a:xfrm>
          <a:prstGeom prst="roundRect">
            <a:avLst>
              <a:gd name="adj" fmla="val 4000"/>
            </a:avLst>
          </a:prstGeom>
          <a:solidFill>
            <a:srgbClr val="FFFFFF"/>
          </a:solidFill>
          <a:ln w="12700">
            <a:solidFill>
              <a:srgbClr val="E8E6DC"/>
            </a:solidFill>
            <a:prstDash val="solid"/>
          </a:ln>
          <a:effectLst>
            <a:outerShdw sx="100000" sy="100000" kx="0" ky="0" algn="bl" rotWithShape="0" blurRad="114300" dist="25400" dir="5400000">
              <a:srgbClr val="B0AEA5">
                <a:alpha val="30000"/>
              </a:srgbClr>
            </a:outerShdw>
          </a:effectLst>
        </p:spPr>
      </p:sp>
      <p:sp>
        <p:nvSpPr>
          <p:cNvPr id="12" name="Text 10"/>
          <p:cNvSpPr/>
          <p:nvPr/>
        </p:nvSpPr>
        <p:spPr>
          <a:xfrm>
            <a:off x="896112" y="4681728"/>
            <a:ext cx="2840736" cy="502920"/>
          </a:xfrm>
          <a:prstGeom prst="rect">
            <a:avLst/>
          </a:prstGeom>
          <a:noFill/>
          <a:ln/>
        </p:spPr>
        <p:txBody>
          <a:bodyPr wrap="square" lIns="0" tIns="0" rIns="0" bIns="0" rtlCol="0" anchor="ctr"/>
          <a:lstStyle/>
          <a:p>
            <a:pPr indent="0" marL="0">
              <a:buNone/>
            </a:pPr>
            <a:r>
              <a:rPr lang="en-US" sz="2200" b="1" dirty="0">
                <a:solidFill>
                  <a:srgbClr val="D97757"/>
                </a:solidFill>
                <a:latin typeface="Meiryo" pitchFamily="34" charset="0"/>
                <a:ea typeface="Meiryo" pitchFamily="34" charset="-122"/>
                <a:cs typeface="Meiryo" pitchFamily="34" charset="-120"/>
              </a:rPr>
              <a:t>20〜30%</a:t>
            </a:r>
            <a:pPr indent="0" marL="0">
              <a:buNone/>
            </a:pPr>
            <a:r>
              <a:rPr lang="en-US" sz="1050" b="1" dirty="0">
                <a:solidFill>
                  <a:srgbClr val="141413"/>
                </a:solidFill>
                <a:latin typeface="Meiryo" pitchFamily="34" charset="0"/>
                <a:ea typeface="Meiryo" pitchFamily="34" charset="-122"/>
                <a:cs typeface="Meiryo" pitchFamily="34" charset="-120"/>
              </a:rPr>
              <a:t>  が手数料の相場</a:t>
            </a:r>
            <a:endParaRPr lang="en-US" sz="2200" dirty="0"/>
          </a:p>
        </p:txBody>
      </p:sp>
      <p:sp>
        <p:nvSpPr>
          <p:cNvPr id="13" name="Text 11"/>
          <p:cNvSpPr/>
          <p:nvPr/>
        </p:nvSpPr>
        <p:spPr>
          <a:xfrm>
            <a:off x="896112" y="5193792"/>
            <a:ext cx="2840736" cy="640080"/>
          </a:xfrm>
          <a:prstGeom prst="rect">
            <a:avLst/>
          </a:prstGeom>
          <a:noFill/>
          <a:ln/>
        </p:spPr>
        <p:txBody>
          <a:bodyPr wrap="square" lIns="0" tIns="0" rIns="0" bIns="0" rtlCol="0" anchor="t"/>
          <a:lstStyle/>
          <a:p>
            <a:pPr indent="0" marL="0">
              <a:lnSpc>
                <a:spcPts val="1700"/>
              </a:lnSpc>
              <a:buNone/>
            </a:pPr>
            <a:r>
              <a:rPr lang="en-US" sz="1100" dirty="0">
                <a:solidFill>
                  <a:srgbClr val="6E6C63"/>
                </a:solidFill>
                <a:latin typeface="Meiryo" pitchFamily="34" charset="0"/>
                <a:ea typeface="Meiryo" pitchFamily="34" charset="-122"/>
                <a:cs typeface="Meiryo" pitchFamily="34" charset="-120"/>
              </a:rPr>
              <a:t>介護職の年収 300〜400 万円なら</a:t>
            </a:r>
            <a:endParaRPr lang="en-US" sz="1100" dirty="0"/>
          </a:p>
          <a:p>
            <a:pPr indent="0" marL="0">
              <a:lnSpc>
                <a:spcPts val="1700"/>
              </a:lnSpc>
              <a:buNone/>
            </a:pPr>
            <a:r>
              <a:rPr lang="en-US" sz="1100" dirty="0">
                <a:solidFill>
                  <a:srgbClr val="6E6C63"/>
                </a:solidFill>
                <a:latin typeface="Meiryo" pitchFamily="34" charset="0"/>
                <a:ea typeface="Meiryo" pitchFamily="34" charset="-122"/>
                <a:cs typeface="Meiryo" pitchFamily="34" charset="-120"/>
              </a:rPr>
              <a:t>1 人あたり 60〜120 万円。</a:t>
            </a:r>
            <a:endParaRPr lang="en-US" sz="1100" dirty="0"/>
          </a:p>
        </p:txBody>
      </p:sp>
      <p:sp>
        <p:nvSpPr>
          <p:cNvPr id="14" name="Shape 12"/>
          <p:cNvSpPr/>
          <p:nvPr/>
        </p:nvSpPr>
        <p:spPr>
          <a:xfrm>
            <a:off x="4404360" y="4572000"/>
            <a:ext cx="3352800" cy="1371600"/>
          </a:xfrm>
          <a:prstGeom prst="roundRect">
            <a:avLst>
              <a:gd name="adj" fmla="val 4000"/>
            </a:avLst>
          </a:prstGeom>
          <a:solidFill>
            <a:srgbClr val="FFFFFF"/>
          </a:solidFill>
          <a:ln w="12700">
            <a:solidFill>
              <a:srgbClr val="E8E6DC"/>
            </a:solidFill>
            <a:prstDash val="solid"/>
          </a:ln>
          <a:effectLst>
            <a:outerShdw sx="100000" sy="100000" kx="0" ky="0" algn="bl" rotWithShape="0" blurRad="114300" dist="25400" dir="5400000">
              <a:srgbClr val="B0AEA5">
                <a:alpha val="30000"/>
              </a:srgbClr>
            </a:outerShdw>
          </a:effectLst>
        </p:spPr>
      </p:sp>
      <p:sp>
        <p:nvSpPr>
          <p:cNvPr id="15" name="Text 13"/>
          <p:cNvSpPr/>
          <p:nvPr/>
        </p:nvSpPr>
        <p:spPr>
          <a:xfrm>
            <a:off x="4660392" y="4681728"/>
            <a:ext cx="2840736" cy="502920"/>
          </a:xfrm>
          <a:prstGeom prst="rect">
            <a:avLst/>
          </a:prstGeom>
          <a:noFill/>
          <a:ln/>
        </p:spPr>
        <p:txBody>
          <a:bodyPr wrap="square" lIns="0" tIns="0" rIns="0" bIns="0" rtlCol="0" anchor="ctr"/>
          <a:lstStyle/>
          <a:p>
            <a:pPr indent="0" marL="0">
              <a:buNone/>
            </a:pPr>
            <a:r>
              <a:rPr lang="en-US" sz="2200" b="1" dirty="0">
                <a:solidFill>
                  <a:srgbClr val="D97757"/>
                </a:solidFill>
                <a:latin typeface="Meiryo" pitchFamily="34" charset="0"/>
                <a:ea typeface="Meiryo" pitchFamily="34" charset="-122"/>
                <a:cs typeface="Meiryo" pitchFamily="34" charset="-120"/>
              </a:rPr>
              <a:t>0円</a:t>
            </a:r>
            <a:pPr indent="0" marL="0">
              <a:buNone/>
            </a:pPr>
            <a:r>
              <a:rPr lang="en-US" sz="1050" b="1" dirty="0">
                <a:solidFill>
                  <a:srgbClr val="141413"/>
                </a:solidFill>
                <a:latin typeface="Meiryo" pitchFamily="34" charset="0"/>
                <a:ea typeface="Meiryo" pitchFamily="34" charset="-122"/>
                <a:cs typeface="Meiryo" pitchFamily="34" charset="-120"/>
              </a:rPr>
              <a:t>  が掲載料の目安</a:t>
            </a:r>
            <a:endParaRPr lang="en-US" sz="2200" dirty="0"/>
          </a:p>
        </p:txBody>
      </p:sp>
      <p:sp>
        <p:nvSpPr>
          <p:cNvPr id="16" name="Text 14"/>
          <p:cNvSpPr/>
          <p:nvPr/>
        </p:nvSpPr>
        <p:spPr>
          <a:xfrm>
            <a:off x="4660392" y="5193792"/>
            <a:ext cx="2840736" cy="640080"/>
          </a:xfrm>
          <a:prstGeom prst="rect">
            <a:avLst/>
          </a:prstGeom>
          <a:noFill/>
          <a:ln/>
        </p:spPr>
        <p:txBody>
          <a:bodyPr wrap="square" lIns="0" tIns="0" rIns="0" bIns="0" rtlCol="0" anchor="t"/>
          <a:lstStyle/>
          <a:p>
            <a:pPr indent="0" marL="0">
              <a:lnSpc>
                <a:spcPts val="1700"/>
              </a:lnSpc>
              <a:buNone/>
            </a:pPr>
            <a:r>
              <a:rPr lang="en-US" sz="1100" dirty="0">
                <a:solidFill>
                  <a:srgbClr val="6E6C63"/>
                </a:solidFill>
                <a:latin typeface="Meiryo" pitchFamily="34" charset="0"/>
                <a:ea typeface="Meiryo" pitchFamily="34" charset="-122"/>
                <a:cs typeface="Meiryo" pitchFamily="34" charset="-120"/>
              </a:rPr>
              <a:t>Engage → Indeed・Google しごと検索</a:t>
            </a:r>
            <a:endParaRPr lang="en-US" sz="1100" dirty="0"/>
          </a:p>
          <a:p>
            <a:pPr indent="0" marL="0">
              <a:lnSpc>
                <a:spcPts val="1700"/>
              </a:lnSpc>
              <a:buNone/>
            </a:pPr>
            <a:r>
              <a:rPr lang="en-US" sz="1100" dirty="0">
                <a:solidFill>
                  <a:srgbClr val="6E6C63"/>
                </a:solidFill>
                <a:latin typeface="Meiryo" pitchFamily="34" charset="0"/>
                <a:ea typeface="Meiryo" pitchFamily="34" charset="-122"/>
                <a:cs typeface="Meiryo" pitchFamily="34" charset="-120"/>
              </a:rPr>
              <a:t>への掲載は無料枠で回せます。</a:t>
            </a:r>
            <a:endParaRPr lang="en-US" sz="1100" dirty="0"/>
          </a:p>
        </p:txBody>
      </p:sp>
      <p:sp>
        <p:nvSpPr>
          <p:cNvPr id="17" name="Shape 15"/>
          <p:cNvSpPr/>
          <p:nvPr/>
        </p:nvSpPr>
        <p:spPr>
          <a:xfrm>
            <a:off x="8168640" y="4572000"/>
            <a:ext cx="3352800" cy="1371600"/>
          </a:xfrm>
          <a:prstGeom prst="roundRect">
            <a:avLst>
              <a:gd name="adj" fmla="val 4000"/>
            </a:avLst>
          </a:prstGeom>
          <a:solidFill>
            <a:srgbClr val="FFFFFF"/>
          </a:solidFill>
          <a:ln w="12700">
            <a:solidFill>
              <a:srgbClr val="E8E6DC"/>
            </a:solidFill>
            <a:prstDash val="solid"/>
          </a:ln>
          <a:effectLst>
            <a:outerShdw sx="100000" sy="100000" kx="0" ky="0" algn="bl" rotWithShape="0" blurRad="114300" dist="25400" dir="5400000">
              <a:srgbClr val="B0AEA5">
                <a:alpha val="30000"/>
              </a:srgbClr>
            </a:outerShdw>
          </a:effectLst>
        </p:spPr>
      </p:sp>
      <p:sp>
        <p:nvSpPr>
          <p:cNvPr id="18" name="Text 16"/>
          <p:cNvSpPr/>
          <p:nvPr/>
        </p:nvSpPr>
        <p:spPr>
          <a:xfrm>
            <a:off x="8424672" y="4681728"/>
            <a:ext cx="2840736" cy="502920"/>
          </a:xfrm>
          <a:prstGeom prst="rect">
            <a:avLst/>
          </a:prstGeom>
          <a:noFill/>
          <a:ln/>
        </p:spPr>
        <p:txBody>
          <a:bodyPr wrap="square" lIns="0" tIns="0" rIns="0" bIns="0" rtlCol="0" anchor="ctr"/>
          <a:lstStyle/>
          <a:p>
            <a:pPr indent="0" marL="0">
              <a:buNone/>
            </a:pPr>
            <a:r>
              <a:rPr lang="en-US" sz="2200" b="1" dirty="0">
                <a:solidFill>
                  <a:srgbClr val="D97757"/>
                </a:solidFill>
                <a:latin typeface="Meiryo" pitchFamily="34" charset="0"/>
                <a:ea typeface="Meiryo" pitchFamily="34" charset="-122"/>
                <a:cs typeface="Meiryo" pitchFamily="34" charset="-120"/>
              </a:rPr>
              <a:t>4段階</a:t>
            </a:r>
            <a:pPr indent="0" marL="0">
              <a:buNone/>
            </a:pPr>
            <a:r>
              <a:rPr lang="en-US" sz="1050" b="1" dirty="0">
                <a:solidFill>
                  <a:srgbClr val="141413"/>
                </a:solidFill>
                <a:latin typeface="Meiryo" pitchFamily="34" charset="0"/>
                <a:ea typeface="Meiryo" pitchFamily="34" charset="-122"/>
                <a:cs typeface="Meiryo" pitchFamily="34" charset="-120"/>
              </a:rPr>
              <a:t>  で求職者は動く</a:t>
            </a:r>
            <a:endParaRPr lang="en-US" sz="2200" dirty="0"/>
          </a:p>
        </p:txBody>
      </p:sp>
      <p:sp>
        <p:nvSpPr>
          <p:cNvPr id="19" name="Text 17"/>
          <p:cNvSpPr/>
          <p:nvPr/>
        </p:nvSpPr>
        <p:spPr>
          <a:xfrm>
            <a:off x="8424672" y="5193792"/>
            <a:ext cx="2840736" cy="640080"/>
          </a:xfrm>
          <a:prstGeom prst="rect">
            <a:avLst/>
          </a:prstGeom>
          <a:noFill/>
          <a:ln/>
        </p:spPr>
        <p:txBody>
          <a:bodyPr wrap="square" lIns="0" tIns="0" rIns="0" bIns="0" rtlCol="0" anchor="t"/>
          <a:lstStyle/>
          <a:p>
            <a:pPr indent="0" marL="0">
              <a:lnSpc>
                <a:spcPts val="1700"/>
              </a:lnSpc>
              <a:buNone/>
            </a:pPr>
            <a:r>
              <a:rPr lang="en-US" sz="1100" dirty="0">
                <a:solidFill>
                  <a:srgbClr val="6E6C63"/>
                </a:solidFill>
                <a:latin typeface="Meiryo" pitchFamily="34" charset="0"/>
                <a:ea typeface="Meiryo" pitchFamily="34" charset="-122"/>
                <a:cs typeface="Meiryo" pitchFamily="34" charset="-120"/>
              </a:rPr>
              <a:t>認知 → 比較 → 行動 → 確信。</a:t>
            </a:r>
            <a:endParaRPr lang="en-US" sz="1100" dirty="0"/>
          </a:p>
          <a:p>
            <a:pPr indent="0" marL="0">
              <a:lnSpc>
                <a:spcPts val="1700"/>
              </a:lnSpc>
              <a:buNone/>
            </a:pPr>
            <a:r>
              <a:rPr lang="en-US" sz="1100" dirty="0">
                <a:solidFill>
                  <a:srgbClr val="6E6C63"/>
                </a:solidFill>
                <a:latin typeface="Meiryo" pitchFamily="34" charset="0"/>
                <a:ea typeface="Meiryo" pitchFamily="34" charset="-122"/>
                <a:cs typeface="Meiryo" pitchFamily="34" charset="-120"/>
              </a:rPr>
              <a:t>どこで止まるかを特定します。</a:t>
            </a:r>
            <a:endParaRPr lang="en-US" sz="1100" dirty="0"/>
          </a:p>
        </p:txBody>
      </p:sp>
      <p:sp>
        <p:nvSpPr>
          <p:cNvPr id="20" name="Text 18"/>
          <p:cNvSpPr/>
          <p:nvPr/>
        </p:nvSpPr>
        <p:spPr>
          <a:xfrm>
            <a:off x="640080" y="6035040"/>
            <a:ext cx="10881360" cy="320040"/>
          </a:xfrm>
          <a:prstGeom prst="rect">
            <a:avLst/>
          </a:prstGeom>
          <a:noFill/>
          <a:ln/>
        </p:spPr>
        <p:txBody>
          <a:bodyPr wrap="square" lIns="0" tIns="0" rIns="0" bIns="0" rtlCol="0" anchor="ctr"/>
          <a:lstStyle/>
          <a:p>
            <a:pPr indent="0" marL="0">
              <a:buNone/>
            </a:pPr>
            <a:r>
              <a:rPr lang="en-US" sz="1000" dirty="0">
                <a:solidFill>
                  <a:srgbClr val="7D7B72"/>
                </a:solidFill>
                <a:latin typeface="Meiryo" pitchFamily="34" charset="0"/>
                <a:ea typeface="Meiryo" pitchFamily="34" charset="-122"/>
                <a:cs typeface="Meiryo" pitchFamily="34" charset="-120"/>
              </a:rPr>
              <a:t>※ 金額は業界一般の相場からの試算例です。実際の単価は職種・地域・契約条件で変わります。</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9646920" y="365760"/>
            <a:ext cx="1874520" cy="310896"/>
          </a:xfrm>
          <a:prstGeom prst="roundRect">
            <a:avLst>
              <a:gd name="adj" fmla="val 14706"/>
            </a:avLst>
          </a:prstGeom>
          <a:solidFill>
            <a:srgbClr val="E7ECDD"/>
          </a:solidFill>
          <a:ln w="12700">
            <a:solidFill>
              <a:srgbClr val="788C5D"/>
            </a:solidFill>
            <a:prstDash val="solid"/>
          </a:ln>
        </p:spPr>
      </p:sp>
      <p:sp>
        <p:nvSpPr>
          <p:cNvPr id="3" name="Text 1"/>
          <p:cNvSpPr/>
          <p:nvPr/>
        </p:nvSpPr>
        <p:spPr>
          <a:xfrm>
            <a:off x="9646920" y="365760"/>
            <a:ext cx="1874520" cy="310896"/>
          </a:xfrm>
          <a:prstGeom prst="rect">
            <a:avLst/>
          </a:prstGeom>
          <a:noFill/>
          <a:ln/>
        </p:spPr>
        <p:txBody>
          <a:bodyPr wrap="square" lIns="0" tIns="0" rIns="0" bIns="0" rtlCol="0" anchor="ctr"/>
          <a:lstStyle/>
          <a:p>
            <a:pPr algn="ctr" indent="0" marL="0">
              <a:buNone/>
            </a:pPr>
            <a:r>
              <a:rPr lang="en-US" sz="1050" b="1" dirty="0">
                <a:solidFill>
                  <a:srgbClr val="788C5D"/>
                </a:solidFill>
                <a:latin typeface="Meiryo" pitchFamily="34" charset="0"/>
                <a:ea typeface="Meiryo" pitchFamily="34" charset="-122"/>
                <a:cs typeface="Meiryo" pitchFamily="34" charset="-120"/>
              </a:rPr>
              <a:t>AI 講座パート</a:t>
            </a:r>
            <a:endParaRPr lang="en-US" sz="1050" dirty="0"/>
          </a:p>
        </p:txBody>
      </p:sp>
      <p:sp>
        <p:nvSpPr>
          <p:cNvPr id="4" name="Text 2"/>
          <p:cNvSpPr/>
          <p:nvPr/>
        </p:nvSpPr>
        <p:spPr>
          <a:xfrm>
            <a:off x="640080" y="411480"/>
            <a:ext cx="10881360" cy="566928"/>
          </a:xfrm>
          <a:prstGeom prst="rect">
            <a:avLst/>
          </a:prstGeom>
          <a:noFill/>
          <a:ln/>
        </p:spPr>
        <p:txBody>
          <a:bodyPr wrap="square" lIns="0" tIns="0" rIns="0" bIns="0" rtlCol="0" anchor="ctr"/>
          <a:lstStyle/>
          <a:p>
            <a:pPr indent="0" marL="0">
              <a:buNone/>
            </a:pPr>
            <a:r>
              <a:rPr lang="en-US" sz="2700" b="1" dirty="0">
                <a:solidFill>
                  <a:srgbClr val="141413"/>
                </a:solidFill>
                <a:latin typeface="Meiryo" pitchFamily="34" charset="0"/>
                <a:ea typeface="Meiryo" pitchFamily="34" charset="-122"/>
                <a:cs typeface="Meiryo" pitchFamily="34" charset="-120"/>
              </a:rPr>
              <a:t>カリキュラム全体像 ｜ 全 6 モジュール</a:t>
            </a:r>
            <a:endParaRPr lang="en-US" sz="2700" dirty="0"/>
          </a:p>
        </p:txBody>
      </p:sp>
      <p:sp>
        <p:nvSpPr>
          <p:cNvPr id="5" name="Text 3"/>
          <p:cNvSpPr/>
          <p:nvPr/>
        </p:nvSpPr>
        <p:spPr>
          <a:xfrm>
            <a:off x="640080" y="960120"/>
            <a:ext cx="10881360" cy="329184"/>
          </a:xfrm>
          <a:prstGeom prst="rect">
            <a:avLst/>
          </a:prstGeom>
          <a:noFill/>
          <a:ln/>
        </p:spPr>
        <p:txBody>
          <a:bodyPr wrap="square" lIns="0" tIns="0" rIns="0" bIns="0" rtlCol="0" anchor="ctr"/>
          <a:lstStyle/>
          <a:p>
            <a:pPr indent="0" marL="0">
              <a:buNone/>
            </a:pPr>
            <a:r>
              <a:rPr lang="en-US" sz="1300" dirty="0">
                <a:solidFill>
                  <a:srgbClr val="6E6C63"/>
                </a:solidFill>
                <a:latin typeface="Meiryo" pitchFamily="34" charset="0"/>
                <a:ea typeface="Meiryo" pitchFamily="34" charset="-122"/>
                <a:cs typeface="Meiryo" pitchFamily="34" charset="-120"/>
              </a:rPr>
              <a:t>上から順に進めます。1 つ飛ばすと、次のモジュールが機能しません</a:t>
            </a:r>
            <a:endParaRPr lang="en-US" sz="1300" dirty="0"/>
          </a:p>
        </p:txBody>
      </p:sp>
      <p:sp>
        <p:nvSpPr>
          <p:cNvPr id="6" name="Shape 4"/>
          <p:cNvSpPr/>
          <p:nvPr/>
        </p:nvSpPr>
        <p:spPr>
          <a:xfrm>
            <a:off x="640080" y="1664208"/>
            <a:ext cx="3413760" cy="1828800"/>
          </a:xfrm>
          <a:prstGeom prst="roundRect">
            <a:avLst>
              <a:gd name="adj" fmla="val 3000"/>
            </a:avLst>
          </a:prstGeom>
          <a:solidFill>
            <a:srgbClr val="141413"/>
          </a:solidFill>
          <a:ln w="12700">
            <a:solidFill>
              <a:srgbClr val="141413"/>
            </a:solidFill>
            <a:prstDash val="solid"/>
          </a:ln>
        </p:spPr>
      </p:sp>
      <p:sp>
        <p:nvSpPr>
          <p:cNvPr id="7" name="Text 5"/>
          <p:cNvSpPr/>
          <p:nvPr/>
        </p:nvSpPr>
        <p:spPr>
          <a:xfrm>
            <a:off x="932688" y="1892808"/>
            <a:ext cx="2828544" cy="292608"/>
          </a:xfrm>
          <a:prstGeom prst="rect">
            <a:avLst/>
          </a:prstGeom>
          <a:noFill/>
          <a:ln/>
        </p:spPr>
        <p:txBody>
          <a:bodyPr wrap="square" lIns="0" tIns="0" rIns="0" bIns="0" rtlCol="0" anchor="ctr"/>
          <a:lstStyle/>
          <a:p>
            <a:pPr indent="0" marL="0">
              <a:buNone/>
            </a:pPr>
            <a:r>
              <a:rPr lang="en-US" sz="1150" b="1" spc="100" kern="0" dirty="0">
                <a:solidFill>
                  <a:srgbClr val="D97757"/>
                </a:solidFill>
                <a:latin typeface="Meiryo" pitchFamily="34" charset="0"/>
                <a:ea typeface="Meiryo" pitchFamily="34" charset="-122"/>
                <a:cs typeface="Meiryo" pitchFamily="34" charset="-120"/>
              </a:rPr>
              <a:t>MODULE 0</a:t>
            </a:r>
            <a:endParaRPr lang="en-US" sz="1150" dirty="0"/>
          </a:p>
        </p:txBody>
      </p:sp>
      <p:sp>
        <p:nvSpPr>
          <p:cNvPr id="8" name="Text 6"/>
          <p:cNvSpPr/>
          <p:nvPr/>
        </p:nvSpPr>
        <p:spPr>
          <a:xfrm>
            <a:off x="932688" y="2212848"/>
            <a:ext cx="2828544" cy="457200"/>
          </a:xfrm>
          <a:prstGeom prst="rect">
            <a:avLst/>
          </a:prstGeom>
          <a:noFill/>
          <a:ln/>
        </p:spPr>
        <p:txBody>
          <a:bodyPr wrap="square" lIns="0" tIns="0" rIns="0" bIns="0" rtlCol="0" anchor="ctr"/>
          <a:lstStyle/>
          <a:p>
            <a:pPr indent="0" marL="0">
              <a:buNone/>
            </a:pPr>
            <a:r>
              <a:rPr lang="en-US" sz="2000" b="1" dirty="0">
                <a:solidFill>
                  <a:srgbClr val="FFFFFF"/>
                </a:solidFill>
                <a:latin typeface="Meiryo" pitchFamily="34" charset="0"/>
                <a:ea typeface="Meiryo" pitchFamily="34" charset="-122"/>
                <a:cs typeface="Meiryo" pitchFamily="34" charset="-120"/>
              </a:rPr>
              <a:t>現状把握</a:t>
            </a:r>
            <a:endParaRPr lang="en-US" sz="2000" dirty="0"/>
          </a:p>
        </p:txBody>
      </p:sp>
      <p:sp>
        <p:nvSpPr>
          <p:cNvPr id="9" name="Text 7"/>
          <p:cNvSpPr/>
          <p:nvPr/>
        </p:nvSpPr>
        <p:spPr>
          <a:xfrm>
            <a:off x="932688" y="2688336"/>
            <a:ext cx="2828544" cy="731520"/>
          </a:xfrm>
          <a:prstGeom prst="rect">
            <a:avLst/>
          </a:prstGeom>
          <a:noFill/>
          <a:ln/>
        </p:spPr>
        <p:txBody>
          <a:bodyPr wrap="square" lIns="0" tIns="0" rIns="0" bIns="0" rtlCol="0" anchor="t"/>
          <a:lstStyle/>
          <a:p>
            <a:pPr indent="0" marL="0">
              <a:lnSpc>
                <a:spcPts val="2000"/>
              </a:lnSpc>
              <a:buNone/>
            </a:pPr>
            <a:r>
              <a:rPr lang="en-US" sz="1200" dirty="0">
                <a:solidFill>
                  <a:srgbClr val="D6D3C8"/>
                </a:solidFill>
                <a:latin typeface="Meiryo" pitchFamily="34" charset="0"/>
                <a:ea typeface="Meiryo" pitchFamily="34" charset="-122"/>
                <a:cs typeface="Meiryo" pitchFamily="34" charset="-120"/>
              </a:rPr>
              <a:t>いまの採用単価と</a:t>
            </a:r>
            <a:endParaRPr lang="en-US" sz="1200" dirty="0"/>
          </a:p>
          <a:p>
            <a:pPr indent="0" marL="0">
              <a:lnSpc>
                <a:spcPts val="2000"/>
              </a:lnSpc>
              <a:buNone/>
            </a:pPr>
            <a:r>
              <a:rPr lang="en-US" sz="1200" dirty="0">
                <a:solidFill>
                  <a:srgbClr val="D6D3C8"/>
                </a:solidFill>
                <a:latin typeface="Meiryo" pitchFamily="34" charset="0"/>
                <a:ea typeface="Meiryo" pitchFamily="34" charset="-122"/>
                <a:cs typeface="Meiryo" pitchFamily="34" charset="-120"/>
              </a:rPr>
              <a:t>ボトルネックを数字にする</a:t>
            </a:r>
            <a:endParaRPr lang="en-US" sz="1200" dirty="0"/>
          </a:p>
        </p:txBody>
      </p:sp>
      <p:sp>
        <p:nvSpPr>
          <p:cNvPr id="10" name="Shape 8"/>
          <p:cNvSpPr/>
          <p:nvPr/>
        </p:nvSpPr>
        <p:spPr>
          <a:xfrm>
            <a:off x="4373880" y="1664208"/>
            <a:ext cx="3413760" cy="1828800"/>
          </a:xfrm>
          <a:prstGeom prst="roundRect">
            <a:avLst>
              <a:gd name="adj" fmla="val 3000"/>
            </a:avLst>
          </a:prstGeom>
          <a:solidFill>
            <a:srgbClr val="FAF9F5"/>
          </a:solidFill>
          <a:ln w="12700">
            <a:solidFill>
              <a:srgbClr val="E8E6DC"/>
            </a:solidFill>
            <a:prstDash val="solid"/>
          </a:ln>
        </p:spPr>
      </p:sp>
      <p:sp>
        <p:nvSpPr>
          <p:cNvPr id="11" name="Text 9"/>
          <p:cNvSpPr/>
          <p:nvPr/>
        </p:nvSpPr>
        <p:spPr>
          <a:xfrm>
            <a:off x="4666488" y="1892808"/>
            <a:ext cx="2828544" cy="292608"/>
          </a:xfrm>
          <a:prstGeom prst="rect">
            <a:avLst/>
          </a:prstGeom>
          <a:noFill/>
          <a:ln/>
        </p:spPr>
        <p:txBody>
          <a:bodyPr wrap="square" lIns="0" tIns="0" rIns="0" bIns="0" rtlCol="0" anchor="ctr"/>
          <a:lstStyle/>
          <a:p>
            <a:pPr indent="0" marL="0">
              <a:buNone/>
            </a:pPr>
            <a:r>
              <a:rPr lang="en-US" sz="1150" b="1" spc="100" kern="0" dirty="0">
                <a:solidFill>
                  <a:srgbClr val="D97757"/>
                </a:solidFill>
                <a:latin typeface="Meiryo" pitchFamily="34" charset="0"/>
                <a:ea typeface="Meiryo" pitchFamily="34" charset="-122"/>
                <a:cs typeface="Meiryo" pitchFamily="34" charset="-120"/>
              </a:rPr>
              <a:t>MODULE 1</a:t>
            </a:r>
            <a:endParaRPr lang="en-US" sz="1150" dirty="0"/>
          </a:p>
        </p:txBody>
      </p:sp>
      <p:sp>
        <p:nvSpPr>
          <p:cNvPr id="12" name="Text 10"/>
          <p:cNvSpPr/>
          <p:nvPr/>
        </p:nvSpPr>
        <p:spPr>
          <a:xfrm>
            <a:off x="4666488" y="2212848"/>
            <a:ext cx="2828544" cy="457200"/>
          </a:xfrm>
          <a:prstGeom prst="rect">
            <a:avLst/>
          </a:prstGeom>
          <a:noFill/>
          <a:ln/>
        </p:spPr>
        <p:txBody>
          <a:bodyPr wrap="square" lIns="0" tIns="0" rIns="0" bIns="0" rtlCol="0" anchor="ctr"/>
          <a:lstStyle/>
          <a:p>
            <a:pPr indent="0" marL="0">
              <a:buNone/>
            </a:pPr>
            <a:r>
              <a:rPr lang="en-US" sz="2000" b="1" dirty="0">
                <a:solidFill>
                  <a:srgbClr val="141413"/>
                </a:solidFill>
                <a:latin typeface="Meiryo" pitchFamily="34" charset="0"/>
                <a:ea typeface="Meiryo" pitchFamily="34" charset="-122"/>
                <a:cs typeface="Meiryo" pitchFamily="34" charset="-120"/>
              </a:rPr>
              <a:t>ファネル設計</a:t>
            </a:r>
            <a:endParaRPr lang="en-US" sz="2000" dirty="0"/>
          </a:p>
        </p:txBody>
      </p:sp>
      <p:sp>
        <p:nvSpPr>
          <p:cNvPr id="13" name="Text 11"/>
          <p:cNvSpPr/>
          <p:nvPr/>
        </p:nvSpPr>
        <p:spPr>
          <a:xfrm>
            <a:off x="4666488" y="2688336"/>
            <a:ext cx="2828544" cy="731520"/>
          </a:xfrm>
          <a:prstGeom prst="rect">
            <a:avLst/>
          </a:prstGeom>
          <a:noFill/>
          <a:ln/>
        </p:spPr>
        <p:txBody>
          <a:bodyPr wrap="square" lIns="0" tIns="0" rIns="0" bIns="0" rtlCol="0" anchor="t"/>
          <a:lstStyle/>
          <a:p>
            <a:pPr indent="0" marL="0">
              <a:lnSpc>
                <a:spcPts val="2000"/>
              </a:lnSpc>
              <a:buNone/>
            </a:pPr>
            <a:r>
              <a:rPr lang="en-US" sz="1200" dirty="0">
                <a:solidFill>
                  <a:srgbClr val="6E6C63"/>
                </a:solidFill>
                <a:latin typeface="Meiryo" pitchFamily="34" charset="0"/>
                <a:ea typeface="Meiryo" pitchFamily="34" charset="-122"/>
                <a:cs typeface="Meiryo" pitchFamily="34" charset="-120"/>
              </a:rPr>
              <a:t>認知・比較・行動・確信の</a:t>
            </a:r>
            <a:endParaRPr lang="en-US" sz="1200" dirty="0"/>
          </a:p>
          <a:p>
            <a:pPr indent="0" marL="0">
              <a:lnSpc>
                <a:spcPts val="2000"/>
              </a:lnSpc>
              <a:buNone/>
            </a:pPr>
            <a:r>
              <a:rPr lang="en-US" sz="1200" dirty="0">
                <a:solidFill>
                  <a:srgbClr val="6E6C63"/>
                </a:solidFill>
                <a:latin typeface="Meiryo" pitchFamily="34" charset="0"/>
                <a:ea typeface="Meiryo" pitchFamily="34" charset="-122"/>
                <a:cs typeface="Meiryo" pitchFamily="34" charset="-120"/>
              </a:rPr>
              <a:t>4 段階に打ち手を割り当てる</a:t>
            </a:r>
            <a:endParaRPr lang="en-US" sz="1200" dirty="0"/>
          </a:p>
        </p:txBody>
      </p:sp>
      <p:sp>
        <p:nvSpPr>
          <p:cNvPr id="14" name="Shape 12"/>
          <p:cNvSpPr/>
          <p:nvPr/>
        </p:nvSpPr>
        <p:spPr>
          <a:xfrm>
            <a:off x="8107680" y="1664208"/>
            <a:ext cx="3413760" cy="1828800"/>
          </a:xfrm>
          <a:prstGeom prst="roundRect">
            <a:avLst>
              <a:gd name="adj" fmla="val 3000"/>
            </a:avLst>
          </a:prstGeom>
          <a:solidFill>
            <a:srgbClr val="FAF9F5"/>
          </a:solidFill>
          <a:ln w="12700">
            <a:solidFill>
              <a:srgbClr val="E8E6DC"/>
            </a:solidFill>
            <a:prstDash val="solid"/>
          </a:ln>
        </p:spPr>
      </p:sp>
      <p:sp>
        <p:nvSpPr>
          <p:cNvPr id="15" name="Text 13"/>
          <p:cNvSpPr/>
          <p:nvPr/>
        </p:nvSpPr>
        <p:spPr>
          <a:xfrm>
            <a:off x="8400288" y="1892808"/>
            <a:ext cx="2828544" cy="292608"/>
          </a:xfrm>
          <a:prstGeom prst="rect">
            <a:avLst/>
          </a:prstGeom>
          <a:noFill/>
          <a:ln/>
        </p:spPr>
        <p:txBody>
          <a:bodyPr wrap="square" lIns="0" tIns="0" rIns="0" bIns="0" rtlCol="0" anchor="ctr"/>
          <a:lstStyle/>
          <a:p>
            <a:pPr indent="0" marL="0">
              <a:buNone/>
            </a:pPr>
            <a:r>
              <a:rPr lang="en-US" sz="1150" b="1" spc="100" kern="0" dirty="0">
                <a:solidFill>
                  <a:srgbClr val="D97757"/>
                </a:solidFill>
                <a:latin typeface="Meiryo" pitchFamily="34" charset="0"/>
                <a:ea typeface="Meiryo" pitchFamily="34" charset="-122"/>
                <a:cs typeface="Meiryo" pitchFamily="34" charset="-120"/>
              </a:rPr>
              <a:t>MODULE 2</a:t>
            </a:r>
            <a:endParaRPr lang="en-US" sz="1150" dirty="0"/>
          </a:p>
        </p:txBody>
      </p:sp>
      <p:sp>
        <p:nvSpPr>
          <p:cNvPr id="16" name="Text 14"/>
          <p:cNvSpPr/>
          <p:nvPr/>
        </p:nvSpPr>
        <p:spPr>
          <a:xfrm>
            <a:off x="8400288" y="2212848"/>
            <a:ext cx="2828544" cy="457200"/>
          </a:xfrm>
          <a:prstGeom prst="rect">
            <a:avLst/>
          </a:prstGeom>
          <a:noFill/>
          <a:ln/>
        </p:spPr>
        <p:txBody>
          <a:bodyPr wrap="square" lIns="0" tIns="0" rIns="0" bIns="0" rtlCol="0" anchor="ctr"/>
          <a:lstStyle/>
          <a:p>
            <a:pPr indent="0" marL="0">
              <a:buNone/>
            </a:pPr>
            <a:r>
              <a:rPr lang="en-US" sz="2000" b="1" dirty="0">
                <a:solidFill>
                  <a:srgbClr val="141413"/>
                </a:solidFill>
                <a:latin typeface="Meiryo" pitchFamily="34" charset="0"/>
                <a:ea typeface="Meiryo" pitchFamily="34" charset="-122"/>
                <a:cs typeface="Meiryo" pitchFamily="34" charset="-120"/>
              </a:rPr>
              <a:t>0円採用の土台</a:t>
            </a:r>
            <a:endParaRPr lang="en-US" sz="2000" dirty="0"/>
          </a:p>
        </p:txBody>
      </p:sp>
      <p:sp>
        <p:nvSpPr>
          <p:cNvPr id="17" name="Text 15"/>
          <p:cNvSpPr/>
          <p:nvPr/>
        </p:nvSpPr>
        <p:spPr>
          <a:xfrm>
            <a:off x="8400288" y="2688336"/>
            <a:ext cx="2828544" cy="731520"/>
          </a:xfrm>
          <a:prstGeom prst="rect">
            <a:avLst/>
          </a:prstGeom>
          <a:noFill/>
          <a:ln/>
        </p:spPr>
        <p:txBody>
          <a:bodyPr wrap="square" lIns="0" tIns="0" rIns="0" bIns="0" rtlCol="0" anchor="t"/>
          <a:lstStyle/>
          <a:p>
            <a:pPr indent="0" marL="0">
              <a:lnSpc>
                <a:spcPts val="2000"/>
              </a:lnSpc>
              <a:buNone/>
            </a:pPr>
            <a:r>
              <a:rPr lang="en-US" sz="1200" dirty="0">
                <a:solidFill>
                  <a:srgbClr val="6E6C63"/>
                </a:solidFill>
                <a:latin typeface="Meiryo" pitchFamily="34" charset="0"/>
                <a:ea typeface="Meiryo" pitchFamily="34" charset="-122"/>
                <a:cs typeface="Meiryo" pitchFamily="34" charset="-120"/>
              </a:rPr>
              <a:t>Engage を軸に、掲載料 0 円の</a:t>
            </a:r>
            <a:endParaRPr lang="en-US" sz="1200" dirty="0"/>
          </a:p>
          <a:p>
            <a:pPr indent="0" marL="0">
              <a:lnSpc>
                <a:spcPts val="2000"/>
              </a:lnSpc>
              <a:buNone/>
            </a:pPr>
            <a:r>
              <a:rPr lang="en-US" sz="1200" dirty="0">
                <a:solidFill>
                  <a:srgbClr val="6E6C63"/>
                </a:solidFill>
                <a:latin typeface="Meiryo" pitchFamily="34" charset="0"/>
                <a:ea typeface="Meiryo" pitchFamily="34" charset="-122"/>
                <a:cs typeface="Meiryo" pitchFamily="34" charset="-120"/>
              </a:rPr>
              <a:t>露出経路を組み立てる</a:t>
            </a:r>
            <a:endParaRPr lang="en-US" sz="1200" dirty="0"/>
          </a:p>
        </p:txBody>
      </p:sp>
      <p:sp>
        <p:nvSpPr>
          <p:cNvPr id="18" name="Shape 16"/>
          <p:cNvSpPr/>
          <p:nvPr/>
        </p:nvSpPr>
        <p:spPr>
          <a:xfrm>
            <a:off x="640080" y="3749040"/>
            <a:ext cx="3413760" cy="1828800"/>
          </a:xfrm>
          <a:prstGeom prst="roundRect">
            <a:avLst>
              <a:gd name="adj" fmla="val 3000"/>
            </a:avLst>
          </a:prstGeom>
          <a:solidFill>
            <a:srgbClr val="FAF9F5"/>
          </a:solidFill>
          <a:ln w="12700">
            <a:solidFill>
              <a:srgbClr val="E8E6DC"/>
            </a:solidFill>
            <a:prstDash val="solid"/>
          </a:ln>
        </p:spPr>
      </p:sp>
      <p:sp>
        <p:nvSpPr>
          <p:cNvPr id="19" name="Text 17"/>
          <p:cNvSpPr/>
          <p:nvPr/>
        </p:nvSpPr>
        <p:spPr>
          <a:xfrm>
            <a:off x="932688" y="3977640"/>
            <a:ext cx="2828544" cy="292608"/>
          </a:xfrm>
          <a:prstGeom prst="rect">
            <a:avLst/>
          </a:prstGeom>
          <a:noFill/>
          <a:ln/>
        </p:spPr>
        <p:txBody>
          <a:bodyPr wrap="square" lIns="0" tIns="0" rIns="0" bIns="0" rtlCol="0" anchor="ctr"/>
          <a:lstStyle/>
          <a:p>
            <a:pPr indent="0" marL="0">
              <a:buNone/>
            </a:pPr>
            <a:r>
              <a:rPr lang="en-US" sz="1150" b="1" spc="100" kern="0" dirty="0">
                <a:solidFill>
                  <a:srgbClr val="D97757"/>
                </a:solidFill>
                <a:latin typeface="Meiryo" pitchFamily="34" charset="0"/>
                <a:ea typeface="Meiryo" pitchFamily="34" charset="-122"/>
                <a:cs typeface="Meiryo" pitchFamily="34" charset="-120"/>
              </a:rPr>
              <a:t>MODULE 3</a:t>
            </a:r>
            <a:endParaRPr lang="en-US" sz="1150" dirty="0"/>
          </a:p>
        </p:txBody>
      </p:sp>
      <p:sp>
        <p:nvSpPr>
          <p:cNvPr id="20" name="Text 18"/>
          <p:cNvSpPr/>
          <p:nvPr/>
        </p:nvSpPr>
        <p:spPr>
          <a:xfrm>
            <a:off x="932688" y="4297680"/>
            <a:ext cx="2828544" cy="457200"/>
          </a:xfrm>
          <a:prstGeom prst="rect">
            <a:avLst/>
          </a:prstGeom>
          <a:noFill/>
          <a:ln/>
        </p:spPr>
        <p:txBody>
          <a:bodyPr wrap="square" lIns="0" tIns="0" rIns="0" bIns="0" rtlCol="0" anchor="ctr"/>
          <a:lstStyle/>
          <a:p>
            <a:pPr indent="0" marL="0">
              <a:buNone/>
            </a:pPr>
            <a:r>
              <a:rPr lang="en-US" sz="2000" b="1" dirty="0">
                <a:solidFill>
                  <a:srgbClr val="141413"/>
                </a:solidFill>
                <a:latin typeface="Meiryo" pitchFamily="34" charset="0"/>
                <a:ea typeface="Meiryo" pitchFamily="34" charset="-122"/>
                <a:cs typeface="Meiryo" pitchFamily="34" charset="-120"/>
              </a:rPr>
              <a:t>採用ページとAI原稿</a:t>
            </a:r>
            <a:endParaRPr lang="en-US" sz="2000" dirty="0"/>
          </a:p>
        </p:txBody>
      </p:sp>
      <p:sp>
        <p:nvSpPr>
          <p:cNvPr id="21" name="Text 19"/>
          <p:cNvSpPr/>
          <p:nvPr/>
        </p:nvSpPr>
        <p:spPr>
          <a:xfrm>
            <a:off x="932688" y="4773168"/>
            <a:ext cx="2828544" cy="731520"/>
          </a:xfrm>
          <a:prstGeom prst="rect">
            <a:avLst/>
          </a:prstGeom>
          <a:noFill/>
          <a:ln/>
        </p:spPr>
        <p:txBody>
          <a:bodyPr wrap="square" lIns="0" tIns="0" rIns="0" bIns="0" rtlCol="0" anchor="t"/>
          <a:lstStyle/>
          <a:p>
            <a:pPr indent="0" marL="0">
              <a:lnSpc>
                <a:spcPts val="2000"/>
              </a:lnSpc>
              <a:buNone/>
            </a:pPr>
            <a:r>
              <a:rPr lang="en-US" sz="1200" dirty="0">
                <a:solidFill>
                  <a:srgbClr val="6E6C63"/>
                </a:solidFill>
                <a:latin typeface="Meiryo" pitchFamily="34" charset="0"/>
                <a:ea typeface="Meiryo" pitchFamily="34" charset="-122"/>
                <a:cs typeface="Meiryo" pitchFamily="34" charset="-120"/>
              </a:rPr>
              <a:t>鉄板の 6 ブロック構成を</a:t>
            </a:r>
            <a:endParaRPr lang="en-US" sz="1200" dirty="0"/>
          </a:p>
          <a:p>
            <a:pPr indent="0" marL="0">
              <a:lnSpc>
                <a:spcPts val="2000"/>
              </a:lnSpc>
              <a:buNone/>
            </a:pPr>
            <a:r>
              <a:rPr lang="en-US" sz="1200" dirty="0">
                <a:solidFill>
                  <a:srgbClr val="6E6C63"/>
                </a:solidFill>
                <a:latin typeface="Meiryo" pitchFamily="34" charset="0"/>
                <a:ea typeface="Meiryo" pitchFamily="34" charset="-122"/>
                <a:cs typeface="Meiryo" pitchFamily="34" charset="-120"/>
              </a:rPr>
              <a:t>AI と一緒に書き上げる</a:t>
            </a:r>
            <a:endParaRPr lang="en-US" sz="1200" dirty="0"/>
          </a:p>
        </p:txBody>
      </p:sp>
      <p:sp>
        <p:nvSpPr>
          <p:cNvPr id="22" name="Shape 20"/>
          <p:cNvSpPr/>
          <p:nvPr/>
        </p:nvSpPr>
        <p:spPr>
          <a:xfrm>
            <a:off x="4373880" y="3749040"/>
            <a:ext cx="3413760" cy="1828800"/>
          </a:xfrm>
          <a:prstGeom prst="roundRect">
            <a:avLst>
              <a:gd name="adj" fmla="val 3000"/>
            </a:avLst>
          </a:prstGeom>
          <a:solidFill>
            <a:srgbClr val="141413"/>
          </a:solidFill>
          <a:ln w="12700">
            <a:solidFill>
              <a:srgbClr val="141413"/>
            </a:solidFill>
            <a:prstDash val="solid"/>
          </a:ln>
        </p:spPr>
      </p:sp>
      <p:sp>
        <p:nvSpPr>
          <p:cNvPr id="23" name="Text 21"/>
          <p:cNvSpPr/>
          <p:nvPr/>
        </p:nvSpPr>
        <p:spPr>
          <a:xfrm>
            <a:off x="4666488" y="3977640"/>
            <a:ext cx="2828544" cy="292608"/>
          </a:xfrm>
          <a:prstGeom prst="rect">
            <a:avLst/>
          </a:prstGeom>
          <a:noFill/>
          <a:ln/>
        </p:spPr>
        <p:txBody>
          <a:bodyPr wrap="square" lIns="0" tIns="0" rIns="0" bIns="0" rtlCol="0" anchor="ctr"/>
          <a:lstStyle/>
          <a:p>
            <a:pPr indent="0" marL="0">
              <a:buNone/>
            </a:pPr>
            <a:r>
              <a:rPr lang="en-US" sz="1150" b="1" spc="100" kern="0" dirty="0">
                <a:solidFill>
                  <a:srgbClr val="D97757"/>
                </a:solidFill>
                <a:latin typeface="Meiryo" pitchFamily="34" charset="0"/>
                <a:ea typeface="Meiryo" pitchFamily="34" charset="-122"/>
                <a:cs typeface="Meiryo" pitchFamily="34" charset="-120"/>
              </a:rPr>
              <a:t>MODULE 4</a:t>
            </a:r>
            <a:endParaRPr lang="en-US" sz="1150" dirty="0"/>
          </a:p>
        </p:txBody>
      </p:sp>
      <p:sp>
        <p:nvSpPr>
          <p:cNvPr id="24" name="Text 22"/>
          <p:cNvSpPr/>
          <p:nvPr/>
        </p:nvSpPr>
        <p:spPr>
          <a:xfrm>
            <a:off x="4666488" y="4297680"/>
            <a:ext cx="2828544" cy="457200"/>
          </a:xfrm>
          <a:prstGeom prst="rect">
            <a:avLst/>
          </a:prstGeom>
          <a:noFill/>
          <a:ln/>
        </p:spPr>
        <p:txBody>
          <a:bodyPr wrap="square" lIns="0" tIns="0" rIns="0" bIns="0" rtlCol="0" anchor="ctr"/>
          <a:lstStyle/>
          <a:p>
            <a:pPr indent="0" marL="0">
              <a:buNone/>
            </a:pPr>
            <a:r>
              <a:rPr lang="en-US" sz="2000" b="1" dirty="0">
                <a:solidFill>
                  <a:srgbClr val="FFFFFF"/>
                </a:solidFill>
                <a:latin typeface="Meiryo" pitchFamily="34" charset="0"/>
                <a:ea typeface="Meiryo" pitchFamily="34" charset="-122"/>
                <a:cs typeface="Meiryo" pitchFamily="34" charset="-120"/>
              </a:rPr>
              <a:t>体験型選考</a:t>
            </a:r>
            <a:endParaRPr lang="en-US" sz="2000" dirty="0"/>
          </a:p>
        </p:txBody>
      </p:sp>
      <p:sp>
        <p:nvSpPr>
          <p:cNvPr id="25" name="Text 23"/>
          <p:cNvSpPr/>
          <p:nvPr/>
        </p:nvSpPr>
        <p:spPr>
          <a:xfrm>
            <a:off x="4666488" y="4773168"/>
            <a:ext cx="2828544" cy="731520"/>
          </a:xfrm>
          <a:prstGeom prst="rect">
            <a:avLst/>
          </a:prstGeom>
          <a:noFill/>
          <a:ln/>
        </p:spPr>
        <p:txBody>
          <a:bodyPr wrap="square" lIns="0" tIns="0" rIns="0" bIns="0" rtlCol="0" anchor="t"/>
          <a:lstStyle/>
          <a:p>
            <a:pPr indent="0" marL="0">
              <a:lnSpc>
                <a:spcPts val="2000"/>
              </a:lnSpc>
              <a:buNone/>
            </a:pPr>
            <a:r>
              <a:rPr lang="en-US" sz="1200" dirty="0">
                <a:solidFill>
                  <a:srgbClr val="D6D3C8"/>
                </a:solidFill>
                <a:latin typeface="Meiryo" pitchFamily="34" charset="0"/>
                <a:ea typeface="Meiryo" pitchFamily="34" charset="-122"/>
                <a:cs typeface="Meiryo" pitchFamily="34" charset="-120"/>
              </a:rPr>
              <a:t>職場体験会で不安を</a:t>
            </a:r>
            <a:endParaRPr lang="en-US" sz="1200" dirty="0"/>
          </a:p>
          <a:p>
            <a:pPr indent="0" marL="0">
              <a:lnSpc>
                <a:spcPts val="2000"/>
              </a:lnSpc>
              <a:buNone/>
            </a:pPr>
            <a:r>
              <a:rPr lang="en-US" sz="1200" dirty="0">
                <a:solidFill>
                  <a:srgbClr val="D6D3C8"/>
                </a:solidFill>
                <a:latin typeface="Meiryo" pitchFamily="34" charset="0"/>
                <a:ea typeface="Meiryo" pitchFamily="34" charset="-122"/>
                <a:cs typeface="Meiryo" pitchFamily="34" charset="-120"/>
              </a:rPr>
              <a:t>「ここで働きたい」に変える</a:t>
            </a:r>
            <a:endParaRPr lang="en-US" sz="1200" dirty="0"/>
          </a:p>
        </p:txBody>
      </p:sp>
      <p:sp>
        <p:nvSpPr>
          <p:cNvPr id="26" name="Shape 24"/>
          <p:cNvSpPr/>
          <p:nvPr/>
        </p:nvSpPr>
        <p:spPr>
          <a:xfrm>
            <a:off x="8107680" y="3749040"/>
            <a:ext cx="3413760" cy="1828800"/>
          </a:xfrm>
          <a:prstGeom prst="roundRect">
            <a:avLst>
              <a:gd name="adj" fmla="val 3000"/>
            </a:avLst>
          </a:prstGeom>
          <a:solidFill>
            <a:srgbClr val="FAF9F5"/>
          </a:solidFill>
          <a:ln w="12700">
            <a:solidFill>
              <a:srgbClr val="E8E6DC"/>
            </a:solidFill>
            <a:prstDash val="solid"/>
          </a:ln>
        </p:spPr>
      </p:sp>
      <p:sp>
        <p:nvSpPr>
          <p:cNvPr id="27" name="Text 25"/>
          <p:cNvSpPr/>
          <p:nvPr/>
        </p:nvSpPr>
        <p:spPr>
          <a:xfrm>
            <a:off x="8400288" y="3977640"/>
            <a:ext cx="2828544" cy="292608"/>
          </a:xfrm>
          <a:prstGeom prst="rect">
            <a:avLst/>
          </a:prstGeom>
          <a:noFill/>
          <a:ln/>
        </p:spPr>
        <p:txBody>
          <a:bodyPr wrap="square" lIns="0" tIns="0" rIns="0" bIns="0" rtlCol="0" anchor="ctr"/>
          <a:lstStyle/>
          <a:p>
            <a:pPr indent="0" marL="0">
              <a:buNone/>
            </a:pPr>
            <a:r>
              <a:rPr lang="en-US" sz="1150" b="1" spc="100" kern="0" dirty="0">
                <a:solidFill>
                  <a:srgbClr val="D97757"/>
                </a:solidFill>
                <a:latin typeface="Meiryo" pitchFamily="34" charset="0"/>
                <a:ea typeface="Meiryo" pitchFamily="34" charset="-122"/>
                <a:cs typeface="Meiryo" pitchFamily="34" charset="-120"/>
              </a:rPr>
              <a:t>MODULE 5</a:t>
            </a:r>
            <a:endParaRPr lang="en-US" sz="1150" dirty="0"/>
          </a:p>
        </p:txBody>
      </p:sp>
      <p:sp>
        <p:nvSpPr>
          <p:cNvPr id="28" name="Text 26"/>
          <p:cNvSpPr/>
          <p:nvPr/>
        </p:nvSpPr>
        <p:spPr>
          <a:xfrm>
            <a:off x="8400288" y="4297680"/>
            <a:ext cx="2828544" cy="457200"/>
          </a:xfrm>
          <a:prstGeom prst="rect">
            <a:avLst/>
          </a:prstGeom>
          <a:noFill/>
          <a:ln/>
        </p:spPr>
        <p:txBody>
          <a:bodyPr wrap="square" lIns="0" tIns="0" rIns="0" bIns="0" rtlCol="0" anchor="ctr"/>
          <a:lstStyle/>
          <a:p>
            <a:pPr indent="0" marL="0">
              <a:buNone/>
            </a:pPr>
            <a:r>
              <a:rPr lang="en-US" sz="2000" b="1" dirty="0">
                <a:solidFill>
                  <a:srgbClr val="141413"/>
                </a:solidFill>
                <a:latin typeface="Meiryo" pitchFamily="34" charset="0"/>
                <a:ea typeface="Meiryo" pitchFamily="34" charset="-122"/>
                <a:cs typeface="Meiryo" pitchFamily="34" charset="-120"/>
              </a:rPr>
              <a:t>数値運用</a:t>
            </a:r>
            <a:endParaRPr lang="en-US" sz="2000" dirty="0"/>
          </a:p>
        </p:txBody>
      </p:sp>
      <p:sp>
        <p:nvSpPr>
          <p:cNvPr id="29" name="Text 27"/>
          <p:cNvSpPr/>
          <p:nvPr/>
        </p:nvSpPr>
        <p:spPr>
          <a:xfrm>
            <a:off x="8400288" y="4773168"/>
            <a:ext cx="2828544" cy="731520"/>
          </a:xfrm>
          <a:prstGeom prst="rect">
            <a:avLst/>
          </a:prstGeom>
          <a:noFill/>
          <a:ln/>
        </p:spPr>
        <p:txBody>
          <a:bodyPr wrap="square" lIns="0" tIns="0" rIns="0" bIns="0" rtlCol="0" anchor="t"/>
          <a:lstStyle/>
          <a:p>
            <a:pPr indent="0" marL="0">
              <a:lnSpc>
                <a:spcPts val="2000"/>
              </a:lnSpc>
              <a:buNone/>
            </a:pPr>
            <a:r>
              <a:rPr lang="en-US" sz="1200" dirty="0">
                <a:solidFill>
                  <a:srgbClr val="6E6C63"/>
                </a:solidFill>
                <a:latin typeface="Meiryo" pitchFamily="34" charset="0"/>
                <a:ea typeface="Meiryo" pitchFamily="34" charset="-122"/>
                <a:cs typeface="Meiryo" pitchFamily="34" charset="-120"/>
              </a:rPr>
              <a:t>毎週 15 分の会議で</a:t>
            </a:r>
            <a:endParaRPr lang="en-US" sz="1200" dirty="0"/>
          </a:p>
          <a:p>
            <a:pPr indent="0" marL="0">
              <a:lnSpc>
                <a:spcPts val="2000"/>
              </a:lnSpc>
              <a:buNone/>
            </a:pPr>
            <a:r>
              <a:rPr lang="en-US" sz="1200" dirty="0">
                <a:solidFill>
                  <a:srgbClr val="6E6C63"/>
                </a:solidFill>
                <a:latin typeface="Meiryo" pitchFamily="34" charset="0"/>
                <a:ea typeface="Meiryo" pitchFamily="34" charset="-122"/>
                <a:cs typeface="Meiryo" pitchFamily="34" charset="-120"/>
              </a:rPr>
              <a:t>1 か所ずつ直し続ける</a:t>
            </a:r>
            <a:endParaRPr lang="en-US" sz="1200" dirty="0"/>
          </a:p>
        </p:txBody>
      </p:sp>
      <p:sp>
        <p:nvSpPr>
          <p:cNvPr id="30" name="Shape 28"/>
          <p:cNvSpPr/>
          <p:nvPr/>
        </p:nvSpPr>
        <p:spPr>
          <a:xfrm>
            <a:off x="640080" y="5760720"/>
            <a:ext cx="10881360" cy="731520"/>
          </a:xfrm>
          <a:prstGeom prst="roundRect">
            <a:avLst>
              <a:gd name="adj" fmla="val 7500"/>
            </a:avLst>
          </a:prstGeom>
          <a:solidFill>
            <a:srgbClr val="E7ECDD"/>
          </a:solidFill>
          <a:ln w="12700">
            <a:solidFill>
              <a:srgbClr val="788C5D"/>
            </a:solidFill>
            <a:prstDash val="solid"/>
          </a:ln>
        </p:spPr>
      </p:sp>
      <p:pic>
        <p:nvPicPr>
          <p:cNvPr id="31" name="Image 0" descr="preencoded.png">    </p:cNvPr>
          <p:cNvPicPr>
            <a:picLocks noChangeAspect="1"/>
          </p:cNvPicPr>
          <p:nvPr/>
        </p:nvPicPr>
        <p:blipFill>
          <a:blip r:embed="rId1"/>
          <a:stretch>
            <a:fillRect/>
          </a:stretch>
        </p:blipFill>
        <p:spPr>
          <a:xfrm>
            <a:off x="896112" y="5961888"/>
            <a:ext cx="329184" cy="329184"/>
          </a:xfrm>
          <a:prstGeom prst="rect">
            <a:avLst/>
          </a:prstGeom>
        </p:spPr>
      </p:pic>
      <p:sp>
        <p:nvSpPr>
          <p:cNvPr id="32" name="Text 29"/>
          <p:cNvSpPr/>
          <p:nvPr/>
        </p:nvSpPr>
        <p:spPr>
          <a:xfrm>
            <a:off x="1353312" y="5760720"/>
            <a:ext cx="9921240" cy="731520"/>
          </a:xfrm>
          <a:prstGeom prst="rect">
            <a:avLst/>
          </a:prstGeom>
          <a:noFill/>
          <a:ln/>
        </p:spPr>
        <p:txBody>
          <a:bodyPr wrap="square" lIns="0" tIns="0" rIns="0" bIns="0" rtlCol="0" anchor="ctr"/>
          <a:lstStyle/>
          <a:p>
            <a:pPr indent="0" marL="0">
              <a:buNone/>
            </a:pPr>
            <a:r>
              <a:rPr lang="en-US" sz="1250" b="1" dirty="0">
                <a:solidFill>
                  <a:srgbClr val="788C5D"/>
                </a:solidFill>
                <a:latin typeface="Meiryo" pitchFamily="34" charset="0"/>
                <a:ea typeface="Meiryo" pitchFamily="34" charset="-122"/>
                <a:cs typeface="Meiryo" pitchFamily="34" charset="-120"/>
              </a:rPr>
              <a:t>AI はどこで使う？  </a:t>
            </a:r>
            <a:pPr indent="0" marL="0">
              <a:buNone/>
            </a:pPr>
            <a:r>
              <a:rPr lang="en-US" sz="1200" dirty="0">
                <a:solidFill>
                  <a:srgbClr val="4A4943"/>
                </a:solidFill>
                <a:latin typeface="Meiryo" pitchFamily="34" charset="0"/>
                <a:ea typeface="Meiryo" pitchFamily="34" charset="-122"/>
                <a:cs typeface="Meiryo" pitchFamily="34" charset="-120"/>
              </a:rPr>
              <a:t>MODULE 3 の原稿づくりと MODULE 5 の数値集計が中心。AI は「書く・数える」を代行し、決めるのは人が担当します。</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9F5"/>
        </a:solidFill>
      </p:bgPr>
    </p:bg>
    <p:spTree>
      <p:nvGrpSpPr>
        <p:cNvPr id="1" name=""/>
        <p:cNvGrpSpPr/>
        <p:nvPr/>
      </p:nvGrpSpPr>
      <p:grpSpPr>
        <a:xfrm>
          <a:off x="0" y="0"/>
          <a:ext cx="0" cy="0"/>
          <a:chOff x="0" y="0"/>
          <a:chExt cx="0" cy="0"/>
        </a:xfrm>
      </p:grpSpPr>
      <p:sp>
        <p:nvSpPr>
          <p:cNvPr id="2" name="Shape 0"/>
          <p:cNvSpPr/>
          <p:nvPr/>
        </p:nvSpPr>
        <p:spPr>
          <a:xfrm>
            <a:off x="640080" y="347472"/>
            <a:ext cx="1783080" cy="329184"/>
          </a:xfrm>
          <a:prstGeom prst="roundRect">
            <a:avLst>
              <a:gd name="adj" fmla="val 13889"/>
            </a:avLst>
          </a:prstGeom>
          <a:solidFill>
            <a:srgbClr val="D97757"/>
          </a:solidFill>
          <a:ln/>
        </p:spPr>
      </p:sp>
      <p:sp>
        <p:nvSpPr>
          <p:cNvPr id="3" name="Text 1"/>
          <p:cNvSpPr/>
          <p:nvPr/>
        </p:nvSpPr>
        <p:spPr>
          <a:xfrm>
            <a:off x="640080" y="347472"/>
            <a:ext cx="1783080" cy="329184"/>
          </a:xfrm>
          <a:prstGeom prst="rect">
            <a:avLst/>
          </a:prstGeom>
          <a:noFill/>
          <a:ln/>
        </p:spPr>
        <p:txBody>
          <a:bodyPr wrap="square" lIns="0" tIns="0" rIns="0" bIns="0" rtlCol="0" anchor="ctr"/>
          <a:lstStyle/>
          <a:p>
            <a:pPr algn="ctr" indent="0" marL="0">
              <a:buNone/>
            </a:pPr>
            <a:r>
              <a:rPr lang="en-US" sz="1150" b="1" spc="100" kern="0" dirty="0">
                <a:solidFill>
                  <a:srgbClr val="FFFFFF"/>
                </a:solidFill>
                <a:latin typeface="Meiryo" pitchFamily="34" charset="0"/>
                <a:ea typeface="Meiryo" pitchFamily="34" charset="-122"/>
                <a:cs typeface="Meiryo" pitchFamily="34" charset="-120"/>
              </a:rPr>
              <a:t>MODULE 0</a:t>
            </a:r>
            <a:endParaRPr lang="en-US" sz="1150" dirty="0"/>
          </a:p>
        </p:txBody>
      </p:sp>
      <p:sp>
        <p:nvSpPr>
          <p:cNvPr id="4" name="Text 2"/>
          <p:cNvSpPr/>
          <p:nvPr/>
        </p:nvSpPr>
        <p:spPr>
          <a:xfrm>
            <a:off x="640080" y="768096"/>
            <a:ext cx="10881360" cy="566928"/>
          </a:xfrm>
          <a:prstGeom prst="rect">
            <a:avLst/>
          </a:prstGeom>
          <a:noFill/>
          <a:ln/>
        </p:spPr>
        <p:txBody>
          <a:bodyPr wrap="square" lIns="0" tIns="0" rIns="0" bIns="0" rtlCol="0" anchor="ctr"/>
          <a:lstStyle/>
          <a:p>
            <a:pPr indent="0" marL="0">
              <a:buNone/>
            </a:pPr>
            <a:r>
              <a:rPr lang="en-US" sz="2700" b="1" dirty="0">
                <a:solidFill>
                  <a:srgbClr val="141413"/>
                </a:solidFill>
                <a:latin typeface="Meiryo" pitchFamily="34" charset="0"/>
                <a:ea typeface="Meiryo" pitchFamily="34" charset="-122"/>
                <a:cs typeface="Meiryo" pitchFamily="34" charset="-120"/>
              </a:rPr>
              <a:t>なぜ、いままでのやり方が効かなくなったのか</a:t>
            </a:r>
            <a:endParaRPr lang="en-US" sz="2700" dirty="0"/>
          </a:p>
        </p:txBody>
      </p:sp>
      <p:sp>
        <p:nvSpPr>
          <p:cNvPr id="5" name="Text 3"/>
          <p:cNvSpPr/>
          <p:nvPr/>
        </p:nvSpPr>
        <p:spPr>
          <a:xfrm>
            <a:off x="640080" y="1316736"/>
            <a:ext cx="10881360" cy="329184"/>
          </a:xfrm>
          <a:prstGeom prst="rect">
            <a:avLst/>
          </a:prstGeom>
          <a:noFill/>
          <a:ln/>
        </p:spPr>
        <p:txBody>
          <a:bodyPr wrap="square" lIns="0" tIns="0" rIns="0" bIns="0" rtlCol="0" anchor="ctr"/>
          <a:lstStyle/>
          <a:p>
            <a:pPr indent="0" marL="0">
              <a:buNone/>
            </a:pPr>
            <a:r>
              <a:rPr lang="en-US" sz="1300" dirty="0">
                <a:solidFill>
                  <a:srgbClr val="6E6C63"/>
                </a:solidFill>
                <a:latin typeface="Meiryo" pitchFamily="34" charset="0"/>
                <a:ea typeface="Meiryo" pitchFamily="34" charset="-122"/>
                <a:cs typeface="Meiryo" pitchFamily="34" charset="-120"/>
              </a:rPr>
              <a:t>介護業界は「求人を出せば応募が来る」時代から完全に抜けています</a:t>
            </a:r>
            <a:endParaRPr lang="en-US" sz="1300" dirty="0"/>
          </a:p>
        </p:txBody>
      </p:sp>
      <p:sp>
        <p:nvSpPr>
          <p:cNvPr id="6" name="Shape 4"/>
          <p:cNvSpPr/>
          <p:nvPr/>
        </p:nvSpPr>
        <p:spPr>
          <a:xfrm>
            <a:off x="640080" y="1719072"/>
            <a:ext cx="3352800" cy="3154680"/>
          </a:xfrm>
          <a:prstGeom prst="roundRect">
            <a:avLst>
              <a:gd name="adj" fmla="val 1739"/>
            </a:avLst>
          </a:prstGeom>
          <a:solidFill>
            <a:srgbClr val="FFFFFF"/>
          </a:solidFill>
          <a:ln w="12700">
            <a:solidFill>
              <a:srgbClr val="E8E6DC"/>
            </a:solidFill>
            <a:prstDash val="solid"/>
          </a:ln>
          <a:effectLst>
            <a:outerShdw sx="100000" sy="100000" kx="0" ky="0" algn="bl" rotWithShape="0" blurRad="114300" dist="25400" dir="5400000">
              <a:srgbClr val="B0AEA5">
                <a:alpha val="30000"/>
              </a:srgbClr>
            </a:outerShdw>
          </a:effectLst>
        </p:spPr>
      </p:sp>
      <p:sp>
        <p:nvSpPr>
          <p:cNvPr id="7" name="Shape 5"/>
          <p:cNvSpPr/>
          <p:nvPr/>
        </p:nvSpPr>
        <p:spPr>
          <a:xfrm>
            <a:off x="960120" y="1956816"/>
            <a:ext cx="731520" cy="731520"/>
          </a:xfrm>
          <a:prstGeom prst="ellipse">
            <a:avLst/>
          </a:prstGeom>
          <a:solidFill>
            <a:srgbClr val="F5E3DA"/>
          </a:solidFill>
          <a:ln/>
        </p:spPr>
      </p:sp>
      <p:pic>
        <p:nvPicPr>
          <p:cNvPr id="8" name="Image 0" descr="preencoded.png">    </p:cNvPr>
          <p:cNvPicPr>
            <a:picLocks noChangeAspect="1"/>
          </p:cNvPicPr>
          <p:nvPr/>
        </p:nvPicPr>
        <p:blipFill>
          <a:blip r:embed="rId1"/>
          <a:stretch>
            <a:fillRect/>
          </a:stretch>
        </p:blipFill>
        <p:spPr>
          <a:xfrm>
            <a:off x="1147572" y="2144268"/>
            <a:ext cx="374904" cy="374904"/>
          </a:xfrm>
          <a:prstGeom prst="rect">
            <a:avLst/>
          </a:prstGeom>
        </p:spPr>
      </p:pic>
      <p:sp>
        <p:nvSpPr>
          <p:cNvPr id="9" name="Text 6"/>
          <p:cNvSpPr/>
          <p:nvPr/>
        </p:nvSpPr>
        <p:spPr>
          <a:xfrm>
            <a:off x="960120" y="2798064"/>
            <a:ext cx="2712720" cy="658368"/>
          </a:xfrm>
          <a:prstGeom prst="rect">
            <a:avLst/>
          </a:prstGeom>
          <a:noFill/>
          <a:ln/>
        </p:spPr>
        <p:txBody>
          <a:bodyPr wrap="square" lIns="0" tIns="0" rIns="0" bIns="0" rtlCol="0" anchor="t"/>
          <a:lstStyle/>
          <a:p>
            <a:pPr indent="0" marL="0">
              <a:lnSpc>
                <a:spcPts val="2200"/>
              </a:lnSpc>
              <a:buNone/>
            </a:pPr>
            <a:r>
              <a:rPr lang="en-US" sz="1600" b="1" dirty="0">
                <a:solidFill>
                  <a:srgbClr val="141413"/>
                </a:solidFill>
                <a:latin typeface="Meiryo" pitchFamily="34" charset="0"/>
                <a:ea typeface="Meiryo" pitchFamily="34" charset="-122"/>
                <a:cs typeface="Meiryo" pitchFamily="34" charset="-120"/>
              </a:rPr>
              <a:t>コストだけが膨らむ</a:t>
            </a:r>
            <a:endParaRPr lang="en-US" sz="1600" dirty="0"/>
          </a:p>
        </p:txBody>
      </p:sp>
      <p:sp>
        <p:nvSpPr>
          <p:cNvPr id="10" name="Text 7"/>
          <p:cNvSpPr/>
          <p:nvPr/>
        </p:nvSpPr>
        <p:spPr>
          <a:xfrm>
            <a:off x="960120" y="3511296"/>
            <a:ext cx="2712720" cy="1280160"/>
          </a:xfrm>
          <a:prstGeom prst="rect">
            <a:avLst/>
          </a:prstGeom>
          <a:noFill/>
          <a:ln/>
        </p:spPr>
        <p:txBody>
          <a:bodyPr wrap="square" lIns="0" tIns="0" rIns="0" bIns="0" rtlCol="0" anchor="t"/>
          <a:lstStyle/>
          <a:p>
            <a:pPr indent="0" marL="0">
              <a:lnSpc>
                <a:spcPts val="1800"/>
              </a:lnSpc>
              <a:buNone/>
            </a:pPr>
            <a:r>
              <a:rPr lang="en-US" sz="1100" dirty="0">
                <a:solidFill>
                  <a:srgbClr val="6E6C63"/>
                </a:solidFill>
                <a:latin typeface="Meiryo" pitchFamily="34" charset="0"/>
                <a:ea typeface="Meiryo" pitchFamily="34" charset="-122"/>
                <a:cs typeface="Meiryo" pitchFamily="34" charset="-120"/>
              </a:rPr>
              <a:t>求人サイトへの出稿だけでは応募に</a:t>
            </a:r>
            <a:endParaRPr lang="en-US" sz="1100" dirty="0"/>
          </a:p>
          <a:p>
            <a:pPr indent="0" marL="0">
              <a:lnSpc>
                <a:spcPts val="1800"/>
              </a:lnSpc>
              <a:buNone/>
            </a:pPr>
            <a:r>
              <a:rPr lang="en-US" sz="1100" dirty="0">
                <a:solidFill>
                  <a:srgbClr val="6E6C63"/>
                </a:solidFill>
                <a:latin typeface="Meiryo" pitchFamily="34" charset="0"/>
                <a:ea typeface="Meiryo" pitchFamily="34" charset="-122"/>
                <a:cs typeface="Meiryo" pitchFamily="34" charset="-120"/>
              </a:rPr>
              <a:t>至らない。SNS 広告のクリック課金、</a:t>
            </a:r>
            <a:endParaRPr lang="en-US" sz="1100" dirty="0"/>
          </a:p>
          <a:p>
            <a:pPr indent="0" marL="0">
              <a:lnSpc>
                <a:spcPts val="1800"/>
              </a:lnSpc>
              <a:buNone/>
            </a:pPr>
            <a:r>
              <a:rPr lang="en-US" sz="1100" dirty="0">
                <a:solidFill>
                  <a:srgbClr val="6E6C63"/>
                </a:solidFill>
                <a:latin typeface="Meiryo" pitchFamily="34" charset="0"/>
                <a:ea typeface="Meiryo" pitchFamily="34" charset="-122"/>
                <a:cs typeface="Meiryo" pitchFamily="34" charset="-120"/>
              </a:rPr>
              <a:t>Indeed 運用費、紹介手数料が</a:t>
            </a:r>
            <a:endParaRPr lang="en-US" sz="1100" dirty="0"/>
          </a:p>
          <a:p>
            <a:pPr indent="0" marL="0">
              <a:lnSpc>
                <a:spcPts val="1800"/>
              </a:lnSpc>
              <a:buNone/>
            </a:pPr>
            <a:r>
              <a:rPr lang="en-US" sz="1100" dirty="0">
                <a:solidFill>
                  <a:srgbClr val="6E6C63"/>
                </a:solidFill>
                <a:latin typeface="Meiryo" pitchFamily="34" charset="0"/>
                <a:ea typeface="Meiryo" pitchFamily="34" charset="-122"/>
                <a:cs typeface="Meiryo" pitchFamily="34" charset="-120"/>
              </a:rPr>
              <a:t>積み上がっても成果が伴わない。</a:t>
            </a:r>
            <a:endParaRPr lang="en-US" sz="1100" dirty="0"/>
          </a:p>
        </p:txBody>
      </p:sp>
      <p:sp>
        <p:nvSpPr>
          <p:cNvPr id="11" name="Shape 8"/>
          <p:cNvSpPr/>
          <p:nvPr/>
        </p:nvSpPr>
        <p:spPr>
          <a:xfrm>
            <a:off x="4404360" y="1719072"/>
            <a:ext cx="3352800" cy="3154680"/>
          </a:xfrm>
          <a:prstGeom prst="roundRect">
            <a:avLst>
              <a:gd name="adj" fmla="val 1739"/>
            </a:avLst>
          </a:prstGeom>
          <a:solidFill>
            <a:srgbClr val="FFFFFF"/>
          </a:solidFill>
          <a:ln w="12700">
            <a:solidFill>
              <a:srgbClr val="E8E6DC"/>
            </a:solidFill>
            <a:prstDash val="solid"/>
          </a:ln>
          <a:effectLst>
            <a:outerShdw sx="100000" sy="100000" kx="0" ky="0" algn="bl" rotWithShape="0" blurRad="114300" dist="25400" dir="5400000">
              <a:srgbClr val="B0AEA5">
                <a:alpha val="30000"/>
              </a:srgbClr>
            </a:outerShdw>
          </a:effectLst>
        </p:spPr>
      </p:sp>
      <p:sp>
        <p:nvSpPr>
          <p:cNvPr id="12" name="Shape 9"/>
          <p:cNvSpPr/>
          <p:nvPr/>
        </p:nvSpPr>
        <p:spPr>
          <a:xfrm>
            <a:off x="4724400" y="1956816"/>
            <a:ext cx="731520" cy="731520"/>
          </a:xfrm>
          <a:prstGeom prst="ellipse">
            <a:avLst/>
          </a:prstGeom>
          <a:solidFill>
            <a:srgbClr val="F5E3DA"/>
          </a:solidFill>
          <a:ln/>
        </p:spPr>
      </p:sp>
      <p:pic>
        <p:nvPicPr>
          <p:cNvPr id="13" name="Image 1" descr="preencoded.png">    </p:cNvPr>
          <p:cNvPicPr>
            <a:picLocks noChangeAspect="1"/>
          </p:cNvPicPr>
          <p:nvPr/>
        </p:nvPicPr>
        <p:blipFill>
          <a:blip r:embed="rId2"/>
          <a:stretch>
            <a:fillRect/>
          </a:stretch>
        </p:blipFill>
        <p:spPr>
          <a:xfrm>
            <a:off x="4911852" y="2144268"/>
            <a:ext cx="374904" cy="374904"/>
          </a:xfrm>
          <a:prstGeom prst="rect">
            <a:avLst/>
          </a:prstGeom>
        </p:spPr>
      </p:pic>
      <p:sp>
        <p:nvSpPr>
          <p:cNvPr id="14" name="Text 10"/>
          <p:cNvSpPr/>
          <p:nvPr/>
        </p:nvSpPr>
        <p:spPr>
          <a:xfrm>
            <a:off x="4724400" y="2798064"/>
            <a:ext cx="2712720" cy="658368"/>
          </a:xfrm>
          <a:prstGeom prst="rect">
            <a:avLst/>
          </a:prstGeom>
          <a:noFill/>
          <a:ln/>
        </p:spPr>
        <p:txBody>
          <a:bodyPr wrap="square" lIns="0" tIns="0" rIns="0" bIns="0" rtlCol="0" anchor="t"/>
          <a:lstStyle/>
          <a:p>
            <a:pPr indent="0" marL="0">
              <a:lnSpc>
                <a:spcPts val="2200"/>
              </a:lnSpc>
              <a:buNone/>
            </a:pPr>
            <a:r>
              <a:rPr lang="en-US" sz="1600" b="1" dirty="0">
                <a:solidFill>
                  <a:srgbClr val="141413"/>
                </a:solidFill>
                <a:latin typeface="Meiryo" pitchFamily="34" charset="0"/>
                <a:ea typeface="Meiryo" pitchFamily="34" charset="-122"/>
                <a:cs typeface="Meiryo" pitchFamily="34" charset="-120"/>
              </a:rPr>
              <a:t>超売手市場</a:t>
            </a:r>
            <a:endParaRPr lang="en-US" sz="1600" dirty="0"/>
          </a:p>
        </p:txBody>
      </p:sp>
      <p:sp>
        <p:nvSpPr>
          <p:cNvPr id="15" name="Text 11"/>
          <p:cNvSpPr/>
          <p:nvPr/>
        </p:nvSpPr>
        <p:spPr>
          <a:xfrm>
            <a:off x="4724400" y="3511296"/>
            <a:ext cx="2712720" cy="1280160"/>
          </a:xfrm>
          <a:prstGeom prst="rect">
            <a:avLst/>
          </a:prstGeom>
          <a:noFill/>
          <a:ln/>
        </p:spPr>
        <p:txBody>
          <a:bodyPr wrap="square" lIns="0" tIns="0" rIns="0" bIns="0" rtlCol="0" anchor="t"/>
          <a:lstStyle/>
          <a:p>
            <a:pPr indent="0" marL="0">
              <a:lnSpc>
                <a:spcPts val="1800"/>
              </a:lnSpc>
              <a:buNone/>
            </a:pPr>
            <a:r>
              <a:rPr lang="en-US" sz="1100" dirty="0">
                <a:solidFill>
                  <a:srgbClr val="6E6C63"/>
                </a:solidFill>
                <a:latin typeface="Meiryo" pitchFamily="34" charset="0"/>
                <a:ea typeface="Meiryo" pitchFamily="34" charset="-122"/>
                <a:cs typeface="Meiryo" pitchFamily="34" charset="-120"/>
              </a:rPr>
              <a:t>求人倍率が高騰し、求職者が複数の</a:t>
            </a:r>
            <a:endParaRPr lang="en-US" sz="1100" dirty="0"/>
          </a:p>
          <a:p>
            <a:pPr indent="0" marL="0">
              <a:lnSpc>
                <a:spcPts val="1800"/>
              </a:lnSpc>
              <a:buNone/>
            </a:pPr>
            <a:r>
              <a:rPr lang="en-US" sz="1100" dirty="0">
                <a:solidFill>
                  <a:srgbClr val="6E6C63"/>
                </a:solidFill>
                <a:latin typeface="Meiryo" pitchFamily="34" charset="0"/>
                <a:ea typeface="Meiryo" pitchFamily="34" charset="-122"/>
                <a:cs typeface="Meiryo" pitchFamily="34" charset="-120"/>
              </a:rPr>
              <a:t>施設を並べて比べるのが当たり前に。</a:t>
            </a:r>
            <a:endParaRPr lang="en-US" sz="1100" dirty="0"/>
          </a:p>
          <a:p>
            <a:pPr indent="0" marL="0">
              <a:lnSpc>
                <a:spcPts val="1800"/>
              </a:lnSpc>
              <a:buNone/>
            </a:pPr>
            <a:r>
              <a:rPr lang="en-US" sz="1100" dirty="0">
                <a:solidFill>
                  <a:srgbClr val="6E6C63"/>
                </a:solidFill>
                <a:latin typeface="Meiryo" pitchFamily="34" charset="0"/>
                <a:ea typeface="Meiryo" pitchFamily="34" charset="-122"/>
                <a:cs typeface="Meiryo" pitchFamily="34" charset="-120"/>
              </a:rPr>
              <a:t>「選ぶ側」から「選ばれる側」へ</a:t>
            </a:r>
            <a:endParaRPr lang="en-US" sz="1100" dirty="0"/>
          </a:p>
          <a:p>
            <a:pPr indent="0" marL="0">
              <a:lnSpc>
                <a:spcPts val="1800"/>
              </a:lnSpc>
              <a:buNone/>
            </a:pPr>
            <a:r>
              <a:rPr lang="en-US" sz="1100" dirty="0">
                <a:solidFill>
                  <a:srgbClr val="6E6C63"/>
                </a:solidFill>
                <a:latin typeface="Meiryo" pitchFamily="34" charset="0"/>
                <a:ea typeface="Meiryo" pitchFamily="34" charset="-122"/>
                <a:cs typeface="Meiryo" pitchFamily="34" charset="-120"/>
              </a:rPr>
              <a:t>立場が入れ替わっています。</a:t>
            </a:r>
            <a:endParaRPr lang="en-US" sz="1100" dirty="0"/>
          </a:p>
        </p:txBody>
      </p:sp>
      <p:sp>
        <p:nvSpPr>
          <p:cNvPr id="16" name="Shape 12"/>
          <p:cNvSpPr/>
          <p:nvPr/>
        </p:nvSpPr>
        <p:spPr>
          <a:xfrm>
            <a:off x="8168640" y="1719072"/>
            <a:ext cx="3352800" cy="3154680"/>
          </a:xfrm>
          <a:prstGeom prst="roundRect">
            <a:avLst>
              <a:gd name="adj" fmla="val 1739"/>
            </a:avLst>
          </a:prstGeom>
          <a:solidFill>
            <a:srgbClr val="FFFFFF"/>
          </a:solidFill>
          <a:ln w="12700">
            <a:solidFill>
              <a:srgbClr val="E8E6DC"/>
            </a:solidFill>
            <a:prstDash val="solid"/>
          </a:ln>
          <a:effectLst>
            <a:outerShdw sx="100000" sy="100000" kx="0" ky="0" algn="bl" rotWithShape="0" blurRad="114300" dist="25400" dir="5400000">
              <a:srgbClr val="B0AEA5">
                <a:alpha val="30000"/>
              </a:srgbClr>
            </a:outerShdw>
          </a:effectLst>
        </p:spPr>
      </p:sp>
      <p:sp>
        <p:nvSpPr>
          <p:cNvPr id="17" name="Shape 13"/>
          <p:cNvSpPr/>
          <p:nvPr/>
        </p:nvSpPr>
        <p:spPr>
          <a:xfrm>
            <a:off x="8488680" y="1956816"/>
            <a:ext cx="731520" cy="731520"/>
          </a:xfrm>
          <a:prstGeom prst="ellipse">
            <a:avLst/>
          </a:prstGeom>
          <a:solidFill>
            <a:srgbClr val="F5E3DA"/>
          </a:solidFill>
          <a:ln/>
        </p:spPr>
      </p:sp>
      <p:pic>
        <p:nvPicPr>
          <p:cNvPr id="18" name="Image 2" descr="preencoded.png">    </p:cNvPr>
          <p:cNvPicPr>
            <a:picLocks noChangeAspect="1"/>
          </p:cNvPicPr>
          <p:nvPr/>
        </p:nvPicPr>
        <p:blipFill>
          <a:blip r:embed="rId3"/>
          <a:stretch>
            <a:fillRect/>
          </a:stretch>
        </p:blipFill>
        <p:spPr>
          <a:xfrm>
            <a:off x="8676132" y="2144268"/>
            <a:ext cx="374904" cy="374904"/>
          </a:xfrm>
          <a:prstGeom prst="rect">
            <a:avLst/>
          </a:prstGeom>
        </p:spPr>
      </p:pic>
      <p:sp>
        <p:nvSpPr>
          <p:cNvPr id="19" name="Text 14"/>
          <p:cNvSpPr/>
          <p:nvPr/>
        </p:nvSpPr>
        <p:spPr>
          <a:xfrm>
            <a:off x="8488680" y="2798064"/>
            <a:ext cx="2712720" cy="658368"/>
          </a:xfrm>
          <a:prstGeom prst="rect">
            <a:avLst/>
          </a:prstGeom>
          <a:noFill/>
          <a:ln/>
        </p:spPr>
        <p:txBody>
          <a:bodyPr wrap="square" lIns="0" tIns="0" rIns="0" bIns="0" rtlCol="0" anchor="t"/>
          <a:lstStyle/>
          <a:p>
            <a:pPr indent="0" marL="0">
              <a:lnSpc>
                <a:spcPts val="2200"/>
              </a:lnSpc>
              <a:buNone/>
            </a:pPr>
            <a:r>
              <a:rPr lang="en-US" sz="1600" b="1" dirty="0">
                <a:solidFill>
                  <a:srgbClr val="141413"/>
                </a:solidFill>
                <a:latin typeface="Meiryo" pitchFamily="34" charset="0"/>
                <a:ea typeface="Meiryo" pitchFamily="34" charset="-122"/>
                <a:cs typeface="Meiryo" pitchFamily="34" charset="-120"/>
              </a:rPr>
              <a:t>採用が「作業」になっている</a:t>
            </a:r>
            <a:endParaRPr lang="en-US" sz="1600" dirty="0"/>
          </a:p>
        </p:txBody>
      </p:sp>
      <p:sp>
        <p:nvSpPr>
          <p:cNvPr id="20" name="Text 15"/>
          <p:cNvSpPr/>
          <p:nvPr/>
        </p:nvSpPr>
        <p:spPr>
          <a:xfrm>
            <a:off x="8488680" y="3511296"/>
            <a:ext cx="2712720" cy="1280160"/>
          </a:xfrm>
          <a:prstGeom prst="rect">
            <a:avLst/>
          </a:prstGeom>
          <a:noFill/>
          <a:ln/>
        </p:spPr>
        <p:txBody>
          <a:bodyPr wrap="square" lIns="0" tIns="0" rIns="0" bIns="0" rtlCol="0" anchor="t"/>
          <a:lstStyle/>
          <a:p>
            <a:pPr indent="0" marL="0">
              <a:lnSpc>
                <a:spcPts val="1800"/>
              </a:lnSpc>
              <a:buNone/>
            </a:pPr>
            <a:r>
              <a:rPr lang="en-US" sz="1100" dirty="0">
                <a:solidFill>
                  <a:srgbClr val="6E6C63"/>
                </a:solidFill>
                <a:latin typeface="Meiryo" pitchFamily="34" charset="0"/>
                <a:ea typeface="Meiryo" pitchFamily="34" charset="-122"/>
                <a:cs typeface="Meiryo" pitchFamily="34" charset="-120"/>
              </a:rPr>
              <a:t>求人票を出す・広告を打つという</a:t>
            </a:r>
            <a:endParaRPr lang="en-US" sz="1100" dirty="0"/>
          </a:p>
          <a:p>
            <a:pPr indent="0" marL="0">
              <a:lnSpc>
                <a:spcPts val="1800"/>
              </a:lnSpc>
              <a:buNone/>
            </a:pPr>
            <a:r>
              <a:rPr lang="en-US" sz="1100" dirty="0">
                <a:solidFill>
                  <a:srgbClr val="6E6C63"/>
                </a:solidFill>
                <a:latin typeface="Meiryo" pitchFamily="34" charset="0"/>
                <a:ea typeface="Meiryo" pitchFamily="34" charset="-122"/>
                <a:cs typeface="Meiryo" pitchFamily="34" charset="-120"/>
              </a:rPr>
              <a:t>部分的な作業と捉えているため、</a:t>
            </a:r>
            <a:endParaRPr lang="en-US" sz="1100" dirty="0"/>
          </a:p>
          <a:p>
            <a:pPr indent="0" marL="0">
              <a:lnSpc>
                <a:spcPts val="1800"/>
              </a:lnSpc>
              <a:buNone/>
            </a:pPr>
            <a:r>
              <a:rPr lang="en-US" sz="1100" dirty="0">
                <a:solidFill>
                  <a:srgbClr val="6E6C63"/>
                </a:solidFill>
                <a:latin typeface="Meiryo" pitchFamily="34" charset="0"/>
                <a:ea typeface="Meiryo" pitchFamily="34" charset="-122"/>
                <a:cs typeface="Meiryo" pitchFamily="34" charset="-120"/>
              </a:rPr>
              <a:t>心理の変化と比較検討の流れを</a:t>
            </a:r>
            <a:endParaRPr lang="en-US" sz="1100" dirty="0"/>
          </a:p>
          <a:p>
            <a:pPr indent="0" marL="0">
              <a:lnSpc>
                <a:spcPts val="1800"/>
              </a:lnSpc>
              <a:buNone/>
            </a:pPr>
            <a:r>
              <a:rPr lang="en-US" sz="1100" dirty="0">
                <a:solidFill>
                  <a:srgbClr val="6E6C63"/>
                </a:solidFill>
                <a:latin typeface="Meiryo" pitchFamily="34" charset="0"/>
                <a:ea typeface="Meiryo" pitchFamily="34" charset="-122"/>
                <a:cs typeface="Meiryo" pitchFamily="34" charset="-120"/>
              </a:rPr>
              <a:t>全体として設計できていない。</a:t>
            </a:r>
            <a:endParaRPr lang="en-US" sz="1100" dirty="0"/>
          </a:p>
        </p:txBody>
      </p:sp>
      <p:sp>
        <p:nvSpPr>
          <p:cNvPr id="21" name="Shape 16"/>
          <p:cNvSpPr/>
          <p:nvPr/>
        </p:nvSpPr>
        <p:spPr>
          <a:xfrm>
            <a:off x="640080" y="5074920"/>
            <a:ext cx="10881360" cy="868680"/>
          </a:xfrm>
          <a:prstGeom prst="roundRect">
            <a:avLst>
              <a:gd name="adj" fmla="val 6316"/>
            </a:avLst>
          </a:prstGeom>
          <a:solidFill>
            <a:srgbClr val="141413"/>
          </a:solidFill>
          <a:ln/>
        </p:spPr>
      </p:sp>
      <p:sp>
        <p:nvSpPr>
          <p:cNvPr id="22" name="Text 17"/>
          <p:cNvSpPr/>
          <p:nvPr/>
        </p:nvSpPr>
        <p:spPr>
          <a:xfrm>
            <a:off x="1005840" y="5074920"/>
            <a:ext cx="10149840" cy="868680"/>
          </a:xfrm>
          <a:prstGeom prst="rect">
            <a:avLst/>
          </a:prstGeom>
          <a:noFill/>
          <a:ln/>
        </p:spPr>
        <p:txBody>
          <a:bodyPr wrap="square" lIns="0" tIns="0" rIns="0" bIns="0" rtlCol="0" anchor="ctr"/>
          <a:lstStyle/>
          <a:p>
            <a:pPr algn="ctr" indent="0" marL="0">
              <a:buNone/>
            </a:pPr>
            <a:r>
              <a:rPr lang="en-US" sz="1500" b="1" dirty="0">
                <a:solidFill>
                  <a:srgbClr val="FFFFFF"/>
                </a:solidFill>
                <a:latin typeface="Meiryo" pitchFamily="34" charset="0"/>
                <a:ea typeface="Meiryo" pitchFamily="34" charset="-122"/>
                <a:cs typeface="Meiryo" pitchFamily="34" charset="-120"/>
              </a:rPr>
              <a:t>この 3 つは別々の問題ではありません。「全体を設計していない」という 1 つの原因から出ています。</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347472"/>
            <a:ext cx="1783080" cy="329184"/>
          </a:xfrm>
          <a:prstGeom prst="roundRect">
            <a:avLst>
              <a:gd name="adj" fmla="val 13889"/>
            </a:avLst>
          </a:prstGeom>
          <a:solidFill>
            <a:srgbClr val="D97757"/>
          </a:solidFill>
          <a:ln/>
        </p:spPr>
      </p:sp>
      <p:sp>
        <p:nvSpPr>
          <p:cNvPr id="3" name="Text 1"/>
          <p:cNvSpPr/>
          <p:nvPr/>
        </p:nvSpPr>
        <p:spPr>
          <a:xfrm>
            <a:off x="640080" y="347472"/>
            <a:ext cx="1783080" cy="329184"/>
          </a:xfrm>
          <a:prstGeom prst="rect">
            <a:avLst/>
          </a:prstGeom>
          <a:noFill/>
          <a:ln/>
        </p:spPr>
        <p:txBody>
          <a:bodyPr wrap="square" lIns="0" tIns="0" rIns="0" bIns="0" rtlCol="0" anchor="ctr"/>
          <a:lstStyle/>
          <a:p>
            <a:pPr algn="ctr" indent="0" marL="0">
              <a:buNone/>
            </a:pPr>
            <a:r>
              <a:rPr lang="en-US" sz="1150" b="1" spc="100" kern="0" dirty="0">
                <a:solidFill>
                  <a:srgbClr val="FFFFFF"/>
                </a:solidFill>
                <a:latin typeface="Meiryo" pitchFamily="34" charset="0"/>
                <a:ea typeface="Meiryo" pitchFamily="34" charset="-122"/>
                <a:cs typeface="Meiryo" pitchFamily="34" charset="-120"/>
              </a:rPr>
              <a:t>MODULE 0</a:t>
            </a:r>
            <a:endParaRPr lang="en-US" sz="1150" dirty="0"/>
          </a:p>
        </p:txBody>
      </p:sp>
      <p:sp>
        <p:nvSpPr>
          <p:cNvPr id="4" name="Text 2"/>
          <p:cNvSpPr/>
          <p:nvPr/>
        </p:nvSpPr>
        <p:spPr>
          <a:xfrm>
            <a:off x="640080" y="768096"/>
            <a:ext cx="10881360" cy="566928"/>
          </a:xfrm>
          <a:prstGeom prst="rect">
            <a:avLst/>
          </a:prstGeom>
          <a:noFill/>
          <a:ln/>
        </p:spPr>
        <p:txBody>
          <a:bodyPr wrap="square" lIns="0" tIns="0" rIns="0" bIns="0" rtlCol="0" anchor="ctr"/>
          <a:lstStyle/>
          <a:p>
            <a:pPr indent="0" marL="0">
              <a:buNone/>
            </a:pPr>
            <a:r>
              <a:rPr lang="en-US" sz="2700" b="1" dirty="0">
                <a:solidFill>
                  <a:srgbClr val="141413"/>
                </a:solidFill>
                <a:latin typeface="Meiryo" pitchFamily="34" charset="0"/>
                <a:ea typeface="Meiryo" pitchFamily="34" charset="-122"/>
                <a:cs typeface="Meiryo" pitchFamily="34" charset="-120"/>
              </a:rPr>
              <a:t>ワーク①：自社の採用単価を数字にする</a:t>
            </a:r>
            <a:endParaRPr lang="en-US" sz="2700" dirty="0"/>
          </a:p>
        </p:txBody>
      </p:sp>
      <p:sp>
        <p:nvSpPr>
          <p:cNvPr id="5" name="Text 3"/>
          <p:cNvSpPr/>
          <p:nvPr/>
        </p:nvSpPr>
        <p:spPr>
          <a:xfrm>
            <a:off x="640080" y="1316736"/>
            <a:ext cx="10881360" cy="329184"/>
          </a:xfrm>
          <a:prstGeom prst="rect">
            <a:avLst/>
          </a:prstGeom>
          <a:noFill/>
          <a:ln/>
        </p:spPr>
        <p:txBody>
          <a:bodyPr wrap="square" lIns="0" tIns="0" rIns="0" bIns="0" rtlCol="0" anchor="ctr"/>
          <a:lstStyle/>
          <a:p>
            <a:pPr indent="0" marL="0">
              <a:buNone/>
            </a:pPr>
            <a:r>
              <a:rPr lang="en-US" sz="1300" dirty="0">
                <a:solidFill>
                  <a:srgbClr val="6E6C63"/>
                </a:solidFill>
                <a:latin typeface="Meiryo" pitchFamily="34" charset="0"/>
                <a:ea typeface="Meiryo" pitchFamily="34" charset="-122"/>
                <a:cs typeface="Meiryo" pitchFamily="34" charset="-120"/>
              </a:rPr>
              <a:t>改善の効果は、はじめの数字がないと測れません（1 人あたり・万円）</a:t>
            </a:r>
            <a:endParaRPr lang="en-US" sz="1300" dirty="0"/>
          </a:p>
        </p:txBody>
      </p:sp>
      <p:sp>
        <p:nvSpPr>
          <p:cNvPr id="6" name="Shape 4"/>
          <p:cNvSpPr/>
          <p:nvPr/>
        </p:nvSpPr>
        <p:spPr>
          <a:xfrm>
            <a:off x="640080" y="1783080"/>
            <a:ext cx="6309360" cy="3703320"/>
          </a:xfrm>
          <a:prstGeom prst="roundRect">
            <a:avLst>
              <a:gd name="adj" fmla="val 1481"/>
            </a:avLst>
          </a:prstGeom>
          <a:solidFill>
            <a:srgbClr val="FAF9F5"/>
          </a:solidFill>
          <a:ln w="12700">
            <a:solidFill>
              <a:srgbClr val="E8E6DC"/>
            </a:solidFill>
            <a:prstDash val="solid"/>
          </a:ln>
        </p:spPr>
      </p:sp>
      <p:graphicFrame>
        <p:nvGraphicFramePr>
          <p:cNvPr id="7" name="Chart 0" descr=""/>
          <p:cNvGraphicFramePr/>
          <p:nvPr/>
        </p:nvGraphicFramePr>
        <p:xfrm>
          <a:off x="777240" y="1920240"/>
          <a:ext cx="6035040" cy="3429000"/>
        </p:xfrm>
        <a:graphic xmlns:a="http://schemas.openxmlformats.org/drawingml/2006/main">
          <a:graphicData uri="http://schemas.openxmlformats.org/drawingml/2006/chart">
            <c:chart xmlns:c="http://schemas.openxmlformats.org/drawingml/2006/chart" r:id="rId1"/>
          </a:graphicData>
        </a:graphic>
      </p:graphicFrame>
      <p:sp>
        <p:nvSpPr>
          <p:cNvPr id="8" name="Text 5"/>
          <p:cNvSpPr/>
          <p:nvPr/>
        </p:nvSpPr>
        <p:spPr>
          <a:xfrm>
            <a:off x="7223760" y="1783080"/>
            <a:ext cx="4297680" cy="365760"/>
          </a:xfrm>
          <a:prstGeom prst="rect">
            <a:avLst/>
          </a:prstGeom>
          <a:noFill/>
          <a:ln/>
        </p:spPr>
        <p:txBody>
          <a:bodyPr wrap="square" lIns="0" tIns="0" rIns="0" bIns="0" rtlCol="0" anchor="ctr"/>
          <a:lstStyle/>
          <a:p>
            <a:pPr indent="0" marL="0">
              <a:buNone/>
            </a:pPr>
            <a:r>
              <a:rPr lang="en-US" sz="1600" b="1" dirty="0">
                <a:solidFill>
                  <a:srgbClr val="141413"/>
                </a:solidFill>
                <a:latin typeface="Meiryo" pitchFamily="34" charset="0"/>
                <a:ea typeface="Meiryo" pitchFamily="34" charset="-122"/>
                <a:cs typeface="Meiryo" pitchFamily="34" charset="-120"/>
              </a:rPr>
              <a:t>この 4 つを埋めるだけ</a:t>
            </a:r>
            <a:endParaRPr lang="en-US" sz="1600" dirty="0"/>
          </a:p>
        </p:txBody>
      </p:sp>
      <p:sp>
        <p:nvSpPr>
          <p:cNvPr id="9" name="Shape 6"/>
          <p:cNvSpPr/>
          <p:nvPr/>
        </p:nvSpPr>
        <p:spPr>
          <a:xfrm>
            <a:off x="7223760" y="2240280"/>
            <a:ext cx="4297680" cy="640080"/>
          </a:xfrm>
          <a:prstGeom prst="roundRect">
            <a:avLst>
              <a:gd name="adj" fmla="val 7143"/>
            </a:avLst>
          </a:prstGeom>
          <a:solidFill>
            <a:srgbClr val="FAF9F5"/>
          </a:solidFill>
          <a:ln w="12700">
            <a:solidFill>
              <a:srgbClr val="E8E6DC"/>
            </a:solidFill>
            <a:prstDash val="solid"/>
          </a:ln>
        </p:spPr>
      </p:sp>
      <p:sp>
        <p:nvSpPr>
          <p:cNvPr id="10" name="Text 7"/>
          <p:cNvSpPr/>
          <p:nvPr/>
        </p:nvSpPr>
        <p:spPr>
          <a:xfrm>
            <a:off x="7452360" y="2313432"/>
            <a:ext cx="3840480" cy="274320"/>
          </a:xfrm>
          <a:prstGeom prst="rect">
            <a:avLst/>
          </a:prstGeom>
          <a:noFill/>
          <a:ln/>
        </p:spPr>
        <p:txBody>
          <a:bodyPr wrap="square" lIns="0" tIns="0" rIns="0" bIns="0" rtlCol="0" anchor="ctr"/>
          <a:lstStyle/>
          <a:p>
            <a:pPr indent="0" marL="0">
              <a:buNone/>
            </a:pPr>
            <a:r>
              <a:rPr lang="en-US" sz="1250" b="1" dirty="0">
                <a:solidFill>
                  <a:srgbClr val="141413"/>
                </a:solidFill>
                <a:latin typeface="Meiryo" pitchFamily="34" charset="0"/>
                <a:ea typeface="Meiryo" pitchFamily="34" charset="-122"/>
                <a:cs typeface="Meiryo" pitchFamily="34" charset="-120"/>
              </a:rPr>
              <a:t>① 直近 1 年の採用人数</a:t>
            </a:r>
            <a:endParaRPr lang="en-US" sz="1250" dirty="0"/>
          </a:p>
        </p:txBody>
      </p:sp>
      <p:sp>
        <p:nvSpPr>
          <p:cNvPr id="11" name="Text 8"/>
          <p:cNvSpPr/>
          <p:nvPr/>
        </p:nvSpPr>
        <p:spPr>
          <a:xfrm>
            <a:off x="7452360" y="2569464"/>
            <a:ext cx="3840480" cy="256032"/>
          </a:xfrm>
          <a:prstGeom prst="rect">
            <a:avLst/>
          </a:prstGeom>
          <a:noFill/>
          <a:ln/>
        </p:spPr>
        <p:txBody>
          <a:bodyPr wrap="square" lIns="0" tIns="0" rIns="0" bIns="0" rtlCol="0" anchor="ctr"/>
          <a:lstStyle/>
          <a:p>
            <a:pPr indent="0" marL="0">
              <a:buNone/>
            </a:pPr>
            <a:r>
              <a:rPr lang="en-US" sz="1050" dirty="0">
                <a:solidFill>
                  <a:srgbClr val="6E6C63"/>
                </a:solidFill>
                <a:latin typeface="Meiryo" pitchFamily="34" charset="0"/>
                <a:ea typeface="Meiryo" pitchFamily="34" charset="-122"/>
                <a:cs typeface="Meiryo" pitchFamily="34" charset="-120"/>
              </a:rPr>
              <a:t>常勤・非常勤を分けて数える</a:t>
            </a:r>
            <a:endParaRPr lang="en-US" sz="1050" dirty="0"/>
          </a:p>
        </p:txBody>
      </p:sp>
      <p:sp>
        <p:nvSpPr>
          <p:cNvPr id="12" name="Shape 9"/>
          <p:cNvSpPr/>
          <p:nvPr/>
        </p:nvSpPr>
        <p:spPr>
          <a:xfrm>
            <a:off x="7223760" y="2990088"/>
            <a:ext cx="4297680" cy="640080"/>
          </a:xfrm>
          <a:prstGeom prst="roundRect">
            <a:avLst>
              <a:gd name="adj" fmla="val 7143"/>
            </a:avLst>
          </a:prstGeom>
          <a:solidFill>
            <a:srgbClr val="FAF9F5"/>
          </a:solidFill>
          <a:ln w="12700">
            <a:solidFill>
              <a:srgbClr val="E8E6DC"/>
            </a:solidFill>
            <a:prstDash val="solid"/>
          </a:ln>
        </p:spPr>
      </p:sp>
      <p:sp>
        <p:nvSpPr>
          <p:cNvPr id="13" name="Text 10"/>
          <p:cNvSpPr/>
          <p:nvPr/>
        </p:nvSpPr>
        <p:spPr>
          <a:xfrm>
            <a:off x="7452360" y="3063240"/>
            <a:ext cx="3840480" cy="274320"/>
          </a:xfrm>
          <a:prstGeom prst="rect">
            <a:avLst/>
          </a:prstGeom>
          <a:noFill/>
          <a:ln/>
        </p:spPr>
        <p:txBody>
          <a:bodyPr wrap="square" lIns="0" tIns="0" rIns="0" bIns="0" rtlCol="0" anchor="ctr"/>
          <a:lstStyle/>
          <a:p>
            <a:pPr indent="0" marL="0">
              <a:buNone/>
            </a:pPr>
            <a:r>
              <a:rPr lang="en-US" sz="1250" b="1" dirty="0">
                <a:solidFill>
                  <a:srgbClr val="141413"/>
                </a:solidFill>
                <a:latin typeface="Meiryo" pitchFamily="34" charset="0"/>
                <a:ea typeface="Meiryo" pitchFamily="34" charset="-122"/>
                <a:cs typeface="Meiryo" pitchFamily="34" charset="-120"/>
              </a:rPr>
              <a:t>② かかった費用の合計</a:t>
            </a:r>
            <a:endParaRPr lang="en-US" sz="1250" dirty="0"/>
          </a:p>
        </p:txBody>
      </p:sp>
      <p:sp>
        <p:nvSpPr>
          <p:cNvPr id="14" name="Text 11"/>
          <p:cNvSpPr/>
          <p:nvPr/>
        </p:nvSpPr>
        <p:spPr>
          <a:xfrm>
            <a:off x="7452360" y="3319272"/>
            <a:ext cx="3840480" cy="256032"/>
          </a:xfrm>
          <a:prstGeom prst="rect">
            <a:avLst/>
          </a:prstGeom>
          <a:noFill/>
          <a:ln/>
        </p:spPr>
        <p:txBody>
          <a:bodyPr wrap="square" lIns="0" tIns="0" rIns="0" bIns="0" rtlCol="0" anchor="ctr"/>
          <a:lstStyle/>
          <a:p>
            <a:pPr indent="0" marL="0">
              <a:buNone/>
            </a:pPr>
            <a:r>
              <a:rPr lang="en-US" sz="1050" dirty="0">
                <a:solidFill>
                  <a:srgbClr val="6E6C63"/>
                </a:solidFill>
                <a:latin typeface="Meiryo" pitchFamily="34" charset="0"/>
                <a:ea typeface="Meiryo" pitchFamily="34" charset="-122"/>
                <a:cs typeface="Meiryo" pitchFamily="34" charset="-120"/>
              </a:rPr>
              <a:t>手数料・広告費・媒体費をすべて足す</a:t>
            </a:r>
            <a:endParaRPr lang="en-US" sz="1050" dirty="0"/>
          </a:p>
        </p:txBody>
      </p:sp>
      <p:sp>
        <p:nvSpPr>
          <p:cNvPr id="15" name="Shape 12"/>
          <p:cNvSpPr/>
          <p:nvPr/>
        </p:nvSpPr>
        <p:spPr>
          <a:xfrm>
            <a:off x="7223760" y="3739896"/>
            <a:ext cx="4297680" cy="640080"/>
          </a:xfrm>
          <a:prstGeom prst="roundRect">
            <a:avLst>
              <a:gd name="adj" fmla="val 7143"/>
            </a:avLst>
          </a:prstGeom>
          <a:solidFill>
            <a:srgbClr val="FAF9F5"/>
          </a:solidFill>
          <a:ln w="12700">
            <a:solidFill>
              <a:srgbClr val="E8E6DC"/>
            </a:solidFill>
            <a:prstDash val="solid"/>
          </a:ln>
        </p:spPr>
      </p:sp>
      <p:sp>
        <p:nvSpPr>
          <p:cNvPr id="16" name="Text 13"/>
          <p:cNvSpPr/>
          <p:nvPr/>
        </p:nvSpPr>
        <p:spPr>
          <a:xfrm>
            <a:off x="7452360" y="3813048"/>
            <a:ext cx="3840480" cy="274320"/>
          </a:xfrm>
          <a:prstGeom prst="rect">
            <a:avLst/>
          </a:prstGeom>
          <a:noFill/>
          <a:ln/>
        </p:spPr>
        <p:txBody>
          <a:bodyPr wrap="square" lIns="0" tIns="0" rIns="0" bIns="0" rtlCol="0" anchor="ctr"/>
          <a:lstStyle/>
          <a:p>
            <a:pPr indent="0" marL="0">
              <a:buNone/>
            </a:pPr>
            <a:r>
              <a:rPr lang="en-US" sz="1250" b="1" dirty="0">
                <a:solidFill>
                  <a:srgbClr val="141413"/>
                </a:solidFill>
                <a:latin typeface="Meiryo" pitchFamily="34" charset="0"/>
                <a:ea typeface="Meiryo" pitchFamily="34" charset="-122"/>
                <a:cs typeface="Meiryo" pitchFamily="34" charset="-120"/>
              </a:rPr>
              <a:t>③ ② ÷ ① ＝ 採用単価</a:t>
            </a:r>
            <a:endParaRPr lang="en-US" sz="1250" dirty="0"/>
          </a:p>
        </p:txBody>
      </p:sp>
      <p:sp>
        <p:nvSpPr>
          <p:cNvPr id="17" name="Text 14"/>
          <p:cNvSpPr/>
          <p:nvPr/>
        </p:nvSpPr>
        <p:spPr>
          <a:xfrm>
            <a:off x="7452360" y="4069080"/>
            <a:ext cx="3840480" cy="256032"/>
          </a:xfrm>
          <a:prstGeom prst="rect">
            <a:avLst/>
          </a:prstGeom>
          <a:noFill/>
          <a:ln/>
        </p:spPr>
        <p:txBody>
          <a:bodyPr wrap="square" lIns="0" tIns="0" rIns="0" bIns="0" rtlCol="0" anchor="ctr"/>
          <a:lstStyle/>
          <a:p>
            <a:pPr indent="0" marL="0">
              <a:buNone/>
            </a:pPr>
            <a:r>
              <a:rPr lang="en-US" sz="1050" dirty="0">
                <a:solidFill>
                  <a:srgbClr val="6E6C63"/>
                </a:solidFill>
                <a:latin typeface="Meiryo" pitchFamily="34" charset="0"/>
                <a:ea typeface="Meiryo" pitchFamily="34" charset="-122"/>
                <a:cs typeface="Meiryo" pitchFamily="34" charset="-120"/>
              </a:rPr>
              <a:t>これが今の「1 人いくら」</a:t>
            </a:r>
            <a:endParaRPr lang="en-US" sz="1050" dirty="0"/>
          </a:p>
        </p:txBody>
      </p:sp>
      <p:sp>
        <p:nvSpPr>
          <p:cNvPr id="18" name="Shape 15"/>
          <p:cNvSpPr/>
          <p:nvPr/>
        </p:nvSpPr>
        <p:spPr>
          <a:xfrm>
            <a:off x="7223760" y="4489704"/>
            <a:ext cx="4297680" cy="640080"/>
          </a:xfrm>
          <a:prstGeom prst="roundRect">
            <a:avLst>
              <a:gd name="adj" fmla="val 7143"/>
            </a:avLst>
          </a:prstGeom>
          <a:solidFill>
            <a:srgbClr val="FAF9F5"/>
          </a:solidFill>
          <a:ln w="12700">
            <a:solidFill>
              <a:srgbClr val="E8E6DC"/>
            </a:solidFill>
            <a:prstDash val="solid"/>
          </a:ln>
        </p:spPr>
      </p:sp>
      <p:sp>
        <p:nvSpPr>
          <p:cNvPr id="19" name="Text 16"/>
          <p:cNvSpPr/>
          <p:nvPr/>
        </p:nvSpPr>
        <p:spPr>
          <a:xfrm>
            <a:off x="7452360" y="4562856"/>
            <a:ext cx="3840480" cy="274320"/>
          </a:xfrm>
          <a:prstGeom prst="rect">
            <a:avLst/>
          </a:prstGeom>
          <a:noFill/>
          <a:ln/>
        </p:spPr>
        <p:txBody>
          <a:bodyPr wrap="square" lIns="0" tIns="0" rIns="0" bIns="0" rtlCol="0" anchor="ctr"/>
          <a:lstStyle/>
          <a:p>
            <a:pPr indent="0" marL="0">
              <a:buNone/>
            </a:pPr>
            <a:r>
              <a:rPr lang="en-US" sz="1250" b="1" dirty="0">
                <a:solidFill>
                  <a:srgbClr val="141413"/>
                </a:solidFill>
                <a:latin typeface="Meiryo" pitchFamily="34" charset="0"/>
                <a:ea typeface="Meiryo" pitchFamily="34" charset="-122"/>
                <a:cs typeface="Meiryo" pitchFamily="34" charset="-120"/>
              </a:rPr>
              <a:t>④ 定着した人数</a:t>
            </a:r>
            <a:endParaRPr lang="en-US" sz="1250" dirty="0"/>
          </a:p>
        </p:txBody>
      </p:sp>
      <p:sp>
        <p:nvSpPr>
          <p:cNvPr id="20" name="Text 17"/>
          <p:cNvSpPr/>
          <p:nvPr/>
        </p:nvSpPr>
        <p:spPr>
          <a:xfrm>
            <a:off x="7452360" y="4818888"/>
            <a:ext cx="3840480" cy="256032"/>
          </a:xfrm>
          <a:prstGeom prst="rect">
            <a:avLst/>
          </a:prstGeom>
          <a:noFill/>
          <a:ln/>
        </p:spPr>
        <p:txBody>
          <a:bodyPr wrap="square" lIns="0" tIns="0" rIns="0" bIns="0" rtlCol="0" anchor="ctr"/>
          <a:lstStyle/>
          <a:p>
            <a:pPr indent="0" marL="0">
              <a:buNone/>
            </a:pPr>
            <a:r>
              <a:rPr lang="en-US" sz="1050" dirty="0">
                <a:solidFill>
                  <a:srgbClr val="6E6C63"/>
                </a:solidFill>
                <a:latin typeface="Meiryo" pitchFamily="34" charset="0"/>
                <a:ea typeface="Meiryo" pitchFamily="34" charset="-122"/>
                <a:cs typeface="Meiryo" pitchFamily="34" charset="-120"/>
              </a:rPr>
              <a:t>半年後に残っている人数も出す</a:t>
            </a:r>
            <a:endParaRPr lang="en-US" sz="1050" dirty="0"/>
          </a:p>
        </p:txBody>
      </p:sp>
      <p:sp>
        <p:nvSpPr>
          <p:cNvPr id="21" name="Text 18"/>
          <p:cNvSpPr/>
          <p:nvPr/>
        </p:nvSpPr>
        <p:spPr>
          <a:xfrm>
            <a:off x="7223760" y="5257800"/>
            <a:ext cx="4297680" cy="502920"/>
          </a:xfrm>
          <a:prstGeom prst="rect">
            <a:avLst/>
          </a:prstGeom>
          <a:noFill/>
          <a:ln/>
        </p:spPr>
        <p:txBody>
          <a:bodyPr wrap="square" lIns="0" tIns="0" rIns="0" bIns="0" rtlCol="0" anchor="t"/>
          <a:lstStyle/>
          <a:p>
            <a:pPr indent="0" marL="0">
              <a:lnSpc>
                <a:spcPts val="1700"/>
              </a:lnSpc>
              <a:buNone/>
            </a:pPr>
            <a:r>
              <a:rPr lang="en-US" sz="1100" b="1" dirty="0">
                <a:solidFill>
                  <a:srgbClr val="D97757"/>
                </a:solidFill>
                <a:latin typeface="Meiryo" pitchFamily="34" charset="0"/>
                <a:ea typeface="Meiryo" pitchFamily="34" charset="-122"/>
                <a:cs typeface="Meiryo" pitchFamily="34" charset="-120"/>
              </a:rPr>
              <a:t>④ まで出すのが肝心です。安く採っても半年で辞めるなら、単価は倍になっているのと同じです。</a:t>
            </a:r>
            <a:endParaRPr lang="en-US" sz="1100" dirty="0"/>
          </a:p>
        </p:txBody>
      </p:sp>
      <p:sp>
        <p:nvSpPr>
          <p:cNvPr id="22" name="Text 19"/>
          <p:cNvSpPr/>
          <p:nvPr/>
        </p:nvSpPr>
        <p:spPr>
          <a:xfrm>
            <a:off x="640080" y="5897880"/>
            <a:ext cx="10881360" cy="320040"/>
          </a:xfrm>
          <a:prstGeom prst="rect">
            <a:avLst/>
          </a:prstGeom>
          <a:noFill/>
          <a:ln/>
        </p:spPr>
        <p:txBody>
          <a:bodyPr wrap="square" lIns="0" tIns="0" rIns="0" bIns="0" rtlCol="0" anchor="ctr"/>
          <a:lstStyle/>
          <a:p>
            <a:pPr indent="0" marL="0">
              <a:buNone/>
            </a:pPr>
            <a:r>
              <a:rPr lang="en-US" sz="1000" dirty="0">
                <a:solidFill>
                  <a:srgbClr val="7D7B72"/>
                </a:solidFill>
                <a:latin typeface="Meiryo" pitchFamily="34" charset="0"/>
                <a:ea typeface="Meiryo" pitchFamily="34" charset="-122"/>
                <a:cs typeface="Meiryo" pitchFamily="34" charset="-120"/>
              </a:rPr>
              <a:t>※ グラフは相場からの試算例。自社の実数に置き換えて使ってください。</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9F5"/>
        </a:solidFill>
      </p:bgPr>
    </p:bg>
    <p:spTree>
      <p:nvGrpSpPr>
        <p:cNvPr id="1" name=""/>
        <p:cNvGrpSpPr/>
        <p:nvPr/>
      </p:nvGrpSpPr>
      <p:grpSpPr>
        <a:xfrm>
          <a:off x="0" y="0"/>
          <a:ext cx="0" cy="0"/>
          <a:chOff x="0" y="0"/>
          <a:chExt cx="0" cy="0"/>
        </a:xfrm>
      </p:grpSpPr>
      <p:sp>
        <p:nvSpPr>
          <p:cNvPr id="2" name="Shape 0"/>
          <p:cNvSpPr/>
          <p:nvPr/>
        </p:nvSpPr>
        <p:spPr>
          <a:xfrm>
            <a:off x="640080" y="347472"/>
            <a:ext cx="1783080" cy="329184"/>
          </a:xfrm>
          <a:prstGeom prst="roundRect">
            <a:avLst>
              <a:gd name="adj" fmla="val 13889"/>
            </a:avLst>
          </a:prstGeom>
          <a:solidFill>
            <a:srgbClr val="D97757"/>
          </a:solidFill>
          <a:ln/>
        </p:spPr>
      </p:sp>
      <p:sp>
        <p:nvSpPr>
          <p:cNvPr id="3" name="Text 1"/>
          <p:cNvSpPr/>
          <p:nvPr/>
        </p:nvSpPr>
        <p:spPr>
          <a:xfrm>
            <a:off x="640080" y="347472"/>
            <a:ext cx="1783080" cy="329184"/>
          </a:xfrm>
          <a:prstGeom prst="rect">
            <a:avLst/>
          </a:prstGeom>
          <a:noFill/>
          <a:ln/>
        </p:spPr>
        <p:txBody>
          <a:bodyPr wrap="square" lIns="0" tIns="0" rIns="0" bIns="0" rtlCol="0" anchor="ctr"/>
          <a:lstStyle/>
          <a:p>
            <a:pPr algn="ctr" indent="0" marL="0">
              <a:buNone/>
            </a:pPr>
            <a:r>
              <a:rPr lang="en-US" sz="1150" b="1" spc="100" kern="0" dirty="0">
                <a:solidFill>
                  <a:srgbClr val="FFFFFF"/>
                </a:solidFill>
                <a:latin typeface="Meiryo" pitchFamily="34" charset="0"/>
                <a:ea typeface="Meiryo" pitchFamily="34" charset="-122"/>
                <a:cs typeface="Meiryo" pitchFamily="34" charset="-120"/>
              </a:rPr>
              <a:t>MODULE 1</a:t>
            </a:r>
            <a:endParaRPr lang="en-US" sz="1150" dirty="0"/>
          </a:p>
        </p:txBody>
      </p:sp>
      <p:sp>
        <p:nvSpPr>
          <p:cNvPr id="4" name="Text 2"/>
          <p:cNvSpPr/>
          <p:nvPr/>
        </p:nvSpPr>
        <p:spPr>
          <a:xfrm>
            <a:off x="640080" y="768096"/>
            <a:ext cx="10881360" cy="566928"/>
          </a:xfrm>
          <a:prstGeom prst="rect">
            <a:avLst/>
          </a:prstGeom>
          <a:noFill/>
          <a:ln/>
        </p:spPr>
        <p:txBody>
          <a:bodyPr wrap="square" lIns="0" tIns="0" rIns="0" bIns="0" rtlCol="0" anchor="ctr"/>
          <a:lstStyle/>
          <a:p>
            <a:pPr indent="0" marL="0">
              <a:buNone/>
            </a:pPr>
            <a:r>
              <a:rPr lang="en-US" sz="2700" b="1" dirty="0">
                <a:solidFill>
                  <a:srgbClr val="141413"/>
                </a:solidFill>
                <a:latin typeface="Meiryo" pitchFamily="34" charset="0"/>
                <a:ea typeface="Meiryo" pitchFamily="34" charset="-122"/>
                <a:cs typeface="Meiryo" pitchFamily="34" charset="-120"/>
              </a:rPr>
              <a:t>採用ファネル ｜ 求職者が動く 4 つの段階</a:t>
            </a:r>
            <a:endParaRPr lang="en-US" sz="2700" dirty="0"/>
          </a:p>
        </p:txBody>
      </p:sp>
      <p:sp>
        <p:nvSpPr>
          <p:cNvPr id="5" name="Text 3"/>
          <p:cNvSpPr/>
          <p:nvPr/>
        </p:nvSpPr>
        <p:spPr>
          <a:xfrm>
            <a:off x="640080" y="1316736"/>
            <a:ext cx="10881360" cy="329184"/>
          </a:xfrm>
          <a:prstGeom prst="rect">
            <a:avLst/>
          </a:prstGeom>
          <a:noFill/>
          <a:ln/>
        </p:spPr>
        <p:txBody>
          <a:bodyPr wrap="square" lIns="0" tIns="0" rIns="0" bIns="0" rtlCol="0" anchor="ctr"/>
          <a:lstStyle/>
          <a:p>
            <a:pPr indent="0" marL="0">
              <a:buNone/>
            </a:pPr>
            <a:r>
              <a:rPr lang="en-US" sz="1300" dirty="0">
                <a:solidFill>
                  <a:srgbClr val="6E6C63"/>
                </a:solidFill>
                <a:latin typeface="Meiryo" pitchFamily="34" charset="0"/>
                <a:ea typeface="Meiryo" pitchFamily="34" charset="-122"/>
                <a:cs typeface="Meiryo" pitchFamily="34" charset="-120"/>
              </a:rPr>
              <a:t>採用活動はマーケティングと同じ構造。段階ごとに、かける手が違います</a:t>
            </a:r>
            <a:endParaRPr lang="en-US" sz="1300" dirty="0"/>
          </a:p>
        </p:txBody>
      </p:sp>
      <p:sp>
        <p:nvSpPr>
          <p:cNvPr id="6" name="Shape 4"/>
          <p:cNvSpPr/>
          <p:nvPr/>
        </p:nvSpPr>
        <p:spPr>
          <a:xfrm>
            <a:off x="822960" y="1828800"/>
            <a:ext cx="6766560" cy="786384"/>
          </a:xfrm>
          <a:prstGeom prst="roundRect">
            <a:avLst>
              <a:gd name="adj" fmla="val 5814"/>
            </a:avLst>
          </a:prstGeom>
          <a:solidFill>
            <a:srgbClr val="24486B"/>
          </a:solidFill>
          <a:ln/>
        </p:spPr>
      </p:sp>
      <p:pic>
        <p:nvPicPr>
          <p:cNvPr id="7" name="Image 0" descr="preencoded.png">    </p:cNvPr>
          <p:cNvPicPr>
            <a:picLocks noChangeAspect="1"/>
          </p:cNvPicPr>
          <p:nvPr/>
        </p:nvPicPr>
        <p:blipFill>
          <a:blip r:embed="rId1"/>
          <a:stretch>
            <a:fillRect/>
          </a:stretch>
        </p:blipFill>
        <p:spPr>
          <a:xfrm>
            <a:off x="1097280" y="2048256"/>
            <a:ext cx="347472" cy="347472"/>
          </a:xfrm>
          <a:prstGeom prst="rect">
            <a:avLst/>
          </a:prstGeom>
        </p:spPr>
      </p:pic>
      <p:sp>
        <p:nvSpPr>
          <p:cNvPr id="8" name="Text 5"/>
          <p:cNvSpPr/>
          <p:nvPr/>
        </p:nvSpPr>
        <p:spPr>
          <a:xfrm>
            <a:off x="1554480" y="1828800"/>
            <a:ext cx="1051560" cy="786384"/>
          </a:xfrm>
          <a:prstGeom prst="rect">
            <a:avLst/>
          </a:prstGeom>
          <a:noFill/>
          <a:ln/>
        </p:spPr>
        <p:txBody>
          <a:bodyPr wrap="square" lIns="0" tIns="0" rIns="0" bIns="0" rtlCol="0" anchor="ctr"/>
          <a:lstStyle/>
          <a:p>
            <a:pPr indent="0" marL="0">
              <a:buNone/>
            </a:pPr>
            <a:r>
              <a:rPr lang="en-US" sz="1500" b="1" dirty="0">
                <a:solidFill>
                  <a:srgbClr val="FFFFFF"/>
                </a:solidFill>
                <a:latin typeface="Meiryo" pitchFamily="34" charset="0"/>
                <a:ea typeface="Meiryo" pitchFamily="34" charset="-122"/>
                <a:cs typeface="Meiryo" pitchFamily="34" charset="-120"/>
              </a:rPr>
              <a:t>① 認知</a:t>
            </a:r>
            <a:endParaRPr lang="en-US" sz="1500" dirty="0"/>
          </a:p>
        </p:txBody>
      </p:sp>
      <p:sp>
        <p:nvSpPr>
          <p:cNvPr id="9" name="Text 6"/>
          <p:cNvSpPr/>
          <p:nvPr/>
        </p:nvSpPr>
        <p:spPr>
          <a:xfrm>
            <a:off x="2606040" y="1828800"/>
            <a:ext cx="4800600" cy="786384"/>
          </a:xfrm>
          <a:prstGeom prst="rect">
            <a:avLst/>
          </a:prstGeom>
          <a:noFill/>
          <a:ln/>
        </p:spPr>
        <p:txBody>
          <a:bodyPr wrap="square" lIns="0" tIns="0" rIns="0" bIns="0" rtlCol="0" anchor="ctr"/>
          <a:lstStyle/>
          <a:p>
            <a:pPr indent="0" marL="0">
              <a:buNone/>
            </a:pPr>
            <a:r>
              <a:rPr lang="en-US" sz="1200" dirty="0">
                <a:solidFill>
                  <a:srgbClr val="FFFFFF"/>
                </a:solidFill>
                <a:latin typeface="Meiryo" pitchFamily="34" charset="0"/>
                <a:ea typeface="Meiryo" pitchFamily="34" charset="-122"/>
                <a:cs typeface="Meiryo" pitchFamily="34" charset="-120"/>
              </a:rPr>
              <a:t>「こんな施設があるんだ」</a:t>
            </a:r>
            <a:endParaRPr lang="en-US" sz="1200" dirty="0"/>
          </a:p>
        </p:txBody>
      </p:sp>
      <p:sp>
        <p:nvSpPr>
          <p:cNvPr id="10" name="Shape 7"/>
          <p:cNvSpPr/>
          <p:nvPr/>
        </p:nvSpPr>
        <p:spPr>
          <a:xfrm>
            <a:off x="1371600" y="2761488"/>
            <a:ext cx="5669280" cy="786384"/>
          </a:xfrm>
          <a:prstGeom prst="roundRect">
            <a:avLst>
              <a:gd name="adj" fmla="val 5814"/>
            </a:avLst>
          </a:prstGeom>
          <a:solidFill>
            <a:srgbClr val="2F5B87"/>
          </a:solidFill>
          <a:ln/>
        </p:spPr>
      </p:sp>
      <p:pic>
        <p:nvPicPr>
          <p:cNvPr id="11" name="Image 1" descr="preencoded.png">    </p:cNvPr>
          <p:cNvPicPr>
            <a:picLocks noChangeAspect="1"/>
          </p:cNvPicPr>
          <p:nvPr/>
        </p:nvPicPr>
        <p:blipFill>
          <a:blip r:embed="rId2"/>
          <a:stretch>
            <a:fillRect/>
          </a:stretch>
        </p:blipFill>
        <p:spPr>
          <a:xfrm>
            <a:off x="1645920" y="2980944"/>
            <a:ext cx="347472" cy="347472"/>
          </a:xfrm>
          <a:prstGeom prst="rect">
            <a:avLst/>
          </a:prstGeom>
        </p:spPr>
      </p:pic>
      <p:sp>
        <p:nvSpPr>
          <p:cNvPr id="12" name="Text 8"/>
          <p:cNvSpPr/>
          <p:nvPr/>
        </p:nvSpPr>
        <p:spPr>
          <a:xfrm>
            <a:off x="2103120" y="2761488"/>
            <a:ext cx="1051560" cy="786384"/>
          </a:xfrm>
          <a:prstGeom prst="rect">
            <a:avLst/>
          </a:prstGeom>
          <a:noFill/>
          <a:ln/>
        </p:spPr>
        <p:txBody>
          <a:bodyPr wrap="square" lIns="0" tIns="0" rIns="0" bIns="0" rtlCol="0" anchor="ctr"/>
          <a:lstStyle/>
          <a:p>
            <a:pPr indent="0" marL="0">
              <a:buNone/>
            </a:pPr>
            <a:r>
              <a:rPr lang="en-US" sz="1500" b="1" dirty="0">
                <a:solidFill>
                  <a:srgbClr val="FFFFFF"/>
                </a:solidFill>
                <a:latin typeface="Meiryo" pitchFamily="34" charset="0"/>
                <a:ea typeface="Meiryo" pitchFamily="34" charset="-122"/>
                <a:cs typeface="Meiryo" pitchFamily="34" charset="-120"/>
              </a:rPr>
              <a:t>② 比較</a:t>
            </a:r>
            <a:endParaRPr lang="en-US" sz="1500" dirty="0"/>
          </a:p>
        </p:txBody>
      </p:sp>
      <p:sp>
        <p:nvSpPr>
          <p:cNvPr id="13" name="Text 9"/>
          <p:cNvSpPr/>
          <p:nvPr/>
        </p:nvSpPr>
        <p:spPr>
          <a:xfrm>
            <a:off x="3154680" y="2761488"/>
            <a:ext cx="3703320" cy="786384"/>
          </a:xfrm>
          <a:prstGeom prst="rect">
            <a:avLst/>
          </a:prstGeom>
          <a:noFill/>
          <a:ln/>
        </p:spPr>
        <p:txBody>
          <a:bodyPr wrap="square" lIns="0" tIns="0" rIns="0" bIns="0" rtlCol="0" anchor="ctr"/>
          <a:lstStyle/>
          <a:p>
            <a:pPr indent="0" marL="0">
              <a:buNone/>
            </a:pPr>
            <a:r>
              <a:rPr lang="en-US" sz="1200" dirty="0">
                <a:solidFill>
                  <a:srgbClr val="FFFFFF"/>
                </a:solidFill>
                <a:latin typeface="Meiryo" pitchFamily="34" charset="0"/>
                <a:ea typeface="Meiryo" pitchFamily="34" charset="-122"/>
                <a:cs typeface="Meiryo" pitchFamily="34" charset="-120"/>
              </a:rPr>
              <a:t>「どうしてここなんだろう」</a:t>
            </a:r>
            <a:endParaRPr lang="en-US" sz="1200" dirty="0"/>
          </a:p>
        </p:txBody>
      </p:sp>
      <p:sp>
        <p:nvSpPr>
          <p:cNvPr id="14" name="Shape 10"/>
          <p:cNvSpPr/>
          <p:nvPr/>
        </p:nvSpPr>
        <p:spPr>
          <a:xfrm>
            <a:off x="1920240" y="3694176"/>
            <a:ext cx="4572000" cy="786384"/>
          </a:xfrm>
          <a:prstGeom prst="roundRect">
            <a:avLst>
              <a:gd name="adj" fmla="val 5814"/>
            </a:avLst>
          </a:prstGeom>
          <a:solidFill>
            <a:srgbClr val="41729C"/>
          </a:solidFill>
          <a:ln/>
        </p:spPr>
      </p:sp>
      <p:pic>
        <p:nvPicPr>
          <p:cNvPr id="15" name="Image 2" descr="preencoded.png">    </p:cNvPr>
          <p:cNvPicPr>
            <a:picLocks noChangeAspect="1"/>
          </p:cNvPicPr>
          <p:nvPr/>
        </p:nvPicPr>
        <p:blipFill>
          <a:blip r:embed="rId3"/>
          <a:stretch>
            <a:fillRect/>
          </a:stretch>
        </p:blipFill>
        <p:spPr>
          <a:xfrm>
            <a:off x="2194560" y="3913632"/>
            <a:ext cx="347472" cy="347472"/>
          </a:xfrm>
          <a:prstGeom prst="rect">
            <a:avLst/>
          </a:prstGeom>
        </p:spPr>
      </p:pic>
      <p:sp>
        <p:nvSpPr>
          <p:cNvPr id="16" name="Text 11"/>
          <p:cNvSpPr/>
          <p:nvPr/>
        </p:nvSpPr>
        <p:spPr>
          <a:xfrm>
            <a:off x="2651760" y="3694176"/>
            <a:ext cx="1051560" cy="786384"/>
          </a:xfrm>
          <a:prstGeom prst="rect">
            <a:avLst/>
          </a:prstGeom>
          <a:noFill/>
          <a:ln/>
        </p:spPr>
        <p:txBody>
          <a:bodyPr wrap="square" lIns="0" tIns="0" rIns="0" bIns="0" rtlCol="0" anchor="ctr"/>
          <a:lstStyle/>
          <a:p>
            <a:pPr indent="0" marL="0">
              <a:buNone/>
            </a:pPr>
            <a:r>
              <a:rPr lang="en-US" sz="1500" b="1" dirty="0">
                <a:solidFill>
                  <a:srgbClr val="FFFFFF"/>
                </a:solidFill>
                <a:latin typeface="Meiryo" pitchFamily="34" charset="0"/>
                <a:ea typeface="Meiryo" pitchFamily="34" charset="-122"/>
                <a:cs typeface="Meiryo" pitchFamily="34" charset="-120"/>
              </a:rPr>
              <a:t>③ 行動</a:t>
            </a:r>
            <a:endParaRPr lang="en-US" sz="1500" dirty="0"/>
          </a:p>
        </p:txBody>
      </p:sp>
      <p:sp>
        <p:nvSpPr>
          <p:cNvPr id="17" name="Text 12"/>
          <p:cNvSpPr/>
          <p:nvPr/>
        </p:nvSpPr>
        <p:spPr>
          <a:xfrm>
            <a:off x="3703320" y="3694176"/>
            <a:ext cx="2606040" cy="786384"/>
          </a:xfrm>
          <a:prstGeom prst="rect">
            <a:avLst/>
          </a:prstGeom>
          <a:noFill/>
          <a:ln/>
        </p:spPr>
        <p:txBody>
          <a:bodyPr wrap="square" lIns="0" tIns="0" rIns="0" bIns="0" rtlCol="0" anchor="ctr"/>
          <a:lstStyle/>
          <a:p>
            <a:pPr indent="0" marL="0">
              <a:buNone/>
            </a:pPr>
            <a:r>
              <a:rPr lang="en-US" sz="1200" dirty="0">
                <a:solidFill>
                  <a:srgbClr val="FFFFFF"/>
                </a:solidFill>
                <a:latin typeface="Meiryo" pitchFamily="34" charset="0"/>
                <a:ea typeface="Meiryo" pitchFamily="34" charset="-122"/>
                <a:cs typeface="Meiryo" pitchFamily="34" charset="-120"/>
              </a:rPr>
              <a:t>「応募しても大丈夫そう」</a:t>
            </a:r>
            <a:endParaRPr lang="en-US" sz="1200" dirty="0"/>
          </a:p>
        </p:txBody>
      </p:sp>
      <p:sp>
        <p:nvSpPr>
          <p:cNvPr id="18" name="Shape 13"/>
          <p:cNvSpPr/>
          <p:nvPr/>
        </p:nvSpPr>
        <p:spPr>
          <a:xfrm>
            <a:off x="2468880" y="4626864"/>
            <a:ext cx="3474720" cy="786384"/>
          </a:xfrm>
          <a:prstGeom prst="roundRect">
            <a:avLst>
              <a:gd name="adj" fmla="val 5814"/>
            </a:avLst>
          </a:prstGeom>
          <a:solidFill>
            <a:srgbClr val="D97757"/>
          </a:solidFill>
          <a:ln/>
        </p:spPr>
      </p:sp>
      <p:pic>
        <p:nvPicPr>
          <p:cNvPr id="19" name="Image 3" descr="preencoded.png">    </p:cNvPr>
          <p:cNvPicPr>
            <a:picLocks noChangeAspect="1"/>
          </p:cNvPicPr>
          <p:nvPr/>
        </p:nvPicPr>
        <p:blipFill>
          <a:blip r:embed="rId4"/>
          <a:stretch>
            <a:fillRect/>
          </a:stretch>
        </p:blipFill>
        <p:spPr>
          <a:xfrm>
            <a:off x="2743200" y="4846320"/>
            <a:ext cx="347472" cy="347472"/>
          </a:xfrm>
          <a:prstGeom prst="rect">
            <a:avLst/>
          </a:prstGeom>
        </p:spPr>
      </p:pic>
      <p:sp>
        <p:nvSpPr>
          <p:cNvPr id="20" name="Text 14"/>
          <p:cNvSpPr/>
          <p:nvPr/>
        </p:nvSpPr>
        <p:spPr>
          <a:xfrm>
            <a:off x="3200400" y="4626864"/>
            <a:ext cx="1051560" cy="786384"/>
          </a:xfrm>
          <a:prstGeom prst="rect">
            <a:avLst/>
          </a:prstGeom>
          <a:noFill/>
          <a:ln/>
        </p:spPr>
        <p:txBody>
          <a:bodyPr wrap="square" lIns="0" tIns="0" rIns="0" bIns="0" rtlCol="0" anchor="ctr"/>
          <a:lstStyle/>
          <a:p>
            <a:pPr indent="0" marL="0">
              <a:buNone/>
            </a:pPr>
            <a:r>
              <a:rPr lang="en-US" sz="1500" b="1" dirty="0">
                <a:solidFill>
                  <a:srgbClr val="FFFFFF"/>
                </a:solidFill>
                <a:latin typeface="Meiryo" pitchFamily="34" charset="0"/>
                <a:ea typeface="Meiryo" pitchFamily="34" charset="-122"/>
                <a:cs typeface="Meiryo" pitchFamily="34" charset="-120"/>
              </a:rPr>
              <a:t>④ 確信</a:t>
            </a:r>
            <a:endParaRPr lang="en-US" sz="1500" dirty="0"/>
          </a:p>
        </p:txBody>
      </p:sp>
      <p:sp>
        <p:nvSpPr>
          <p:cNvPr id="21" name="Text 15"/>
          <p:cNvSpPr/>
          <p:nvPr/>
        </p:nvSpPr>
        <p:spPr>
          <a:xfrm>
            <a:off x="4251960" y="4626864"/>
            <a:ext cx="1508760" cy="786384"/>
          </a:xfrm>
          <a:prstGeom prst="rect">
            <a:avLst/>
          </a:prstGeom>
          <a:noFill/>
          <a:ln/>
        </p:spPr>
        <p:txBody>
          <a:bodyPr wrap="square" lIns="0" tIns="0" rIns="0" bIns="0" rtlCol="0" anchor="ctr"/>
          <a:lstStyle/>
          <a:p>
            <a:pPr indent="0" marL="0">
              <a:buNone/>
            </a:pPr>
            <a:r>
              <a:rPr lang="en-US" sz="1200" dirty="0">
                <a:solidFill>
                  <a:srgbClr val="FFFFFF"/>
                </a:solidFill>
                <a:latin typeface="Meiryo" pitchFamily="34" charset="0"/>
                <a:ea typeface="Meiryo" pitchFamily="34" charset="-122"/>
                <a:cs typeface="Meiryo" pitchFamily="34" charset="-120"/>
              </a:rPr>
              <a:t>「ここで働きたい」</a:t>
            </a:r>
            <a:endParaRPr lang="en-US" sz="1200" dirty="0"/>
          </a:p>
        </p:txBody>
      </p:sp>
      <p:sp>
        <p:nvSpPr>
          <p:cNvPr id="22" name="Shape 16"/>
          <p:cNvSpPr/>
          <p:nvPr/>
        </p:nvSpPr>
        <p:spPr>
          <a:xfrm>
            <a:off x="8412480" y="1828800"/>
            <a:ext cx="3108960" cy="3566160"/>
          </a:xfrm>
          <a:prstGeom prst="roundRect">
            <a:avLst>
              <a:gd name="adj" fmla="val 1765"/>
            </a:avLst>
          </a:prstGeom>
          <a:solidFill>
            <a:srgbClr val="FFFFFF"/>
          </a:solidFill>
          <a:ln w="12700">
            <a:solidFill>
              <a:srgbClr val="E8E6DC"/>
            </a:solidFill>
            <a:prstDash val="solid"/>
          </a:ln>
          <a:effectLst>
            <a:outerShdw sx="100000" sy="100000" kx="0" ky="0" algn="bl" rotWithShape="0" blurRad="114300" dist="25400" dir="5400000">
              <a:srgbClr val="B0AEA5">
                <a:alpha val="30000"/>
              </a:srgbClr>
            </a:outerShdw>
          </a:effectLst>
        </p:spPr>
      </p:sp>
      <p:sp>
        <p:nvSpPr>
          <p:cNvPr id="23" name="Text 17"/>
          <p:cNvSpPr/>
          <p:nvPr/>
        </p:nvSpPr>
        <p:spPr>
          <a:xfrm>
            <a:off x="8686800" y="2011680"/>
            <a:ext cx="2560320" cy="365760"/>
          </a:xfrm>
          <a:prstGeom prst="rect">
            <a:avLst/>
          </a:prstGeom>
          <a:noFill/>
          <a:ln/>
        </p:spPr>
        <p:txBody>
          <a:bodyPr wrap="square" lIns="0" tIns="0" rIns="0" bIns="0" rtlCol="0" anchor="ctr"/>
          <a:lstStyle/>
          <a:p>
            <a:pPr indent="0" marL="0">
              <a:buNone/>
            </a:pPr>
            <a:r>
              <a:rPr lang="en-US" sz="1500" b="1" dirty="0">
                <a:solidFill>
                  <a:srgbClr val="141413"/>
                </a:solidFill>
                <a:latin typeface="Meiryo" pitchFamily="34" charset="0"/>
                <a:ea typeface="Meiryo" pitchFamily="34" charset="-122"/>
                <a:cs typeface="Meiryo" pitchFamily="34" charset="-120"/>
              </a:rPr>
              <a:t>企業側がやること</a:t>
            </a:r>
            <a:endParaRPr lang="en-US" sz="1500" dirty="0"/>
          </a:p>
        </p:txBody>
      </p:sp>
      <p:pic>
        <p:nvPicPr>
          <p:cNvPr id="24" name="Image 4" descr="preencoded.png">    </p:cNvPr>
          <p:cNvPicPr>
            <a:picLocks noChangeAspect="1"/>
          </p:cNvPicPr>
          <p:nvPr/>
        </p:nvPicPr>
        <p:blipFill>
          <a:blip r:embed="rId5"/>
          <a:stretch>
            <a:fillRect/>
          </a:stretch>
        </p:blipFill>
        <p:spPr>
          <a:xfrm>
            <a:off x="8686800" y="2505456"/>
            <a:ext cx="237744" cy="237744"/>
          </a:xfrm>
          <a:prstGeom prst="rect">
            <a:avLst/>
          </a:prstGeom>
        </p:spPr>
      </p:pic>
      <p:sp>
        <p:nvSpPr>
          <p:cNvPr id="25" name="Text 18"/>
          <p:cNvSpPr/>
          <p:nvPr/>
        </p:nvSpPr>
        <p:spPr>
          <a:xfrm>
            <a:off x="9015984" y="2468880"/>
            <a:ext cx="2231136" cy="685800"/>
          </a:xfrm>
          <a:prstGeom prst="rect">
            <a:avLst/>
          </a:prstGeom>
          <a:noFill/>
          <a:ln/>
        </p:spPr>
        <p:txBody>
          <a:bodyPr wrap="square" lIns="0" tIns="0" rIns="0" bIns="0" rtlCol="0" anchor="t"/>
          <a:lstStyle/>
          <a:p>
            <a:pPr indent="0" marL="0">
              <a:lnSpc>
                <a:spcPts val="1800"/>
              </a:lnSpc>
              <a:buNone/>
            </a:pPr>
            <a:r>
              <a:rPr lang="en-US" sz="1100" dirty="0">
                <a:solidFill>
                  <a:srgbClr val="6E6C63"/>
                </a:solidFill>
                <a:latin typeface="Meiryo" pitchFamily="34" charset="0"/>
                <a:ea typeface="Meiryo" pitchFamily="34" charset="-122"/>
                <a:cs typeface="Meiryo" pitchFamily="34" charset="-120"/>
              </a:rPr>
              <a:t>まず知ってもらう</a:t>
            </a:r>
            <a:endParaRPr lang="en-US" sz="1100" dirty="0"/>
          </a:p>
          <a:p>
            <a:pPr indent="0" marL="0">
              <a:lnSpc>
                <a:spcPts val="1800"/>
              </a:lnSpc>
              <a:buNone/>
            </a:pPr>
            <a:r>
              <a:rPr lang="en-US" sz="1100" dirty="0">
                <a:solidFill>
                  <a:srgbClr val="6E6C63"/>
                </a:solidFill>
                <a:latin typeface="Meiryo" pitchFamily="34" charset="0"/>
                <a:ea typeface="Meiryo" pitchFamily="34" charset="-122"/>
                <a:cs typeface="Meiryo" pitchFamily="34" charset="-120"/>
              </a:rPr>
              <a:t>（検索上位表示・SNS 発信）</a:t>
            </a:r>
            <a:endParaRPr lang="en-US" sz="1100" dirty="0"/>
          </a:p>
        </p:txBody>
      </p:sp>
      <p:pic>
        <p:nvPicPr>
          <p:cNvPr id="26" name="Image 5" descr="preencoded.png">    </p:cNvPr>
          <p:cNvPicPr>
            <a:picLocks noChangeAspect="1"/>
          </p:cNvPicPr>
          <p:nvPr/>
        </p:nvPicPr>
        <p:blipFill>
          <a:blip r:embed="rId6"/>
          <a:stretch>
            <a:fillRect/>
          </a:stretch>
        </p:blipFill>
        <p:spPr>
          <a:xfrm>
            <a:off x="8686800" y="3282696"/>
            <a:ext cx="237744" cy="237744"/>
          </a:xfrm>
          <a:prstGeom prst="rect">
            <a:avLst/>
          </a:prstGeom>
        </p:spPr>
      </p:pic>
      <p:sp>
        <p:nvSpPr>
          <p:cNvPr id="27" name="Text 19"/>
          <p:cNvSpPr/>
          <p:nvPr/>
        </p:nvSpPr>
        <p:spPr>
          <a:xfrm>
            <a:off x="9015984" y="3246120"/>
            <a:ext cx="2231136" cy="685800"/>
          </a:xfrm>
          <a:prstGeom prst="rect">
            <a:avLst/>
          </a:prstGeom>
          <a:noFill/>
          <a:ln/>
        </p:spPr>
        <p:txBody>
          <a:bodyPr wrap="square" lIns="0" tIns="0" rIns="0" bIns="0" rtlCol="0" anchor="t"/>
          <a:lstStyle/>
          <a:p>
            <a:pPr indent="0" marL="0">
              <a:lnSpc>
                <a:spcPts val="1800"/>
              </a:lnSpc>
              <a:buNone/>
            </a:pPr>
            <a:r>
              <a:rPr lang="en-US" sz="1100" dirty="0">
                <a:solidFill>
                  <a:srgbClr val="6E6C63"/>
                </a:solidFill>
                <a:latin typeface="Meiryo" pitchFamily="34" charset="0"/>
                <a:ea typeface="Meiryo" pitchFamily="34" charset="-122"/>
                <a:cs typeface="Meiryo" pitchFamily="34" charset="-120"/>
              </a:rPr>
              <a:t>理念と現場の魅力を伝え、</a:t>
            </a:r>
            <a:endParaRPr lang="en-US" sz="1100" dirty="0"/>
          </a:p>
          <a:p>
            <a:pPr indent="0" marL="0">
              <a:lnSpc>
                <a:spcPts val="1800"/>
              </a:lnSpc>
              <a:buNone/>
            </a:pPr>
            <a:r>
              <a:rPr lang="en-US" sz="1100" dirty="0">
                <a:solidFill>
                  <a:srgbClr val="6E6C63"/>
                </a:solidFill>
                <a:latin typeface="Meiryo" pitchFamily="34" charset="0"/>
                <a:ea typeface="Meiryo" pitchFamily="34" charset="-122"/>
                <a:cs typeface="Meiryo" pitchFamily="34" charset="-120"/>
              </a:rPr>
              <a:t>選ばれる理由をつくる</a:t>
            </a:r>
            <a:endParaRPr lang="en-US" sz="1100" dirty="0"/>
          </a:p>
        </p:txBody>
      </p:sp>
      <p:pic>
        <p:nvPicPr>
          <p:cNvPr id="28" name="Image 6" descr="preencoded.png">    </p:cNvPr>
          <p:cNvPicPr>
            <a:picLocks noChangeAspect="1"/>
          </p:cNvPicPr>
          <p:nvPr/>
        </p:nvPicPr>
        <p:blipFill>
          <a:blip r:embed="rId7"/>
          <a:stretch>
            <a:fillRect/>
          </a:stretch>
        </p:blipFill>
        <p:spPr>
          <a:xfrm>
            <a:off x="8686800" y="4059936"/>
            <a:ext cx="237744" cy="237744"/>
          </a:xfrm>
          <a:prstGeom prst="rect">
            <a:avLst/>
          </a:prstGeom>
        </p:spPr>
      </p:pic>
      <p:sp>
        <p:nvSpPr>
          <p:cNvPr id="29" name="Text 20"/>
          <p:cNvSpPr/>
          <p:nvPr/>
        </p:nvSpPr>
        <p:spPr>
          <a:xfrm>
            <a:off x="9015984" y="4023360"/>
            <a:ext cx="2231136" cy="685800"/>
          </a:xfrm>
          <a:prstGeom prst="rect">
            <a:avLst/>
          </a:prstGeom>
          <a:noFill/>
          <a:ln/>
        </p:spPr>
        <p:txBody>
          <a:bodyPr wrap="square" lIns="0" tIns="0" rIns="0" bIns="0" rtlCol="0" anchor="t"/>
          <a:lstStyle/>
          <a:p>
            <a:pPr indent="0" marL="0">
              <a:lnSpc>
                <a:spcPts val="1800"/>
              </a:lnSpc>
              <a:buNone/>
            </a:pPr>
            <a:r>
              <a:rPr lang="en-US" sz="1100" dirty="0">
                <a:solidFill>
                  <a:srgbClr val="6E6C63"/>
                </a:solidFill>
                <a:latin typeface="Meiryo" pitchFamily="34" charset="0"/>
                <a:ea typeface="Meiryo" pitchFamily="34" charset="-122"/>
                <a:cs typeface="Meiryo" pitchFamily="34" charset="-120"/>
              </a:rPr>
              <a:t>応募しやすい導線をつくる</a:t>
            </a:r>
            <a:endParaRPr lang="en-US" sz="1100" dirty="0"/>
          </a:p>
          <a:p>
            <a:pPr indent="0" marL="0">
              <a:lnSpc>
                <a:spcPts val="1800"/>
              </a:lnSpc>
              <a:buNone/>
            </a:pPr>
            <a:r>
              <a:rPr lang="en-US" sz="1100" dirty="0">
                <a:solidFill>
                  <a:srgbClr val="6E6C63"/>
                </a:solidFill>
                <a:latin typeface="Meiryo" pitchFamily="34" charset="0"/>
                <a:ea typeface="Meiryo" pitchFamily="34" charset="-122"/>
                <a:cs typeface="Meiryo" pitchFamily="34" charset="-120"/>
              </a:rPr>
              <a:t>（入力と不安の壁を外す）</a:t>
            </a:r>
            <a:endParaRPr lang="en-US" sz="1100" dirty="0"/>
          </a:p>
        </p:txBody>
      </p:sp>
      <p:pic>
        <p:nvPicPr>
          <p:cNvPr id="30" name="Image 7" descr="preencoded.png">    </p:cNvPr>
          <p:cNvPicPr>
            <a:picLocks noChangeAspect="1"/>
          </p:cNvPicPr>
          <p:nvPr/>
        </p:nvPicPr>
        <p:blipFill>
          <a:blip r:embed="rId8"/>
          <a:stretch>
            <a:fillRect/>
          </a:stretch>
        </p:blipFill>
        <p:spPr>
          <a:xfrm>
            <a:off x="8686800" y="4837176"/>
            <a:ext cx="237744" cy="237744"/>
          </a:xfrm>
          <a:prstGeom prst="rect">
            <a:avLst/>
          </a:prstGeom>
        </p:spPr>
      </p:pic>
      <p:sp>
        <p:nvSpPr>
          <p:cNvPr id="31" name="Text 21"/>
          <p:cNvSpPr/>
          <p:nvPr/>
        </p:nvSpPr>
        <p:spPr>
          <a:xfrm>
            <a:off x="9015984" y="4800600"/>
            <a:ext cx="2231136" cy="685800"/>
          </a:xfrm>
          <a:prstGeom prst="rect">
            <a:avLst/>
          </a:prstGeom>
          <a:noFill/>
          <a:ln/>
        </p:spPr>
        <p:txBody>
          <a:bodyPr wrap="square" lIns="0" tIns="0" rIns="0" bIns="0" rtlCol="0" anchor="t"/>
          <a:lstStyle/>
          <a:p>
            <a:pPr indent="0" marL="0">
              <a:lnSpc>
                <a:spcPts val="1800"/>
              </a:lnSpc>
              <a:buNone/>
            </a:pPr>
            <a:r>
              <a:rPr lang="en-US" sz="1100" dirty="0">
                <a:solidFill>
                  <a:srgbClr val="6E6C63"/>
                </a:solidFill>
                <a:latin typeface="Meiryo" pitchFamily="34" charset="0"/>
                <a:ea typeface="Meiryo" pitchFamily="34" charset="-122"/>
                <a:cs typeface="Meiryo" pitchFamily="34" charset="-120"/>
              </a:rPr>
              <a:t>見学・体験で不安を解消し、</a:t>
            </a:r>
            <a:endParaRPr lang="en-US" sz="1100" dirty="0"/>
          </a:p>
          <a:p>
            <a:pPr indent="0" marL="0">
              <a:lnSpc>
                <a:spcPts val="1800"/>
              </a:lnSpc>
              <a:buNone/>
            </a:pPr>
            <a:r>
              <a:rPr lang="en-US" sz="1100" dirty="0">
                <a:solidFill>
                  <a:srgbClr val="6E6C63"/>
                </a:solidFill>
                <a:latin typeface="Meiryo" pitchFamily="34" charset="0"/>
                <a:ea typeface="Meiryo" pitchFamily="34" charset="-122"/>
                <a:cs typeface="Meiryo" pitchFamily="34" charset="-120"/>
              </a:rPr>
              <a:t>確信に変える</a:t>
            </a:r>
            <a:endParaRPr lang="en-US" sz="1100" dirty="0"/>
          </a:p>
        </p:txBody>
      </p:sp>
      <p:sp>
        <p:nvSpPr>
          <p:cNvPr id="32" name="Shape 22"/>
          <p:cNvSpPr/>
          <p:nvPr/>
        </p:nvSpPr>
        <p:spPr>
          <a:xfrm>
            <a:off x="640080" y="5623560"/>
            <a:ext cx="10881360" cy="731520"/>
          </a:xfrm>
          <a:prstGeom prst="roundRect">
            <a:avLst>
              <a:gd name="adj" fmla="val 7500"/>
            </a:avLst>
          </a:prstGeom>
          <a:solidFill>
            <a:srgbClr val="141413"/>
          </a:solidFill>
          <a:ln/>
        </p:spPr>
      </p:sp>
      <p:sp>
        <p:nvSpPr>
          <p:cNvPr id="33" name="Text 23"/>
          <p:cNvSpPr/>
          <p:nvPr/>
        </p:nvSpPr>
        <p:spPr>
          <a:xfrm>
            <a:off x="960120" y="5623560"/>
            <a:ext cx="10241280" cy="731520"/>
          </a:xfrm>
          <a:prstGeom prst="rect">
            <a:avLst/>
          </a:prstGeom>
          <a:noFill/>
          <a:ln/>
        </p:spPr>
        <p:txBody>
          <a:bodyPr wrap="square" lIns="0" tIns="0" rIns="0" bIns="0" rtlCol="0" anchor="ctr"/>
          <a:lstStyle/>
          <a:p>
            <a:pPr indent="0" marL="0">
              <a:buNone/>
            </a:pPr>
            <a:r>
              <a:rPr lang="en-US" sz="1250" b="1" dirty="0">
                <a:solidFill>
                  <a:srgbClr val="D97757"/>
                </a:solidFill>
                <a:latin typeface="Meiryo" pitchFamily="34" charset="0"/>
                <a:ea typeface="Meiryo" pitchFamily="34" charset="-122"/>
                <a:cs typeface="Meiryo" pitchFamily="34" charset="-120"/>
              </a:rPr>
              <a:t>ここが要点　</a:t>
            </a:r>
            <a:pPr indent="0" marL="0">
              <a:buNone/>
            </a:pPr>
            <a:r>
              <a:rPr lang="en-US" sz="1200" dirty="0">
                <a:solidFill>
                  <a:srgbClr val="FFFFFF"/>
                </a:solidFill>
                <a:latin typeface="Meiryo" pitchFamily="34" charset="0"/>
                <a:ea typeface="Meiryo" pitchFamily="34" charset="-122"/>
                <a:cs typeface="Meiryo" pitchFamily="34" charset="-120"/>
              </a:rPr>
              <a:t>段階を飛ばして「④ 確信」だけ強化しても効きません。止まっている段階を特定してから手を打ちます。</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9646920" y="365760"/>
            <a:ext cx="1874520" cy="310896"/>
          </a:xfrm>
          <a:prstGeom prst="roundRect">
            <a:avLst>
              <a:gd name="adj" fmla="val 14706"/>
            </a:avLst>
          </a:prstGeom>
          <a:solidFill>
            <a:srgbClr val="E7ECDD"/>
          </a:solidFill>
          <a:ln w="12700">
            <a:solidFill>
              <a:srgbClr val="788C5D"/>
            </a:solidFill>
            <a:prstDash val="solid"/>
          </a:ln>
        </p:spPr>
      </p:sp>
      <p:sp>
        <p:nvSpPr>
          <p:cNvPr id="3" name="Text 1"/>
          <p:cNvSpPr/>
          <p:nvPr/>
        </p:nvSpPr>
        <p:spPr>
          <a:xfrm>
            <a:off x="9646920" y="365760"/>
            <a:ext cx="1874520" cy="310896"/>
          </a:xfrm>
          <a:prstGeom prst="rect">
            <a:avLst/>
          </a:prstGeom>
          <a:noFill/>
          <a:ln/>
        </p:spPr>
        <p:txBody>
          <a:bodyPr wrap="square" lIns="0" tIns="0" rIns="0" bIns="0" rtlCol="0" anchor="ctr"/>
          <a:lstStyle/>
          <a:p>
            <a:pPr algn="ctr" indent="0" marL="0">
              <a:buNone/>
            </a:pPr>
            <a:r>
              <a:rPr lang="en-US" sz="1050" b="1" dirty="0">
                <a:solidFill>
                  <a:srgbClr val="788C5D"/>
                </a:solidFill>
                <a:latin typeface="Meiryo" pitchFamily="34" charset="0"/>
                <a:ea typeface="Meiryo" pitchFamily="34" charset="-122"/>
                <a:cs typeface="Meiryo" pitchFamily="34" charset="-120"/>
              </a:rPr>
              <a:t>AI 講座パート</a:t>
            </a:r>
            <a:endParaRPr lang="en-US" sz="1050" dirty="0"/>
          </a:p>
        </p:txBody>
      </p:sp>
      <p:sp>
        <p:nvSpPr>
          <p:cNvPr id="4" name="Shape 2"/>
          <p:cNvSpPr/>
          <p:nvPr/>
        </p:nvSpPr>
        <p:spPr>
          <a:xfrm>
            <a:off x="640080" y="347472"/>
            <a:ext cx="1783080" cy="329184"/>
          </a:xfrm>
          <a:prstGeom prst="roundRect">
            <a:avLst>
              <a:gd name="adj" fmla="val 13889"/>
            </a:avLst>
          </a:prstGeom>
          <a:solidFill>
            <a:srgbClr val="D97757"/>
          </a:solidFill>
          <a:ln/>
        </p:spPr>
      </p:sp>
      <p:sp>
        <p:nvSpPr>
          <p:cNvPr id="5" name="Text 3"/>
          <p:cNvSpPr/>
          <p:nvPr/>
        </p:nvSpPr>
        <p:spPr>
          <a:xfrm>
            <a:off x="640080" y="347472"/>
            <a:ext cx="1783080" cy="329184"/>
          </a:xfrm>
          <a:prstGeom prst="rect">
            <a:avLst/>
          </a:prstGeom>
          <a:noFill/>
          <a:ln/>
        </p:spPr>
        <p:txBody>
          <a:bodyPr wrap="square" lIns="0" tIns="0" rIns="0" bIns="0" rtlCol="0" anchor="ctr"/>
          <a:lstStyle/>
          <a:p>
            <a:pPr algn="ctr" indent="0" marL="0">
              <a:buNone/>
            </a:pPr>
            <a:r>
              <a:rPr lang="en-US" sz="1150" b="1" spc="100" kern="0" dirty="0">
                <a:solidFill>
                  <a:srgbClr val="FFFFFF"/>
                </a:solidFill>
                <a:latin typeface="Meiryo" pitchFamily="34" charset="0"/>
                <a:ea typeface="Meiryo" pitchFamily="34" charset="-122"/>
                <a:cs typeface="Meiryo" pitchFamily="34" charset="-120"/>
              </a:rPr>
              <a:t>MODULE 1</a:t>
            </a:r>
            <a:endParaRPr lang="en-US" sz="1150" dirty="0"/>
          </a:p>
        </p:txBody>
      </p:sp>
      <p:sp>
        <p:nvSpPr>
          <p:cNvPr id="6" name="Text 4"/>
          <p:cNvSpPr/>
          <p:nvPr/>
        </p:nvSpPr>
        <p:spPr>
          <a:xfrm>
            <a:off x="640080" y="768096"/>
            <a:ext cx="10881360" cy="566928"/>
          </a:xfrm>
          <a:prstGeom prst="rect">
            <a:avLst/>
          </a:prstGeom>
          <a:noFill/>
          <a:ln/>
        </p:spPr>
        <p:txBody>
          <a:bodyPr wrap="square" lIns="0" tIns="0" rIns="0" bIns="0" rtlCol="0" anchor="ctr"/>
          <a:lstStyle/>
          <a:p>
            <a:pPr indent="0" marL="0">
              <a:buNone/>
            </a:pPr>
            <a:r>
              <a:rPr lang="en-US" sz="2700" b="1" dirty="0">
                <a:solidFill>
                  <a:srgbClr val="141413"/>
                </a:solidFill>
                <a:latin typeface="Meiryo" pitchFamily="34" charset="0"/>
                <a:ea typeface="Meiryo" pitchFamily="34" charset="-122"/>
                <a:cs typeface="Meiryo" pitchFamily="34" charset="-120"/>
              </a:rPr>
              <a:t>段階別 ｜ やること × AI の使いどころ</a:t>
            </a:r>
            <a:endParaRPr lang="en-US" sz="2700" dirty="0"/>
          </a:p>
        </p:txBody>
      </p:sp>
      <p:sp>
        <p:nvSpPr>
          <p:cNvPr id="7" name="Text 5"/>
          <p:cNvSpPr/>
          <p:nvPr/>
        </p:nvSpPr>
        <p:spPr>
          <a:xfrm>
            <a:off x="640080" y="1316736"/>
            <a:ext cx="10881360" cy="329184"/>
          </a:xfrm>
          <a:prstGeom prst="rect">
            <a:avLst/>
          </a:prstGeom>
          <a:noFill/>
          <a:ln/>
        </p:spPr>
        <p:txBody>
          <a:bodyPr wrap="square" lIns="0" tIns="0" rIns="0" bIns="0" rtlCol="0" anchor="ctr"/>
          <a:lstStyle/>
          <a:p>
            <a:pPr indent="0" marL="0">
              <a:buNone/>
            </a:pPr>
            <a:r>
              <a:rPr lang="en-US" sz="1300" dirty="0">
                <a:solidFill>
                  <a:srgbClr val="6E6C63"/>
                </a:solidFill>
                <a:latin typeface="Meiryo" pitchFamily="34" charset="0"/>
                <a:ea typeface="Meiryo" pitchFamily="34" charset="-122"/>
                <a:cs typeface="Meiryo" pitchFamily="34" charset="-120"/>
              </a:rPr>
              <a:t>AI は「書く・調べる・数える」を担当。判断と現場対応は人が担当します</a:t>
            </a:r>
            <a:endParaRPr lang="en-US" sz="13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640080" y="1810512"/>
          <a:ext cx="10881360" cy="914400"/>
        </p:xfrm>
        <a:graphic>
          <a:graphicData uri="http://schemas.openxmlformats.org/drawingml/2006/table">
            <a:tbl>
              <a:tblPr/>
              <a:tblGrid>
                <a:gridCol w="1051560"/>
                <a:gridCol w="2331720"/>
                <a:gridCol w="3291840"/>
                <a:gridCol w="4206240"/>
              </a:tblGrid>
              <a:tr h="658368">
                <a:tc>
                  <a:txBody>
                    <a:bodyPr/>
                    <a:lstStyle/>
                    <a:p>
                      <a:pPr algn="l" indent="0" marL="0">
                        <a:buNone/>
                      </a:pPr>
                      <a:r>
                        <a:rPr lang="en-US" sz="1050" b="1" dirty="0">
                          <a:solidFill>
                            <a:srgbClr val="FFFFFF"/>
                          </a:solidFill>
                          <a:latin typeface="Meiryo" pitchFamily="34" charset="0"/>
                          <a:ea typeface="Meiryo" pitchFamily="34" charset="-122"/>
                          <a:cs typeface="Meiryo" pitchFamily="34" charset="-120"/>
                        </a:rPr>
                        <a:t>段階</a:t>
                      </a:r>
                      <a:endParaRPr lang="en-US" sz="1050" dirty="0">
                        <a:latin typeface="Meiryo" charset="0"/>
                        <a:ea typeface="Meiryo" charset="0"/>
                        <a:cs typeface="Meiryo" charset="0"/>
                      </a:endParaRPr>
                    </a:p>
                  </a:txBody>
                  <a:tcPr marL="76200" marR="76200" marT="76200" marB="76200" anchor="ctr">
                    <a:lnL w="12700" cap="flat" cmpd="sng" algn="ctr">
                      <a:solidFill>
                        <a:srgbClr val="E8E6DC"/>
                      </a:solidFill>
                      <a:prstDash val="solid"/>
                      <a:round/>
                      <a:headEnd type="none" w="med" len="med"/>
                      <a:tailEnd type="none" w="med" len="med"/>
                    </a:lnL>
                    <a:lnR w="12700" cap="flat" cmpd="sng" algn="ctr">
                      <a:solidFill>
                        <a:srgbClr val="E8E6DC"/>
                      </a:solidFill>
                      <a:prstDash val="solid"/>
                      <a:round/>
                      <a:headEnd type="none" w="med" len="med"/>
                      <a:tailEnd type="none" w="med" len="med"/>
                    </a:lnR>
                    <a:lnT w="12700" cap="flat" cmpd="sng" algn="ctr">
                      <a:solidFill>
                        <a:srgbClr val="E8E6DC"/>
                      </a:solidFill>
                      <a:prstDash val="solid"/>
                      <a:round/>
                      <a:headEnd type="none" w="med" len="med"/>
                      <a:tailEnd type="none" w="med" len="med"/>
                    </a:lnT>
                    <a:lnB w="12700" cap="flat" cmpd="sng" algn="ctr">
                      <a:solidFill>
                        <a:srgbClr val="E8E6DC"/>
                      </a:solidFill>
                      <a:prstDash val="solid"/>
                      <a:round/>
                      <a:headEnd type="none" w="med" len="med"/>
                      <a:tailEnd type="none" w="med" len="med"/>
                    </a:lnB>
                    <a:solidFill>
                      <a:srgbClr val="141413"/>
                    </a:solidFill>
                  </a:tcPr>
                </a:tc>
                <a:tc>
                  <a:txBody>
                    <a:bodyPr/>
                    <a:lstStyle/>
                    <a:p>
                      <a:pPr algn="l" indent="0" marL="0">
                        <a:buNone/>
                      </a:pPr>
                      <a:r>
                        <a:rPr lang="en-US" sz="1050" b="1" dirty="0">
                          <a:solidFill>
                            <a:srgbClr val="FFFFFF"/>
                          </a:solidFill>
                          <a:latin typeface="Meiryo" pitchFamily="34" charset="0"/>
                          <a:ea typeface="Meiryo" pitchFamily="34" charset="-122"/>
                          <a:cs typeface="Meiryo" pitchFamily="34" charset="-120"/>
                        </a:rPr>
                        <a:t>求職者の心理</a:t>
                      </a:r>
                      <a:endParaRPr lang="en-US" sz="1050" dirty="0">
                        <a:latin typeface="Meiryo" charset="0"/>
                        <a:ea typeface="Meiryo" charset="0"/>
                        <a:cs typeface="Meiryo" charset="0"/>
                      </a:endParaRPr>
                    </a:p>
                  </a:txBody>
                  <a:tcPr marL="76200" marR="76200" marT="76200" marB="76200" anchor="ctr">
                    <a:lnL w="12700" cap="flat" cmpd="sng" algn="ctr">
                      <a:solidFill>
                        <a:srgbClr val="E8E6DC"/>
                      </a:solidFill>
                      <a:prstDash val="solid"/>
                      <a:round/>
                      <a:headEnd type="none" w="med" len="med"/>
                      <a:tailEnd type="none" w="med" len="med"/>
                    </a:lnL>
                    <a:lnR w="12700" cap="flat" cmpd="sng" algn="ctr">
                      <a:solidFill>
                        <a:srgbClr val="E8E6DC"/>
                      </a:solidFill>
                      <a:prstDash val="solid"/>
                      <a:round/>
                      <a:headEnd type="none" w="med" len="med"/>
                      <a:tailEnd type="none" w="med" len="med"/>
                    </a:lnR>
                    <a:lnT w="12700" cap="flat" cmpd="sng" algn="ctr">
                      <a:solidFill>
                        <a:srgbClr val="E8E6DC"/>
                      </a:solidFill>
                      <a:prstDash val="solid"/>
                      <a:round/>
                      <a:headEnd type="none" w="med" len="med"/>
                      <a:tailEnd type="none" w="med" len="med"/>
                    </a:lnT>
                    <a:lnB w="12700" cap="flat" cmpd="sng" algn="ctr">
                      <a:solidFill>
                        <a:srgbClr val="E8E6DC"/>
                      </a:solidFill>
                      <a:prstDash val="solid"/>
                      <a:round/>
                      <a:headEnd type="none" w="med" len="med"/>
                      <a:tailEnd type="none" w="med" len="med"/>
                    </a:lnB>
                    <a:solidFill>
                      <a:srgbClr val="141413"/>
                    </a:solidFill>
                  </a:tcPr>
                </a:tc>
                <a:tc>
                  <a:txBody>
                    <a:bodyPr/>
                    <a:lstStyle/>
                    <a:p>
                      <a:pPr algn="l" indent="0" marL="0">
                        <a:buNone/>
                      </a:pPr>
                      <a:r>
                        <a:rPr lang="en-US" sz="1050" b="1" dirty="0">
                          <a:solidFill>
                            <a:srgbClr val="FFFFFF"/>
                          </a:solidFill>
                          <a:latin typeface="Meiryo" pitchFamily="34" charset="0"/>
                          <a:ea typeface="Meiryo" pitchFamily="34" charset="-122"/>
                          <a:cs typeface="Meiryo" pitchFamily="34" charset="-120"/>
                        </a:rPr>
                        <a:t>企業がやること</a:t>
                      </a:r>
                      <a:endParaRPr lang="en-US" sz="1050" dirty="0">
                        <a:latin typeface="Meiryo" charset="0"/>
                        <a:ea typeface="Meiryo" charset="0"/>
                        <a:cs typeface="Meiryo" charset="0"/>
                      </a:endParaRPr>
                    </a:p>
                  </a:txBody>
                  <a:tcPr marL="76200" marR="76200" marT="76200" marB="76200" anchor="ctr">
                    <a:lnL w="12700" cap="flat" cmpd="sng" algn="ctr">
                      <a:solidFill>
                        <a:srgbClr val="E8E6DC"/>
                      </a:solidFill>
                      <a:prstDash val="solid"/>
                      <a:round/>
                      <a:headEnd type="none" w="med" len="med"/>
                      <a:tailEnd type="none" w="med" len="med"/>
                    </a:lnL>
                    <a:lnR w="12700" cap="flat" cmpd="sng" algn="ctr">
                      <a:solidFill>
                        <a:srgbClr val="E8E6DC"/>
                      </a:solidFill>
                      <a:prstDash val="solid"/>
                      <a:round/>
                      <a:headEnd type="none" w="med" len="med"/>
                      <a:tailEnd type="none" w="med" len="med"/>
                    </a:lnR>
                    <a:lnT w="12700" cap="flat" cmpd="sng" algn="ctr">
                      <a:solidFill>
                        <a:srgbClr val="E8E6DC"/>
                      </a:solidFill>
                      <a:prstDash val="solid"/>
                      <a:round/>
                      <a:headEnd type="none" w="med" len="med"/>
                      <a:tailEnd type="none" w="med" len="med"/>
                    </a:lnT>
                    <a:lnB w="12700" cap="flat" cmpd="sng" algn="ctr">
                      <a:solidFill>
                        <a:srgbClr val="E8E6DC"/>
                      </a:solidFill>
                      <a:prstDash val="solid"/>
                      <a:round/>
                      <a:headEnd type="none" w="med" len="med"/>
                      <a:tailEnd type="none" w="med" len="med"/>
                    </a:lnB>
                    <a:solidFill>
                      <a:srgbClr val="141413"/>
                    </a:solidFill>
                  </a:tcPr>
                </a:tc>
                <a:tc>
                  <a:txBody>
                    <a:bodyPr/>
                    <a:lstStyle/>
                    <a:p>
                      <a:pPr algn="l" indent="0" marL="0">
                        <a:buNone/>
                      </a:pPr>
                      <a:r>
                        <a:rPr lang="en-US" sz="1050" b="1" dirty="0">
                          <a:solidFill>
                            <a:srgbClr val="FFFFFF"/>
                          </a:solidFill>
                          <a:latin typeface="Meiryo" pitchFamily="34" charset="0"/>
                          <a:ea typeface="Meiryo" pitchFamily="34" charset="-122"/>
                          <a:cs typeface="Meiryo" pitchFamily="34" charset="-120"/>
                        </a:rPr>
                        <a:t>AI にやらせること</a:t>
                      </a:r>
                      <a:endParaRPr lang="en-US" sz="1050" dirty="0">
                        <a:latin typeface="Meiryo" charset="0"/>
                        <a:ea typeface="Meiryo" charset="0"/>
                        <a:cs typeface="Meiryo" charset="0"/>
                      </a:endParaRPr>
                    </a:p>
                  </a:txBody>
                  <a:tcPr marL="76200" marR="76200" marT="76200" marB="76200" anchor="ctr">
                    <a:lnL w="12700" cap="flat" cmpd="sng" algn="ctr">
                      <a:solidFill>
                        <a:srgbClr val="E8E6DC"/>
                      </a:solidFill>
                      <a:prstDash val="solid"/>
                      <a:round/>
                      <a:headEnd type="none" w="med" len="med"/>
                      <a:tailEnd type="none" w="med" len="med"/>
                    </a:lnL>
                    <a:lnR w="12700" cap="flat" cmpd="sng" algn="ctr">
                      <a:solidFill>
                        <a:srgbClr val="E8E6DC"/>
                      </a:solidFill>
                      <a:prstDash val="solid"/>
                      <a:round/>
                      <a:headEnd type="none" w="med" len="med"/>
                      <a:tailEnd type="none" w="med" len="med"/>
                    </a:lnR>
                    <a:lnT w="12700" cap="flat" cmpd="sng" algn="ctr">
                      <a:solidFill>
                        <a:srgbClr val="E8E6DC"/>
                      </a:solidFill>
                      <a:prstDash val="solid"/>
                      <a:round/>
                      <a:headEnd type="none" w="med" len="med"/>
                      <a:tailEnd type="none" w="med" len="med"/>
                    </a:lnT>
                    <a:lnB w="12700" cap="flat" cmpd="sng" algn="ctr">
                      <a:solidFill>
                        <a:srgbClr val="E8E6DC"/>
                      </a:solidFill>
                      <a:prstDash val="solid"/>
                      <a:round/>
                      <a:headEnd type="none" w="med" len="med"/>
                      <a:tailEnd type="none" w="med" len="med"/>
                    </a:lnB>
                    <a:solidFill>
                      <a:srgbClr val="141413"/>
                    </a:solidFill>
                  </a:tcPr>
                </a:tc>
              </a:tr>
              <a:tr h="658368">
                <a:tc>
                  <a:txBody>
                    <a:bodyPr/>
                    <a:lstStyle/>
                    <a:p>
                      <a:pPr algn="l" indent="0" marL="0">
                        <a:buNone/>
                      </a:pPr>
                      <a:r>
                        <a:rPr lang="en-US" sz="1050" dirty="0">
                          <a:solidFill>
                            <a:srgbClr val="4A4943"/>
                          </a:solidFill>
                          <a:latin typeface="Meiryo" pitchFamily="34" charset="0"/>
                          <a:ea typeface="Meiryo" pitchFamily="34" charset="-122"/>
                          <a:cs typeface="Meiryo" pitchFamily="34" charset="-120"/>
                        </a:rPr>
                        <a:t>① 認知</a:t>
                      </a:r>
                      <a:endParaRPr lang="en-US" sz="1050" dirty="0">
                        <a:latin typeface="Meiryo" charset="0"/>
                        <a:ea typeface="Meiryo" charset="0"/>
                        <a:cs typeface="Meiryo" charset="0"/>
                      </a:endParaRPr>
                    </a:p>
                  </a:txBody>
                  <a:tcPr marL="76200" marR="76200" marT="76200" marB="76200" anchor="ctr">
                    <a:lnL w="12700" cap="flat" cmpd="sng" algn="ctr">
                      <a:solidFill>
                        <a:srgbClr val="E8E6DC"/>
                      </a:solidFill>
                      <a:prstDash val="solid"/>
                      <a:round/>
                      <a:headEnd type="none" w="med" len="med"/>
                      <a:tailEnd type="none" w="med" len="med"/>
                    </a:lnL>
                    <a:lnR w="12700" cap="flat" cmpd="sng" algn="ctr">
                      <a:solidFill>
                        <a:srgbClr val="E8E6DC"/>
                      </a:solidFill>
                      <a:prstDash val="solid"/>
                      <a:round/>
                      <a:headEnd type="none" w="med" len="med"/>
                      <a:tailEnd type="none" w="med" len="med"/>
                    </a:lnR>
                    <a:lnT w="12700" cap="flat" cmpd="sng" algn="ctr">
                      <a:solidFill>
                        <a:srgbClr val="E8E6DC"/>
                      </a:solidFill>
                      <a:prstDash val="solid"/>
                      <a:round/>
                      <a:headEnd type="none" w="med" len="med"/>
                      <a:tailEnd type="none" w="med" len="med"/>
                    </a:lnT>
                    <a:lnB w="12700" cap="flat" cmpd="sng" algn="ctr">
                      <a:solidFill>
                        <a:srgbClr val="E8E6DC"/>
                      </a:solidFill>
                      <a:prstDash val="solid"/>
                      <a:round/>
                      <a:headEnd type="none" w="med" len="med"/>
                      <a:tailEnd type="none" w="med" len="med"/>
                    </a:lnB>
                  </a:tcPr>
                </a:tc>
                <a:tc>
                  <a:txBody>
                    <a:bodyPr/>
                    <a:lstStyle/>
                    <a:p>
                      <a:pPr algn="l" indent="0" marL="0">
                        <a:buNone/>
                      </a:pPr>
                      <a:r>
                        <a:rPr lang="en-US" sz="1050" dirty="0">
                          <a:solidFill>
                            <a:srgbClr val="4A4943"/>
                          </a:solidFill>
                          <a:latin typeface="Meiryo" pitchFamily="34" charset="0"/>
                          <a:ea typeface="Meiryo" pitchFamily="34" charset="-122"/>
                          <a:cs typeface="Meiryo" pitchFamily="34" charset="-120"/>
                        </a:rPr>
                        <a:t>「こんな施設があるんだ」</a:t>
                      </a:r>
                      <a:endParaRPr lang="en-US" sz="1050" dirty="0">
                        <a:latin typeface="Meiryo" charset="0"/>
                        <a:ea typeface="Meiryo" charset="0"/>
                        <a:cs typeface="Meiryo" charset="0"/>
                      </a:endParaRPr>
                    </a:p>
                  </a:txBody>
                  <a:tcPr marL="76200" marR="76200" marT="76200" marB="76200" anchor="ctr">
                    <a:lnL w="12700" cap="flat" cmpd="sng" algn="ctr">
                      <a:solidFill>
                        <a:srgbClr val="E8E6DC"/>
                      </a:solidFill>
                      <a:prstDash val="solid"/>
                      <a:round/>
                      <a:headEnd type="none" w="med" len="med"/>
                      <a:tailEnd type="none" w="med" len="med"/>
                    </a:lnL>
                    <a:lnR w="12700" cap="flat" cmpd="sng" algn="ctr">
                      <a:solidFill>
                        <a:srgbClr val="E8E6DC"/>
                      </a:solidFill>
                      <a:prstDash val="solid"/>
                      <a:round/>
                      <a:headEnd type="none" w="med" len="med"/>
                      <a:tailEnd type="none" w="med" len="med"/>
                    </a:lnR>
                    <a:lnT w="12700" cap="flat" cmpd="sng" algn="ctr">
                      <a:solidFill>
                        <a:srgbClr val="E8E6DC"/>
                      </a:solidFill>
                      <a:prstDash val="solid"/>
                      <a:round/>
                      <a:headEnd type="none" w="med" len="med"/>
                      <a:tailEnd type="none" w="med" len="med"/>
                    </a:lnT>
                    <a:lnB w="12700" cap="flat" cmpd="sng" algn="ctr">
                      <a:solidFill>
                        <a:srgbClr val="E8E6DC"/>
                      </a:solidFill>
                      <a:prstDash val="solid"/>
                      <a:round/>
                      <a:headEnd type="none" w="med" len="med"/>
                      <a:tailEnd type="none" w="med" len="med"/>
                    </a:lnB>
                  </a:tcPr>
                </a:tc>
                <a:tc>
                  <a:txBody>
                    <a:bodyPr/>
                    <a:lstStyle/>
                    <a:p>
                      <a:pPr algn="l" indent="0" marL="0">
                        <a:buNone/>
                      </a:pPr>
                      <a:r>
                        <a:rPr lang="en-US" sz="1050" dirty="0">
                          <a:solidFill>
                            <a:srgbClr val="4A4943"/>
                          </a:solidFill>
                          <a:latin typeface="Meiryo" pitchFamily="34" charset="0"/>
                          <a:ea typeface="Meiryo" pitchFamily="34" charset="-122"/>
                          <a:cs typeface="Meiryo" pitchFamily="34" charset="-120"/>
                        </a:rPr>
                        <a:t>検索で見つかる状態をつくる。</a:t>
                      </a:r>
                      <a:endParaRPr lang="en-US" sz="1050" dirty="0">
                        <a:latin typeface="Meiryo" charset="0"/>
                        <a:ea typeface="Meiryo" charset="0"/>
                        <a:cs typeface="Meiryo" charset="0"/>
                      </a:endParaRPr>
                    </a:p>
                    <a:p>
                      <a:pPr algn="l" indent="0" marL="0">
                        <a:buNone/>
                      </a:pPr>
                      <a:r>
                        <a:rPr lang="en-US" sz="1050" dirty="0">
                          <a:solidFill>
                            <a:srgbClr val="4A4943"/>
                          </a:solidFill>
                          <a:latin typeface="Meiryo" pitchFamily="34" charset="0"/>
                          <a:ea typeface="Meiryo" pitchFamily="34" charset="-122"/>
                          <a:cs typeface="Meiryo" pitchFamily="34" charset="-120"/>
                        </a:rPr>
                        <a:t>SNS で現場を発信する。</a:t>
                      </a:r>
                      <a:endParaRPr lang="en-US" sz="1050" dirty="0">
                        <a:latin typeface="Meiryo" charset="0"/>
                        <a:ea typeface="Meiryo" charset="0"/>
                        <a:cs typeface="Meiryo" charset="0"/>
                      </a:endParaRPr>
                    </a:p>
                  </a:txBody>
                  <a:tcPr marL="76200" marR="76200" marT="76200" marB="76200" anchor="ctr">
                    <a:lnL w="12700" cap="flat" cmpd="sng" algn="ctr">
                      <a:solidFill>
                        <a:srgbClr val="E8E6DC"/>
                      </a:solidFill>
                      <a:prstDash val="solid"/>
                      <a:round/>
                      <a:headEnd type="none" w="med" len="med"/>
                      <a:tailEnd type="none" w="med" len="med"/>
                    </a:lnL>
                    <a:lnR w="12700" cap="flat" cmpd="sng" algn="ctr">
                      <a:solidFill>
                        <a:srgbClr val="E8E6DC"/>
                      </a:solidFill>
                      <a:prstDash val="solid"/>
                      <a:round/>
                      <a:headEnd type="none" w="med" len="med"/>
                      <a:tailEnd type="none" w="med" len="med"/>
                    </a:lnR>
                    <a:lnT w="12700" cap="flat" cmpd="sng" algn="ctr">
                      <a:solidFill>
                        <a:srgbClr val="E8E6DC"/>
                      </a:solidFill>
                      <a:prstDash val="solid"/>
                      <a:round/>
                      <a:headEnd type="none" w="med" len="med"/>
                      <a:tailEnd type="none" w="med" len="med"/>
                    </a:lnT>
                    <a:lnB w="12700" cap="flat" cmpd="sng" algn="ctr">
                      <a:solidFill>
                        <a:srgbClr val="E8E6DC"/>
                      </a:solidFill>
                      <a:prstDash val="solid"/>
                      <a:round/>
                      <a:headEnd type="none" w="med" len="med"/>
                      <a:tailEnd type="none" w="med" len="med"/>
                    </a:lnB>
                  </a:tcPr>
                </a:tc>
                <a:tc>
                  <a:txBody>
                    <a:bodyPr/>
                    <a:lstStyle/>
                    <a:p>
                      <a:pPr algn="l" indent="0" marL="0">
                        <a:buNone/>
                      </a:pPr>
                      <a:r>
                        <a:rPr lang="en-US" sz="1050" dirty="0">
                          <a:solidFill>
                            <a:srgbClr val="788C5D"/>
                          </a:solidFill>
                          <a:latin typeface="Meiryo" pitchFamily="34" charset="0"/>
                          <a:ea typeface="Meiryo" pitchFamily="34" charset="-122"/>
                          <a:cs typeface="Meiryo" pitchFamily="34" charset="-120"/>
                        </a:rPr>
                        <a:t>求人検索で使われる言葉の洗い出し、</a:t>
                      </a:r>
                      <a:endParaRPr lang="en-US" sz="1050" dirty="0">
                        <a:latin typeface="Meiryo" charset="0"/>
                        <a:ea typeface="Meiryo" charset="0"/>
                        <a:cs typeface="Meiryo" charset="0"/>
                      </a:endParaRPr>
                    </a:p>
                    <a:p>
                      <a:pPr algn="l" indent="0" marL="0">
                        <a:buNone/>
                      </a:pPr>
                      <a:r>
                        <a:rPr lang="en-US" sz="1050" dirty="0">
                          <a:solidFill>
                            <a:srgbClr val="788C5D"/>
                          </a:solidFill>
                          <a:latin typeface="Meiryo" pitchFamily="34" charset="0"/>
                          <a:ea typeface="Meiryo" pitchFamily="34" charset="-122"/>
                          <a:cs typeface="Meiryo" pitchFamily="34" charset="-120"/>
                        </a:rPr>
                        <a:t>SNS 投稿案を 10 本まとめて生成</a:t>
                      </a:r>
                      <a:endParaRPr lang="en-US" sz="1050" dirty="0">
                        <a:latin typeface="Meiryo" charset="0"/>
                        <a:ea typeface="Meiryo" charset="0"/>
                        <a:cs typeface="Meiryo" charset="0"/>
                      </a:endParaRPr>
                    </a:p>
                  </a:txBody>
                  <a:tcPr marL="76200" marR="76200" marT="76200" marB="76200" anchor="ctr">
                    <a:lnL w="12700" cap="flat" cmpd="sng" algn="ctr">
                      <a:solidFill>
                        <a:srgbClr val="E8E6DC"/>
                      </a:solidFill>
                      <a:prstDash val="solid"/>
                      <a:round/>
                      <a:headEnd type="none" w="med" len="med"/>
                      <a:tailEnd type="none" w="med" len="med"/>
                    </a:lnL>
                    <a:lnR w="12700" cap="flat" cmpd="sng" algn="ctr">
                      <a:solidFill>
                        <a:srgbClr val="E8E6DC"/>
                      </a:solidFill>
                      <a:prstDash val="solid"/>
                      <a:round/>
                      <a:headEnd type="none" w="med" len="med"/>
                      <a:tailEnd type="none" w="med" len="med"/>
                    </a:lnR>
                    <a:lnT w="12700" cap="flat" cmpd="sng" algn="ctr">
                      <a:solidFill>
                        <a:srgbClr val="E8E6DC"/>
                      </a:solidFill>
                      <a:prstDash val="solid"/>
                      <a:round/>
                      <a:headEnd type="none" w="med" len="med"/>
                      <a:tailEnd type="none" w="med" len="med"/>
                    </a:lnT>
                    <a:lnB w="12700" cap="flat" cmpd="sng" algn="ctr">
                      <a:solidFill>
                        <a:srgbClr val="E8E6DC"/>
                      </a:solidFill>
                      <a:prstDash val="solid"/>
                      <a:round/>
                      <a:headEnd type="none" w="med" len="med"/>
                      <a:tailEnd type="none" w="med" len="med"/>
                    </a:lnB>
                  </a:tcPr>
                </a:tc>
              </a:tr>
              <a:tr h="658368">
                <a:tc>
                  <a:txBody>
                    <a:bodyPr/>
                    <a:lstStyle/>
                    <a:p>
                      <a:pPr algn="l" indent="0" marL="0">
                        <a:buNone/>
                      </a:pPr>
                      <a:r>
                        <a:rPr lang="en-US" sz="1050" dirty="0">
                          <a:solidFill>
                            <a:srgbClr val="4A4943"/>
                          </a:solidFill>
                          <a:latin typeface="Meiryo" pitchFamily="34" charset="0"/>
                          <a:ea typeface="Meiryo" pitchFamily="34" charset="-122"/>
                          <a:cs typeface="Meiryo" pitchFamily="34" charset="-120"/>
                        </a:rPr>
                        <a:t>② 比較</a:t>
                      </a:r>
                      <a:endParaRPr lang="en-US" sz="1050" dirty="0">
                        <a:latin typeface="Meiryo" charset="0"/>
                        <a:ea typeface="Meiryo" charset="0"/>
                        <a:cs typeface="Meiryo" charset="0"/>
                      </a:endParaRPr>
                    </a:p>
                  </a:txBody>
                  <a:tcPr marL="76200" marR="76200" marT="76200" marB="76200" anchor="ctr">
                    <a:lnL w="12700" cap="flat" cmpd="sng" algn="ctr">
                      <a:solidFill>
                        <a:srgbClr val="E8E6DC"/>
                      </a:solidFill>
                      <a:prstDash val="solid"/>
                      <a:round/>
                      <a:headEnd type="none" w="med" len="med"/>
                      <a:tailEnd type="none" w="med" len="med"/>
                    </a:lnL>
                    <a:lnR w="12700" cap="flat" cmpd="sng" algn="ctr">
                      <a:solidFill>
                        <a:srgbClr val="E8E6DC"/>
                      </a:solidFill>
                      <a:prstDash val="solid"/>
                      <a:round/>
                      <a:headEnd type="none" w="med" len="med"/>
                      <a:tailEnd type="none" w="med" len="med"/>
                    </a:lnR>
                    <a:lnT w="12700" cap="flat" cmpd="sng" algn="ctr">
                      <a:solidFill>
                        <a:srgbClr val="E8E6DC"/>
                      </a:solidFill>
                      <a:prstDash val="solid"/>
                      <a:round/>
                      <a:headEnd type="none" w="med" len="med"/>
                      <a:tailEnd type="none" w="med" len="med"/>
                    </a:lnT>
                    <a:lnB w="12700" cap="flat" cmpd="sng" algn="ctr">
                      <a:solidFill>
                        <a:srgbClr val="E8E6DC"/>
                      </a:solidFill>
                      <a:prstDash val="solid"/>
                      <a:round/>
                      <a:headEnd type="none" w="med" len="med"/>
                      <a:tailEnd type="none" w="med" len="med"/>
                    </a:lnB>
                  </a:tcPr>
                </a:tc>
                <a:tc>
                  <a:txBody>
                    <a:bodyPr/>
                    <a:lstStyle/>
                    <a:p>
                      <a:pPr algn="l" indent="0" marL="0">
                        <a:buNone/>
                      </a:pPr>
                      <a:r>
                        <a:rPr lang="en-US" sz="1050" dirty="0">
                          <a:solidFill>
                            <a:srgbClr val="4A4943"/>
                          </a:solidFill>
                          <a:latin typeface="Meiryo" pitchFamily="34" charset="0"/>
                          <a:ea typeface="Meiryo" pitchFamily="34" charset="-122"/>
                          <a:cs typeface="Meiryo" pitchFamily="34" charset="-120"/>
                        </a:rPr>
                        <a:t>「どうしてここなんだろう」</a:t>
                      </a:r>
                      <a:endParaRPr lang="en-US" sz="1050" dirty="0">
                        <a:latin typeface="Meiryo" charset="0"/>
                        <a:ea typeface="Meiryo" charset="0"/>
                        <a:cs typeface="Meiryo" charset="0"/>
                      </a:endParaRPr>
                    </a:p>
                  </a:txBody>
                  <a:tcPr marL="76200" marR="76200" marT="76200" marB="76200" anchor="ctr">
                    <a:lnL w="12700" cap="flat" cmpd="sng" algn="ctr">
                      <a:solidFill>
                        <a:srgbClr val="E8E6DC"/>
                      </a:solidFill>
                      <a:prstDash val="solid"/>
                      <a:round/>
                      <a:headEnd type="none" w="med" len="med"/>
                      <a:tailEnd type="none" w="med" len="med"/>
                    </a:lnL>
                    <a:lnR w="12700" cap="flat" cmpd="sng" algn="ctr">
                      <a:solidFill>
                        <a:srgbClr val="E8E6DC"/>
                      </a:solidFill>
                      <a:prstDash val="solid"/>
                      <a:round/>
                      <a:headEnd type="none" w="med" len="med"/>
                      <a:tailEnd type="none" w="med" len="med"/>
                    </a:lnR>
                    <a:lnT w="12700" cap="flat" cmpd="sng" algn="ctr">
                      <a:solidFill>
                        <a:srgbClr val="E8E6DC"/>
                      </a:solidFill>
                      <a:prstDash val="solid"/>
                      <a:round/>
                      <a:headEnd type="none" w="med" len="med"/>
                      <a:tailEnd type="none" w="med" len="med"/>
                    </a:lnT>
                    <a:lnB w="12700" cap="flat" cmpd="sng" algn="ctr">
                      <a:solidFill>
                        <a:srgbClr val="E8E6DC"/>
                      </a:solidFill>
                      <a:prstDash val="solid"/>
                      <a:round/>
                      <a:headEnd type="none" w="med" len="med"/>
                      <a:tailEnd type="none" w="med" len="med"/>
                    </a:lnB>
                  </a:tcPr>
                </a:tc>
                <a:tc>
                  <a:txBody>
                    <a:bodyPr/>
                    <a:lstStyle/>
                    <a:p>
                      <a:pPr algn="l" indent="0" marL="0">
                        <a:buNone/>
                      </a:pPr>
                      <a:r>
                        <a:rPr lang="en-US" sz="1050" dirty="0">
                          <a:solidFill>
                            <a:srgbClr val="4A4943"/>
                          </a:solidFill>
                          <a:latin typeface="Meiryo" pitchFamily="34" charset="0"/>
                          <a:ea typeface="Meiryo" pitchFamily="34" charset="-122"/>
                          <a:cs typeface="Meiryo" pitchFamily="34" charset="-120"/>
                        </a:rPr>
                        <a:t>理念・現場の魅力を言語化し、</a:t>
                      </a:r>
                      <a:endParaRPr lang="en-US" sz="1050" dirty="0">
                        <a:latin typeface="Meiryo" charset="0"/>
                        <a:ea typeface="Meiryo" charset="0"/>
                        <a:cs typeface="Meiryo" charset="0"/>
                      </a:endParaRPr>
                    </a:p>
                    <a:p>
                      <a:pPr algn="l" indent="0" marL="0">
                        <a:buNone/>
                      </a:pPr>
                      <a:r>
                        <a:rPr lang="en-US" sz="1050" dirty="0">
                          <a:solidFill>
                            <a:srgbClr val="4A4943"/>
                          </a:solidFill>
                          <a:latin typeface="Meiryo" pitchFamily="34" charset="0"/>
                          <a:ea typeface="Meiryo" pitchFamily="34" charset="-122"/>
                          <a:cs typeface="Meiryo" pitchFamily="34" charset="-120"/>
                        </a:rPr>
                        <a:t>他施設との違いを示す。</a:t>
                      </a:r>
                      <a:endParaRPr lang="en-US" sz="1050" dirty="0">
                        <a:latin typeface="Meiryo" charset="0"/>
                        <a:ea typeface="Meiryo" charset="0"/>
                        <a:cs typeface="Meiryo" charset="0"/>
                      </a:endParaRPr>
                    </a:p>
                  </a:txBody>
                  <a:tcPr marL="76200" marR="76200" marT="76200" marB="76200" anchor="ctr">
                    <a:lnL w="12700" cap="flat" cmpd="sng" algn="ctr">
                      <a:solidFill>
                        <a:srgbClr val="E8E6DC"/>
                      </a:solidFill>
                      <a:prstDash val="solid"/>
                      <a:round/>
                      <a:headEnd type="none" w="med" len="med"/>
                      <a:tailEnd type="none" w="med" len="med"/>
                    </a:lnL>
                    <a:lnR w="12700" cap="flat" cmpd="sng" algn="ctr">
                      <a:solidFill>
                        <a:srgbClr val="E8E6DC"/>
                      </a:solidFill>
                      <a:prstDash val="solid"/>
                      <a:round/>
                      <a:headEnd type="none" w="med" len="med"/>
                      <a:tailEnd type="none" w="med" len="med"/>
                    </a:lnR>
                    <a:lnT w="12700" cap="flat" cmpd="sng" algn="ctr">
                      <a:solidFill>
                        <a:srgbClr val="E8E6DC"/>
                      </a:solidFill>
                      <a:prstDash val="solid"/>
                      <a:round/>
                      <a:headEnd type="none" w="med" len="med"/>
                      <a:tailEnd type="none" w="med" len="med"/>
                    </a:lnT>
                    <a:lnB w="12700" cap="flat" cmpd="sng" algn="ctr">
                      <a:solidFill>
                        <a:srgbClr val="E8E6DC"/>
                      </a:solidFill>
                      <a:prstDash val="solid"/>
                      <a:round/>
                      <a:headEnd type="none" w="med" len="med"/>
                      <a:tailEnd type="none" w="med" len="med"/>
                    </a:lnB>
                  </a:tcPr>
                </a:tc>
                <a:tc>
                  <a:txBody>
                    <a:bodyPr/>
                    <a:lstStyle/>
                    <a:p>
                      <a:pPr algn="l" indent="0" marL="0">
                        <a:buNone/>
                      </a:pPr>
                      <a:r>
                        <a:rPr lang="en-US" sz="1050" dirty="0">
                          <a:solidFill>
                            <a:srgbClr val="788C5D"/>
                          </a:solidFill>
                          <a:latin typeface="Meiryo" pitchFamily="34" charset="0"/>
                          <a:ea typeface="Meiryo" pitchFamily="34" charset="-122"/>
                          <a:cs typeface="Meiryo" pitchFamily="34" charset="-120"/>
                        </a:rPr>
                        <a:t>近隣施設の求人文を並べ、</a:t>
                      </a:r>
                      <a:endParaRPr lang="en-US" sz="1050" dirty="0">
                        <a:latin typeface="Meiryo" charset="0"/>
                        <a:ea typeface="Meiryo" charset="0"/>
                        <a:cs typeface="Meiryo" charset="0"/>
                      </a:endParaRPr>
                    </a:p>
                    <a:p>
                      <a:pPr algn="l" indent="0" marL="0">
                        <a:buNone/>
                      </a:pPr>
                      <a:r>
                        <a:rPr lang="en-US" sz="1050" dirty="0">
                          <a:solidFill>
                            <a:srgbClr val="788C5D"/>
                          </a:solidFill>
                          <a:latin typeface="Meiryo" pitchFamily="34" charset="0"/>
                          <a:ea typeface="Meiryo" pitchFamily="34" charset="-122"/>
                          <a:cs typeface="Meiryo" pitchFamily="34" charset="-120"/>
                        </a:rPr>
                        <a:t>自社にしかない要素を抽出させる</a:t>
                      </a:r>
                      <a:endParaRPr lang="en-US" sz="1050" dirty="0">
                        <a:latin typeface="Meiryo" charset="0"/>
                        <a:ea typeface="Meiryo" charset="0"/>
                        <a:cs typeface="Meiryo" charset="0"/>
                      </a:endParaRPr>
                    </a:p>
                  </a:txBody>
                  <a:tcPr marL="76200" marR="76200" marT="76200" marB="76200" anchor="ctr">
                    <a:lnL w="12700" cap="flat" cmpd="sng" algn="ctr">
                      <a:solidFill>
                        <a:srgbClr val="E8E6DC"/>
                      </a:solidFill>
                      <a:prstDash val="solid"/>
                      <a:round/>
                      <a:headEnd type="none" w="med" len="med"/>
                      <a:tailEnd type="none" w="med" len="med"/>
                    </a:lnL>
                    <a:lnR w="12700" cap="flat" cmpd="sng" algn="ctr">
                      <a:solidFill>
                        <a:srgbClr val="E8E6DC"/>
                      </a:solidFill>
                      <a:prstDash val="solid"/>
                      <a:round/>
                      <a:headEnd type="none" w="med" len="med"/>
                      <a:tailEnd type="none" w="med" len="med"/>
                    </a:lnR>
                    <a:lnT w="12700" cap="flat" cmpd="sng" algn="ctr">
                      <a:solidFill>
                        <a:srgbClr val="E8E6DC"/>
                      </a:solidFill>
                      <a:prstDash val="solid"/>
                      <a:round/>
                      <a:headEnd type="none" w="med" len="med"/>
                      <a:tailEnd type="none" w="med" len="med"/>
                    </a:lnT>
                    <a:lnB w="12700" cap="flat" cmpd="sng" algn="ctr">
                      <a:solidFill>
                        <a:srgbClr val="E8E6DC"/>
                      </a:solidFill>
                      <a:prstDash val="solid"/>
                      <a:round/>
                      <a:headEnd type="none" w="med" len="med"/>
                      <a:tailEnd type="none" w="med" len="med"/>
                    </a:lnB>
                  </a:tcPr>
                </a:tc>
              </a:tr>
              <a:tr h="658368">
                <a:tc>
                  <a:txBody>
                    <a:bodyPr/>
                    <a:lstStyle/>
                    <a:p>
                      <a:pPr algn="l" indent="0" marL="0">
                        <a:buNone/>
                      </a:pPr>
                      <a:r>
                        <a:rPr lang="en-US" sz="1050" dirty="0">
                          <a:solidFill>
                            <a:srgbClr val="4A4943"/>
                          </a:solidFill>
                          <a:latin typeface="Meiryo" pitchFamily="34" charset="0"/>
                          <a:ea typeface="Meiryo" pitchFamily="34" charset="-122"/>
                          <a:cs typeface="Meiryo" pitchFamily="34" charset="-120"/>
                        </a:rPr>
                        <a:t>③ 行動</a:t>
                      </a:r>
                      <a:endParaRPr lang="en-US" sz="1050" dirty="0">
                        <a:latin typeface="Meiryo" charset="0"/>
                        <a:ea typeface="Meiryo" charset="0"/>
                        <a:cs typeface="Meiryo" charset="0"/>
                      </a:endParaRPr>
                    </a:p>
                  </a:txBody>
                  <a:tcPr marL="76200" marR="76200" marT="76200" marB="76200" anchor="ctr">
                    <a:lnL w="12700" cap="flat" cmpd="sng" algn="ctr">
                      <a:solidFill>
                        <a:srgbClr val="E8E6DC"/>
                      </a:solidFill>
                      <a:prstDash val="solid"/>
                      <a:round/>
                      <a:headEnd type="none" w="med" len="med"/>
                      <a:tailEnd type="none" w="med" len="med"/>
                    </a:lnL>
                    <a:lnR w="12700" cap="flat" cmpd="sng" algn="ctr">
                      <a:solidFill>
                        <a:srgbClr val="E8E6DC"/>
                      </a:solidFill>
                      <a:prstDash val="solid"/>
                      <a:round/>
                      <a:headEnd type="none" w="med" len="med"/>
                      <a:tailEnd type="none" w="med" len="med"/>
                    </a:lnR>
                    <a:lnT w="12700" cap="flat" cmpd="sng" algn="ctr">
                      <a:solidFill>
                        <a:srgbClr val="E8E6DC"/>
                      </a:solidFill>
                      <a:prstDash val="solid"/>
                      <a:round/>
                      <a:headEnd type="none" w="med" len="med"/>
                      <a:tailEnd type="none" w="med" len="med"/>
                    </a:lnT>
                    <a:lnB w="12700" cap="flat" cmpd="sng" algn="ctr">
                      <a:solidFill>
                        <a:srgbClr val="E8E6DC"/>
                      </a:solidFill>
                      <a:prstDash val="solid"/>
                      <a:round/>
                      <a:headEnd type="none" w="med" len="med"/>
                      <a:tailEnd type="none" w="med" len="med"/>
                    </a:lnB>
                  </a:tcPr>
                </a:tc>
                <a:tc>
                  <a:txBody>
                    <a:bodyPr/>
                    <a:lstStyle/>
                    <a:p>
                      <a:pPr algn="l" indent="0" marL="0">
                        <a:buNone/>
                      </a:pPr>
                      <a:r>
                        <a:rPr lang="en-US" sz="1050" dirty="0">
                          <a:solidFill>
                            <a:srgbClr val="4A4943"/>
                          </a:solidFill>
                          <a:latin typeface="Meiryo" pitchFamily="34" charset="0"/>
                          <a:ea typeface="Meiryo" pitchFamily="34" charset="-122"/>
                          <a:cs typeface="Meiryo" pitchFamily="34" charset="-120"/>
                        </a:rPr>
                        <a:t>「応募しても大丈夫そう」</a:t>
                      </a:r>
                      <a:endParaRPr lang="en-US" sz="1050" dirty="0">
                        <a:latin typeface="Meiryo" charset="0"/>
                        <a:ea typeface="Meiryo" charset="0"/>
                        <a:cs typeface="Meiryo" charset="0"/>
                      </a:endParaRPr>
                    </a:p>
                  </a:txBody>
                  <a:tcPr marL="76200" marR="76200" marT="76200" marB="76200" anchor="ctr">
                    <a:lnL w="12700" cap="flat" cmpd="sng" algn="ctr">
                      <a:solidFill>
                        <a:srgbClr val="E8E6DC"/>
                      </a:solidFill>
                      <a:prstDash val="solid"/>
                      <a:round/>
                      <a:headEnd type="none" w="med" len="med"/>
                      <a:tailEnd type="none" w="med" len="med"/>
                    </a:lnL>
                    <a:lnR w="12700" cap="flat" cmpd="sng" algn="ctr">
                      <a:solidFill>
                        <a:srgbClr val="E8E6DC"/>
                      </a:solidFill>
                      <a:prstDash val="solid"/>
                      <a:round/>
                      <a:headEnd type="none" w="med" len="med"/>
                      <a:tailEnd type="none" w="med" len="med"/>
                    </a:lnR>
                    <a:lnT w="12700" cap="flat" cmpd="sng" algn="ctr">
                      <a:solidFill>
                        <a:srgbClr val="E8E6DC"/>
                      </a:solidFill>
                      <a:prstDash val="solid"/>
                      <a:round/>
                      <a:headEnd type="none" w="med" len="med"/>
                      <a:tailEnd type="none" w="med" len="med"/>
                    </a:lnT>
                    <a:lnB w="12700" cap="flat" cmpd="sng" algn="ctr">
                      <a:solidFill>
                        <a:srgbClr val="E8E6DC"/>
                      </a:solidFill>
                      <a:prstDash val="solid"/>
                      <a:round/>
                      <a:headEnd type="none" w="med" len="med"/>
                      <a:tailEnd type="none" w="med" len="med"/>
                    </a:lnB>
                  </a:tcPr>
                </a:tc>
                <a:tc>
                  <a:txBody>
                    <a:bodyPr/>
                    <a:lstStyle/>
                    <a:p>
                      <a:pPr algn="l" indent="0" marL="0">
                        <a:buNone/>
                      </a:pPr>
                      <a:r>
                        <a:rPr lang="en-US" sz="1050" dirty="0">
                          <a:solidFill>
                            <a:srgbClr val="4A4943"/>
                          </a:solidFill>
                          <a:latin typeface="Meiryo" pitchFamily="34" charset="0"/>
                          <a:ea typeface="Meiryo" pitchFamily="34" charset="-122"/>
                          <a:cs typeface="Meiryo" pitchFamily="34" charset="-120"/>
                        </a:rPr>
                        <a:t>応募フォームを短くし、</a:t>
                      </a:r>
                      <a:endParaRPr lang="en-US" sz="1050" dirty="0">
                        <a:latin typeface="Meiryo" charset="0"/>
                        <a:ea typeface="Meiryo" charset="0"/>
                        <a:cs typeface="Meiryo" charset="0"/>
                      </a:endParaRPr>
                    </a:p>
                    <a:p>
                      <a:pPr algn="l" indent="0" marL="0">
                        <a:buNone/>
                      </a:pPr>
                      <a:r>
                        <a:rPr lang="en-US" sz="1050" dirty="0">
                          <a:solidFill>
                            <a:srgbClr val="4A4943"/>
                          </a:solidFill>
                          <a:latin typeface="Meiryo" pitchFamily="34" charset="0"/>
                          <a:ea typeface="Meiryo" pitchFamily="34" charset="-122"/>
                          <a:cs typeface="Meiryo" pitchFamily="34" charset="-120"/>
                        </a:rPr>
                        <a:t>不安に先回りして答える。</a:t>
                      </a:r>
                      <a:endParaRPr lang="en-US" sz="1050" dirty="0">
                        <a:latin typeface="Meiryo" charset="0"/>
                        <a:ea typeface="Meiryo" charset="0"/>
                        <a:cs typeface="Meiryo" charset="0"/>
                      </a:endParaRPr>
                    </a:p>
                  </a:txBody>
                  <a:tcPr marL="76200" marR="76200" marT="76200" marB="76200" anchor="ctr">
                    <a:lnL w="12700" cap="flat" cmpd="sng" algn="ctr">
                      <a:solidFill>
                        <a:srgbClr val="E8E6DC"/>
                      </a:solidFill>
                      <a:prstDash val="solid"/>
                      <a:round/>
                      <a:headEnd type="none" w="med" len="med"/>
                      <a:tailEnd type="none" w="med" len="med"/>
                    </a:lnL>
                    <a:lnR w="12700" cap="flat" cmpd="sng" algn="ctr">
                      <a:solidFill>
                        <a:srgbClr val="E8E6DC"/>
                      </a:solidFill>
                      <a:prstDash val="solid"/>
                      <a:round/>
                      <a:headEnd type="none" w="med" len="med"/>
                      <a:tailEnd type="none" w="med" len="med"/>
                    </a:lnR>
                    <a:lnT w="12700" cap="flat" cmpd="sng" algn="ctr">
                      <a:solidFill>
                        <a:srgbClr val="E8E6DC"/>
                      </a:solidFill>
                      <a:prstDash val="solid"/>
                      <a:round/>
                      <a:headEnd type="none" w="med" len="med"/>
                      <a:tailEnd type="none" w="med" len="med"/>
                    </a:lnT>
                    <a:lnB w="12700" cap="flat" cmpd="sng" algn="ctr">
                      <a:solidFill>
                        <a:srgbClr val="E8E6DC"/>
                      </a:solidFill>
                      <a:prstDash val="solid"/>
                      <a:round/>
                      <a:headEnd type="none" w="med" len="med"/>
                      <a:tailEnd type="none" w="med" len="med"/>
                    </a:lnB>
                  </a:tcPr>
                </a:tc>
                <a:tc>
                  <a:txBody>
                    <a:bodyPr/>
                    <a:lstStyle/>
                    <a:p>
                      <a:pPr algn="l" indent="0" marL="0">
                        <a:buNone/>
                      </a:pPr>
                      <a:r>
                        <a:rPr lang="en-US" sz="1050" dirty="0">
                          <a:solidFill>
                            <a:srgbClr val="788C5D"/>
                          </a:solidFill>
                          <a:latin typeface="Meiryo" pitchFamily="34" charset="0"/>
                          <a:ea typeface="Meiryo" pitchFamily="34" charset="-122"/>
                          <a:cs typeface="Meiryo" pitchFamily="34" charset="-120"/>
                        </a:rPr>
                        <a:t>応募をためらう理由を 20 個出させ、</a:t>
                      </a:r>
                      <a:endParaRPr lang="en-US" sz="1050" dirty="0">
                        <a:latin typeface="Meiryo" charset="0"/>
                        <a:ea typeface="Meiryo" charset="0"/>
                        <a:cs typeface="Meiryo" charset="0"/>
                      </a:endParaRPr>
                    </a:p>
                    <a:p>
                      <a:pPr algn="l" indent="0" marL="0">
                        <a:buNone/>
                      </a:pPr>
                      <a:r>
                        <a:rPr lang="en-US" sz="1050" dirty="0">
                          <a:solidFill>
                            <a:srgbClr val="788C5D"/>
                          </a:solidFill>
                          <a:latin typeface="Meiryo" pitchFamily="34" charset="0"/>
                          <a:ea typeface="Meiryo" pitchFamily="34" charset="-122"/>
                          <a:cs typeface="Meiryo" pitchFamily="34" charset="-120"/>
                        </a:rPr>
                        <a:t>FAQ の下書きを作る</a:t>
                      </a:r>
                      <a:endParaRPr lang="en-US" sz="1050" dirty="0">
                        <a:latin typeface="Meiryo" charset="0"/>
                        <a:ea typeface="Meiryo" charset="0"/>
                        <a:cs typeface="Meiryo" charset="0"/>
                      </a:endParaRPr>
                    </a:p>
                  </a:txBody>
                  <a:tcPr marL="76200" marR="76200" marT="76200" marB="76200" anchor="ctr">
                    <a:lnL w="12700" cap="flat" cmpd="sng" algn="ctr">
                      <a:solidFill>
                        <a:srgbClr val="E8E6DC"/>
                      </a:solidFill>
                      <a:prstDash val="solid"/>
                      <a:round/>
                      <a:headEnd type="none" w="med" len="med"/>
                      <a:tailEnd type="none" w="med" len="med"/>
                    </a:lnL>
                    <a:lnR w="12700" cap="flat" cmpd="sng" algn="ctr">
                      <a:solidFill>
                        <a:srgbClr val="E8E6DC"/>
                      </a:solidFill>
                      <a:prstDash val="solid"/>
                      <a:round/>
                      <a:headEnd type="none" w="med" len="med"/>
                      <a:tailEnd type="none" w="med" len="med"/>
                    </a:lnR>
                    <a:lnT w="12700" cap="flat" cmpd="sng" algn="ctr">
                      <a:solidFill>
                        <a:srgbClr val="E8E6DC"/>
                      </a:solidFill>
                      <a:prstDash val="solid"/>
                      <a:round/>
                      <a:headEnd type="none" w="med" len="med"/>
                      <a:tailEnd type="none" w="med" len="med"/>
                    </a:lnT>
                    <a:lnB w="12700" cap="flat" cmpd="sng" algn="ctr">
                      <a:solidFill>
                        <a:srgbClr val="E8E6DC"/>
                      </a:solidFill>
                      <a:prstDash val="solid"/>
                      <a:round/>
                      <a:headEnd type="none" w="med" len="med"/>
                      <a:tailEnd type="none" w="med" len="med"/>
                    </a:lnB>
                  </a:tcPr>
                </a:tc>
              </a:tr>
              <a:tr h="658368">
                <a:tc>
                  <a:txBody>
                    <a:bodyPr/>
                    <a:lstStyle/>
                    <a:p>
                      <a:pPr algn="l" indent="0" marL="0">
                        <a:buNone/>
                      </a:pPr>
                      <a:r>
                        <a:rPr lang="en-US" sz="1050" dirty="0">
                          <a:solidFill>
                            <a:srgbClr val="4A4943"/>
                          </a:solidFill>
                          <a:latin typeface="Meiryo" pitchFamily="34" charset="0"/>
                          <a:ea typeface="Meiryo" pitchFamily="34" charset="-122"/>
                          <a:cs typeface="Meiryo" pitchFamily="34" charset="-120"/>
                        </a:rPr>
                        <a:t>④ 確信</a:t>
                      </a:r>
                      <a:endParaRPr lang="en-US" sz="1050" dirty="0">
                        <a:latin typeface="Meiryo" charset="0"/>
                        <a:ea typeface="Meiryo" charset="0"/>
                        <a:cs typeface="Meiryo" charset="0"/>
                      </a:endParaRPr>
                    </a:p>
                  </a:txBody>
                  <a:tcPr marL="76200" marR="76200" marT="76200" marB="76200" anchor="ctr">
                    <a:lnL w="12700" cap="flat" cmpd="sng" algn="ctr">
                      <a:solidFill>
                        <a:srgbClr val="E8E6DC"/>
                      </a:solidFill>
                      <a:prstDash val="solid"/>
                      <a:round/>
                      <a:headEnd type="none" w="med" len="med"/>
                      <a:tailEnd type="none" w="med" len="med"/>
                    </a:lnL>
                    <a:lnR w="12700" cap="flat" cmpd="sng" algn="ctr">
                      <a:solidFill>
                        <a:srgbClr val="E8E6DC"/>
                      </a:solidFill>
                      <a:prstDash val="solid"/>
                      <a:round/>
                      <a:headEnd type="none" w="med" len="med"/>
                      <a:tailEnd type="none" w="med" len="med"/>
                    </a:lnR>
                    <a:lnT w="12700" cap="flat" cmpd="sng" algn="ctr">
                      <a:solidFill>
                        <a:srgbClr val="E8E6DC"/>
                      </a:solidFill>
                      <a:prstDash val="solid"/>
                      <a:round/>
                      <a:headEnd type="none" w="med" len="med"/>
                      <a:tailEnd type="none" w="med" len="med"/>
                    </a:lnT>
                    <a:lnB w="12700" cap="flat" cmpd="sng" algn="ctr">
                      <a:solidFill>
                        <a:srgbClr val="E8E6DC"/>
                      </a:solidFill>
                      <a:prstDash val="solid"/>
                      <a:round/>
                      <a:headEnd type="none" w="med" len="med"/>
                      <a:tailEnd type="none" w="med" len="med"/>
                    </a:lnB>
                  </a:tcPr>
                </a:tc>
                <a:tc>
                  <a:txBody>
                    <a:bodyPr/>
                    <a:lstStyle/>
                    <a:p>
                      <a:pPr algn="l" indent="0" marL="0">
                        <a:buNone/>
                      </a:pPr>
                      <a:r>
                        <a:rPr lang="en-US" sz="1050" dirty="0">
                          <a:solidFill>
                            <a:srgbClr val="4A4943"/>
                          </a:solidFill>
                          <a:latin typeface="Meiryo" pitchFamily="34" charset="0"/>
                          <a:ea typeface="Meiryo" pitchFamily="34" charset="-122"/>
                          <a:cs typeface="Meiryo" pitchFamily="34" charset="-120"/>
                        </a:rPr>
                        <a:t>「ここで働きたい」</a:t>
                      </a:r>
                      <a:endParaRPr lang="en-US" sz="1050" dirty="0">
                        <a:latin typeface="Meiryo" charset="0"/>
                        <a:ea typeface="Meiryo" charset="0"/>
                        <a:cs typeface="Meiryo" charset="0"/>
                      </a:endParaRPr>
                    </a:p>
                  </a:txBody>
                  <a:tcPr marL="76200" marR="76200" marT="76200" marB="76200" anchor="ctr">
                    <a:lnL w="12700" cap="flat" cmpd="sng" algn="ctr">
                      <a:solidFill>
                        <a:srgbClr val="E8E6DC"/>
                      </a:solidFill>
                      <a:prstDash val="solid"/>
                      <a:round/>
                      <a:headEnd type="none" w="med" len="med"/>
                      <a:tailEnd type="none" w="med" len="med"/>
                    </a:lnL>
                    <a:lnR w="12700" cap="flat" cmpd="sng" algn="ctr">
                      <a:solidFill>
                        <a:srgbClr val="E8E6DC"/>
                      </a:solidFill>
                      <a:prstDash val="solid"/>
                      <a:round/>
                      <a:headEnd type="none" w="med" len="med"/>
                      <a:tailEnd type="none" w="med" len="med"/>
                    </a:lnR>
                    <a:lnT w="12700" cap="flat" cmpd="sng" algn="ctr">
                      <a:solidFill>
                        <a:srgbClr val="E8E6DC"/>
                      </a:solidFill>
                      <a:prstDash val="solid"/>
                      <a:round/>
                      <a:headEnd type="none" w="med" len="med"/>
                      <a:tailEnd type="none" w="med" len="med"/>
                    </a:lnT>
                    <a:lnB w="12700" cap="flat" cmpd="sng" algn="ctr">
                      <a:solidFill>
                        <a:srgbClr val="E8E6DC"/>
                      </a:solidFill>
                      <a:prstDash val="solid"/>
                      <a:round/>
                      <a:headEnd type="none" w="med" len="med"/>
                      <a:tailEnd type="none" w="med" len="med"/>
                    </a:lnB>
                  </a:tcPr>
                </a:tc>
                <a:tc>
                  <a:txBody>
                    <a:bodyPr/>
                    <a:lstStyle/>
                    <a:p>
                      <a:pPr algn="l" indent="0" marL="0">
                        <a:buNone/>
                      </a:pPr>
                      <a:r>
                        <a:rPr lang="en-US" sz="1050" dirty="0">
                          <a:solidFill>
                            <a:srgbClr val="4A4943"/>
                          </a:solidFill>
                          <a:latin typeface="Meiryo" pitchFamily="34" charset="0"/>
                          <a:ea typeface="Meiryo" pitchFamily="34" charset="-122"/>
                          <a:cs typeface="Meiryo" pitchFamily="34" charset="-120"/>
                        </a:rPr>
                        <a:t>職場体験会で空気感を体感してもらう。</a:t>
                      </a:r>
                      <a:endParaRPr lang="en-US" sz="1050" dirty="0">
                        <a:latin typeface="Meiryo" charset="0"/>
                        <a:ea typeface="Meiryo" charset="0"/>
                        <a:cs typeface="Meiryo" charset="0"/>
                      </a:endParaRPr>
                    </a:p>
                  </a:txBody>
                  <a:tcPr marL="76200" marR="76200" marT="76200" marB="76200" anchor="ctr">
                    <a:lnL w="12700" cap="flat" cmpd="sng" algn="ctr">
                      <a:solidFill>
                        <a:srgbClr val="E8E6DC"/>
                      </a:solidFill>
                      <a:prstDash val="solid"/>
                      <a:round/>
                      <a:headEnd type="none" w="med" len="med"/>
                      <a:tailEnd type="none" w="med" len="med"/>
                    </a:lnL>
                    <a:lnR w="12700" cap="flat" cmpd="sng" algn="ctr">
                      <a:solidFill>
                        <a:srgbClr val="E8E6DC"/>
                      </a:solidFill>
                      <a:prstDash val="solid"/>
                      <a:round/>
                      <a:headEnd type="none" w="med" len="med"/>
                      <a:tailEnd type="none" w="med" len="med"/>
                    </a:lnR>
                    <a:lnT w="12700" cap="flat" cmpd="sng" algn="ctr">
                      <a:solidFill>
                        <a:srgbClr val="E8E6DC"/>
                      </a:solidFill>
                      <a:prstDash val="solid"/>
                      <a:round/>
                      <a:headEnd type="none" w="med" len="med"/>
                      <a:tailEnd type="none" w="med" len="med"/>
                    </a:lnT>
                    <a:lnB w="12700" cap="flat" cmpd="sng" algn="ctr">
                      <a:solidFill>
                        <a:srgbClr val="E8E6DC"/>
                      </a:solidFill>
                      <a:prstDash val="solid"/>
                      <a:round/>
                      <a:headEnd type="none" w="med" len="med"/>
                      <a:tailEnd type="none" w="med" len="med"/>
                    </a:lnB>
                  </a:tcPr>
                </a:tc>
                <a:tc>
                  <a:txBody>
                    <a:bodyPr/>
                    <a:lstStyle/>
                    <a:p>
                      <a:pPr algn="l" indent="0" marL="0">
                        <a:buNone/>
                      </a:pPr>
                      <a:r>
                        <a:rPr lang="en-US" sz="1050" dirty="0">
                          <a:solidFill>
                            <a:srgbClr val="788C5D"/>
                          </a:solidFill>
                          <a:latin typeface="Meiryo" pitchFamily="34" charset="0"/>
                          <a:ea typeface="Meiryo" pitchFamily="34" charset="-122"/>
                          <a:cs typeface="Meiryo" pitchFamily="34" charset="-120"/>
                        </a:rPr>
                        <a:t>体験会の当日台本と、</a:t>
                      </a:r>
                      <a:endParaRPr lang="en-US" sz="1050" dirty="0">
                        <a:latin typeface="Meiryo" charset="0"/>
                        <a:ea typeface="Meiryo" charset="0"/>
                        <a:cs typeface="Meiryo" charset="0"/>
                      </a:endParaRPr>
                    </a:p>
                    <a:p>
                      <a:pPr algn="l" indent="0" marL="0">
                        <a:buNone/>
                      </a:pPr>
                      <a:r>
                        <a:rPr lang="en-US" sz="1050" dirty="0">
                          <a:solidFill>
                            <a:srgbClr val="788C5D"/>
                          </a:solidFill>
                          <a:latin typeface="Meiryo" pitchFamily="34" charset="0"/>
                          <a:ea typeface="Meiryo" pitchFamily="34" charset="-122"/>
                          <a:cs typeface="Meiryo" pitchFamily="34" charset="-120"/>
                        </a:rPr>
                        <a:t>面談で聞く質問リストを作る</a:t>
                      </a:r>
                      <a:endParaRPr lang="en-US" sz="1050" dirty="0">
                        <a:latin typeface="Meiryo" charset="0"/>
                        <a:ea typeface="Meiryo" charset="0"/>
                        <a:cs typeface="Meiryo" charset="0"/>
                      </a:endParaRPr>
                    </a:p>
                  </a:txBody>
                  <a:tcPr marL="76200" marR="76200" marT="76200" marB="76200" anchor="ctr">
                    <a:lnL w="12700" cap="flat" cmpd="sng" algn="ctr">
                      <a:solidFill>
                        <a:srgbClr val="E8E6DC"/>
                      </a:solidFill>
                      <a:prstDash val="solid"/>
                      <a:round/>
                      <a:headEnd type="none" w="med" len="med"/>
                      <a:tailEnd type="none" w="med" len="med"/>
                    </a:lnL>
                    <a:lnR w="12700" cap="flat" cmpd="sng" algn="ctr">
                      <a:solidFill>
                        <a:srgbClr val="E8E6DC"/>
                      </a:solidFill>
                      <a:prstDash val="solid"/>
                      <a:round/>
                      <a:headEnd type="none" w="med" len="med"/>
                      <a:tailEnd type="none" w="med" len="med"/>
                    </a:lnR>
                    <a:lnT w="12700" cap="flat" cmpd="sng" algn="ctr">
                      <a:solidFill>
                        <a:srgbClr val="E8E6DC"/>
                      </a:solidFill>
                      <a:prstDash val="solid"/>
                      <a:round/>
                      <a:headEnd type="none" w="med" len="med"/>
                      <a:tailEnd type="none" w="med" len="med"/>
                    </a:lnT>
                    <a:lnB w="12700" cap="flat" cmpd="sng" algn="ctr">
                      <a:solidFill>
                        <a:srgbClr val="E8E6DC"/>
                      </a:solidFill>
                      <a:prstDash val="solid"/>
                      <a:round/>
                      <a:headEnd type="none" w="med" len="med"/>
                      <a:tailEnd type="none" w="med" len="med"/>
                    </a:lnB>
                  </a:tcPr>
                </a:tc>
              </a:tr>
            </a:tbl>
          </a:graphicData>
        </a:graphic>
      </p:graphicFrame>
      <p:sp>
        <p:nvSpPr>
          <p:cNvPr id="9" name="Shape 6"/>
          <p:cNvSpPr/>
          <p:nvPr/>
        </p:nvSpPr>
        <p:spPr>
          <a:xfrm>
            <a:off x="640080" y="5440680"/>
            <a:ext cx="10881360" cy="731520"/>
          </a:xfrm>
          <a:prstGeom prst="roundRect">
            <a:avLst>
              <a:gd name="adj" fmla="val 7500"/>
            </a:avLst>
          </a:prstGeom>
          <a:solidFill>
            <a:srgbClr val="E7ECDD"/>
          </a:solidFill>
          <a:ln w="12700">
            <a:solidFill>
              <a:srgbClr val="788C5D"/>
            </a:solidFill>
            <a:prstDash val="solid"/>
          </a:ln>
        </p:spPr>
      </p:sp>
      <p:pic>
        <p:nvPicPr>
          <p:cNvPr id="10" name="Image 0" descr="preencoded.png">    </p:cNvPr>
          <p:cNvPicPr>
            <a:picLocks noChangeAspect="1"/>
          </p:cNvPicPr>
          <p:nvPr/>
        </p:nvPicPr>
        <p:blipFill>
          <a:blip r:embed="rId1"/>
          <a:stretch>
            <a:fillRect/>
          </a:stretch>
        </p:blipFill>
        <p:spPr>
          <a:xfrm>
            <a:off x="896112" y="5641848"/>
            <a:ext cx="329184" cy="329184"/>
          </a:xfrm>
          <a:prstGeom prst="rect">
            <a:avLst/>
          </a:prstGeom>
        </p:spPr>
      </p:pic>
      <p:sp>
        <p:nvSpPr>
          <p:cNvPr id="11" name="Text 7"/>
          <p:cNvSpPr/>
          <p:nvPr/>
        </p:nvSpPr>
        <p:spPr>
          <a:xfrm>
            <a:off x="1353312" y="5440680"/>
            <a:ext cx="9921240" cy="731520"/>
          </a:xfrm>
          <a:prstGeom prst="rect">
            <a:avLst/>
          </a:prstGeom>
          <a:noFill/>
          <a:ln/>
        </p:spPr>
        <p:txBody>
          <a:bodyPr wrap="square" lIns="0" tIns="0" rIns="0" bIns="0" rtlCol="0" anchor="ctr"/>
          <a:lstStyle/>
          <a:p>
            <a:pPr indent="0" marL="0">
              <a:buNone/>
            </a:pPr>
            <a:r>
              <a:rPr lang="en-US" sz="1250" b="1" dirty="0">
                <a:solidFill>
                  <a:srgbClr val="788C5D"/>
                </a:solidFill>
                <a:latin typeface="Meiryo" pitchFamily="34" charset="0"/>
                <a:ea typeface="Meiryo" pitchFamily="34" charset="-122"/>
                <a:cs typeface="Meiryo" pitchFamily="34" charset="-120"/>
              </a:rPr>
              <a:t>AI に丸投げしない  </a:t>
            </a:r>
            <a:pPr indent="0" marL="0">
              <a:buNone/>
            </a:pPr>
            <a:r>
              <a:rPr lang="en-US" sz="1200" dirty="0">
                <a:solidFill>
                  <a:srgbClr val="4A4943"/>
                </a:solidFill>
                <a:latin typeface="Meiryo" pitchFamily="34" charset="0"/>
                <a:ea typeface="Meiryo" pitchFamily="34" charset="-122"/>
                <a:cs typeface="Meiryo" pitchFamily="34" charset="-120"/>
              </a:rPr>
              <a:t>AI が出した文章は「たたき台」です。現場の言葉に直し、事実確認をしてから公開してください。</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9F5"/>
        </a:solidFill>
      </p:bgPr>
    </p:bg>
    <p:spTree>
      <p:nvGrpSpPr>
        <p:cNvPr id="1" name=""/>
        <p:cNvGrpSpPr/>
        <p:nvPr/>
      </p:nvGrpSpPr>
      <p:grpSpPr>
        <a:xfrm>
          <a:off x="0" y="0"/>
          <a:ext cx="0" cy="0"/>
          <a:chOff x="0" y="0"/>
          <a:chExt cx="0" cy="0"/>
        </a:xfrm>
      </p:grpSpPr>
      <p:sp>
        <p:nvSpPr>
          <p:cNvPr id="2" name="Shape 0"/>
          <p:cNvSpPr/>
          <p:nvPr/>
        </p:nvSpPr>
        <p:spPr>
          <a:xfrm>
            <a:off x="640080" y="347472"/>
            <a:ext cx="1783080" cy="329184"/>
          </a:xfrm>
          <a:prstGeom prst="roundRect">
            <a:avLst>
              <a:gd name="adj" fmla="val 13889"/>
            </a:avLst>
          </a:prstGeom>
          <a:solidFill>
            <a:srgbClr val="D97757"/>
          </a:solidFill>
          <a:ln/>
        </p:spPr>
      </p:sp>
      <p:sp>
        <p:nvSpPr>
          <p:cNvPr id="3" name="Text 1"/>
          <p:cNvSpPr/>
          <p:nvPr/>
        </p:nvSpPr>
        <p:spPr>
          <a:xfrm>
            <a:off x="640080" y="347472"/>
            <a:ext cx="1783080" cy="329184"/>
          </a:xfrm>
          <a:prstGeom prst="rect">
            <a:avLst/>
          </a:prstGeom>
          <a:noFill/>
          <a:ln/>
        </p:spPr>
        <p:txBody>
          <a:bodyPr wrap="square" lIns="0" tIns="0" rIns="0" bIns="0" rtlCol="0" anchor="ctr"/>
          <a:lstStyle/>
          <a:p>
            <a:pPr algn="ctr" indent="0" marL="0">
              <a:buNone/>
            </a:pPr>
            <a:r>
              <a:rPr lang="en-US" sz="1150" b="1" spc="100" kern="0" dirty="0">
                <a:solidFill>
                  <a:srgbClr val="FFFFFF"/>
                </a:solidFill>
                <a:latin typeface="Meiryo" pitchFamily="34" charset="0"/>
                <a:ea typeface="Meiryo" pitchFamily="34" charset="-122"/>
                <a:cs typeface="Meiryo" pitchFamily="34" charset="-120"/>
              </a:rPr>
              <a:t>MODULE 1</a:t>
            </a:r>
            <a:endParaRPr lang="en-US" sz="1150" dirty="0"/>
          </a:p>
        </p:txBody>
      </p:sp>
      <p:sp>
        <p:nvSpPr>
          <p:cNvPr id="4" name="Text 2"/>
          <p:cNvSpPr/>
          <p:nvPr/>
        </p:nvSpPr>
        <p:spPr>
          <a:xfrm>
            <a:off x="640080" y="768096"/>
            <a:ext cx="10881360" cy="566928"/>
          </a:xfrm>
          <a:prstGeom prst="rect">
            <a:avLst/>
          </a:prstGeom>
          <a:noFill/>
          <a:ln/>
        </p:spPr>
        <p:txBody>
          <a:bodyPr wrap="square" lIns="0" tIns="0" rIns="0" bIns="0" rtlCol="0" anchor="ctr"/>
          <a:lstStyle/>
          <a:p>
            <a:pPr indent="0" marL="0">
              <a:buNone/>
            </a:pPr>
            <a:r>
              <a:rPr lang="en-US" sz="2700" b="1" dirty="0">
                <a:solidFill>
                  <a:srgbClr val="141413"/>
                </a:solidFill>
                <a:latin typeface="Meiryo" pitchFamily="34" charset="0"/>
                <a:ea typeface="Meiryo" pitchFamily="34" charset="-122"/>
                <a:cs typeface="Meiryo" pitchFamily="34" charset="-120"/>
              </a:rPr>
              <a:t>ワーク②：どこで止まっているかを特定する</a:t>
            </a:r>
            <a:endParaRPr lang="en-US" sz="2700" dirty="0"/>
          </a:p>
        </p:txBody>
      </p:sp>
      <p:sp>
        <p:nvSpPr>
          <p:cNvPr id="5" name="Text 3"/>
          <p:cNvSpPr/>
          <p:nvPr/>
        </p:nvSpPr>
        <p:spPr>
          <a:xfrm>
            <a:off x="640080" y="1316736"/>
            <a:ext cx="10881360" cy="329184"/>
          </a:xfrm>
          <a:prstGeom prst="rect">
            <a:avLst/>
          </a:prstGeom>
          <a:noFill/>
          <a:ln/>
        </p:spPr>
        <p:txBody>
          <a:bodyPr wrap="square" lIns="0" tIns="0" rIns="0" bIns="0" rtlCol="0" anchor="ctr"/>
          <a:lstStyle/>
          <a:p>
            <a:pPr indent="0" marL="0">
              <a:buNone/>
            </a:pPr>
            <a:r>
              <a:rPr lang="en-US" sz="1300" dirty="0">
                <a:solidFill>
                  <a:srgbClr val="6E6C63"/>
                </a:solidFill>
                <a:latin typeface="Meiryo" pitchFamily="34" charset="0"/>
                <a:ea typeface="Meiryo" pitchFamily="34" charset="-122"/>
                <a:cs typeface="Meiryo" pitchFamily="34" charset="-120"/>
              </a:rPr>
              <a:t>人数ではなく「率」で見ます。落ちている 1 か所だけを直します</a:t>
            </a:r>
            <a:endParaRPr lang="en-US" sz="1300" dirty="0"/>
          </a:p>
        </p:txBody>
      </p:sp>
      <p:sp>
        <p:nvSpPr>
          <p:cNvPr id="6" name="Shape 4"/>
          <p:cNvSpPr/>
          <p:nvPr/>
        </p:nvSpPr>
        <p:spPr>
          <a:xfrm>
            <a:off x="640080" y="1783080"/>
            <a:ext cx="2480310" cy="1325880"/>
          </a:xfrm>
          <a:prstGeom prst="roundRect">
            <a:avLst>
              <a:gd name="adj" fmla="val 4138"/>
            </a:avLst>
          </a:prstGeom>
          <a:solidFill>
            <a:srgbClr val="FFFFFF"/>
          </a:solidFill>
          <a:ln w="12700">
            <a:solidFill>
              <a:srgbClr val="E8E6DC"/>
            </a:solidFill>
            <a:prstDash val="solid"/>
          </a:ln>
          <a:effectLst>
            <a:outerShdw sx="100000" sy="100000" kx="0" ky="0" algn="bl" rotWithShape="0" blurRad="114300" dist="25400" dir="5400000">
              <a:srgbClr val="B0AEA5">
                <a:alpha val="30000"/>
              </a:srgbClr>
            </a:outerShdw>
          </a:effectLst>
        </p:spPr>
      </p:sp>
      <p:sp>
        <p:nvSpPr>
          <p:cNvPr id="7" name="Text 5"/>
          <p:cNvSpPr/>
          <p:nvPr/>
        </p:nvSpPr>
        <p:spPr>
          <a:xfrm>
            <a:off x="841248" y="1901952"/>
            <a:ext cx="2077974" cy="274320"/>
          </a:xfrm>
          <a:prstGeom prst="rect">
            <a:avLst/>
          </a:prstGeom>
          <a:noFill/>
          <a:ln/>
        </p:spPr>
        <p:txBody>
          <a:bodyPr wrap="square" lIns="0" tIns="0" rIns="0" bIns="0" rtlCol="0" anchor="ctr"/>
          <a:lstStyle/>
          <a:p>
            <a:pPr indent="0" marL="0">
              <a:buNone/>
            </a:pPr>
            <a:r>
              <a:rPr lang="en-US" sz="1100" b="1" dirty="0">
                <a:solidFill>
                  <a:srgbClr val="D97757"/>
                </a:solidFill>
                <a:latin typeface="Meiryo" pitchFamily="34" charset="0"/>
                <a:ea typeface="Meiryo" pitchFamily="34" charset="-122"/>
                <a:cs typeface="Meiryo" pitchFamily="34" charset="-120"/>
              </a:rPr>
              <a:t>①→②</a:t>
            </a:r>
            <a:endParaRPr lang="en-US" sz="1100" dirty="0"/>
          </a:p>
        </p:txBody>
      </p:sp>
      <p:sp>
        <p:nvSpPr>
          <p:cNvPr id="8" name="Text 6"/>
          <p:cNvSpPr/>
          <p:nvPr/>
        </p:nvSpPr>
        <p:spPr>
          <a:xfrm>
            <a:off x="841248" y="2176272"/>
            <a:ext cx="2077974" cy="347472"/>
          </a:xfrm>
          <a:prstGeom prst="rect">
            <a:avLst/>
          </a:prstGeom>
          <a:noFill/>
          <a:ln/>
        </p:spPr>
        <p:txBody>
          <a:bodyPr wrap="square" lIns="0" tIns="0" rIns="0" bIns="0" rtlCol="0" anchor="ctr"/>
          <a:lstStyle/>
          <a:p>
            <a:pPr indent="0" marL="0">
              <a:buNone/>
            </a:pPr>
            <a:r>
              <a:rPr lang="en-US" sz="1600" b="1" dirty="0">
                <a:solidFill>
                  <a:srgbClr val="141413"/>
                </a:solidFill>
                <a:latin typeface="Meiryo" pitchFamily="34" charset="0"/>
                <a:ea typeface="Meiryo" pitchFamily="34" charset="-122"/>
                <a:cs typeface="Meiryo" pitchFamily="34" charset="-120"/>
              </a:rPr>
              <a:t>閲覧率</a:t>
            </a:r>
            <a:endParaRPr lang="en-US" sz="1600" dirty="0"/>
          </a:p>
        </p:txBody>
      </p:sp>
      <p:sp>
        <p:nvSpPr>
          <p:cNvPr id="9" name="Text 7"/>
          <p:cNvSpPr/>
          <p:nvPr/>
        </p:nvSpPr>
        <p:spPr>
          <a:xfrm>
            <a:off x="841248" y="2542032"/>
            <a:ext cx="2077974" cy="502920"/>
          </a:xfrm>
          <a:prstGeom prst="rect">
            <a:avLst/>
          </a:prstGeom>
          <a:noFill/>
          <a:ln/>
        </p:spPr>
        <p:txBody>
          <a:bodyPr wrap="square" lIns="0" tIns="0" rIns="0" bIns="0" rtlCol="0" anchor="t"/>
          <a:lstStyle/>
          <a:p>
            <a:pPr indent="0" marL="0">
              <a:lnSpc>
                <a:spcPts val="1500"/>
              </a:lnSpc>
              <a:buNone/>
            </a:pPr>
            <a:r>
              <a:rPr lang="en-US" sz="1000" dirty="0">
                <a:solidFill>
                  <a:srgbClr val="6E6C63"/>
                </a:solidFill>
                <a:latin typeface="Meiryo" pitchFamily="34" charset="0"/>
                <a:ea typeface="Meiryo" pitchFamily="34" charset="-122"/>
                <a:cs typeface="Meiryo" pitchFamily="34" charset="-120"/>
              </a:rPr>
              <a:t>求人が表示された回数のうち、</a:t>
            </a:r>
            <a:endParaRPr lang="en-US" sz="1000" dirty="0"/>
          </a:p>
          <a:p>
            <a:pPr indent="0" marL="0">
              <a:lnSpc>
                <a:spcPts val="1500"/>
              </a:lnSpc>
              <a:buNone/>
            </a:pPr>
            <a:r>
              <a:rPr lang="en-US" sz="1000" dirty="0">
                <a:solidFill>
                  <a:srgbClr val="6E6C63"/>
                </a:solidFill>
                <a:latin typeface="Meiryo" pitchFamily="34" charset="0"/>
                <a:ea typeface="Meiryo" pitchFamily="34" charset="-122"/>
                <a:cs typeface="Meiryo" pitchFamily="34" charset="-120"/>
              </a:rPr>
              <a:t>クリックされた割合</a:t>
            </a:r>
            <a:endParaRPr lang="en-US" sz="1000" dirty="0"/>
          </a:p>
        </p:txBody>
      </p:sp>
      <p:sp>
        <p:nvSpPr>
          <p:cNvPr id="10" name="Shape 8"/>
          <p:cNvSpPr/>
          <p:nvPr/>
        </p:nvSpPr>
        <p:spPr>
          <a:xfrm>
            <a:off x="3440430" y="1783080"/>
            <a:ext cx="2480310" cy="1325880"/>
          </a:xfrm>
          <a:prstGeom prst="roundRect">
            <a:avLst>
              <a:gd name="adj" fmla="val 4138"/>
            </a:avLst>
          </a:prstGeom>
          <a:solidFill>
            <a:srgbClr val="FFFFFF"/>
          </a:solidFill>
          <a:ln w="12700">
            <a:solidFill>
              <a:srgbClr val="E8E6DC"/>
            </a:solidFill>
            <a:prstDash val="solid"/>
          </a:ln>
          <a:effectLst>
            <a:outerShdw sx="100000" sy="100000" kx="0" ky="0" algn="bl" rotWithShape="0" blurRad="114300" dist="25400" dir="5400000">
              <a:srgbClr val="B0AEA5">
                <a:alpha val="30000"/>
              </a:srgbClr>
            </a:outerShdw>
          </a:effectLst>
        </p:spPr>
      </p:sp>
      <p:sp>
        <p:nvSpPr>
          <p:cNvPr id="11" name="Text 9"/>
          <p:cNvSpPr/>
          <p:nvPr/>
        </p:nvSpPr>
        <p:spPr>
          <a:xfrm>
            <a:off x="3641598" y="1901952"/>
            <a:ext cx="2077974" cy="274320"/>
          </a:xfrm>
          <a:prstGeom prst="rect">
            <a:avLst/>
          </a:prstGeom>
          <a:noFill/>
          <a:ln/>
        </p:spPr>
        <p:txBody>
          <a:bodyPr wrap="square" lIns="0" tIns="0" rIns="0" bIns="0" rtlCol="0" anchor="ctr"/>
          <a:lstStyle/>
          <a:p>
            <a:pPr indent="0" marL="0">
              <a:buNone/>
            </a:pPr>
            <a:r>
              <a:rPr lang="en-US" sz="1100" b="1" dirty="0">
                <a:solidFill>
                  <a:srgbClr val="D97757"/>
                </a:solidFill>
                <a:latin typeface="Meiryo" pitchFamily="34" charset="0"/>
                <a:ea typeface="Meiryo" pitchFamily="34" charset="-122"/>
                <a:cs typeface="Meiryo" pitchFamily="34" charset="-120"/>
              </a:rPr>
              <a:t>②→③</a:t>
            </a:r>
            <a:endParaRPr lang="en-US" sz="1100" dirty="0"/>
          </a:p>
        </p:txBody>
      </p:sp>
      <p:sp>
        <p:nvSpPr>
          <p:cNvPr id="12" name="Text 10"/>
          <p:cNvSpPr/>
          <p:nvPr/>
        </p:nvSpPr>
        <p:spPr>
          <a:xfrm>
            <a:off x="3641598" y="2176272"/>
            <a:ext cx="2077974" cy="347472"/>
          </a:xfrm>
          <a:prstGeom prst="rect">
            <a:avLst/>
          </a:prstGeom>
          <a:noFill/>
          <a:ln/>
        </p:spPr>
        <p:txBody>
          <a:bodyPr wrap="square" lIns="0" tIns="0" rIns="0" bIns="0" rtlCol="0" anchor="ctr"/>
          <a:lstStyle/>
          <a:p>
            <a:pPr indent="0" marL="0">
              <a:buNone/>
            </a:pPr>
            <a:r>
              <a:rPr lang="en-US" sz="1600" b="1" dirty="0">
                <a:solidFill>
                  <a:srgbClr val="141413"/>
                </a:solidFill>
                <a:latin typeface="Meiryo" pitchFamily="34" charset="0"/>
                <a:ea typeface="Meiryo" pitchFamily="34" charset="-122"/>
                <a:cs typeface="Meiryo" pitchFamily="34" charset="-120"/>
              </a:rPr>
              <a:t>応募率</a:t>
            </a:r>
            <a:endParaRPr lang="en-US" sz="1600" dirty="0"/>
          </a:p>
        </p:txBody>
      </p:sp>
      <p:sp>
        <p:nvSpPr>
          <p:cNvPr id="13" name="Text 11"/>
          <p:cNvSpPr/>
          <p:nvPr/>
        </p:nvSpPr>
        <p:spPr>
          <a:xfrm>
            <a:off x="3641598" y="2542032"/>
            <a:ext cx="2077974" cy="502920"/>
          </a:xfrm>
          <a:prstGeom prst="rect">
            <a:avLst/>
          </a:prstGeom>
          <a:noFill/>
          <a:ln/>
        </p:spPr>
        <p:txBody>
          <a:bodyPr wrap="square" lIns="0" tIns="0" rIns="0" bIns="0" rtlCol="0" anchor="t"/>
          <a:lstStyle/>
          <a:p>
            <a:pPr indent="0" marL="0">
              <a:lnSpc>
                <a:spcPts val="1500"/>
              </a:lnSpc>
              <a:buNone/>
            </a:pPr>
            <a:r>
              <a:rPr lang="en-US" sz="1000" dirty="0">
                <a:solidFill>
                  <a:srgbClr val="6E6C63"/>
                </a:solidFill>
                <a:latin typeface="Meiryo" pitchFamily="34" charset="0"/>
                <a:ea typeface="Meiryo" pitchFamily="34" charset="-122"/>
                <a:cs typeface="Meiryo" pitchFamily="34" charset="-120"/>
              </a:rPr>
              <a:t>ページを見た人のうち、</a:t>
            </a:r>
            <a:endParaRPr lang="en-US" sz="1000" dirty="0"/>
          </a:p>
          <a:p>
            <a:pPr indent="0" marL="0">
              <a:lnSpc>
                <a:spcPts val="1500"/>
              </a:lnSpc>
              <a:buNone/>
            </a:pPr>
            <a:r>
              <a:rPr lang="en-US" sz="1000" dirty="0">
                <a:solidFill>
                  <a:srgbClr val="6E6C63"/>
                </a:solidFill>
                <a:latin typeface="Meiryo" pitchFamily="34" charset="0"/>
                <a:ea typeface="Meiryo" pitchFamily="34" charset="-122"/>
                <a:cs typeface="Meiryo" pitchFamily="34" charset="-120"/>
              </a:rPr>
              <a:t>応募まで進んだ割合</a:t>
            </a:r>
            <a:endParaRPr lang="en-US" sz="1000" dirty="0"/>
          </a:p>
        </p:txBody>
      </p:sp>
      <p:sp>
        <p:nvSpPr>
          <p:cNvPr id="14" name="Shape 12"/>
          <p:cNvSpPr/>
          <p:nvPr/>
        </p:nvSpPr>
        <p:spPr>
          <a:xfrm>
            <a:off x="6240780" y="1783080"/>
            <a:ext cx="2480310" cy="1325880"/>
          </a:xfrm>
          <a:prstGeom prst="roundRect">
            <a:avLst>
              <a:gd name="adj" fmla="val 4138"/>
            </a:avLst>
          </a:prstGeom>
          <a:solidFill>
            <a:srgbClr val="FFFFFF"/>
          </a:solidFill>
          <a:ln w="12700">
            <a:solidFill>
              <a:srgbClr val="E8E6DC"/>
            </a:solidFill>
            <a:prstDash val="solid"/>
          </a:ln>
          <a:effectLst>
            <a:outerShdw sx="100000" sy="100000" kx="0" ky="0" algn="bl" rotWithShape="0" blurRad="114300" dist="25400" dir="5400000">
              <a:srgbClr val="B0AEA5">
                <a:alpha val="30000"/>
              </a:srgbClr>
            </a:outerShdw>
          </a:effectLst>
        </p:spPr>
      </p:sp>
      <p:sp>
        <p:nvSpPr>
          <p:cNvPr id="15" name="Text 13"/>
          <p:cNvSpPr/>
          <p:nvPr/>
        </p:nvSpPr>
        <p:spPr>
          <a:xfrm>
            <a:off x="6441948" y="1901952"/>
            <a:ext cx="2077974" cy="274320"/>
          </a:xfrm>
          <a:prstGeom prst="rect">
            <a:avLst/>
          </a:prstGeom>
          <a:noFill/>
          <a:ln/>
        </p:spPr>
        <p:txBody>
          <a:bodyPr wrap="square" lIns="0" tIns="0" rIns="0" bIns="0" rtlCol="0" anchor="ctr"/>
          <a:lstStyle/>
          <a:p>
            <a:pPr indent="0" marL="0">
              <a:buNone/>
            </a:pPr>
            <a:r>
              <a:rPr lang="en-US" sz="1100" b="1" dirty="0">
                <a:solidFill>
                  <a:srgbClr val="D97757"/>
                </a:solidFill>
                <a:latin typeface="Meiryo" pitchFamily="34" charset="0"/>
                <a:ea typeface="Meiryo" pitchFamily="34" charset="-122"/>
                <a:cs typeface="Meiryo" pitchFamily="34" charset="-120"/>
              </a:rPr>
              <a:t>③→④</a:t>
            </a:r>
            <a:endParaRPr lang="en-US" sz="1100" dirty="0"/>
          </a:p>
        </p:txBody>
      </p:sp>
      <p:sp>
        <p:nvSpPr>
          <p:cNvPr id="16" name="Text 14"/>
          <p:cNvSpPr/>
          <p:nvPr/>
        </p:nvSpPr>
        <p:spPr>
          <a:xfrm>
            <a:off x="6441948" y="2176272"/>
            <a:ext cx="2077974" cy="347472"/>
          </a:xfrm>
          <a:prstGeom prst="rect">
            <a:avLst/>
          </a:prstGeom>
          <a:noFill/>
          <a:ln/>
        </p:spPr>
        <p:txBody>
          <a:bodyPr wrap="square" lIns="0" tIns="0" rIns="0" bIns="0" rtlCol="0" anchor="ctr"/>
          <a:lstStyle/>
          <a:p>
            <a:pPr indent="0" marL="0">
              <a:buNone/>
            </a:pPr>
            <a:r>
              <a:rPr lang="en-US" sz="1600" b="1" dirty="0">
                <a:solidFill>
                  <a:srgbClr val="141413"/>
                </a:solidFill>
                <a:latin typeface="Meiryo" pitchFamily="34" charset="0"/>
                <a:ea typeface="Meiryo" pitchFamily="34" charset="-122"/>
                <a:cs typeface="Meiryo" pitchFamily="34" charset="-120"/>
              </a:rPr>
              <a:t>参加率</a:t>
            </a:r>
            <a:endParaRPr lang="en-US" sz="1600" dirty="0"/>
          </a:p>
        </p:txBody>
      </p:sp>
      <p:sp>
        <p:nvSpPr>
          <p:cNvPr id="17" name="Text 15"/>
          <p:cNvSpPr/>
          <p:nvPr/>
        </p:nvSpPr>
        <p:spPr>
          <a:xfrm>
            <a:off x="6441948" y="2542032"/>
            <a:ext cx="2077974" cy="502920"/>
          </a:xfrm>
          <a:prstGeom prst="rect">
            <a:avLst/>
          </a:prstGeom>
          <a:noFill/>
          <a:ln/>
        </p:spPr>
        <p:txBody>
          <a:bodyPr wrap="square" lIns="0" tIns="0" rIns="0" bIns="0" rtlCol="0" anchor="t"/>
          <a:lstStyle/>
          <a:p>
            <a:pPr indent="0" marL="0">
              <a:lnSpc>
                <a:spcPts val="1500"/>
              </a:lnSpc>
              <a:buNone/>
            </a:pPr>
            <a:r>
              <a:rPr lang="en-US" sz="1000" dirty="0">
                <a:solidFill>
                  <a:srgbClr val="6E6C63"/>
                </a:solidFill>
                <a:latin typeface="Meiryo" pitchFamily="34" charset="0"/>
                <a:ea typeface="Meiryo" pitchFamily="34" charset="-122"/>
                <a:cs typeface="Meiryo" pitchFamily="34" charset="-120"/>
              </a:rPr>
              <a:t>応募者のうち、見学・体験会に</a:t>
            </a:r>
            <a:endParaRPr lang="en-US" sz="1000" dirty="0"/>
          </a:p>
          <a:p>
            <a:pPr indent="0" marL="0">
              <a:lnSpc>
                <a:spcPts val="1500"/>
              </a:lnSpc>
              <a:buNone/>
            </a:pPr>
            <a:r>
              <a:rPr lang="en-US" sz="1000" dirty="0">
                <a:solidFill>
                  <a:srgbClr val="6E6C63"/>
                </a:solidFill>
                <a:latin typeface="Meiryo" pitchFamily="34" charset="0"/>
                <a:ea typeface="Meiryo" pitchFamily="34" charset="-122"/>
                <a:cs typeface="Meiryo" pitchFamily="34" charset="-120"/>
              </a:rPr>
              <a:t>来てくれた割合</a:t>
            </a:r>
            <a:endParaRPr lang="en-US" sz="1000" dirty="0"/>
          </a:p>
        </p:txBody>
      </p:sp>
      <p:sp>
        <p:nvSpPr>
          <p:cNvPr id="18" name="Shape 16"/>
          <p:cNvSpPr/>
          <p:nvPr/>
        </p:nvSpPr>
        <p:spPr>
          <a:xfrm>
            <a:off x="9041130" y="1783080"/>
            <a:ext cx="2480310" cy="1325880"/>
          </a:xfrm>
          <a:prstGeom prst="roundRect">
            <a:avLst>
              <a:gd name="adj" fmla="val 4138"/>
            </a:avLst>
          </a:prstGeom>
          <a:solidFill>
            <a:srgbClr val="FFFFFF"/>
          </a:solidFill>
          <a:ln w="12700">
            <a:solidFill>
              <a:srgbClr val="E8E6DC"/>
            </a:solidFill>
            <a:prstDash val="solid"/>
          </a:ln>
          <a:effectLst>
            <a:outerShdw sx="100000" sy="100000" kx="0" ky="0" algn="bl" rotWithShape="0" blurRad="114300" dist="25400" dir="5400000">
              <a:srgbClr val="B0AEA5">
                <a:alpha val="30000"/>
              </a:srgbClr>
            </a:outerShdw>
          </a:effectLst>
        </p:spPr>
      </p:sp>
      <p:sp>
        <p:nvSpPr>
          <p:cNvPr id="19" name="Text 17"/>
          <p:cNvSpPr/>
          <p:nvPr/>
        </p:nvSpPr>
        <p:spPr>
          <a:xfrm>
            <a:off x="9242298" y="1901952"/>
            <a:ext cx="2077974" cy="274320"/>
          </a:xfrm>
          <a:prstGeom prst="rect">
            <a:avLst/>
          </a:prstGeom>
          <a:noFill/>
          <a:ln/>
        </p:spPr>
        <p:txBody>
          <a:bodyPr wrap="square" lIns="0" tIns="0" rIns="0" bIns="0" rtlCol="0" anchor="ctr"/>
          <a:lstStyle/>
          <a:p>
            <a:pPr indent="0" marL="0">
              <a:buNone/>
            </a:pPr>
            <a:r>
              <a:rPr lang="en-US" sz="1100" b="1" dirty="0">
                <a:solidFill>
                  <a:srgbClr val="D97757"/>
                </a:solidFill>
                <a:latin typeface="Meiryo" pitchFamily="34" charset="0"/>
                <a:ea typeface="Meiryo" pitchFamily="34" charset="-122"/>
                <a:cs typeface="Meiryo" pitchFamily="34" charset="-120"/>
              </a:rPr>
              <a:t>④→入社</a:t>
            </a:r>
            <a:endParaRPr lang="en-US" sz="1100" dirty="0"/>
          </a:p>
        </p:txBody>
      </p:sp>
      <p:sp>
        <p:nvSpPr>
          <p:cNvPr id="20" name="Text 18"/>
          <p:cNvSpPr/>
          <p:nvPr/>
        </p:nvSpPr>
        <p:spPr>
          <a:xfrm>
            <a:off x="9242298" y="2176272"/>
            <a:ext cx="2077974" cy="347472"/>
          </a:xfrm>
          <a:prstGeom prst="rect">
            <a:avLst/>
          </a:prstGeom>
          <a:noFill/>
          <a:ln/>
        </p:spPr>
        <p:txBody>
          <a:bodyPr wrap="square" lIns="0" tIns="0" rIns="0" bIns="0" rtlCol="0" anchor="ctr"/>
          <a:lstStyle/>
          <a:p>
            <a:pPr indent="0" marL="0">
              <a:buNone/>
            </a:pPr>
            <a:r>
              <a:rPr lang="en-US" sz="1600" b="1" dirty="0">
                <a:solidFill>
                  <a:srgbClr val="141413"/>
                </a:solidFill>
                <a:latin typeface="Meiryo" pitchFamily="34" charset="0"/>
                <a:ea typeface="Meiryo" pitchFamily="34" charset="-122"/>
                <a:cs typeface="Meiryo" pitchFamily="34" charset="-120"/>
              </a:rPr>
              <a:t>承諾率</a:t>
            </a:r>
            <a:endParaRPr lang="en-US" sz="1600" dirty="0"/>
          </a:p>
        </p:txBody>
      </p:sp>
      <p:sp>
        <p:nvSpPr>
          <p:cNvPr id="21" name="Text 19"/>
          <p:cNvSpPr/>
          <p:nvPr/>
        </p:nvSpPr>
        <p:spPr>
          <a:xfrm>
            <a:off x="9242298" y="2542032"/>
            <a:ext cx="2077974" cy="502920"/>
          </a:xfrm>
          <a:prstGeom prst="rect">
            <a:avLst/>
          </a:prstGeom>
          <a:noFill/>
          <a:ln/>
        </p:spPr>
        <p:txBody>
          <a:bodyPr wrap="square" lIns="0" tIns="0" rIns="0" bIns="0" rtlCol="0" anchor="t"/>
          <a:lstStyle/>
          <a:p>
            <a:pPr indent="0" marL="0">
              <a:lnSpc>
                <a:spcPts val="1500"/>
              </a:lnSpc>
              <a:buNone/>
            </a:pPr>
            <a:r>
              <a:rPr lang="en-US" sz="1000" dirty="0">
                <a:solidFill>
                  <a:srgbClr val="6E6C63"/>
                </a:solidFill>
                <a:latin typeface="Meiryo" pitchFamily="34" charset="0"/>
                <a:ea typeface="Meiryo" pitchFamily="34" charset="-122"/>
                <a:cs typeface="Meiryo" pitchFamily="34" charset="-120"/>
              </a:rPr>
              <a:t>内定を出した人のうち、</a:t>
            </a:r>
            <a:endParaRPr lang="en-US" sz="1000" dirty="0"/>
          </a:p>
          <a:p>
            <a:pPr indent="0" marL="0">
              <a:lnSpc>
                <a:spcPts val="1500"/>
              </a:lnSpc>
              <a:buNone/>
            </a:pPr>
            <a:r>
              <a:rPr lang="en-US" sz="1000" dirty="0">
                <a:solidFill>
                  <a:srgbClr val="6E6C63"/>
                </a:solidFill>
                <a:latin typeface="Meiryo" pitchFamily="34" charset="0"/>
                <a:ea typeface="Meiryo" pitchFamily="34" charset="-122"/>
                <a:cs typeface="Meiryo" pitchFamily="34" charset="-120"/>
              </a:rPr>
              <a:t>承諾してくれた割合</a:t>
            </a:r>
            <a:endParaRPr lang="en-US" sz="10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640080" y="3337560"/>
          <a:ext cx="10881360" cy="914400"/>
        </p:xfrm>
        <a:graphic>
          <a:graphicData uri="http://schemas.openxmlformats.org/drawingml/2006/table">
            <a:tbl>
              <a:tblPr/>
              <a:tblGrid>
                <a:gridCol w="3931920"/>
                <a:gridCol w="2194560"/>
                <a:gridCol w="4754880"/>
              </a:tblGrid>
              <a:tr h="512064">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こんな症状が出ていたら</a:t>
                      </a:r>
                      <a:endParaRPr lang="en-US" sz="1150" dirty="0">
                        <a:latin typeface="Meiryo" charset="0"/>
                        <a:ea typeface="Meiryo" charset="0"/>
                        <a:cs typeface="Meiryo" charset="0"/>
                      </a:endParaRPr>
                    </a:p>
                  </a:txBody>
                  <a:tcPr marL="76200" marR="76200" marT="76200" marB="76200" anchor="ctr">
                    <a:lnL w="12700" cap="flat" cmpd="sng" algn="ctr">
                      <a:solidFill>
                        <a:srgbClr val="E8E6DC"/>
                      </a:solidFill>
                      <a:prstDash val="solid"/>
                      <a:round/>
                      <a:headEnd type="none" w="med" len="med"/>
                      <a:tailEnd type="none" w="med" len="med"/>
                    </a:lnL>
                    <a:lnR w="12700" cap="flat" cmpd="sng" algn="ctr">
                      <a:solidFill>
                        <a:srgbClr val="E8E6DC"/>
                      </a:solidFill>
                      <a:prstDash val="solid"/>
                      <a:round/>
                      <a:headEnd type="none" w="med" len="med"/>
                      <a:tailEnd type="none" w="med" len="med"/>
                    </a:lnR>
                    <a:lnT w="12700" cap="flat" cmpd="sng" algn="ctr">
                      <a:solidFill>
                        <a:srgbClr val="E8E6DC"/>
                      </a:solidFill>
                      <a:prstDash val="solid"/>
                      <a:round/>
                      <a:headEnd type="none" w="med" len="med"/>
                      <a:tailEnd type="none" w="med" len="med"/>
                    </a:lnT>
                    <a:lnB w="12700" cap="flat" cmpd="sng" algn="ctr">
                      <a:solidFill>
                        <a:srgbClr val="E8E6DC"/>
                      </a:solidFill>
                      <a:prstDash val="solid"/>
                      <a:round/>
                      <a:headEnd type="none" w="med" len="med"/>
                      <a:tailEnd type="none" w="med" len="med"/>
                    </a:lnB>
                    <a:solidFill>
                      <a:srgbClr val="141413"/>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止まっている段階</a:t>
                      </a:r>
                      <a:endParaRPr lang="en-US" sz="1150" dirty="0">
                        <a:latin typeface="Meiryo" charset="0"/>
                        <a:ea typeface="Meiryo" charset="0"/>
                        <a:cs typeface="Meiryo" charset="0"/>
                      </a:endParaRPr>
                    </a:p>
                  </a:txBody>
                  <a:tcPr marL="76200" marR="76200" marT="76200" marB="76200" anchor="ctr">
                    <a:lnL w="12700" cap="flat" cmpd="sng" algn="ctr">
                      <a:solidFill>
                        <a:srgbClr val="E8E6DC"/>
                      </a:solidFill>
                      <a:prstDash val="solid"/>
                      <a:round/>
                      <a:headEnd type="none" w="med" len="med"/>
                      <a:tailEnd type="none" w="med" len="med"/>
                    </a:lnL>
                    <a:lnR w="12700" cap="flat" cmpd="sng" algn="ctr">
                      <a:solidFill>
                        <a:srgbClr val="E8E6DC"/>
                      </a:solidFill>
                      <a:prstDash val="solid"/>
                      <a:round/>
                      <a:headEnd type="none" w="med" len="med"/>
                      <a:tailEnd type="none" w="med" len="med"/>
                    </a:lnR>
                    <a:lnT w="12700" cap="flat" cmpd="sng" algn="ctr">
                      <a:solidFill>
                        <a:srgbClr val="E8E6DC"/>
                      </a:solidFill>
                      <a:prstDash val="solid"/>
                      <a:round/>
                      <a:headEnd type="none" w="med" len="med"/>
                      <a:tailEnd type="none" w="med" len="med"/>
                    </a:lnT>
                    <a:lnB w="12700" cap="flat" cmpd="sng" algn="ctr">
                      <a:solidFill>
                        <a:srgbClr val="E8E6DC"/>
                      </a:solidFill>
                      <a:prstDash val="solid"/>
                      <a:round/>
                      <a:headEnd type="none" w="med" len="med"/>
                      <a:tailEnd type="none" w="med" len="med"/>
                    </a:lnB>
                    <a:solidFill>
                      <a:srgbClr val="141413"/>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まず直すところ</a:t>
                      </a:r>
                      <a:endParaRPr lang="en-US" sz="1150" dirty="0">
                        <a:latin typeface="Meiryo" charset="0"/>
                        <a:ea typeface="Meiryo" charset="0"/>
                        <a:cs typeface="Meiryo" charset="0"/>
                      </a:endParaRPr>
                    </a:p>
                  </a:txBody>
                  <a:tcPr marL="76200" marR="76200" marT="76200" marB="76200" anchor="ctr">
                    <a:lnL w="12700" cap="flat" cmpd="sng" algn="ctr">
                      <a:solidFill>
                        <a:srgbClr val="E8E6DC"/>
                      </a:solidFill>
                      <a:prstDash val="solid"/>
                      <a:round/>
                      <a:headEnd type="none" w="med" len="med"/>
                      <a:tailEnd type="none" w="med" len="med"/>
                    </a:lnL>
                    <a:lnR w="12700" cap="flat" cmpd="sng" algn="ctr">
                      <a:solidFill>
                        <a:srgbClr val="E8E6DC"/>
                      </a:solidFill>
                      <a:prstDash val="solid"/>
                      <a:round/>
                      <a:headEnd type="none" w="med" len="med"/>
                      <a:tailEnd type="none" w="med" len="med"/>
                    </a:lnR>
                    <a:lnT w="12700" cap="flat" cmpd="sng" algn="ctr">
                      <a:solidFill>
                        <a:srgbClr val="E8E6DC"/>
                      </a:solidFill>
                      <a:prstDash val="solid"/>
                      <a:round/>
                      <a:headEnd type="none" w="med" len="med"/>
                      <a:tailEnd type="none" w="med" len="med"/>
                    </a:lnT>
                    <a:lnB w="12700" cap="flat" cmpd="sng" algn="ctr">
                      <a:solidFill>
                        <a:srgbClr val="E8E6DC"/>
                      </a:solidFill>
                      <a:prstDash val="solid"/>
                      <a:round/>
                      <a:headEnd type="none" w="med" len="med"/>
                      <a:tailEnd type="none" w="med" len="med"/>
                    </a:lnB>
                    <a:solidFill>
                      <a:srgbClr val="141413"/>
                    </a:solidFill>
                  </a:tcPr>
                </a:tc>
              </a:tr>
              <a:tr h="512064">
                <a:tc>
                  <a:txBody>
                    <a:bodyPr/>
                    <a:lstStyle/>
                    <a:p>
                      <a:pPr algn="l" indent="0" marL="0">
                        <a:buNone/>
                      </a:pPr>
                      <a:r>
                        <a:rPr lang="en-US" sz="1150" dirty="0">
                          <a:solidFill>
                            <a:srgbClr val="4A4943"/>
                          </a:solidFill>
                          <a:latin typeface="Meiryo" pitchFamily="34" charset="0"/>
                          <a:ea typeface="Meiryo" pitchFamily="34" charset="-122"/>
                          <a:cs typeface="Meiryo" pitchFamily="34" charset="-120"/>
                        </a:rPr>
                        <a:t>求人がそもそも表示されない</a:t>
                      </a:r>
                      <a:endParaRPr lang="en-US" sz="1150" dirty="0">
                        <a:latin typeface="Meiryo" charset="0"/>
                        <a:ea typeface="Meiryo" charset="0"/>
                        <a:cs typeface="Meiryo" charset="0"/>
                      </a:endParaRPr>
                    </a:p>
                  </a:txBody>
                  <a:tcPr marL="76200" marR="76200" marT="76200" marB="76200" anchor="ctr">
                    <a:lnL w="12700" cap="flat" cmpd="sng" algn="ctr">
                      <a:solidFill>
                        <a:srgbClr val="E8E6DC"/>
                      </a:solidFill>
                      <a:prstDash val="solid"/>
                      <a:round/>
                      <a:headEnd type="none" w="med" len="med"/>
                      <a:tailEnd type="none" w="med" len="med"/>
                    </a:lnL>
                    <a:lnR w="12700" cap="flat" cmpd="sng" algn="ctr">
                      <a:solidFill>
                        <a:srgbClr val="E8E6DC"/>
                      </a:solidFill>
                      <a:prstDash val="solid"/>
                      <a:round/>
                      <a:headEnd type="none" w="med" len="med"/>
                      <a:tailEnd type="none" w="med" len="med"/>
                    </a:lnR>
                    <a:lnT w="12700" cap="flat" cmpd="sng" algn="ctr">
                      <a:solidFill>
                        <a:srgbClr val="E8E6DC"/>
                      </a:solidFill>
                      <a:prstDash val="solid"/>
                      <a:round/>
                      <a:headEnd type="none" w="med" len="med"/>
                      <a:tailEnd type="none" w="med" len="med"/>
                    </a:lnT>
                    <a:lnB w="12700" cap="flat" cmpd="sng" algn="ctr">
                      <a:solidFill>
                        <a:srgbClr val="E8E6DC"/>
                      </a:solidFill>
                      <a:prstDash val="solid"/>
                      <a:round/>
                      <a:headEnd type="none" w="med" len="med"/>
                      <a:tailEnd type="none" w="med" len="med"/>
                    </a:lnB>
                  </a:tcPr>
                </a:tc>
                <a:tc>
                  <a:txBody>
                    <a:bodyPr/>
                    <a:lstStyle/>
                    <a:p>
                      <a:pPr algn="l" indent="0" marL="0">
                        <a:buNone/>
                      </a:pPr>
                      <a:r>
                        <a:rPr lang="en-US" sz="1150" dirty="0">
                          <a:solidFill>
                            <a:srgbClr val="4A4943"/>
                          </a:solidFill>
                          <a:latin typeface="Meiryo" pitchFamily="34" charset="0"/>
                          <a:ea typeface="Meiryo" pitchFamily="34" charset="-122"/>
                          <a:cs typeface="Meiryo" pitchFamily="34" charset="-120"/>
                        </a:rPr>
                        <a:t>① 認知</a:t>
                      </a:r>
                      <a:endParaRPr lang="en-US" sz="1150" dirty="0">
                        <a:latin typeface="Meiryo" charset="0"/>
                        <a:ea typeface="Meiryo" charset="0"/>
                        <a:cs typeface="Meiryo" charset="0"/>
                      </a:endParaRPr>
                    </a:p>
                  </a:txBody>
                  <a:tcPr marL="76200" marR="76200" marT="76200" marB="76200" anchor="ctr">
                    <a:lnL w="12700" cap="flat" cmpd="sng" algn="ctr">
                      <a:solidFill>
                        <a:srgbClr val="E8E6DC"/>
                      </a:solidFill>
                      <a:prstDash val="solid"/>
                      <a:round/>
                      <a:headEnd type="none" w="med" len="med"/>
                      <a:tailEnd type="none" w="med" len="med"/>
                    </a:lnL>
                    <a:lnR w="12700" cap="flat" cmpd="sng" algn="ctr">
                      <a:solidFill>
                        <a:srgbClr val="E8E6DC"/>
                      </a:solidFill>
                      <a:prstDash val="solid"/>
                      <a:round/>
                      <a:headEnd type="none" w="med" len="med"/>
                      <a:tailEnd type="none" w="med" len="med"/>
                    </a:lnR>
                    <a:lnT w="12700" cap="flat" cmpd="sng" algn="ctr">
                      <a:solidFill>
                        <a:srgbClr val="E8E6DC"/>
                      </a:solidFill>
                      <a:prstDash val="solid"/>
                      <a:round/>
                      <a:headEnd type="none" w="med" len="med"/>
                      <a:tailEnd type="none" w="med" len="med"/>
                    </a:lnT>
                    <a:lnB w="12700" cap="flat" cmpd="sng" algn="ctr">
                      <a:solidFill>
                        <a:srgbClr val="E8E6DC"/>
                      </a:solidFill>
                      <a:prstDash val="solid"/>
                      <a:round/>
                      <a:headEnd type="none" w="med" len="med"/>
                      <a:tailEnd type="none" w="med" len="med"/>
                    </a:lnB>
                  </a:tcPr>
                </a:tc>
                <a:tc>
                  <a:txBody>
                    <a:bodyPr/>
                    <a:lstStyle/>
                    <a:p>
                      <a:pPr algn="l" indent="0" marL="0">
                        <a:buNone/>
                      </a:pPr>
                      <a:r>
                        <a:rPr lang="en-US" sz="1150" dirty="0">
                          <a:solidFill>
                            <a:srgbClr val="4A4943"/>
                          </a:solidFill>
                          <a:latin typeface="Meiryo" pitchFamily="34" charset="0"/>
                          <a:ea typeface="Meiryo" pitchFamily="34" charset="-122"/>
                          <a:cs typeface="Meiryo" pitchFamily="34" charset="-120"/>
                        </a:rPr>
                        <a:t>職種名・勤務地の書き方、掲載チャネルの数</a:t>
                      </a:r>
                      <a:endParaRPr lang="en-US" sz="1150" dirty="0">
                        <a:latin typeface="Meiryo" charset="0"/>
                        <a:ea typeface="Meiryo" charset="0"/>
                        <a:cs typeface="Meiryo" charset="0"/>
                      </a:endParaRPr>
                    </a:p>
                  </a:txBody>
                  <a:tcPr marL="76200" marR="76200" marT="76200" marB="76200" anchor="ctr">
                    <a:lnL w="12700" cap="flat" cmpd="sng" algn="ctr">
                      <a:solidFill>
                        <a:srgbClr val="E8E6DC"/>
                      </a:solidFill>
                      <a:prstDash val="solid"/>
                      <a:round/>
                      <a:headEnd type="none" w="med" len="med"/>
                      <a:tailEnd type="none" w="med" len="med"/>
                    </a:lnL>
                    <a:lnR w="12700" cap="flat" cmpd="sng" algn="ctr">
                      <a:solidFill>
                        <a:srgbClr val="E8E6DC"/>
                      </a:solidFill>
                      <a:prstDash val="solid"/>
                      <a:round/>
                      <a:headEnd type="none" w="med" len="med"/>
                      <a:tailEnd type="none" w="med" len="med"/>
                    </a:lnR>
                    <a:lnT w="12700" cap="flat" cmpd="sng" algn="ctr">
                      <a:solidFill>
                        <a:srgbClr val="E8E6DC"/>
                      </a:solidFill>
                      <a:prstDash val="solid"/>
                      <a:round/>
                      <a:headEnd type="none" w="med" len="med"/>
                      <a:tailEnd type="none" w="med" len="med"/>
                    </a:lnT>
                    <a:lnB w="12700" cap="flat" cmpd="sng" algn="ctr">
                      <a:solidFill>
                        <a:srgbClr val="E8E6DC"/>
                      </a:solidFill>
                      <a:prstDash val="solid"/>
                      <a:round/>
                      <a:headEnd type="none" w="med" len="med"/>
                      <a:tailEnd type="none" w="med" len="med"/>
                    </a:lnB>
                  </a:tcPr>
                </a:tc>
              </a:tr>
              <a:tr h="512064">
                <a:tc>
                  <a:txBody>
                    <a:bodyPr/>
                    <a:lstStyle/>
                    <a:p>
                      <a:pPr algn="l" indent="0" marL="0">
                        <a:buNone/>
                      </a:pPr>
                      <a:r>
                        <a:rPr lang="en-US" sz="1150" dirty="0">
                          <a:solidFill>
                            <a:srgbClr val="4A4943"/>
                          </a:solidFill>
                          <a:latin typeface="Meiryo" pitchFamily="34" charset="0"/>
                          <a:ea typeface="Meiryo" pitchFamily="34" charset="-122"/>
                          <a:cs typeface="Meiryo" pitchFamily="34" charset="-120"/>
                        </a:rPr>
                        <a:t>見られてはいるが応募が来ない</a:t>
                      </a:r>
                      <a:endParaRPr lang="en-US" sz="1150" dirty="0">
                        <a:latin typeface="Meiryo" charset="0"/>
                        <a:ea typeface="Meiryo" charset="0"/>
                        <a:cs typeface="Meiryo" charset="0"/>
                      </a:endParaRPr>
                    </a:p>
                  </a:txBody>
                  <a:tcPr marL="76200" marR="76200" marT="76200" marB="76200" anchor="ctr">
                    <a:lnL w="12700" cap="flat" cmpd="sng" algn="ctr">
                      <a:solidFill>
                        <a:srgbClr val="E8E6DC"/>
                      </a:solidFill>
                      <a:prstDash val="solid"/>
                      <a:round/>
                      <a:headEnd type="none" w="med" len="med"/>
                      <a:tailEnd type="none" w="med" len="med"/>
                    </a:lnL>
                    <a:lnR w="12700" cap="flat" cmpd="sng" algn="ctr">
                      <a:solidFill>
                        <a:srgbClr val="E8E6DC"/>
                      </a:solidFill>
                      <a:prstDash val="solid"/>
                      <a:round/>
                      <a:headEnd type="none" w="med" len="med"/>
                      <a:tailEnd type="none" w="med" len="med"/>
                    </a:lnR>
                    <a:lnT w="12700" cap="flat" cmpd="sng" algn="ctr">
                      <a:solidFill>
                        <a:srgbClr val="E8E6DC"/>
                      </a:solidFill>
                      <a:prstDash val="solid"/>
                      <a:round/>
                      <a:headEnd type="none" w="med" len="med"/>
                      <a:tailEnd type="none" w="med" len="med"/>
                    </a:lnT>
                    <a:lnB w="12700" cap="flat" cmpd="sng" algn="ctr">
                      <a:solidFill>
                        <a:srgbClr val="E8E6DC"/>
                      </a:solidFill>
                      <a:prstDash val="solid"/>
                      <a:round/>
                      <a:headEnd type="none" w="med" len="med"/>
                      <a:tailEnd type="none" w="med" len="med"/>
                    </a:lnB>
                  </a:tcPr>
                </a:tc>
                <a:tc>
                  <a:txBody>
                    <a:bodyPr/>
                    <a:lstStyle/>
                    <a:p>
                      <a:pPr algn="l" indent="0" marL="0">
                        <a:buNone/>
                      </a:pPr>
                      <a:r>
                        <a:rPr lang="en-US" sz="1150" dirty="0">
                          <a:solidFill>
                            <a:srgbClr val="4A4943"/>
                          </a:solidFill>
                          <a:latin typeface="Meiryo" pitchFamily="34" charset="0"/>
                          <a:ea typeface="Meiryo" pitchFamily="34" charset="-122"/>
                          <a:cs typeface="Meiryo" pitchFamily="34" charset="-120"/>
                        </a:rPr>
                        <a:t>② 比較</a:t>
                      </a:r>
                      <a:endParaRPr lang="en-US" sz="1150" dirty="0">
                        <a:latin typeface="Meiryo" charset="0"/>
                        <a:ea typeface="Meiryo" charset="0"/>
                        <a:cs typeface="Meiryo" charset="0"/>
                      </a:endParaRPr>
                    </a:p>
                  </a:txBody>
                  <a:tcPr marL="76200" marR="76200" marT="76200" marB="76200" anchor="ctr">
                    <a:lnL w="12700" cap="flat" cmpd="sng" algn="ctr">
                      <a:solidFill>
                        <a:srgbClr val="E8E6DC"/>
                      </a:solidFill>
                      <a:prstDash val="solid"/>
                      <a:round/>
                      <a:headEnd type="none" w="med" len="med"/>
                      <a:tailEnd type="none" w="med" len="med"/>
                    </a:lnL>
                    <a:lnR w="12700" cap="flat" cmpd="sng" algn="ctr">
                      <a:solidFill>
                        <a:srgbClr val="E8E6DC"/>
                      </a:solidFill>
                      <a:prstDash val="solid"/>
                      <a:round/>
                      <a:headEnd type="none" w="med" len="med"/>
                      <a:tailEnd type="none" w="med" len="med"/>
                    </a:lnR>
                    <a:lnT w="12700" cap="flat" cmpd="sng" algn="ctr">
                      <a:solidFill>
                        <a:srgbClr val="E8E6DC"/>
                      </a:solidFill>
                      <a:prstDash val="solid"/>
                      <a:round/>
                      <a:headEnd type="none" w="med" len="med"/>
                      <a:tailEnd type="none" w="med" len="med"/>
                    </a:lnT>
                    <a:lnB w="12700" cap="flat" cmpd="sng" algn="ctr">
                      <a:solidFill>
                        <a:srgbClr val="E8E6DC"/>
                      </a:solidFill>
                      <a:prstDash val="solid"/>
                      <a:round/>
                      <a:headEnd type="none" w="med" len="med"/>
                      <a:tailEnd type="none" w="med" len="med"/>
                    </a:lnB>
                  </a:tcPr>
                </a:tc>
                <a:tc>
                  <a:txBody>
                    <a:bodyPr/>
                    <a:lstStyle/>
                    <a:p>
                      <a:pPr algn="l" indent="0" marL="0">
                        <a:buNone/>
                      </a:pPr>
                      <a:r>
                        <a:rPr lang="en-US" sz="1150" dirty="0">
                          <a:solidFill>
                            <a:srgbClr val="4A4943"/>
                          </a:solidFill>
                          <a:latin typeface="Meiryo" pitchFamily="34" charset="0"/>
                          <a:ea typeface="Meiryo" pitchFamily="34" charset="-122"/>
                          <a:cs typeface="Meiryo" pitchFamily="34" charset="-120"/>
                        </a:rPr>
                        <a:t>キャッチコピーと「選ばれる理由」の中身</a:t>
                      </a:r>
                      <a:endParaRPr lang="en-US" sz="1150" dirty="0">
                        <a:latin typeface="Meiryo" charset="0"/>
                        <a:ea typeface="Meiryo" charset="0"/>
                        <a:cs typeface="Meiryo" charset="0"/>
                      </a:endParaRPr>
                    </a:p>
                  </a:txBody>
                  <a:tcPr marL="76200" marR="76200" marT="76200" marB="76200" anchor="ctr">
                    <a:lnL w="12700" cap="flat" cmpd="sng" algn="ctr">
                      <a:solidFill>
                        <a:srgbClr val="E8E6DC"/>
                      </a:solidFill>
                      <a:prstDash val="solid"/>
                      <a:round/>
                      <a:headEnd type="none" w="med" len="med"/>
                      <a:tailEnd type="none" w="med" len="med"/>
                    </a:lnL>
                    <a:lnR w="12700" cap="flat" cmpd="sng" algn="ctr">
                      <a:solidFill>
                        <a:srgbClr val="E8E6DC"/>
                      </a:solidFill>
                      <a:prstDash val="solid"/>
                      <a:round/>
                      <a:headEnd type="none" w="med" len="med"/>
                      <a:tailEnd type="none" w="med" len="med"/>
                    </a:lnR>
                    <a:lnT w="12700" cap="flat" cmpd="sng" algn="ctr">
                      <a:solidFill>
                        <a:srgbClr val="E8E6DC"/>
                      </a:solidFill>
                      <a:prstDash val="solid"/>
                      <a:round/>
                      <a:headEnd type="none" w="med" len="med"/>
                      <a:tailEnd type="none" w="med" len="med"/>
                    </a:lnT>
                    <a:lnB w="12700" cap="flat" cmpd="sng" algn="ctr">
                      <a:solidFill>
                        <a:srgbClr val="E8E6DC"/>
                      </a:solidFill>
                      <a:prstDash val="solid"/>
                      <a:round/>
                      <a:headEnd type="none" w="med" len="med"/>
                      <a:tailEnd type="none" w="med" len="med"/>
                    </a:lnB>
                  </a:tcPr>
                </a:tc>
              </a:tr>
              <a:tr h="512064">
                <a:tc>
                  <a:txBody>
                    <a:bodyPr/>
                    <a:lstStyle/>
                    <a:p>
                      <a:pPr algn="l" indent="0" marL="0">
                        <a:buNone/>
                      </a:pPr>
                      <a:r>
                        <a:rPr lang="en-US" sz="1150" dirty="0">
                          <a:solidFill>
                            <a:srgbClr val="4A4943"/>
                          </a:solidFill>
                          <a:latin typeface="Meiryo" pitchFamily="34" charset="0"/>
                          <a:ea typeface="Meiryo" pitchFamily="34" charset="-122"/>
                          <a:cs typeface="Meiryo" pitchFamily="34" charset="-120"/>
                        </a:rPr>
                        <a:t>応募フォームの途中で離脱する</a:t>
                      </a:r>
                      <a:endParaRPr lang="en-US" sz="1150" dirty="0">
                        <a:latin typeface="Meiryo" charset="0"/>
                        <a:ea typeface="Meiryo" charset="0"/>
                        <a:cs typeface="Meiryo" charset="0"/>
                      </a:endParaRPr>
                    </a:p>
                  </a:txBody>
                  <a:tcPr marL="76200" marR="76200" marT="76200" marB="76200" anchor="ctr">
                    <a:lnL w="12700" cap="flat" cmpd="sng" algn="ctr">
                      <a:solidFill>
                        <a:srgbClr val="E8E6DC"/>
                      </a:solidFill>
                      <a:prstDash val="solid"/>
                      <a:round/>
                      <a:headEnd type="none" w="med" len="med"/>
                      <a:tailEnd type="none" w="med" len="med"/>
                    </a:lnL>
                    <a:lnR w="12700" cap="flat" cmpd="sng" algn="ctr">
                      <a:solidFill>
                        <a:srgbClr val="E8E6DC"/>
                      </a:solidFill>
                      <a:prstDash val="solid"/>
                      <a:round/>
                      <a:headEnd type="none" w="med" len="med"/>
                      <a:tailEnd type="none" w="med" len="med"/>
                    </a:lnR>
                    <a:lnT w="12700" cap="flat" cmpd="sng" algn="ctr">
                      <a:solidFill>
                        <a:srgbClr val="E8E6DC"/>
                      </a:solidFill>
                      <a:prstDash val="solid"/>
                      <a:round/>
                      <a:headEnd type="none" w="med" len="med"/>
                      <a:tailEnd type="none" w="med" len="med"/>
                    </a:lnT>
                    <a:lnB w="12700" cap="flat" cmpd="sng" algn="ctr">
                      <a:solidFill>
                        <a:srgbClr val="E8E6DC"/>
                      </a:solidFill>
                      <a:prstDash val="solid"/>
                      <a:round/>
                      <a:headEnd type="none" w="med" len="med"/>
                      <a:tailEnd type="none" w="med" len="med"/>
                    </a:lnB>
                  </a:tcPr>
                </a:tc>
                <a:tc>
                  <a:txBody>
                    <a:bodyPr/>
                    <a:lstStyle/>
                    <a:p>
                      <a:pPr algn="l" indent="0" marL="0">
                        <a:buNone/>
                      </a:pPr>
                      <a:r>
                        <a:rPr lang="en-US" sz="1150" dirty="0">
                          <a:solidFill>
                            <a:srgbClr val="4A4943"/>
                          </a:solidFill>
                          <a:latin typeface="Meiryo" pitchFamily="34" charset="0"/>
                          <a:ea typeface="Meiryo" pitchFamily="34" charset="-122"/>
                          <a:cs typeface="Meiryo" pitchFamily="34" charset="-120"/>
                        </a:rPr>
                        <a:t>③ 行動</a:t>
                      </a:r>
                      <a:endParaRPr lang="en-US" sz="1150" dirty="0">
                        <a:latin typeface="Meiryo" charset="0"/>
                        <a:ea typeface="Meiryo" charset="0"/>
                        <a:cs typeface="Meiryo" charset="0"/>
                      </a:endParaRPr>
                    </a:p>
                  </a:txBody>
                  <a:tcPr marL="76200" marR="76200" marT="76200" marB="76200" anchor="ctr">
                    <a:lnL w="12700" cap="flat" cmpd="sng" algn="ctr">
                      <a:solidFill>
                        <a:srgbClr val="E8E6DC"/>
                      </a:solidFill>
                      <a:prstDash val="solid"/>
                      <a:round/>
                      <a:headEnd type="none" w="med" len="med"/>
                      <a:tailEnd type="none" w="med" len="med"/>
                    </a:lnL>
                    <a:lnR w="12700" cap="flat" cmpd="sng" algn="ctr">
                      <a:solidFill>
                        <a:srgbClr val="E8E6DC"/>
                      </a:solidFill>
                      <a:prstDash val="solid"/>
                      <a:round/>
                      <a:headEnd type="none" w="med" len="med"/>
                      <a:tailEnd type="none" w="med" len="med"/>
                    </a:lnR>
                    <a:lnT w="12700" cap="flat" cmpd="sng" algn="ctr">
                      <a:solidFill>
                        <a:srgbClr val="E8E6DC"/>
                      </a:solidFill>
                      <a:prstDash val="solid"/>
                      <a:round/>
                      <a:headEnd type="none" w="med" len="med"/>
                      <a:tailEnd type="none" w="med" len="med"/>
                    </a:lnT>
                    <a:lnB w="12700" cap="flat" cmpd="sng" algn="ctr">
                      <a:solidFill>
                        <a:srgbClr val="E8E6DC"/>
                      </a:solidFill>
                      <a:prstDash val="solid"/>
                      <a:round/>
                      <a:headEnd type="none" w="med" len="med"/>
                      <a:tailEnd type="none" w="med" len="med"/>
                    </a:lnB>
                  </a:tcPr>
                </a:tc>
                <a:tc>
                  <a:txBody>
                    <a:bodyPr/>
                    <a:lstStyle/>
                    <a:p>
                      <a:pPr algn="l" indent="0" marL="0">
                        <a:buNone/>
                      </a:pPr>
                      <a:r>
                        <a:rPr lang="en-US" sz="1150" dirty="0">
                          <a:solidFill>
                            <a:srgbClr val="4A4943"/>
                          </a:solidFill>
                          <a:latin typeface="Meiryo" pitchFamily="34" charset="0"/>
                          <a:ea typeface="Meiryo" pitchFamily="34" charset="-122"/>
                          <a:cs typeface="Meiryo" pitchFamily="34" charset="-120"/>
                        </a:rPr>
                        <a:t>入力項目の数、応募後の流れの説明不足</a:t>
                      </a:r>
                      <a:endParaRPr lang="en-US" sz="1150" dirty="0">
                        <a:latin typeface="Meiryo" charset="0"/>
                        <a:ea typeface="Meiryo" charset="0"/>
                        <a:cs typeface="Meiryo" charset="0"/>
                      </a:endParaRPr>
                    </a:p>
                  </a:txBody>
                  <a:tcPr marL="76200" marR="76200" marT="76200" marB="76200" anchor="ctr">
                    <a:lnL w="12700" cap="flat" cmpd="sng" algn="ctr">
                      <a:solidFill>
                        <a:srgbClr val="E8E6DC"/>
                      </a:solidFill>
                      <a:prstDash val="solid"/>
                      <a:round/>
                      <a:headEnd type="none" w="med" len="med"/>
                      <a:tailEnd type="none" w="med" len="med"/>
                    </a:lnL>
                    <a:lnR w="12700" cap="flat" cmpd="sng" algn="ctr">
                      <a:solidFill>
                        <a:srgbClr val="E8E6DC"/>
                      </a:solidFill>
                      <a:prstDash val="solid"/>
                      <a:round/>
                      <a:headEnd type="none" w="med" len="med"/>
                      <a:tailEnd type="none" w="med" len="med"/>
                    </a:lnR>
                    <a:lnT w="12700" cap="flat" cmpd="sng" algn="ctr">
                      <a:solidFill>
                        <a:srgbClr val="E8E6DC"/>
                      </a:solidFill>
                      <a:prstDash val="solid"/>
                      <a:round/>
                      <a:headEnd type="none" w="med" len="med"/>
                      <a:tailEnd type="none" w="med" len="med"/>
                    </a:lnT>
                    <a:lnB w="12700" cap="flat" cmpd="sng" algn="ctr">
                      <a:solidFill>
                        <a:srgbClr val="E8E6DC"/>
                      </a:solidFill>
                      <a:prstDash val="solid"/>
                      <a:round/>
                      <a:headEnd type="none" w="med" len="med"/>
                      <a:tailEnd type="none" w="med" len="med"/>
                    </a:lnB>
                  </a:tcPr>
                </a:tc>
              </a:tr>
              <a:tr h="512064">
                <a:tc>
                  <a:txBody>
                    <a:bodyPr/>
                    <a:lstStyle/>
                    <a:p>
                      <a:pPr algn="l" indent="0" marL="0">
                        <a:buNone/>
                      </a:pPr>
                      <a:r>
                        <a:rPr lang="en-US" sz="1150" dirty="0">
                          <a:solidFill>
                            <a:srgbClr val="4A4943"/>
                          </a:solidFill>
                          <a:latin typeface="Meiryo" pitchFamily="34" charset="0"/>
                          <a:ea typeface="Meiryo" pitchFamily="34" charset="-122"/>
                          <a:cs typeface="Meiryo" pitchFamily="34" charset="-120"/>
                        </a:rPr>
                        <a:t>面接には来るが辞退される</a:t>
                      </a:r>
                      <a:endParaRPr lang="en-US" sz="1150" dirty="0">
                        <a:latin typeface="Meiryo" charset="0"/>
                        <a:ea typeface="Meiryo" charset="0"/>
                        <a:cs typeface="Meiryo" charset="0"/>
                      </a:endParaRPr>
                    </a:p>
                  </a:txBody>
                  <a:tcPr marL="76200" marR="76200" marT="76200" marB="76200" anchor="ctr">
                    <a:lnL w="12700" cap="flat" cmpd="sng" algn="ctr">
                      <a:solidFill>
                        <a:srgbClr val="E8E6DC"/>
                      </a:solidFill>
                      <a:prstDash val="solid"/>
                      <a:round/>
                      <a:headEnd type="none" w="med" len="med"/>
                      <a:tailEnd type="none" w="med" len="med"/>
                    </a:lnL>
                    <a:lnR w="12700" cap="flat" cmpd="sng" algn="ctr">
                      <a:solidFill>
                        <a:srgbClr val="E8E6DC"/>
                      </a:solidFill>
                      <a:prstDash val="solid"/>
                      <a:round/>
                      <a:headEnd type="none" w="med" len="med"/>
                      <a:tailEnd type="none" w="med" len="med"/>
                    </a:lnR>
                    <a:lnT w="12700" cap="flat" cmpd="sng" algn="ctr">
                      <a:solidFill>
                        <a:srgbClr val="E8E6DC"/>
                      </a:solidFill>
                      <a:prstDash val="solid"/>
                      <a:round/>
                      <a:headEnd type="none" w="med" len="med"/>
                      <a:tailEnd type="none" w="med" len="med"/>
                    </a:lnT>
                    <a:lnB w="12700" cap="flat" cmpd="sng" algn="ctr">
                      <a:solidFill>
                        <a:srgbClr val="E8E6DC"/>
                      </a:solidFill>
                      <a:prstDash val="solid"/>
                      <a:round/>
                      <a:headEnd type="none" w="med" len="med"/>
                      <a:tailEnd type="none" w="med" len="med"/>
                    </a:lnB>
                  </a:tcPr>
                </a:tc>
                <a:tc>
                  <a:txBody>
                    <a:bodyPr/>
                    <a:lstStyle/>
                    <a:p>
                      <a:pPr algn="l" indent="0" marL="0">
                        <a:buNone/>
                      </a:pPr>
                      <a:r>
                        <a:rPr lang="en-US" sz="1150" dirty="0">
                          <a:solidFill>
                            <a:srgbClr val="4A4943"/>
                          </a:solidFill>
                          <a:latin typeface="Meiryo" pitchFamily="34" charset="0"/>
                          <a:ea typeface="Meiryo" pitchFamily="34" charset="-122"/>
                          <a:cs typeface="Meiryo" pitchFamily="34" charset="-120"/>
                        </a:rPr>
                        <a:t>④ 確信</a:t>
                      </a:r>
                      <a:endParaRPr lang="en-US" sz="1150" dirty="0">
                        <a:latin typeface="Meiryo" charset="0"/>
                        <a:ea typeface="Meiryo" charset="0"/>
                        <a:cs typeface="Meiryo" charset="0"/>
                      </a:endParaRPr>
                    </a:p>
                  </a:txBody>
                  <a:tcPr marL="76200" marR="76200" marT="76200" marB="76200" anchor="ctr">
                    <a:lnL w="12700" cap="flat" cmpd="sng" algn="ctr">
                      <a:solidFill>
                        <a:srgbClr val="E8E6DC"/>
                      </a:solidFill>
                      <a:prstDash val="solid"/>
                      <a:round/>
                      <a:headEnd type="none" w="med" len="med"/>
                      <a:tailEnd type="none" w="med" len="med"/>
                    </a:lnL>
                    <a:lnR w="12700" cap="flat" cmpd="sng" algn="ctr">
                      <a:solidFill>
                        <a:srgbClr val="E8E6DC"/>
                      </a:solidFill>
                      <a:prstDash val="solid"/>
                      <a:round/>
                      <a:headEnd type="none" w="med" len="med"/>
                      <a:tailEnd type="none" w="med" len="med"/>
                    </a:lnR>
                    <a:lnT w="12700" cap="flat" cmpd="sng" algn="ctr">
                      <a:solidFill>
                        <a:srgbClr val="E8E6DC"/>
                      </a:solidFill>
                      <a:prstDash val="solid"/>
                      <a:round/>
                      <a:headEnd type="none" w="med" len="med"/>
                      <a:tailEnd type="none" w="med" len="med"/>
                    </a:lnT>
                    <a:lnB w="12700" cap="flat" cmpd="sng" algn="ctr">
                      <a:solidFill>
                        <a:srgbClr val="E8E6DC"/>
                      </a:solidFill>
                      <a:prstDash val="solid"/>
                      <a:round/>
                      <a:headEnd type="none" w="med" len="med"/>
                      <a:tailEnd type="none" w="med" len="med"/>
                    </a:lnB>
                  </a:tcPr>
                </a:tc>
                <a:tc>
                  <a:txBody>
                    <a:bodyPr/>
                    <a:lstStyle/>
                    <a:p>
                      <a:pPr algn="l" indent="0" marL="0">
                        <a:buNone/>
                      </a:pPr>
                      <a:r>
                        <a:rPr lang="en-US" sz="1150" dirty="0">
                          <a:solidFill>
                            <a:srgbClr val="4A4943"/>
                          </a:solidFill>
                          <a:latin typeface="Meiryo" pitchFamily="34" charset="0"/>
                          <a:ea typeface="Meiryo" pitchFamily="34" charset="-122"/>
                          <a:cs typeface="Meiryo" pitchFamily="34" charset="-120"/>
                        </a:rPr>
                        <a:t>職場体験の有無、待遇の伝え方、返信の速さ</a:t>
                      </a:r>
                      <a:endParaRPr lang="en-US" sz="1150" dirty="0">
                        <a:latin typeface="Meiryo" charset="0"/>
                        <a:ea typeface="Meiryo" charset="0"/>
                        <a:cs typeface="Meiryo" charset="0"/>
                      </a:endParaRPr>
                    </a:p>
                  </a:txBody>
                  <a:tcPr marL="76200" marR="76200" marT="76200" marB="76200" anchor="ctr">
                    <a:lnL w="12700" cap="flat" cmpd="sng" algn="ctr">
                      <a:solidFill>
                        <a:srgbClr val="E8E6DC"/>
                      </a:solidFill>
                      <a:prstDash val="solid"/>
                      <a:round/>
                      <a:headEnd type="none" w="med" len="med"/>
                      <a:tailEnd type="none" w="med" len="med"/>
                    </a:lnL>
                    <a:lnR w="12700" cap="flat" cmpd="sng" algn="ctr">
                      <a:solidFill>
                        <a:srgbClr val="E8E6DC"/>
                      </a:solidFill>
                      <a:prstDash val="solid"/>
                      <a:round/>
                      <a:headEnd type="none" w="med" len="med"/>
                      <a:tailEnd type="none" w="med" len="med"/>
                    </a:lnR>
                    <a:lnT w="12700" cap="flat" cmpd="sng" algn="ctr">
                      <a:solidFill>
                        <a:srgbClr val="E8E6DC"/>
                      </a:solidFill>
                      <a:prstDash val="solid"/>
                      <a:round/>
                      <a:headEnd type="none" w="med" len="med"/>
                      <a:tailEnd type="none" w="med" len="med"/>
                    </a:lnT>
                    <a:lnB w="12700" cap="flat" cmpd="sng" algn="ctr">
                      <a:solidFill>
                        <a:srgbClr val="E8E6DC"/>
                      </a:solidFill>
                      <a:prstDash val="solid"/>
                      <a:round/>
                      <a:headEnd type="none" w="med" len="med"/>
                      <a:tailEnd type="none" w="med" len="med"/>
                    </a:lnB>
                  </a:tcPr>
                </a:tc>
              </a:tr>
            </a:tbl>
          </a:graphicData>
        </a:graphic>
      </p:graphicFrame>
      <p:sp>
        <p:nvSpPr>
          <p:cNvPr id="23" name="Text 20"/>
          <p:cNvSpPr/>
          <p:nvPr/>
        </p:nvSpPr>
        <p:spPr>
          <a:xfrm>
            <a:off x="640080" y="5989320"/>
            <a:ext cx="10881360" cy="320040"/>
          </a:xfrm>
          <a:prstGeom prst="rect">
            <a:avLst/>
          </a:prstGeom>
          <a:noFill/>
          <a:ln/>
        </p:spPr>
        <p:txBody>
          <a:bodyPr wrap="square" lIns="0" tIns="0" rIns="0" bIns="0" rtlCol="0" anchor="ctr"/>
          <a:lstStyle/>
          <a:p>
            <a:pPr indent="0" marL="0">
              <a:buNone/>
            </a:pPr>
            <a:r>
              <a:rPr lang="en-US" sz="1000" dirty="0">
                <a:solidFill>
                  <a:srgbClr val="D97757"/>
                </a:solidFill>
                <a:latin typeface="Meiryo" pitchFamily="34" charset="0"/>
                <a:ea typeface="Meiryo" pitchFamily="34" charset="-122"/>
                <a:cs typeface="Meiryo" pitchFamily="34" charset="-120"/>
              </a:rPr>
              <a:t>※ 同時に 2 か所以上を変えると、何が効いたのか分からなくなります。1 週間に 1 か所が原則です。</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347472"/>
            <a:ext cx="1783080" cy="329184"/>
          </a:xfrm>
          <a:prstGeom prst="roundRect">
            <a:avLst>
              <a:gd name="adj" fmla="val 13889"/>
            </a:avLst>
          </a:prstGeom>
          <a:solidFill>
            <a:srgbClr val="D97757"/>
          </a:solidFill>
          <a:ln/>
        </p:spPr>
      </p:sp>
      <p:sp>
        <p:nvSpPr>
          <p:cNvPr id="3" name="Text 1"/>
          <p:cNvSpPr/>
          <p:nvPr/>
        </p:nvSpPr>
        <p:spPr>
          <a:xfrm>
            <a:off x="640080" y="347472"/>
            <a:ext cx="1783080" cy="329184"/>
          </a:xfrm>
          <a:prstGeom prst="rect">
            <a:avLst/>
          </a:prstGeom>
          <a:noFill/>
          <a:ln/>
        </p:spPr>
        <p:txBody>
          <a:bodyPr wrap="square" lIns="0" tIns="0" rIns="0" bIns="0" rtlCol="0" anchor="ctr"/>
          <a:lstStyle/>
          <a:p>
            <a:pPr algn="ctr" indent="0" marL="0">
              <a:buNone/>
            </a:pPr>
            <a:r>
              <a:rPr lang="en-US" sz="1150" b="1" spc="100" kern="0" dirty="0">
                <a:solidFill>
                  <a:srgbClr val="FFFFFF"/>
                </a:solidFill>
                <a:latin typeface="Meiryo" pitchFamily="34" charset="0"/>
                <a:ea typeface="Meiryo" pitchFamily="34" charset="-122"/>
                <a:cs typeface="Meiryo" pitchFamily="34" charset="-120"/>
              </a:rPr>
              <a:t>MODULE 2</a:t>
            </a:r>
            <a:endParaRPr lang="en-US" sz="1150" dirty="0"/>
          </a:p>
        </p:txBody>
      </p:sp>
      <p:sp>
        <p:nvSpPr>
          <p:cNvPr id="4" name="Text 2"/>
          <p:cNvSpPr/>
          <p:nvPr/>
        </p:nvSpPr>
        <p:spPr>
          <a:xfrm>
            <a:off x="640080" y="768096"/>
            <a:ext cx="10881360" cy="566928"/>
          </a:xfrm>
          <a:prstGeom prst="rect">
            <a:avLst/>
          </a:prstGeom>
          <a:noFill/>
          <a:ln/>
        </p:spPr>
        <p:txBody>
          <a:bodyPr wrap="square" lIns="0" tIns="0" rIns="0" bIns="0" rtlCol="0" anchor="ctr"/>
          <a:lstStyle/>
          <a:p>
            <a:pPr indent="0" marL="0">
              <a:buNone/>
            </a:pPr>
            <a:r>
              <a:rPr lang="en-US" sz="2700" b="1" dirty="0">
                <a:solidFill>
                  <a:srgbClr val="141413"/>
                </a:solidFill>
                <a:latin typeface="Meiryo" pitchFamily="34" charset="0"/>
                <a:ea typeface="Meiryo" pitchFamily="34" charset="-122"/>
                <a:cs typeface="Meiryo" pitchFamily="34" charset="-120"/>
              </a:rPr>
              <a:t>0円採用の土台 ｜ Engage を軸に露出を回す</a:t>
            </a:r>
            <a:endParaRPr lang="en-US" sz="2700" dirty="0"/>
          </a:p>
        </p:txBody>
      </p:sp>
      <p:sp>
        <p:nvSpPr>
          <p:cNvPr id="5" name="Text 3"/>
          <p:cNvSpPr/>
          <p:nvPr/>
        </p:nvSpPr>
        <p:spPr>
          <a:xfrm>
            <a:off x="640080" y="1316736"/>
            <a:ext cx="10881360" cy="329184"/>
          </a:xfrm>
          <a:prstGeom prst="rect">
            <a:avLst/>
          </a:prstGeom>
          <a:noFill/>
          <a:ln/>
        </p:spPr>
        <p:txBody>
          <a:bodyPr wrap="square" lIns="0" tIns="0" rIns="0" bIns="0" rtlCol="0" anchor="ctr"/>
          <a:lstStyle/>
          <a:p>
            <a:pPr indent="0" marL="0">
              <a:buNone/>
            </a:pPr>
            <a:r>
              <a:rPr lang="en-US" sz="1300" dirty="0">
                <a:solidFill>
                  <a:srgbClr val="6E6C63"/>
                </a:solidFill>
                <a:latin typeface="Meiryo" pitchFamily="34" charset="0"/>
                <a:ea typeface="Meiryo" pitchFamily="34" charset="-122"/>
                <a:cs typeface="Meiryo" pitchFamily="34" charset="-120"/>
              </a:rPr>
              <a:t>自社で 1 つ求人をつくれば、主要な求人検索エンジンに無料で流れていきます</a:t>
            </a:r>
            <a:endParaRPr lang="en-US" sz="1300" dirty="0"/>
          </a:p>
        </p:txBody>
      </p:sp>
      <p:sp>
        <p:nvSpPr>
          <p:cNvPr id="6" name="Shape 4"/>
          <p:cNvSpPr/>
          <p:nvPr/>
        </p:nvSpPr>
        <p:spPr>
          <a:xfrm>
            <a:off x="640080" y="1920240"/>
            <a:ext cx="3017520" cy="2011680"/>
          </a:xfrm>
          <a:prstGeom prst="roundRect">
            <a:avLst>
              <a:gd name="adj" fmla="val 2727"/>
            </a:avLst>
          </a:prstGeom>
          <a:solidFill>
            <a:srgbClr val="141413"/>
          </a:solidFill>
          <a:ln/>
        </p:spPr>
      </p:sp>
      <p:sp>
        <p:nvSpPr>
          <p:cNvPr id="7" name="Text 5"/>
          <p:cNvSpPr/>
          <p:nvPr/>
        </p:nvSpPr>
        <p:spPr>
          <a:xfrm>
            <a:off x="868680" y="2148840"/>
            <a:ext cx="2560320" cy="365760"/>
          </a:xfrm>
          <a:prstGeom prst="rect">
            <a:avLst/>
          </a:prstGeom>
          <a:noFill/>
          <a:ln/>
        </p:spPr>
        <p:txBody>
          <a:bodyPr wrap="square" lIns="0" tIns="0" rIns="0" bIns="0" rtlCol="0" anchor="ctr"/>
          <a:lstStyle/>
          <a:p>
            <a:pPr algn="ctr" indent="0" marL="0">
              <a:buNone/>
            </a:pPr>
            <a:r>
              <a:rPr lang="en-US" sz="1700" b="1" dirty="0">
                <a:solidFill>
                  <a:srgbClr val="FFFFFF"/>
                </a:solidFill>
                <a:latin typeface="Meiryo" pitchFamily="34" charset="0"/>
                <a:ea typeface="Meiryo" pitchFamily="34" charset="-122"/>
                <a:cs typeface="Meiryo" pitchFamily="34" charset="-120"/>
              </a:rPr>
              <a:t>自社採用ページ</a:t>
            </a:r>
            <a:endParaRPr lang="en-US" sz="1700" dirty="0"/>
          </a:p>
        </p:txBody>
      </p:sp>
      <p:sp>
        <p:nvSpPr>
          <p:cNvPr id="8" name="Text 6"/>
          <p:cNvSpPr/>
          <p:nvPr/>
        </p:nvSpPr>
        <p:spPr>
          <a:xfrm>
            <a:off x="868680" y="2514600"/>
            <a:ext cx="2560320" cy="320040"/>
          </a:xfrm>
          <a:prstGeom prst="rect">
            <a:avLst/>
          </a:prstGeom>
          <a:noFill/>
          <a:ln/>
        </p:spPr>
        <p:txBody>
          <a:bodyPr wrap="square" lIns="0" tIns="0" rIns="0" bIns="0" rtlCol="0" anchor="ctr"/>
          <a:lstStyle/>
          <a:p>
            <a:pPr algn="ctr" indent="0" marL="0">
              <a:buNone/>
            </a:pPr>
            <a:r>
              <a:rPr lang="en-US" sz="1300" b="1" dirty="0">
                <a:solidFill>
                  <a:srgbClr val="D97757"/>
                </a:solidFill>
                <a:latin typeface="Meiryo" pitchFamily="34" charset="0"/>
                <a:ea typeface="Meiryo" pitchFamily="34" charset="-122"/>
                <a:cs typeface="Meiryo" pitchFamily="34" charset="-120"/>
              </a:rPr>
              <a:t>Engage（エンゲージ）</a:t>
            </a:r>
            <a:endParaRPr lang="en-US" sz="1300" dirty="0"/>
          </a:p>
        </p:txBody>
      </p:sp>
      <p:sp>
        <p:nvSpPr>
          <p:cNvPr id="9" name="Text 7"/>
          <p:cNvSpPr/>
          <p:nvPr/>
        </p:nvSpPr>
        <p:spPr>
          <a:xfrm>
            <a:off x="868680" y="2926080"/>
            <a:ext cx="2560320" cy="731520"/>
          </a:xfrm>
          <a:prstGeom prst="rect">
            <a:avLst/>
          </a:prstGeom>
          <a:noFill/>
          <a:ln/>
        </p:spPr>
        <p:txBody>
          <a:bodyPr wrap="square" lIns="0" tIns="0" rIns="0" bIns="0" rtlCol="0" anchor="t"/>
          <a:lstStyle/>
          <a:p>
            <a:pPr algn="ctr" indent="0" marL="0">
              <a:lnSpc>
                <a:spcPts val="1900"/>
              </a:lnSpc>
              <a:buNone/>
            </a:pPr>
            <a:r>
              <a:rPr lang="en-US" sz="1150" dirty="0">
                <a:solidFill>
                  <a:srgbClr val="D6D3C8"/>
                </a:solidFill>
                <a:latin typeface="Meiryo" pitchFamily="34" charset="0"/>
                <a:ea typeface="Meiryo" pitchFamily="34" charset="-122"/>
                <a:cs typeface="Meiryo" pitchFamily="34" charset="-120"/>
              </a:rPr>
              <a:t>求人票の作成・最適化</a:t>
            </a:r>
            <a:endParaRPr lang="en-US" sz="1150" dirty="0"/>
          </a:p>
          <a:p>
            <a:pPr algn="ctr" indent="0" marL="0">
              <a:lnSpc>
                <a:spcPts val="1900"/>
              </a:lnSpc>
              <a:buNone/>
            </a:pPr>
            <a:r>
              <a:rPr lang="en-US" sz="1150" dirty="0">
                <a:solidFill>
                  <a:srgbClr val="D6D3C8"/>
                </a:solidFill>
                <a:latin typeface="Meiryo" pitchFamily="34" charset="0"/>
                <a:ea typeface="Meiryo" pitchFamily="34" charset="-122"/>
                <a:cs typeface="Meiryo" pitchFamily="34" charset="-120"/>
              </a:rPr>
              <a:t>応募者管理まで無料</a:t>
            </a:r>
            <a:endParaRPr lang="en-US" sz="1150" dirty="0"/>
          </a:p>
        </p:txBody>
      </p:sp>
      <p:sp>
        <p:nvSpPr>
          <p:cNvPr id="10" name="Shape 8"/>
          <p:cNvSpPr/>
          <p:nvPr/>
        </p:nvSpPr>
        <p:spPr>
          <a:xfrm>
            <a:off x="3840480" y="2788920"/>
            <a:ext cx="594360" cy="502920"/>
          </a:xfrm>
          <a:prstGeom prst="rightArrow">
            <a:avLst/>
          </a:prstGeom>
          <a:solidFill>
            <a:srgbClr val="D97757"/>
          </a:solidFill>
          <a:ln/>
        </p:spPr>
      </p:sp>
      <p:sp>
        <p:nvSpPr>
          <p:cNvPr id="11" name="Shape 9"/>
          <p:cNvSpPr/>
          <p:nvPr/>
        </p:nvSpPr>
        <p:spPr>
          <a:xfrm>
            <a:off x="4617720" y="1920240"/>
            <a:ext cx="3200400" cy="585216"/>
          </a:xfrm>
          <a:prstGeom prst="roundRect">
            <a:avLst>
              <a:gd name="adj" fmla="val 7813"/>
            </a:avLst>
          </a:prstGeom>
          <a:solidFill>
            <a:srgbClr val="FAF9F5"/>
          </a:solidFill>
          <a:ln w="12700">
            <a:solidFill>
              <a:srgbClr val="141413"/>
            </a:solidFill>
            <a:prstDash val="solid"/>
          </a:ln>
        </p:spPr>
      </p:sp>
      <p:sp>
        <p:nvSpPr>
          <p:cNvPr id="12" name="Text 10"/>
          <p:cNvSpPr/>
          <p:nvPr/>
        </p:nvSpPr>
        <p:spPr>
          <a:xfrm>
            <a:off x="4800600" y="1965960"/>
            <a:ext cx="2834640" cy="274320"/>
          </a:xfrm>
          <a:prstGeom prst="rect">
            <a:avLst/>
          </a:prstGeom>
          <a:noFill/>
          <a:ln/>
        </p:spPr>
        <p:txBody>
          <a:bodyPr wrap="square" lIns="0" tIns="0" rIns="0" bIns="0" rtlCol="0" anchor="ctr"/>
          <a:lstStyle/>
          <a:p>
            <a:pPr indent="0" marL="0">
              <a:buNone/>
            </a:pPr>
            <a:r>
              <a:rPr lang="en-US" sz="1250" b="1" dirty="0">
                <a:solidFill>
                  <a:srgbClr val="141413"/>
                </a:solidFill>
                <a:latin typeface="Meiryo" pitchFamily="34" charset="0"/>
                <a:ea typeface="Meiryo" pitchFamily="34" charset="-122"/>
                <a:cs typeface="Meiryo" pitchFamily="34" charset="-120"/>
              </a:rPr>
              <a:t>Indeed</a:t>
            </a:r>
            <a:endParaRPr lang="en-US" sz="1250" dirty="0"/>
          </a:p>
        </p:txBody>
      </p:sp>
      <p:sp>
        <p:nvSpPr>
          <p:cNvPr id="13" name="Text 11"/>
          <p:cNvSpPr/>
          <p:nvPr/>
        </p:nvSpPr>
        <p:spPr>
          <a:xfrm>
            <a:off x="4800600" y="2221992"/>
            <a:ext cx="2834640" cy="237744"/>
          </a:xfrm>
          <a:prstGeom prst="rect">
            <a:avLst/>
          </a:prstGeom>
          <a:noFill/>
          <a:ln/>
        </p:spPr>
        <p:txBody>
          <a:bodyPr wrap="square" lIns="0" tIns="0" rIns="0" bIns="0" rtlCol="0" anchor="ctr"/>
          <a:lstStyle/>
          <a:p>
            <a:pPr indent="0" marL="0">
              <a:buNone/>
            </a:pPr>
            <a:r>
              <a:rPr lang="en-US" sz="1000" dirty="0">
                <a:solidFill>
                  <a:srgbClr val="6E6C63"/>
                </a:solidFill>
                <a:latin typeface="Meiryo" pitchFamily="34" charset="0"/>
                <a:ea typeface="Meiryo" pitchFamily="34" charset="-122"/>
                <a:cs typeface="Meiryo" pitchFamily="34" charset="-120"/>
              </a:rPr>
              <a:t>国内最大の求人検索エンジン</a:t>
            </a:r>
            <a:endParaRPr lang="en-US" sz="1000" dirty="0"/>
          </a:p>
        </p:txBody>
      </p:sp>
      <p:sp>
        <p:nvSpPr>
          <p:cNvPr id="14" name="Shape 12"/>
          <p:cNvSpPr/>
          <p:nvPr/>
        </p:nvSpPr>
        <p:spPr>
          <a:xfrm>
            <a:off x="4617720" y="2633472"/>
            <a:ext cx="3200400" cy="585216"/>
          </a:xfrm>
          <a:prstGeom prst="roundRect">
            <a:avLst>
              <a:gd name="adj" fmla="val 7813"/>
            </a:avLst>
          </a:prstGeom>
          <a:solidFill>
            <a:srgbClr val="FAF9F5"/>
          </a:solidFill>
          <a:ln w="12700">
            <a:solidFill>
              <a:srgbClr val="141413"/>
            </a:solidFill>
            <a:prstDash val="solid"/>
          </a:ln>
        </p:spPr>
      </p:sp>
      <p:sp>
        <p:nvSpPr>
          <p:cNvPr id="15" name="Text 13"/>
          <p:cNvSpPr/>
          <p:nvPr/>
        </p:nvSpPr>
        <p:spPr>
          <a:xfrm>
            <a:off x="4800600" y="2679192"/>
            <a:ext cx="2834640" cy="274320"/>
          </a:xfrm>
          <a:prstGeom prst="rect">
            <a:avLst/>
          </a:prstGeom>
          <a:noFill/>
          <a:ln/>
        </p:spPr>
        <p:txBody>
          <a:bodyPr wrap="square" lIns="0" tIns="0" rIns="0" bIns="0" rtlCol="0" anchor="ctr"/>
          <a:lstStyle/>
          <a:p>
            <a:pPr indent="0" marL="0">
              <a:buNone/>
            </a:pPr>
            <a:r>
              <a:rPr lang="en-US" sz="1250" b="1" dirty="0">
                <a:solidFill>
                  <a:srgbClr val="141413"/>
                </a:solidFill>
                <a:latin typeface="Meiryo" pitchFamily="34" charset="0"/>
                <a:ea typeface="Meiryo" pitchFamily="34" charset="-122"/>
                <a:cs typeface="Meiryo" pitchFamily="34" charset="-120"/>
              </a:rPr>
              <a:t>Google しごと検索</a:t>
            </a:r>
            <a:endParaRPr lang="en-US" sz="1250" dirty="0"/>
          </a:p>
        </p:txBody>
      </p:sp>
      <p:sp>
        <p:nvSpPr>
          <p:cNvPr id="16" name="Text 14"/>
          <p:cNvSpPr/>
          <p:nvPr/>
        </p:nvSpPr>
        <p:spPr>
          <a:xfrm>
            <a:off x="4800600" y="2935224"/>
            <a:ext cx="2834640" cy="237744"/>
          </a:xfrm>
          <a:prstGeom prst="rect">
            <a:avLst/>
          </a:prstGeom>
          <a:noFill/>
          <a:ln/>
        </p:spPr>
        <p:txBody>
          <a:bodyPr wrap="square" lIns="0" tIns="0" rIns="0" bIns="0" rtlCol="0" anchor="ctr"/>
          <a:lstStyle/>
          <a:p>
            <a:pPr indent="0" marL="0">
              <a:buNone/>
            </a:pPr>
            <a:r>
              <a:rPr lang="en-US" sz="1000" dirty="0">
                <a:solidFill>
                  <a:srgbClr val="6E6C63"/>
                </a:solidFill>
                <a:latin typeface="Meiryo" pitchFamily="34" charset="0"/>
                <a:ea typeface="Meiryo" pitchFamily="34" charset="-122"/>
                <a:cs typeface="Meiryo" pitchFamily="34" charset="-120"/>
              </a:rPr>
              <a:t>検索結果の上部に表示</a:t>
            </a:r>
            <a:endParaRPr lang="en-US" sz="1000" dirty="0"/>
          </a:p>
        </p:txBody>
      </p:sp>
      <p:sp>
        <p:nvSpPr>
          <p:cNvPr id="17" name="Shape 15"/>
          <p:cNvSpPr/>
          <p:nvPr/>
        </p:nvSpPr>
        <p:spPr>
          <a:xfrm>
            <a:off x="4617720" y="3346704"/>
            <a:ext cx="3200400" cy="585216"/>
          </a:xfrm>
          <a:prstGeom prst="roundRect">
            <a:avLst>
              <a:gd name="adj" fmla="val 7813"/>
            </a:avLst>
          </a:prstGeom>
          <a:solidFill>
            <a:srgbClr val="FAF9F5"/>
          </a:solidFill>
          <a:ln w="12700">
            <a:solidFill>
              <a:srgbClr val="141413"/>
            </a:solidFill>
            <a:prstDash val="solid"/>
          </a:ln>
        </p:spPr>
      </p:sp>
      <p:sp>
        <p:nvSpPr>
          <p:cNvPr id="18" name="Text 16"/>
          <p:cNvSpPr/>
          <p:nvPr/>
        </p:nvSpPr>
        <p:spPr>
          <a:xfrm>
            <a:off x="4800600" y="3392424"/>
            <a:ext cx="2834640" cy="274320"/>
          </a:xfrm>
          <a:prstGeom prst="rect">
            <a:avLst/>
          </a:prstGeom>
          <a:noFill/>
          <a:ln/>
        </p:spPr>
        <p:txBody>
          <a:bodyPr wrap="square" lIns="0" tIns="0" rIns="0" bIns="0" rtlCol="0" anchor="ctr"/>
          <a:lstStyle/>
          <a:p>
            <a:pPr indent="0" marL="0">
              <a:buNone/>
            </a:pPr>
            <a:r>
              <a:rPr lang="en-US" sz="1250" b="1" dirty="0">
                <a:solidFill>
                  <a:srgbClr val="141413"/>
                </a:solidFill>
                <a:latin typeface="Meiryo" pitchFamily="34" charset="0"/>
                <a:ea typeface="Meiryo" pitchFamily="34" charset="-122"/>
                <a:cs typeface="Meiryo" pitchFamily="34" charset="-120"/>
              </a:rPr>
              <a:t>求人ボックス 他</a:t>
            </a:r>
            <a:endParaRPr lang="en-US" sz="1250" dirty="0"/>
          </a:p>
        </p:txBody>
      </p:sp>
      <p:sp>
        <p:nvSpPr>
          <p:cNvPr id="19" name="Text 17"/>
          <p:cNvSpPr/>
          <p:nvPr/>
        </p:nvSpPr>
        <p:spPr>
          <a:xfrm>
            <a:off x="4800600" y="3648456"/>
            <a:ext cx="2834640" cy="237744"/>
          </a:xfrm>
          <a:prstGeom prst="rect">
            <a:avLst/>
          </a:prstGeom>
          <a:noFill/>
          <a:ln/>
        </p:spPr>
        <p:txBody>
          <a:bodyPr wrap="square" lIns="0" tIns="0" rIns="0" bIns="0" rtlCol="0" anchor="ctr"/>
          <a:lstStyle/>
          <a:p>
            <a:pPr indent="0" marL="0">
              <a:buNone/>
            </a:pPr>
            <a:r>
              <a:rPr lang="en-US" sz="1000" dirty="0">
                <a:solidFill>
                  <a:srgbClr val="6E6C63"/>
                </a:solidFill>
                <a:latin typeface="Meiryo" pitchFamily="34" charset="0"/>
                <a:ea typeface="Meiryo" pitchFamily="34" charset="-122"/>
                <a:cs typeface="Meiryo" pitchFamily="34" charset="-120"/>
              </a:rPr>
              <a:t>主要アグリゲータに連携</a:t>
            </a:r>
            <a:endParaRPr lang="en-US" sz="1000" dirty="0"/>
          </a:p>
        </p:txBody>
      </p:sp>
      <p:sp>
        <p:nvSpPr>
          <p:cNvPr id="20" name="Shape 18"/>
          <p:cNvSpPr/>
          <p:nvPr/>
        </p:nvSpPr>
        <p:spPr>
          <a:xfrm>
            <a:off x="7955280" y="2788920"/>
            <a:ext cx="594360" cy="502920"/>
          </a:xfrm>
          <a:prstGeom prst="rightArrow">
            <a:avLst/>
          </a:prstGeom>
          <a:solidFill>
            <a:srgbClr val="D97757"/>
          </a:solidFill>
          <a:ln/>
        </p:spPr>
      </p:sp>
      <p:sp>
        <p:nvSpPr>
          <p:cNvPr id="21" name="Shape 19"/>
          <p:cNvSpPr/>
          <p:nvPr/>
        </p:nvSpPr>
        <p:spPr>
          <a:xfrm>
            <a:off x="8732520" y="1920240"/>
            <a:ext cx="2788920" cy="2011680"/>
          </a:xfrm>
          <a:prstGeom prst="roundRect">
            <a:avLst>
              <a:gd name="adj" fmla="val 2727"/>
            </a:avLst>
          </a:prstGeom>
          <a:solidFill>
            <a:srgbClr val="F5E3DA"/>
          </a:solidFill>
          <a:ln w="19050">
            <a:solidFill>
              <a:srgbClr val="D97757"/>
            </a:solidFill>
            <a:prstDash val="solid"/>
          </a:ln>
        </p:spPr>
      </p:sp>
      <p:sp>
        <p:nvSpPr>
          <p:cNvPr id="22" name="Text 20"/>
          <p:cNvSpPr/>
          <p:nvPr/>
        </p:nvSpPr>
        <p:spPr>
          <a:xfrm>
            <a:off x="8915400" y="2286000"/>
            <a:ext cx="2423160" cy="731520"/>
          </a:xfrm>
          <a:prstGeom prst="rect">
            <a:avLst/>
          </a:prstGeom>
          <a:noFill/>
          <a:ln/>
        </p:spPr>
        <p:txBody>
          <a:bodyPr wrap="square" lIns="0" tIns="0" rIns="0" bIns="0" rtlCol="0" anchor="ctr"/>
          <a:lstStyle/>
          <a:p>
            <a:pPr algn="ctr" indent="0" marL="0">
              <a:lnSpc>
                <a:spcPts val="2600"/>
              </a:lnSpc>
              <a:buNone/>
            </a:pPr>
            <a:r>
              <a:rPr lang="en-US" sz="1700" b="1" dirty="0">
                <a:solidFill>
                  <a:srgbClr val="141413"/>
                </a:solidFill>
                <a:latin typeface="Meiryo" pitchFamily="34" charset="0"/>
                <a:ea typeface="Meiryo" pitchFamily="34" charset="-122"/>
                <a:cs typeface="Meiryo" pitchFamily="34" charset="-120"/>
              </a:rPr>
              <a:t>求職者の目に</a:t>
            </a:r>
            <a:endParaRPr lang="en-US" sz="1700" dirty="0"/>
          </a:p>
          <a:p>
            <a:pPr algn="ctr" indent="0" marL="0">
              <a:lnSpc>
                <a:spcPts val="2600"/>
              </a:lnSpc>
              <a:buNone/>
            </a:pPr>
            <a:r>
              <a:rPr lang="en-US" sz="1700" b="1" dirty="0">
                <a:solidFill>
                  <a:srgbClr val="141413"/>
                </a:solidFill>
                <a:latin typeface="Meiryo" pitchFamily="34" charset="0"/>
                <a:ea typeface="Meiryo" pitchFamily="34" charset="-122"/>
                <a:cs typeface="Meiryo" pitchFamily="34" charset="-120"/>
              </a:rPr>
              <a:t>触れる</a:t>
            </a:r>
            <a:endParaRPr lang="en-US" sz="1700" dirty="0"/>
          </a:p>
        </p:txBody>
      </p:sp>
      <p:sp>
        <p:nvSpPr>
          <p:cNvPr id="23" name="Text 21"/>
          <p:cNvSpPr/>
          <p:nvPr/>
        </p:nvSpPr>
        <p:spPr>
          <a:xfrm>
            <a:off x="8915400" y="3063240"/>
            <a:ext cx="2423160" cy="640080"/>
          </a:xfrm>
          <a:prstGeom prst="rect">
            <a:avLst/>
          </a:prstGeom>
          <a:noFill/>
          <a:ln/>
        </p:spPr>
        <p:txBody>
          <a:bodyPr wrap="square" lIns="0" tIns="0" rIns="0" bIns="0" rtlCol="0" anchor="t"/>
          <a:lstStyle/>
          <a:p>
            <a:pPr algn="ctr" indent="0" marL="0">
              <a:lnSpc>
                <a:spcPts val="1900"/>
              </a:lnSpc>
              <a:buNone/>
            </a:pPr>
            <a:r>
              <a:rPr lang="en-US" sz="1150" dirty="0">
                <a:solidFill>
                  <a:srgbClr val="4A4943"/>
                </a:solidFill>
                <a:latin typeface="Meiryo" pitchFamily="34" charset="0"/>
                <a:ea typeface="Meiryo" pitchFamily="34" charset="-122"/>
                <a:cs typeface="Meiryo" pitchFamily="34" charset="-120"/>
              </a:rPr>
              <a:t>掲載料 0 円のまま</a:t>
            </a:r>
            <a:endParaRPr lang="en-US" sz="1150" dirty="0"/>
          </a:p>
          <a:p>
            <a:pPr algn="ctr" indent="0" marL="0">
              <a:lnSpc>
                <a:spcPts val="1900"/>
              </a:lnSpc>
              <a:buNone/>
            </a:pPr>
            <a:r>
              <a:rPr lang="en-US" sz="1150" dirty="0">
                <a:solidFill>
                  <a:srgbClr val="4A4943"/>
                </a:solidFill>
                <a:latin typeface="Meiryo" pitchFamily="34" charset="0"/>
                <a:ea typeface="Meiryo" pitchFamily="34" charset="-122"/>
                <a:cs typeface="Meiryo" pitchFamily="34" charset="-120"/>
              </a:rPr>
              <a:t>露出が積み上がる</a:t>
            </a:r>
            <a:endParaRPr lang="en-US" sz="1150" dirty="0"/>
          </a:p>
        </p:txBody>
      </p:sp>
      <p:sp>
        <p:nvSpPr>
          <p:cNvPr id="24" name="Text 22"/>
          <p:cNvSpPr/>
          <p:nvPr/>
        </p:nvSpPr>
        <p:spPr>
          <a:xfrm>
            <a:off x="640080" y="4160520"/>
            <a:ext cx="10881360" cy="365760"/>
          </a:xfrm>
          <a:prstGeom prst="rect">
            <a:avLst/>
          </a:prstGeom>
          <a:noFill/>
          <a:ln/>
        </p:spPr>
        <p:txBody>
          <a:bodyPr wrap="square" lIns="0" tIns="0" rIns="0" bIns="0" rtlCol="0" anchor="ctr"/>
          <a:lstStyle/>
          <a:p>
            <a:pPr indent="0" marL="0">
              <a:buNone/>
            </a:pPr>
            <a:r>
              <a:rPr lang="en-US" sz="1500" b="1" dirty="0">
                <a:solidFill>
                  <a:srgbClr val="141413"/>
                </a:solidFill>
                <a:latin typeface="Meiryo" pitchFamily="34" charset="0"/>
                <a:ea typeface="Meiryo" pitchFamily="34" charset="-122"/>
                <a:cs typeface="Meiryo" pitchFamily="34" charset="-120"/>
              </a:rPr>
              <a:t>求人票に必ず入れる 3 つ</a:t>
            </a:r>
            <a:endParaRPr lang="en-US" sz="1500" dirty="0"/>
          </a:p>
        </p:txBody>
      </p:sp>
      <p:sp>
        <p:nvSpPr>
          <p:cNvPr id="25" name="Shape 23"/>
          <p:cNvSpPr/>
          <p:nvPr/>
        </p:nvSpPr>
        <p:spPr>
          <a:xfrm>
            <a:off x="640080" y="4590288"/>
            <a:ext cx="3413760" cy="868680"/>
          </a:xfrm>
          <a:prstGeom prst="roundRect">
            <a:avLst>
              <a:gd name="adj" fmla="val 5263"/>
            </a:avLst>
          </a:prstGeom>
          <a:solidFill>
            <a:srgbClr val="FAF9F5"/>
          </a:solidFill>
          <a:ln w="12700">
            <a:solidFill>
              <a:srgbClr val="E8E6DC"/>
            </a:solidFill>
            <a:prstDash val="solid"/>
          </a:ln>
        </p:spPr>
      </p:sp>
      <p:pic>
        <p:nvPicPr>
          <p:cNvPr id="26" name="Image 0" descr="preencoded.png">    </p:cNvPr>
          <p:cNvPicPr>
            <a:picLocks noChangeAspect="1"/>
          </p:cNvPicPr>
          <p:nvPr/>
        </p:nvPicPr>
        <p:blipFill>
          <a:blip r:embed="rId1"/>
          <a:stretch>
            <a:fillRect/>
          </a:stretch>
        </p:blipFill>
        <p:spPr>
          <a:xfrm>
            <a:off x="868680" y="4791456"/>
            <a:ext cx="237744" cy="237744"/>
          </a:xfrm>
          <a:prstGeom prst="rect">
            <a:avLst/>
          </a:prstGeom>
        </p:spPr>
      </p:pic>
      <p:sp>
        <p:nvSpPr>
          <p:cNvPr id="27" name="Text 24"/>
          <p:cNvSpPr/>
          <p:nvPr/>
        </p:nvSpPr>
        <p:spPr>
          <a:xfrm>
            <a:off x="1188720" y="4663440"/>
            <a:ext cx="2636520" cy="292608"/>
          </a:xfrm>
          <a:prstGeom prst="rect">
            <a:avLst/>
          </a:prstGeom>
          <a:noFill/>
          <a:ln/>
        </p:spPr>
        <p:txBody>
          <a:bodyPr wrap="square" lIns="0" tIns="0" rIns="0" bIns="0" rtlCol="0" anchor="ctr"/>
          <a:lstStyle/>
          <a:p>
            <a:pPr indent="0" marL="0">
              <a:buNone/>
            </a:pPr>
            <a:r>
              <a:rPr lang="en-US" sz="1300" b="1" dirty="0">
                <a:solidFill>
                  <a:srgbClr val="141413"/>
                </a:solidFill>
                <a:latin typeface="Meiryo" pitchFamily="34" charset="0"/>
                <a:ea typeface="Meiryo" pitchFamily="34" charset="-122"/>
                <a:cs typeface="Meiryo" pitchFamily="34" charset="-120"/>
              </a:rPr>
              <a:t>理念・ミッション</a:t>
            </a:r>
            <a:endParaRPr lang="en-US" sz="1300" dirty="0"/>
          </a:p>
        </p:txBody>
      </p:sp>
      <p:sp>
        <p:nvSpPr>
          <p:cNvPr id="28" name="Text 25"/>
          <p:cNvSpPr/>
          <p:nvPr/>
        </p:nvSpPr>
        <p:spPr>
          <a:xfrm>
            <a:off x="1188720" y="4956048"/>
            <a:ext cx="2636520" cy="411480"/>
          </a:xfrm>
          <a:prstGeom prst="rect">
            <a:avLst/>
          </a:prstGeom>
          <a:noFill/>
          <a:ln/>
        </p:spPr>
        <p:txBody>
          <a:bodyPr wrap="square" lIns="0" tIns="0" rIns="0" bIns="0" rtlCol="0" anchor="t"/>
          <a:lstStyle/>
          <a:p>
            <a:pPr indent="0" marL="0">
              <a:lnSpc>
                <a:spcPts val="1600"/>
              </a:lnSpc>
              <a:buNone/>
            </a:pPr>
            <a:r>
              <a:rPr lang="en-US" sz="1050" dirty="0">
                <a:solidFill>
                  <a:srgbClr val="6E6C63"/>
                </a:solidFill>
                <a:latin typeface="Meiryo" pitchFamily="34" charset="0"/>
                <a:ea typeface="Meiryo" pitchFamily="34" charset="-122"/>
                <a:cs typeface="Meiryo" pitchFamily="34" charset="-120"/>
              </a:rPr>
              <a:t>何のためにこの仕事をしているのか</a:t>
            </a:r>
            <a:endParaRPr lang="en-US" sz="1050" dirty="0"/>
          </a:p>
        </p:txBody>
      </p:sp>
      <p:sp>
        <p:nvSpPr>
          <p:cNvPr id="29" name="Shape 26"/>
          <p:cNvSpPr/>
          <p:nvPr/>
        </p:nvSpPr>
        <p:spPr>
          <a:xfrm>
            <a:off x="4373880" y="4590288"/>
            <a:ext cx="3413760" cy="868680"/>
          </a:xfrm>
          <a:prstGeom prst="roundRect">
            <a:avLst>
              <a:gd name="adj" fmla="val 5263"/>
            </a:avLst>
          </a:prstGeom>
          <a:solidFill>
            <a:srgbClr val="FAF9F5"/>
          </a:solidFill>
          <a:ln w="12700">
            <a:solidFill>
              <a:srgbClr val="E8E6DC"/>
            </a:solidFill>
            <a:prstDash val="solid"/>
          </a:ln>
        </p:spPr>
      </p:sp>
      <p:pic>
        <p:nvPicPr>
          <p:cNvPr id="30" name="Image 1" descr="preencoded.png">    </p:cNvPr>
          <p:cNvPicPr>
            <a:picLocks noChangeAspect="1"/>
          </p:cNvPicPr>
          <p:nvPr/>
        </p:nvPicPr>
        <p:blipFill>
          <a:blip r:embed="rId2"/>
          <a:stretch>
            <a:fillRect/>
          </a:stretch>
        </p:blipFill>
        <p:spPr>
          <a:xfrm>
            <a:off x="4602480" y="4791456"/>
            <a:ext cx="237744" cy="237744"/>
          </a:xfrm>
          <a:prstGeom prst="rect">
            <a:avLst/>
          </a:prstGeom>
        </p:spPr>
      </p:pic>
      <p:sp>
        <p:nvSpPr>
          <p:cNvPr id="31" name="Text 27"/>
          <p:cNvSpPr/>
          <p:nvPr/>
        </p:nvSpPr>
        <p:spPr>
          <a:xfrm>
            <a:off x="4922520" y="4663440"/>
            <a:ext cx="2636520" cy="292608"/>
          </a:xfrm>
          <a:prstGeom prst="rect">
            <a:avLst/>
          </a:prstGeom>
          <a:noFill/>
          <a:ln/>
        </p:spPr>
        <p:txBody>
          <a:bodyPr wrap="square" lIns="0" tIns="0" rIns="0" bIns="0" rtlCol="0" anchor="ctr"/>
          <a:lstStyle/>
          <a:p>
            <a:pPr indent="0" marL="0">
              <a:buNone/>
            </a:pPr>
            <a:r>
              <a:rPr lang="en-US" sz="1300" b="1" dirty="0">
                <a:solidFill>
                  <a:srgbClr val="141413"/>
                </a:solidFill>
                <a:latin typeface="Meiryo" pitchFamily="34" charset="0"/>
                <a:ea typeface="Meiryo" pitchFamily="34" charset="-122"/>
                <a:cs typeface="Meiryo" pitchFamily="34" charset="-120"/>
              </a:rPr>
              <a:t>他施設との違い</a:t>
            </a:r>
            <a:endParaRPr lang="en-US" sz="1300" dirty="0"/>
          </a:p>
        </p:txBody>
      </p:sp>
      <p:sp>
        <p:nvSpPr>
          <p:cNvPr id="32" name="Text 28"/>
          <p:cNvSpPr/>
          <p:nvPr/>
        </p:nvSpPr>
        <p:spPr>
          <a:xfrm>
            <a:off x="4922520" y="4956048"/>
            <a:ext cx="2636520" cy="411480"/>
          </a:xfrm>
          <a:prstGeom prst="rect">
            <a:avLst/>
          </a:prstGeom>
          <a:noFill/>
          <a:ln/>
        </p:spPr>
        <p:txBody>
          <a:bodyPr wrap="square" lIns="0" tIns="0" rIns="0" bIns="0" rtlCol="0" anchor="t"/>
          <a:lstStyle/>
          <a:p>
            <a:pPr indent="0" marL="0">
              <a:lnSpc>
                <a:spcPts val="1600"/>
              </a:lnSpc>
              <a:buNone/>
            </a:pPr>
            <a:r>
              <a:rPr lang="en-US" sz="1050" dirty="0">
                <a:solidFill>
                  <a:srgbClr val="6E6C63"/>
                </a:solidFill>
                <a:latin typeface="Meiryo" pitchFamily="34" charset="0"/>
                <a:ea typeface="Meiryo" pitchFamily="34" charset="-122"/>
                <a:cs typeface="Meiryo" pitchFamily="34" charset="-120"/>
              </a:rPr>
              <a:t>同じ地域の求人と何が違うのか</a:t>
            </a:r>
            <a:endParaRPr lang="en-US" sz="1050" dirty="0"/>
          </a:p>
        </p:txBody>
      </p:sp>
      <p:sp>
        <p:nvSpPr>
          <p:cNvPr id="33" name="Shape 29"/>
          <p:cNvSpPr/>
          <p:nvPr/>
        </p:nvSpPr>
        <p:spPr>
          <a:xfrm>
            <a:off x="8107680" y="4590288"/>
            <a:ext cx="3413760" cy="868680"/>
          </a:xfrm>
          <a:prstGeom prst="roundRect">
            <a:avLst>
              <a:gd name="adj" fmla="val 5263"/>
            </a:avLst>
          </a:prstGeom>
          <a:solidFill>
            <a:srgbClr val="FAF9F5"/>
          </a:solidFill>
          <a:ln w="12700">
            <a:solidFill>
              <a:srgbClr val="E8E6DC"/>
            </a:solidFill>
            <a:prstDash val="solid"/>
          </a:ln>
        </p:spPr>
      </p:sp>
      <p:pic>
        <p:nvPicPr>
          <p:cNvPr id="34" name="Image 2" descr="preencoded.png">    </p:cNvPr>
          <p:cNvPicPr>
            <a:picLocks noChangeAspect="1"/>
          </p:cNvPicPr>
          <p:nvPr/>
        </p:nvPicPr>
        <p:blipFill>
          <a:blip r:embed="rId3"/>
          <a:stretch>
            <a:fillRect/>
          </a:stretch>
        </p:blipFill>
        <p:spPr>
          <a:xfrm>
            <a:off x="8336280" y="4791456"/>
            <a:ext cx="237744" cy="237744"/>
          </a:xfrm>
          <a:prstGeom prst="rect">
            <a:avLst/>
          </a:prstGeom>
        </p:spPr>
      </p:pic>
      <p:sp>
        <p:nvSpPr>
          <p:cNvPr id="35" name="Text 30"/>
          <p:cNvSpPr/>
          <p:nvPr/>
        </p:nvSpPr>
        <p:spPr>
          <a:xfrm>
            <a:off x="8656320" y="4663440"/>
            <a:ext cx="2636520" cy="292608"/>
          </a:xfrm>
          <a:prstGeom prst="rect">
            <a:avLst/>
          </a:prstGeom>
          <a:noFill/>
          <a:ln/>
        </p:spPr>
        <p:txBody>
          <a:bodyPr wrap="square" lIns="0" tIns="0" rIns="0" bIns="0" rtlCol="0" anchor="ctr"/>
          <a:lstStyle/>
          <a:p>
            <a:pPr indent="0" marL="0">
              <a:buNone/>
            </a:pPr>
            <a:r>
              <a:rPr lang="en-US" sz="1300" b="1" dirty="0">
                <a:solidFill>
                  <a:srgbClr val="141413"/>
                </a:solidFill>
                <a:latin typeface="Meiryo" pitchFamily="34" charset="0"/>
                <a:ea typeface="Meiryo" pitchFamily="34" charset="-122"/>
                <a:cs typeface="Meiryo" pitchFamily="34" charset="-120"/>
              </a:rPr>
              <a:t>働く環境の具体</a:t>
            </a:r>
            <a:endParaRPr lang="en-US" sz="1300" dirty="0"/>
          </a:p>
        </p:txBody>
      </p:sp>
      <p:sp>
        <p:nvSpPr>
          <p:cNvPr id="36" name="Text 31"/>
          <p:cNvSpPr/>
          <p:nvPr/>
        </p:nvSpPr>
        <p:spPr>
          <a:xfrm>
            <a:off x="8656320" y="4956048"/>
            <a:ext cx="2636520" cy="411480"/>
          </a:xfrm>
          <a:prstGeom prst="rect">
            <a:avLst/>
          </a:prstGeom>
          <a:noFill/>
          <a:ln/>
        </p:spPr>
        <p:txBody>
          <a:bodyPr wrap="square" lIns="0" tIns="0" rIns="0" bIns="0" rtlCol="0" anchor="t"/>
          <a:lstStyle/>
          <a:p>
            <a:pPr indent="0" marL="0">
              <a:lnSpc>
                <a:spcPts val="1600"/>
              </a:lnSpc>
              <a:buNone/>
            </a:pPr>
            <a:r>
              <a:rPr lang="en-US" sz="1050" dirty="0">
                <a:solidFill>
                  <a:srgbClr val="6E6C63"/>
                </a:solidFill>
                <a:latin typeface="Meiryo" pitchFamily="34" charset="0"/>
                <a:ea typeface="Meiryo" pitchFamily="34" charset="-122"/>
                <a:cs typeface="Meiryo" pitchFamily="34" charset="-120"/>
              </a:rPr>
              <a:t>体制・シフト・研修・休日の実態</a:t>
            </a:r>
            <a:endParaRPr lang="en-US" sz="1050" dirty="0"/>
          </a:p>
        </p:txBody>
      </p:sp>
      <p:sp>
        <p:nvSpPr>
          <p:cNvPr id="37" name="Text 32"/>
          <p:cNvSpPr/>
          <p:nvPr/>
        </p:nvSpPr>
        <p:spPr>
          <a:xfrm>
            <a:off x="640080" y="5669280"/>
            <a:ext cx="10881360" cy="320040"/>
          </a:xfrm>
          <a:prstGeom prst="rect">
            <a:avLst/>
          </a:prstGeom>
          <a:noFill/>
          <a:ln/>
        </p:spPr>
        <p:txBody>
          <a:bodyPr wrap="square" lIns="0" tIns="0" rIns="0" bIns="0" rtlCol="0" anchor="ctr"/>
          <a:lstStyle/>
          <a:p>
            <a:pPr indent="0" marL="0">
              <a:buNone/>
            </a:pPr>
            <a:r>
              <a:rPr lang="en-US" sz="1000" dirty="0">
                <a:solidFill>
                  <a:srgbClr val="D97757"/>
                </a:solidFill>
                <a:latin typeface="Meiryo" pitchFamily="34" charset="0"/>
                <a:ea typeface="Meiryo" pitchFamily="34" charset="-122"/>
                <a:cs typeface="Meiryo" pitchFamily="34" charset="-120"/>
              </a:rPr>
              <a:t>※「0円」は掲載料が 0 円という意味です。求人票を書き、写真を撮り、応募に対応する自社の工数は必ずかかります。</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AF9F5"/>
        </a:solidFill>
      </p:bgPr>
    </p:bg>
    <p:spTree>
      <p:nvGrpSpPr>
        <p:cNvPr id="1" name=""/>
        <p:cNvGrpSpPr/>
        <p:nvPr/>
      </p:nvGrpSpPr>
      <p:grpSpPr>
        <a:xfrm>
          <a:off x="0" y="0"/>
          <a:ext cx="0" cy="0"/>
          <a:chOff x="0" y="0"/>
          <a:chExt cx="0" cy="0"/>
        </a:xfrm>
      </p:grpSpPr>
      <p:sp>
        <p:nvSpPr>
          <p:cNvPr id="2" name="Shape 0"/>
          <p:cNvSpPr/>
          <p:nvPr/>
        </p:nvSpPr>
        <p:spPr>
          <a:xfrm>
            <a:off x="640080" y="347472"/>
            <a:ext cx="1783080" cy="329184"/>
          </a:xfrm>
          <a:prstGeom prst="roundRect">
            <a:avLst>
              <a:gd name="adj" fmla="val 13889"/>
            </a:avLst>
          </a:prstGeom>
          <a:solidFill>
            <a:srgbClr val="D97757"/>
          </a:solidFill>
          <a:ln/>
        </p:spPr>
      </p:sp>
      <p:sp>
        <p:nvSpPr>
          <p:cNvPr id="3" name="Text 1"/>
          <p:cNvSpPr/>
          <p:nvPr/>
        </p:nvSpPr>
        <p:spPr>
          <a:xfrm>
            <a:off x="640080" y="347472"/>
            <a:ext cx="1783080" cy="329184"/>
          </a:xfrm>
          <a:prstGeom prst="rect">
            <a:avLst/>
          </a:prstGeom>
          <a:noFill/>
          <a:ln/>
        </p:spPr>
        <p:txBody>
          <a:bodyPr wrap="square" lIns="0" tIns="0" rIns="0" bIns="0" rtlCol="0" anchor="ctr"/>
          <a:lstStyle/>
          <a:p>
            <a:pPr algn="ctr" indent="0" marL="0">
              <a:buNone/>
            </a:pPr>
            <a:r>
              <a:rPr lang="en-US" sz="1150" b="1" spc="100" kern="0" dirty="0">
                <a:solidFill>
                  <a:srgbClr val="FFFFFF"/>
                </a:solidFill>
                <a:latin typeface="Meiryo" pitchFamily="34" charset="0"/>
                <a:ea typeface="Meiryo" pitchFamily="34" charset="-122"/>
                <a:cs typeface="Meiryo" pitchFamily="34" charset="-120"/>
              </a:rPr>
              <a:t>MODULE 2</a:t>
            </a:r>
            <a:endParaRPr lang="en-US" sz="1150" dirty="0"/>
          </a:p>
        </p:txBody>
      </p:sp>
      <p:sp>
        <p:nvSpPr>
          <p:cNvPr id="4" name="Text 2"/>
          <p:cNvSpPr/>
          <p:nvPr/>
        </p:nvSpPr>
        <p:spPr>
          <a:xfrm>
            <a:off x="640080" y="768096"/>
            <a:ext cx="10881360" cy="566928"/>
          </a:xfrm>
          <a:prstGeom prst="rect">
            <a:avLst/>
          </a:prstGeom>
          <a:noFill/>
          <a:ln/>
        </p:spPr>
        <p:txBody>
          <a:bodyPr wrap="square" lIns="0" tIns="0" rIns="0" bIns="0" rtlCol="0" anchor="ctr"/>
          <a:lstStyle/>
          <a:p>
            <a:pPr indent="0" marL="0">
              <a:buNone/>
            </a:pPr>
            <a:r>
              <a:rPr lang="en-US" sz="2700" b="1" dirty="0">
                <a:solidFill>
                  <a:srgbClr val="141413"/>
                </a:solidFill>
                <a:latin typeface="Meiryo" pitchFamily="34" charset="0"/>
                <a:ea typeface="Meiryo" pitchFamily="34" charset="-122"/>
                <a:cs typeface="Meiryo" pitchFamily="34" charset="-120"/>
              </a:rPr>
              <a:t>採用を「コスト」から「資産」に変える</a:t>
            </a:r>
            <a:endParaRPr lang="en-US" sz="2700" dirty="0"/>
          </a:p>
        </p:txBody>
      </p:sp>
      <p:sp>
        <p:nvSpPr>
          <p:cNvPr id="5" name="Text 3"/>
          <p:cNvSpPr/>
          <p:nvPr/>
        </p:nvSpPr>
        <p:spPr>
          <a:xfrm>
            <a:off x="640080" y="1316736"/>
            <a:ext cx="10881360" cy="329184"/>
          </a:xfrm>
          <a:prstGeom prst="rect">
            <a:avLst/>
          </a:prstGeom>
          <a:noFill/>
          <a:ln/>
        </p:spPr>
        <p:txBody>
          <a:bodyPr wrap="square" lIns="0" tIns="0" rIns="0" bIns="0" rtlCol="0" anchor="ctr"/>
          <a:lstStyle/>
          <a:p>
            <a:pPr indent="0" marL="0">
              <a:buNone/>
            </a:pPr>
            <a:r>
              <a:rPr lang="en-US" sz="1300" dirty="0">
                <a:solidFill>
                  <a:srgbClr val="6E6C63"/>
                </a:solidFill>
                <a:latin typeface="Meiryo" pitchFamily="34" charset="0"/>
                <a:ea typeface="Meiryo" pitchFamily="34" charset="-122"/>
                <a:cs typeface="Meiryo" pitchFamily="34" charset="-120"/>
              </a:rPr>
              <a:t>紹介会社は採るたびに払う。自社の仕組みは、つくれば残り続けます</a:t>
            </a:r>
            <a:endParaRPr lang="en-US" sz="1300" dirty="0"/>
          </a:p>
        </p:txBody>
      </p:sp>
      <p:sp>
        <p:nvSpPr>
          <p:cNvPr id="6" name="Shape 4"/>
          <p:cNvSpPr/>
          <p:nvPr/>
        </p:nvSpPr>
        <p:spPr>
          <a:xfrm>
            <a:off x="640080" y="1783080"/>
            <a:ext cx="6309360" cy="3657600"/>
          </a:xfrm>
          <a:prstGeom prst="roundRect">
            <a:avLst>
              <a:gd name="adj" fmla="val 1500"/>
            </a:avLst>
          </a:prstGeom>
          <a:solidFill>
            <a:srgbClr val="FFFFFF"/>
          </a:solidFill>
          <a:ln w="12700">
            <a:solidFill>
              <a:srgbClr val="E8E6DC"/>
            </a:solidFill>
            <a:prstDash val="solid"/>
          </a:ln>
          <a:effectLst>
            <a:outerShdw sx="100000" sy="100000" kx="0" ky="0" algn="bl" rotWithShape="0" blurRad="114300" dist="25400" dir="5400000">
              <a:srgbClr val="B0AEA5">
                <a:alpha val="30000"/>
              </a:srgbClr>
            </a:outerShdw>
          </a:effectLst>
        </p:spPr>
      </p:sp>
      <p:graphicFrame>
        <p:nvGraphicFramePr>
          <p:cNvPr id="7" name="Chart 0" descr=""/>
          <p:cNvGraphicFramePr/>
          <p:nvPr/>
        </p:nvGraphicFramePr>
        <p:xfrm>
          <a:off x="777240" y="1965960"/>
          <a:ext cx="6035040" cy="3291840"/>
        </p:xfrm>
        <a:graphic xmlns:a="http://schemas.openxmlformats.org/drawingml/2006/main">
          <a:graphicData uri="http://schemas.openxmlformats.org/drawingml/2006/chart">
            <c:chart xmlns:c="http://schemas.openxmlformats.org/drawingml/2006/chart" r:id="rId1"/>
          </a:graphicData>
        </a:graphic>
      </p:graphicFrame>
      <p:sp>
        <p:nvSpPr>
          <p:cNvPr id="8" name="Text 5"/>
          <p:cNvSpPr/>
          <p:nvPr/>
        </p:nvSpPr>
        <p:spPr>
          <a:xfrm>
            <a:off x="914400" y="1828800"/>
            <a:ext cx="5760720" cy="274320"/>
          </a:xfrm>
          <a:prstGeom prst="rect">
            <a:avLst/>
          </a:prstGeom>
          <a:noFill/>
          <a:ln/>
        </p:spPr>
        <p:txBody>
          <a:bodyPr wrap="square" lIns="0" tIns="0" rIns="0" bIns="0" rtlCol="0" anchor="ctr"/>
          <a:lstStyle/>
          <a:p>
            <a:pPr indent="0" marL="0">
              <a:buNone/>
            </a:pPr>
            <a:r>
              <a:rPr lang="en-US" sz="1100" b="1" dirty="0">
                <a:solidFill>
                  <a:srgbClr val="141413"/>
                </a:solidFill>
                <a:latin typeface="Meiryo" pitchFamily="34" charset="0"/>
                <a:ea typeface="Meiryo" pitchFamily="34" charset="-122"/>
                <a:cs typeface="Meiryo" pitchFamily="34" charset="-120"/>
              </a:rPr>
              <a:t>累計採用コストの推移（万円・試算例）</a:t>
            </a:r>
            <a:endParaRPr lang="en-US" sz="11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7223760" y="1783080"/>
          <a:ext cx="4297680" cy="914400"/>
        </p:xfrm>
        <a:graphic>
          <a:graphicData uri="http://schemas.openxmlformats.org/drawingml/2006/table">
            <a:tbl>
              <a:tblPr/>
              <a:tblGrid>
                <a:gridCol w="1417320"/>
                <a:gridCol w="1783080"/>
                <a:gridCol w="1463040"/>
              </a:tblGrid>
              <a:tr h="484632">
                <a:tc>
                  <a:txBody>
                    <a:bodyPr/>
                    <a:lstStyle/>
                    <a:p>
                      <a:pPr algn="l" indent="0" marL="0">
                        <a:buNone/>
                      </a:pPr>
                      <a:r>
                        <a:rPr lang="en-US" sz="1050" b="1" dirty="0">
                          <a:solidFill>
                            <a:srgbClr val="FFFFFF"/>
                          </a:solidFill>
                          <a:latin typeface="Meiryo" pitchFamily="34" charset="0"/>
                          <a:ea typeface="Meiryo" pitchFamily="34" charset="-122"/>
                          <a:cs typeface="Meiryo" pitchFamily="34" charset="-120"/>
                        </a:rPr>
                        <a:t>観点</a:t>
                      </a:r>
                      <a:endParaRPr lang="en-US" sz="1050" dirty="0">
                        <a:latin typeface="Meiryo" charset="0"/>
                        <a:ea typeface="Meiryo" charset="0"/>
                        <a:cs typeface="Meiryo" charset="0"/>
                      </a:endParaRPr>
                    </a:p>
                  </a:txBody>
                  <a:tcPr marL="63500" marR="63500" marT="63500" marB="63500" anchor="ctr">
                    <a:lnL w="12700" cap="flat" cmpd="sng" algn="ctr">
                      <a:solidFill>
                        <a:srgbClr val="E8E6DC"/>
                      </a:solidFill>
                      <a:prstDash val="solid"/>
                      <a:round/>
                      <a:headEnd type="none" w="med" len="med"/>
                      <a:tailEnd type="none" w="med" len="med"/>
                    </a:lnL>
                    <a:lnR w="12700" cap="flat" cmpd="sng" algn="ctr">
                      <a:solidFill>
                        <a:srgbClr val="E8E6DC"/>
                      </a:solidFill>
                      <a:prstDash val="solid"/>
                      <a:round/>
                      <a:headEnd type="none" w="med" len="med"/>
                      <a:tailEnd type="none" w="med" len="med"/>
                    </a:lnR>
                    <a:lnT w="12700" cap="flat" cmpd="sng" algn="ctr">
                      <a:solidFill>
                        <a:srgbClr val="E8E6DC"/>
                      </a:solidFill>
                      <a:prstDash val="solid"/>
                      <a:round/>
                      <a:headEnd type="none" w="med" len="med"/>
                      <a:tailEnd type="none" w="med" len="med"/>
                    </a:lnT>
                    <a:lnB w="12700" cap="flat" cmpd="sng" algn="ctr">
                      <a:solidFill>
                        <a:srgbClr val="E8E6DC"/>
                      </a:solidFill>
                      <a:prstDash val="solid"/>
                      <a:round/>
                      <a:headEnd type="none" w="med" len="med"/>
                      <a:tailEnd type="none" w="med" len="med"/>
                    </a:lnB>
                    <a:solidFill>
                      <a:srgbClr val="141413"/>
                    </a:solidFill>
                  </a:tcPr>
                </a:tc>
                <a:tc>
                  <a:txBody>
                    <a:bodyPr/>
                    <a:lstStyle/>
                    <a:p>
                      <a:pPr algn="l" indent="0" marL="0">
                        <a:buNone/>
                      </a:pPr>
                      <a:r>
                        <a:rPr lang="en-US" sz="1050" b="1" dirty="0">
                          <a:solidFill>
                            <a:srgbClr val="FFFFFF"/>
                          </a:solidFill>
                          <a:latin typeface="Meiryo" pitchFamily="34" charset="0"/>
                          <a:ea typeface="Meiryo" pitchFamily="34" charset="-122"/>
                          <a:cs typeface="Meiryo" pitchFamily="34" charset="-120"/>
                        </a:rPr>
                        <a:t>紹介会社に依存</a:t>
                      </a:r>
                      <a:endParaRPr lang="en-US" sz="1050" dirty="0">
                        <a:latin typeface="Meiryo" charset="0"/>
                        <a:ea typeface="Meiryo" charset="0"/>
                        <a:cs typeface="Meiryo" charset="0"/>
                      </a:endParaRPr>
                    </a:p>
                  </a:txBody>
                  <a:tcPr marL="63500" marR="63500" marT="63500" marB="63500" anchor="ctr">
                    <a:lnL w="12700" cap="flat" cmpd="sng" algn="ctr">
                      <a:solidFill>
                        <a:srgbClr val="E8E6DC"/>
                      </a:solidFill>
                      <a:prstDash val="solid"/>
                      <a:round/>
                      <a:headEnd type="none" w="med" len="med"/>
                      <a:tailEnd type="none" w="med" len="med"/>
                    </a:lnL>
                    <a:lnR w="12700" cap="flat" cmpd="sng" algn="ctr">
                      <a:solidFill>
                        <a:srgbClr val="E8E6DC"/>
                      </a:solidFill>
                      <a:prstDash val="solid"/>
                      <a:round/>
                      <a:headEnd type="none" w="med" len="med"/>
                      <a:tailEnd type="none" w="med" len="med"/>
                    </a:lnR>
                    <a:lnT w="12700" cap="flat" cmpd="sng" algn="ctr">
                      <a:solidFill>
                        <a:srgbClr val="E8E6DC"/>
                      </a:solidFill>
                      <a:prstDash val="solid"/>
                      <a:round/>
                      <a:headEnd type="none" w="med" len="med"/>
                      <a:tailEnd type="none" w="med" len="med"/>
                    </a:lnT>
                    <a:lnB w="12700" cap="flat" cmpd="sng" algn="ctr">
                      <a:solidFill>
                        <a:srgbClr val="E8E6DC"/>
                      </a:solidFill>
                      <a:prstDash val="solid"/>
                      <a:round/>
                      <a:headEnd type="none" w="med" len="med"/>
                      <a:tailEnd type="none" w="med" len="med"/>
                    </a:lnB>
                    <a:solidFill>
                      <a:srgbClr val="141413"/>
                    </a:solidFill>
                  </a:tcPr>
                </a:tc>
                <a:tc>
                  <a:txBody>
                    <a:bodyPr/>
                    <a:lstStyle/>
                    <a:p>
                      <a:pPr algn="l" indent="0" marL="0">
                        <a:buNone/>
                      </a:pPr>
                      <a:r>
                        <a:rPr lang="en-US" sz="1050" b="1" dirty="0">
                          <a:solidFill>
                            <a:srgbClr val="FFFFFF"/>
                          </a:solidFill>
                          <a:latin typeface="Meiryo" pitchFamily="34" charset="0"/>
                          <a:ea typeface="Meiryo" pitchFamily="34" charset="-122"/>
                          <a:cs typeface="Meiryo" pitchFamily="34" charset="-120"/>
                        </a:rPr>
                        <a:t>自社で内製</a:t>
                      </a:r>
                      <a:endParaRPr lang="en-US" sz="1050" dirty="0">
                        <a:latin typeface="Meiryo" charset="0"/>
                        <a:ea typeface="Meiryo" charset="0"/>
                        <a:cs typeface="Meiryo" charset="0"/>
                      </a:endParaRPr>
                    </a:p>
                  </a:txBody>
                  <a:tcPr marL="63500" marR="63500" marT="63500" marB="63500" anchor="ctr">
                    <a:lnL w="12700" cap="flat" cmpd="sng" algn="ctr">
                      <a:solidFill>
                        <a:srgbClr val="E8E6DC"/>
                      </a:solidFill>
                      <a:prstDash val="solid"/>
                      <a:round/>
                      <a:headEnd type="none" w="med" len="med"/>
                      <a:tailEnd type="none" w="med" len="med"/>
                    </a:lnL>
                    <a:lnR w="12700" cap="flat" cmpd="sng" algn="ctr">
                      <a:solidFill>
                        <a:srgbClr val="E8E6DC"/>
                      </a:solidFill>
                      <a:prstDash val="solid"/>
                      <a:round/>
                      <a:headEnd type="none" w="med" len="med"/>
                      <a:tailEnd type="none" w="med" len="med"/>
                    </a:lnR>
                    <a:lnT w="12700" cap="flat" cmpd="sng" algn="ctr">
                      <a:solidFill>
                        <a:srgbClr val="E8E6DC"/>
                      </a:solidFill>
                      <a:prstDash val="solid"/>
                      <a:round/>
                      <a:headEnd type="none" w="med" len="med"/>
                      <a:tailEnd type="none" w="med" len="med"/>
                    </a:lnT>
                    <a:lnB w="12700" cap="flat" cmpd="sng" algn="ctr">
                      <a:solidFill>
                        <a:srgbClr val="E8E6DC"/>
                      </a:solidFill>
                      <a:prstDash val="solid"/>
                      <a:round/>
                      <a:headEnd type="none" w="med" len="med"/>
                      <a:tailEnd type="none" w="med" len="med"/>
                    </a:lnB>
                    <a:solidFill>
                      <a:srgbClr val="141413"/>
                    </a:solidFill>
                  </a:tcPr>
                </a:tc>
              </a:tr>
              <a:tr h="484632">
                <a:tc>
                  <a:txBody>
                    <a:bodyPr/>
                    <a:lstStyle/>
                    <a:p>
                      <a:pPr algn="l" indent="0" marL="0">
                        <a:buNone/>
                      </a:pPr>
                      <a:r>
                        <a:rPr lang="en-US" sz="1050" dirty="0">
                          <a:solidFill>
                            <a:srgbClr val="4A4943"/>
                          </a:solidFill>
                          <a:latin typeface="Meiryo" pitchFamily="34" charset="0"/>
                          <a:ea typeface="Meiryo" pitchFamily="34" charset="-122"/>
                          <a:cs typeface="Meiryo" pitchFamily="34" charset="-120"/>
                        </a:rPr>
                        <a:t>費用の型</a:t>
                      </a:r>
                      <a:endParaRPr lang="en-US" sz="1050" dirty="0">
                        <a:latin typeface="Meiryo" charset="0"/>
                        <a:ea typeface="Meiryo" charset="0"/>
                        <a:cs typeface="Meiryo" charset="0"/>
                      </a:endParaRPr>
                    </a:p>
                  </a:txBody>
                  <a:tcPr marL="63500" marR="63500" marT="63500" marB="63500" anchor="ctr">
                    <a:lnL w="12700" cap="flat" cmpd="sng" algn="ctr">
                      <a:solidFill>
                        <a:srgbClr val="E8E6DC"/>
                      </a:solidFill>
                      <a:prstDash val="solid"/>
                      <a:round/>
                      <a:headEnd type="none" w="med" len="med"/>
                      <a:tailEnd type="none" w="med" len="med"/>
                    </a:lnL>
                    <a:lnR w="12700" cap="flat" cmpd="sng" algn="ctr">
                      <a:solidFill>
                        <a:srgbClr val="E8E6DC"/>
                      </a:solidFill>
                      <a:prstDash val="solid"/>
                      <a:round/>
                      <a:headEnd type="none" w="med" len="med"/>
                      <a:tailEnd type="none" w="med" len="med"/>
                    </a:lnR>
                    <a:lnT w="12700" cap="flat" cmpd="sng" algn="ctr">
                      <a:solidFill>
                        <a:srgbClr val="E8E6DC"/>
                      </a:solidFill>
                      <a:prstDash val="solid"/>
                      <a:round/>
                      <a:headEnd type="none" w="med" len="med"/>
                      <a:tailEnd type="none" w="med" len="med"/>
                    </a:lnT>
                    <a:lnB w="12700" cap="flat" cmpd="sng" algn="ctr">
                      <a:solidFill>
                        <a:srgbClr val="E8E6DC"/>
                      </a:solidFill>
                      <a:prstDash val="solid"/>
                      <a:round/>
                      <a:headEnd type="none" w="med" len="med"/>
                      <a:tailEnd type="none" w="med" len="med"/>
                    </a:lnB>
                  </a:tcPr>
                </a:tc>
                <a:tc>
                  <a:txBody>
                    <a:bodyPr/>
                    <a:lstStyle/>
                    <a:p>
                      <a:pPr algn="l" indent="0" marL="0">
                        <a:buNone/>
                      </a:pPr>
                      <a:r>
                        <a:rPr lang="en-US" sz="1050" dirty="0">
                          <a:solidFill>
                            <a:srgbClr val="4A4943"/>
                          </a:solidFill>
                          <a:latin typeface="Meiryo" pitchFamily="34" charset="0"/>
                          <a:ea typeface="Meiryo" pitchFamily="34" charset="-122"/>
                          <a:cs typeface="Meiryo" pitchFamily="34" charset="-120"/>
                        </a:rPr>
                        <a:t>変動費（採るたび）</a:t>
                      </a:r>
                      <a:endParaRPr lang="en-US" sz="1050" dirty="0">
                        <a:latin typeface="Meiryo" charset="0"/>
                        <a:ea typeface="Meiryo" charset="0"/>
                        <a:cs typeface="Meiryo" charset="0"/>
                      </a:endParaRPr>
                    </a:p>
                  </a:txBody>
                  <a:tcPr marL="63500" marR="63500" marT="63500" marB="63500" anchor="ctr">
                    <a:lnL w="12700" cap="flat" cmpd="sng" algn="ctr">
                      <a:solidFill>
                        <a:srgbClr val="E8E6DC"/>
                      </a:solidFill>
                      <a:prstDash val="solid"/>
                      <a:round/>
                      <a:headEnd type="none" w="med" len="med"/>
                      <a:tailEnd type="none" w="med" len="med"/>
                    </a:lnL>
                    <a:lnR w="12700" cap="flat" cmpd="sng" algn="ctr">
                      <a:solidFill>
                        <a:srgbClr val="E8E6DC"/>
                      </a:solidFill>
                      <a:prstDash val="solid"/>
                      <a:round/>
                      <a:headEnd type="none" w="med" len="med"/>
                      <a:tailEnd type="none" w="med" len="med"/>
                    </a:lnR>
                    <a:lnT w="12700" cap="flat" cmpd="sng" algn="ctr">
                      <a:solidFill>
                        <a:srgbClr val="E8E6DC"/>
                      </a:solidFill>
                      <a:prstDash val="solid"/>
                      <a:round/>
                      <a:headEnd type="none" w="med" len="med"/>
                      <a:tailEnd type="none" w="med" len="med"/>
                    </a:lnT>
                    <a:lnB w="12700" cap="flat" cmpd="sng" algn="ctr">
                      <a:solidFill>
                        <a:srgbClr val="E8E6DC"/>
                      </a:solidFill>
                      <a:prstDash val="solid"/>
                      <a:round/>
                      <a:headEnd type="none" w="med" len="med"/>
                      <a:tailEnd type="none" w="med" len="med"/>
                    </a:lnB>
                  </a:tcPr>
                </a:tc>
                <a:tc>
                  <a:txBody>
                    <a:bodyPr/>
                    <a:lstStyle/>
                    <a:p>
                      <a:pPr algn="l" indent="0" marL="0">
                        <a:buNone/>
                      </a:pPr>
                      <a:r>
                        <a:rPr lang="en-US" sz="1050" b="1" dirty="0">
                          <a:solidFill>
                            <a:srgbClr val="141413"/>
                          </a:solidFill>
                          <a:latin typeface="Meiryo" pitchFamily="34" charset="0"/>
                          <a:ea typeface="Meiryo" pitchFamily="34" charset="-122"/>
                          <a:cs typeface="Meiryo" pitchFamily="34" charset="-120"/>
                        </a:rPr>
                        <a:t>固定費に近い</a:t>
                      </a:r>
                      <a:endParaRPr lang="en-US" sz="1050" dirty="0">
                        <a:latin typeface="Meiryo" charset="0"/>
                        <a:ea typeface="Meiryo" charset="0"/>
                        <a:cs typeface="Meiryo" charset="0"/>
                      </a:endParaRPr>
                    </a:p>
                  </a:txBody>
                  <a:tcPr marL="63500" marR="63500" marT="63500" marB="63500" anchor="ctr">
                    <a:lnL w="12700" cap="flat" cmpd="sng" algn="ctr">
                      <a:solidFill>
                        <a:srgbClr val="E8E6DC"/>
                      </a:solidFill>
                      <a:prstDash val="solid"/>
                      <a:round/>
                      <a:headEnd type="none" w="med" len="med"/>
                      <a:tailEnd type="none" w="med" len="med"/>
                    </a:lnL>
                    <a:lnR w="12700" cap="flat" cmpd="sng" algn="ctr">
                      <a:solidFill>
                        <a:srgbClr val="E8E6DC"/>
                      </a:solidFill>
                      <a:prstDash val="solid"/>
                      <a:round/>
                      <a:headEnd type="none" w="med" len="med"/>
                      <a:tailEnd type="none" w="med" len="med"/>
                    </a:lnR>
                    <a:lnT w="12700" cap="flat" cmpd="sng" algn="ctr">
                      <a:solidFill>
                        <a:srgbClr val="E8E6DC"/>
                      </a:solidFill>
                      <a:prstDash val="solid"/>
                      <a:round/>
                      <a:headEnd type="none" w="med" len="med"/>
                      <a:tailEnd type="none" w="med" len="med"/>
                    </a:lnT>
                    <a:lnB w="12700" cap="flat" cmpd="sng" algn="ctr">
                      <a:solidFill>
                        <a:srgbClr val="E8E6DC"/>
                      </a:solidFill>
                      <a:prstDash val="solid"/>
                      <a:round/>
                      <a:headEnd type="none" w="med" len="med"/>
                      <a:tailEnd type="none" w="med" len="med"/>
                    </a:lnB>
                  </a:tcPr>
                </a:tc>
              </a:tr>
              <a:tr h="484632">
                <a:tc>
                  <a:txBody>
                    <a:bodyPr/>
                    <a:lstStyle/>
                    <a:p>
                      <a:pPr algn="l" indent="0" marL="0">
                        <a:buNone/>
                      </a:pPr>
                      <a:r>
                        <a:rPr lang="en-US" sz="1050" dirty="0">
                          <a:solidFill>
                            <a:srgbClr val="4A4943"/>
                          </a:solidFill>
                          <a:latin typeface="Meiryo" pitchFamily="34" charset="0"/>
                          <a:ea typeface="Meiryo" pitchFamily="34" charset="-122"/>
                          <a:cs typeface="Meiryo" pitchFamily="34" charset="-120"/>
                        </a:rPr>
                        <a:t>人数が増えると</a:t>
                      </a:r>
                      <a:endParaRPr lang="en-US" sz="1050" dirty="0">
                        <a:latin typeface="Meiryo" charset="0"/>
                        <a:ea typeface="Meiryo" charset="0"/>
                        <a:cs typeface="Meiryo" charset="0"/>
                      </a:endParaRPr>
                    </a:p>
                  </a:txBody>
                  <a:tcPr marL="63500" marR="63500" marT="63500" marB="63500" anchor="ctr">
                    <a:lnL w="12700" cap="flat" cmpd="sng" algn="ctr">
                      <a:solidFill>
                        <a:srgbClr val="E8E6DC"/>
                      </a:solidFill>
                      <a:prstDash val="solid"/>
                      <a:round/>
                      <a:headEnd type="none" w="med" len="med"/>
                      <a:tailEnd type="none" w="med" len="med"/>
                    </a:lnL>
                    <a:lnR w="12700" cap="flat" cmpd="sng" algn="ctr">
                      <a:solidFill>
                        <a:srgbClr val="E8E6DC"/>
                      </a:solidFill>
                      <a:prstDash val="solid"/>
                      <a:round/>
                      <a:headEnd type="none" w="med" len="med"/>
                      <a:tailEnd type="none" w="med" len="med"/>
                    </a:lnR>
                    <a:lnT w="12700" cap="flat" cmpd="sng" algn="ctr">
                      <a:solidFill>
                        <a:srgbClr val="E8E6DC"/>
                      </a:solidFill>
                      <a:prstDash val="solid"/>
                      <a:round/>
                      <a:headEnd type="none" w="med" len="med"/>
                      <a:tailEnd type="none" w="med" len="med"/>
                    </a:lnT>
                    <a:lnB w="12700" cap="flat" cmpd="sng" algn="ctr">
                      <a:solidFill>
                        <a:srgbClr val="E8E6DC"/>
                      </a:solidFill>
                      <a:prstDash val="solid"/>
                      <a:round/>
                      <a:headEnd type="none" w="med" len="med"/>
                      <a:tailEnd type="none" w="med" len="med"/>
                    </a:lnB>
                  </a:tcPr>
                </a:tc>
                <a:tc>
                  <a:txBody>
                    <a:bodyPr/>
                    <a:lstStyle/>
                    <a:p>
                      <a:pPr algn="l" indent="0" marL="0">
                        <a:buNone/>
                      </a:pPr>
                      <a:r>
                        <a:rPr lang="en-US" sz="1050" dirty="0">
                          <a:solidFill>
                            <a:srgbClr val="4A4943"/>
                          </a:solidFill>
                          <a:latin typeface="Meiryo" pitchFamily="34" charset="0"/>
                          <a:ea typeface="Meiryo" pitchFamily="34" charset="-122"/>
                          <a:cs typeface="Meiryo" pitchFamily="34" charset="-120"/>
                        </a:rPr>
                        <a:t>比例して増える</a:t>
                      </a:r>
                      <a:endParaRPr lang="en-US" sz="1050" dirty="0">
                        <a:latin typeface="Meiryo" charset="0"/>
                        <a:ea typeface="Meiryo" charset="0"/>
                        <a:cs typeface="Meiryo" charset="0"/>
                      </a:endParaRPr>
                    </a:p>
                  </a:txBody>
                  <a:tcPr marL="63500" marR="63500" marT="63500" marB="63500" anchor="ctr">
                    <a:lnL w="12700" cap="flat" cmpd="sng" algn="ctr">
                      <a:solidFill>
                        <a:srgbClr val="E8E6DC"/>
                      </a:solidFill>
                      <a:prstDash val="solid"/>
                      <a:round/>
                      <a:headEnd type="none" w="med" len="med"/>
                      <a:tailEnd type="none" w="med" len="med"/>
                    </a:lnL>
                    <a:lnR w="12700" cap="flat" cmpd="sng" algn="ctr">
                      <a:solidFill>
                        <a:srgbClr val="E8E6DC"/>
                      </a:solidFill>
                      <a:prstDash val="solid"/>
                      <a:round/>
                      <a:headEnd type="none" w="med" len="med"/>
                      <a:tailEnd type="none" w="med" len="med"/>
                    </a:lnR>
                    <a:lnT w="12700" cap="flat" cmpd="sng" algn="ctr">
                      <a:solidFill>
                        <a:srgbClr val="E8E6DC"/>
                      </a:solidFill>
                      <a:prstDash val="solid"/>
                      <a:round/>
                      <a:headEnd type="none" w="med" len="med"/>
                      <a:tailEnd type="none" w="med" len="med"/>
                    </a:lnT>
                    <a:lnB w="12700" cap="flat" cmpd="sng" algn="ctr">
                      <a:solidFill>
                        <a:srgbClr val="E8E6DC"/>
                      </a:solidFill>
                      <a:prstDash val="solid"/>
                      <a:round/>
                      <a:headEnd type="none" w="med" len="med"/>
                      <a:tailEnd type="none" w="med" len="med"/>
                    </a:lnB>
                  </a:tcPr>
                </a:tc>
                <a:tc>
                  <a:txBody>
                    <a:bodyPr/>
                    <a:lstStyle/>
                    <a:p>
                      <a:pPr algn="l" indent="0" marL="0">
                        <a:buNone/>
                      </a:pPr>
                      <a:r>
                        <a:rPr lang="en-US" sz="1050" b="1" dirty="0">
                          <a:solidFill>
                            <a:srgbClr val="141413"/>
                          </a:solidFill>
                          <a:latin typeface="Meiryo" pitchFamily="34" charset="0"/>
                          <a:ea typeface="Meiryo" pitchFamily="34" charset="-122"/>
                          <a:cs typeface="Meiryo" pitchFamily="34" charset="-120"/>
                        </a:rPr>
                        <a:t>1 人あたりが下がる</a:t>
                      </a:r>
                      <a:endParaRPr lang="en-US" sz="1050" dirty="0">
                        <a:latin typeface="Meiryo" charset="0"/>
                        <a:ea typeface="Meiryo" charset="0"/>
                        <a:cs typeface="Meiryo" charset="0"/>
                      </a:endParaRPr>
                    </a:p>
                  </a:txBody>
                  <a:tcPr marL="63500" marR="63500" marT="63500" marB="63500" anchor="ctr">
                    <a:lnL w="12700" cap="flat" cmpd="sng" algn="ctr">
                      <a:solidFill>
                        <a:srgbClr val="E8E6DC"/>
                      </a:solidFill>
                      <a:prstDash val="solid"/>
                      <a:round/>
                      <a:headEnd type="none" w="med" len="med"/>
                      <a:tailEnd type="none" w="med" len="med"/>
                    </a:lnL>
                    <a:lnR w="12700" cap="flat" cmpd="sng" algn="ctr">
                      <a:solidFill>
                        <a:srgbClr val="E8E6DC"/>
                      </a:solidFill>
                      <a:prstDash val="solid"/>
                      <a:round/>
                      <a:headEnd type="none" w="med" len="med"/>
                      <a:tailEnd type="none" w="med" len="med"/>
                    </a:lnR>
                    <a:lnT w="12700" cap="flat" cmpd="sng" algn="ctr">
                      <a:solidFill>
                        <a:srgbClr val="E8E6DC"/>
                      </a:solidFill>
                      <a:prstDash val="solid"/>
                      <a:round/>
                      <a:headEnd type="none" w="med" len="med"/>
                      <a:tailEnd type="none" w="med" len="med"/>
                    </a:lnT>
                    <a:lnB w="12700" cap="flat" cmpd="sng" algn="ctr">
                      <a:solidFill>
                        <a:srgbClr val="E8E6DC"/>
                      </a:solidFill>
                      <a:prstDash val="solid"/>
                      <a:round/>
                      <a:headEnd type="none" w="med" len="med"/>
                      <a:tailEnd type="none" w="med" len="med"/>
                    </a:lnB>
                  </a:tcPr>
                </a:tc>
              </a:tr>
              <a:tr h="484632">
                <a:tc>
                  <a:txBody>
                    <a:bodyPr/>
                    <a:lstStyle/>
                    <a:p>
                      <a:pPr algn="l" indent="0" marL="0">
                        <a:buNone/>
                      </a:pPr>
                      <a:r>
                        <a:rPr lang="en-US" sz="1050" dirty="0">
                          <a:solidFill>
                            <a:srgbClr val="4A4943"/>
                          </a:solidFill>
                          <a:latin typeface="Meiryo" pitchFamily="34" charset="0"/>
                          <a:ea typeface="Meiryo" pitchFamily="34" charset="-122"/>
                          <a:cs typeface="Meiryo" pitchFamily="34" charset="-120"/>
                        </a:rPr>
                        <a:t>社内に残るもの</a:t>
                      </a:r>
                      <a:endParaRPr lang="en-US" sz="1050" dirty="0">
                        <a:latin typeface="Meiryo" charset="0"/>
                        <a:ea typeface="Meiryo" charset="0"/>
                        <a:cs typeface="Meiryo" charset="0"/>
                      </a:endParaRPr>
                    </a:p>
                  </a:txBody>
                  <a:tcPr marL="63500" marR="63500" marT="63500" marB="63500" anchor="ctr">
                    <a:lnL w="12700" cap="flat" cmpd="sng" algn="ctr">
                      <a:solidFill>
                        <a:srgbClr val="E8E6DC"/>
                      </a:solidFill>
                      <a:prstDash val="solid"/>
                      <a:round/>
                      <a:headEnd type="none" w="med" len="med"/>
                      <a:tailEnd type="none" w="med" len="med"/>
                    </a:lnL>
                    <a:lnR w="12700" cap="flat" cmpd="sng" algn="ctr">
                      <a:solidFill>
                        <a:srgbClr val="E8E6DC"/>
                      </a:solidFill>
                      <a:prstDash val="solid"/>
                      <a:round/>
                      <a:headEnd type="none" w="med" len="med"/>
                      <a:tailEnd type="none" w="med" len="med"/>
                    </a:lnR>
                    <a:lnT w="12700" cap="flat" cmpd="sng" algn="ctr">
                      <a:solidFill>
                        <a:srgbClr val="E8E6DC"/>
                      </a:solidFill>
                      <a:prstDash val="solid"/>
                      <a:round/>
                      <a:headEnd type="none" w="med" len="med"/>
                      <a:tailEnd type="none" w="med" len="med"/>
                    </a:lnT>
                    <a:lnB w="12700" cap="flat" cmpd="sng" algn="ctr">
                      <a:solidFill>
                        <a:srgbClr val="E8E6DC"/>
                      </a:solidFill>
                      <a:prstDash val="solid"/>
                      <a:round/>
                      <a:headEnd type="none" w="med" len="med"/>
                      <a:tailEnd type="none" w="med" len="med"/>
                    </a:lnB>
                  </a:tcPr>
                </a:tc>
                <a:tc>
                  <a:txBody>
                    <a:bodyPr/>
                    <a:lstStyle/>
                    <a:p>
                      <a:pPr algn="l" indent="0" marL="0">
                        <a:buNone/>
                      </a:pPr>
                      <a:r>
                        <a:rPr lang="en-US" sz="1050" dirty="0">
                          <a:solidFill>
                            <a:srgbClr val="4A4943"/>
                          </a:solidFill>
                          <a:latin typeface="Meiryo" pitchFamily="34" charset="0"/>
                          <a:ea typeface="Meiryo" pitchFamily="34" charset="-122"/>
                          <a:cs typeface="Meiryo" pitchFamily="34" charset="-120"/>
                        </a:rPr>
                        <a:t>何も残らない</a:t>
                      </a:r>
                      <a:endParaRPr lang="en-US" sz="1050" dirty="0">
                        <a:latin typeface="Meiryo" charset="0"/>
                        <a:ea typeface="Meiryo" charset="0"/>
                        <a:cs typeface="Meiryo" charset="0"/>
                      </a:endParaRPr>
                    </a:p>
                  </a:txBody>
                  <a:tcPr marL="63500" marR="63500" marT="63500" marB="63500" anchor="ctr">
                    <a:lnL w="12700" cap="flat" cmpd="sng" algn="ctr">
                      <a:solidFill>
                        <a:srgbClr val="E8E6DC"/>
                      </a:solidFill>
                      <a:prstDash val="solid"/>
                      <a:round/>
                      <a:headEnd type="none" w="med" len="med"/>
                      <a:tailEnd type="none" w="med" len="med"/>
                    </a:lnL>
                    <a:lnR w="12700" cap="flat" cmpd="sng" algn="ctr">
                      <a:solidFill>
                        <a:srgbClr val="E8E6DC"/>
                      </a:solidFill>
                      <a:prstDash val="solid"/>
                      <a:round/>
                      <a:headEnd type="none" w="med" len="med"/>
                      <a:tailEnd type="none" w="med" len="med"/>
                    </a:lnR>
                    <a:lnT w="12700" cap="flat" cmpd="sng" algn="ctr">
                      <a:solidFill>
                        <a:srgbClr val="E8E6DC"/>
                      </a:solidFill>
                      <a:prstDash val="solid"/>
                      <a:round/>
                      <a:headEnd type="none" w="med" len="med"/>
                      <a:tailEnd type="none" w="med" len="med"/>
                    </a:lnT>
                    <a:lnB w="12700" cap="flat" cmpd="sng" algn="ctr">
                      <a:solidFill>
                        <a:srgbClr val="E8E6DC"/>
                      </a:solidFill>
                      <a:prstDash val="solid"/>
                      <a:round/>
                      <a:headEnd type="none" w="med" len="med"/>
                      <a:tailEnd type="none" w="med" len="med"/>
                    </a:lnB>
                  </a:tcPr>
                </a:tc>
                <a:tc>
                  <a:txBody>
                    <a:bodyPr/>
                    <a:lstStyle/>
                    <a:p>
                      <a:pPr algn="l" indent="0" marL="0">
                        <a:buNone/>
                      </a:pPr>
                      <a:r>
                        <a:rPr lang="en-US" sz="1050" b="1" dirty="0">
                          <a:solidFill>
                            <a:srgbClr val="141413"/>
                          </a:solidFill>
                          <a:latin typeface="Meiryo" pitchFamily="34" charset="0"/>
                          <a:ea typeface="Meiryo" pitchFamily="34" charset="-122"/>
                          <a:cs typeface="Meiryo" pitchFamily="34" charset="-120"/>
                        </a:rPr>
                        <a:t>求人票・ページ・型</a:t>
                      </a:r>
                      <a:endParaRPr lang="en-US" sz="1050" dirty="0">
                        <a:latin typeface="Meiryo" charset="0"/>
                        <a:ea typeface="Meiryo" charset="0"/>
                        <a:cs typeface="Meiryo" charset="0"/>
                      </a:endParaRPr>
                    </a:p>
                  </a:txBody>
                  <a:tcPr marL="63500" marR="63500" marT="63500" marB="63500" anchor="ctr">
                    <a:lnL w="12700" cap="flat" cmpd="sng" algn="ctr">
                      <a:solidFill>
                        <a:srgbClr val="E8E6DC"/>
                      </a:solidFill>
                      <a:prstDash val="solid"/>
                      <a:round/>
                      <a:headEnd type="none" w="med" len="med"/>
                      <a:tailEnd type="none" w="med" len="med"/>
                    </a:lnL>
                    <a:lnR w="12700" cap="flat" cmpd="sng" algn="ctr">
                      <a:solidFill>
                        <a:srgbClr val="E8E6DC"/>
                      </a:solidFill>
                      <a:prstDash val="solid"/>
                      <a:round/>
                      <a:headEnd type="none" w="med" len="med"/>
                      <a:tailEnd type="none" w="med" len="med"/>
                    </a:lnR>
                    <a:lnT w="12700" cap="flat" cmpd="sng" algn="ctr">
                      <a:solidFill>
                        <a:srgbClr val="E8E6DC"/>
                      </a:solidFill>
                      <a:prstDash val="solid"/>
                      <a:round/>
                      <a:headEnd type="none" w="med" len="med"/>
                      <a:tailEnd type="none" w="med" len="med"/>
                    </a:lnT>
                    <a:lnB w="12700" cap="flat" cmpd="sng" algn="ctr">
                      <a:solidFill>
                        <a:srgbClr val="E8E6DC"/>
                      </a:solidFill>
                      <a:prstDash val="solid"/>
                      <a:round/>
                      <a:headEnd type="none" w="med" len="med"/>
                      <a:tailEnd type="none" w="med" len="med"/>
                    </a:lnB>
                  </a:tcPr>
                </a:tc>
              </a:tr>
              <a:tr h="484632">
                <a:tc>
                  <a:txBody>
                    <a:bodyPr/>
                    <a:lstStyle/>
                    <a:p>
                      <a:pPr algn="l" indent="0" marL="0">
                        <a:buNone/>
                      </a:pPr>
                      <a:r>
                        <a:rPr lang="en-US" sz="1050" dirty="0">
                          <a:solidFill>
                            <a:srgbClr val="4A4943"/>
                          </a:solidFill>
                          <a:latin typeface="Meiryo" pitchFamily="34" charset="0"/>
                          <a:ea typeface="Meiryo" pitchFamily="34" charset="-122"/>
                          <a:cs typeface="Meiryo" pitchFamily="34" charset="-120"/>
                        </a:rPr>
                        <a:t>立ち上げの速さ</a:t>
                      </a:r>
                      <a:endParaRPr lang="en-US" sz="1050" dirty="0">
                        <a:latin typeface="Meiryo" charset="0"/>
                        <a:ea typeface="Meiryo" charset="0"/>
                        <a:cs typeface="Meiryo" charset="0"/>
                      </a:endParaRPr>
                    </a:p>
                  </a:txBody>
                  <a:tcPr marL="63500" marR="63500" marT="63500" marB="63500" anchor="ctr">
                    <a:lnL w="12700" cap="flat" cmpd="sng" algn="ctr">
                      <a:solidFill>
                        <a:srgbClr val="E8E6DC"/>
                      </a:solidFill>
                      <a:prstDash val="solid"/>
                      <a:round/>
                      <a:headEnd type="none" w="med" len="med"/>
                      <a:tailEnd type="none" w="med" len="med"/>
                    </a:lnL>
                    <a:lnR w="12700" cap="flat" cmpd="sng" algn="ctr">
                      <a:solidFill>
                        <a:srgbClr val="E8E6DC"/>
                      </a:solidFill>
                      <a:prstDash val="solid"/>
                      <a:round/>
                      <a:headEnd type="none" w="med" len="med"/>
                      <a:tailEnd type="none" w="med" len="med"/>
                    </a:lnR>
                    <a:lnT w="12700" cap="flat" cmpd="sng" algn="ctr">
                      <a:solidFill>
                        <a:srgbClr val="E8E6DC"/>
                      </a:solidFill>
                      <a:prstDash val="solid"/>
                      <a:round/>
                      <a:headEnd type="none" w="med" len="med"/>
                      <a:tailEnd type="none" w="med" len="med"/>
                    </a:lnT>
                    <a:lnB w="12700" cap="flat" cmpd="sng" algn="ctr">
                      <a:solidFill>
                        <a:srgbClr val="E8E6DC"/>
                      </a:solidFill>
                      <a:prstDash val="solid"/>
                      <a:round/>
                      <a:headEnd type="none" w="med" len="med"/>
                      <a:tailEnd type="none" w="med" len="med"/>
                    </a:lnB>
                  </a:tcPr>
                </a:tc>
                <a:tc>
                  <a:txBody>
                    <a:bodyPr/>
                    <a:lstStyle/>
                    <a:p>
                      <a:pPr algn="l" indent="0" marL="0">
                        <a:buNone/>
                      </a:pPr>
                      <a:r>
                        <a:rPr lang="en-US" sz="1050" dirty="0">
                          <a:solidFill>
                            <a:srgbClr val="4A4943"/>
                          </a:solidFill>
                          <a:latin typeface="Meiryo" pitchFamily="34" charset="0"/>
                          <a:ea typeface="Meiryo" pitchFamily="34" charset="-122"/>
                          <a:cs typeface="Meiryo" pitchFamily="34" charset="-120"/>
                        </a:rPr>
                        <a:t>速い</a:t>
                      </a:r>
                      <a:endParaRPr lang="en-US" sz="1050" dirty="0">
                        <a:latin typeface="Meiryo" charset="0"/>
                        <a:ea typeface="Meiryo" charset="0"/>
                        <a:cs typeface="Meiryo" charset="0"/>
                      </a:endParaRPr>
                    </a:p>
                  </a:txBody>
                  <a:tcPr marL="63500" marR="63500" marT="63500" marB="63500" anchor="ctr">
                    <a:lnL w="12700" cap="flat" cmpd="sng" algn="ctr">
                      <a:solidFill>
                        <a:srgbClr val="E8E6DC"/>
                      </a:solidFill>
                      <a:prstDash val="solid"/>
                      <a:round/>
                      <a:headEnd type="none" w="med" len="med"/>
                      <a:tailEnd type="none" w="med" len="med"/>
                    </a:lnL>
                    <a:lnR w="12700" cap="flat" cmpd="sng" algn="ctr">
                      <a:solidFill>
                        <a:srgbClr val="E8E6DC"/>
                      </a:solidFill>
                      <a:prstDash val="solid"/>
                      <a:round/>
                      <a:headEnd type="none" w="med" len="med"/>
                      <a:tailEnd type="none" w="med" len="med"/>
                    </a:lnR>
                    <a:lnT w="12700" cap="flat" cmpd="sng" algn="ctr">
                      <a:solidFill>
                        <a:srgbClr val="E8E6DC"/>
                      </a:solidFill>
                      <a:prstDash val="solid"/>
                      <a:round/>
                      <a:headEnd type="none" w="med" len="med"/>
                      <a:tailEnd type="none" w="med" len="med"/>
                    </a:lnT>
                    <a:lnB w="12700" cap="flat" cmpd="sng" algn="ctr">
                      <a:solidFill>
                        <a:srgbClr val="E8E6DC"/>
                      </a:solidFill>
                      <a:prstDash val="solid"/>
                      <a:round/>
                      <a:headEnd type="none" w="med" len="med"/>
                      <a:tailEnd type="none" w="med" len="med"/>
                    </a:lnB>
                  </a:tcPr>
                </a:tc>
                <a:tc>
                  <a:txBody>
                    <a:bodyPr/>
                    <a:lstStyle/>
                    <a:p>
                      <a:pPr algn="l" indent="0" marL="0">
                        <a:buNone/>
                      </a:pPr>
                      <a:r>
                        <a:rPr lang="en-US" sz="1050" dirty="0">
                          <a:solidFill>
                            <a:srgbClr val="4A4943"/>
                          </a:solidFill>
                          <a:latin typeface="Meiryo" pitchFamily="34" charset="0"/>
                          <a:ea typeface="Meiryo" pitchFamily="34" charset="-122"/>
                          <a:cs typeface="Meiryo" pitchFamily="34" charset="-120"/>
                        </a:rPr>
                        <a:t>3 か月ほどかかる</a:t>
                      </a:r>
                      <a:endParaRPr lang="en-US" sz="1050" dirty="0">
                        <a:latin typeface="Meiryo" charset="0"/>
                        <a:ea typeface="Meiryo" charset="0"/>
                        <a:cs typeface="Meiryo" charset="0"/>
                      </a:endParaRPr>
                    </a:p>
                  </a:txBody>
                  <a:tcPr marL="63500" marR="63500" marT="63500" marB="63500" anchor="ctr">
                    <a:lnL w="12700" cap="flat" cmpd="sng" algn="ctr">
                      <a:solidFill>
                        <a:srgbClr val="E8E6DC"/>
                      </a:solidFill>
                      <a:prstDash val="solid"/>
                      <a:round/>
                      <a:headEnd type="none" w="med" len="med"/>
                      <a:tailEnd type="none" w="med" len="med"/>
                    </a:lnL>
                    <a:lnR w="12700" cap="flat" cmpd="sng" algn="ctr">
                      <a:solidFill>
                        <a:srgbClr val="E8E6DC"/>
                      </a:solidFill>
                      <a:prstDash val="solid"/>
                      <a:round/>
                      <a:headEnd type="none" w="med" len="med"/>
                      <a:tailEnd type="none" w="med" len="med"/>
                    </a:lnR>
                    <a:lnT w="12700" cap="flat" cmpd="sng" algn="ctr">
                      <a:solidFill>
                        <a:srgbClr val="E8E6DC"/>
                      </a:solidFill>
                      <a:prstDash val="solid"/>
                      <a:round/>
                      <a:headEnd type="none" w="med" len="med"/>
                      <a:tailEnd type="none" w="med" len="med"/>
                    </a:lnT>
                    <a:lnB w="12700" cap="flat" cmpd="sng" algn="ctr">
                      <a:solidFill>
                        <a:srgbClr val="E8E6DC"/>
                      </a:solidFill>
                      <a:prstDash val="solid"/>
                      <a:round/>
                      <a:headEnd type="none" w="med" len="med"/>
                      <a:tailEnd type="none" w="med" len="med"/>
                    </a:lnB>
                  </a:tcPr>
                </a:tc>
              </a:tr>
              <a:tr h="484632">
                <a:tc>
                  <a:txBody>
                    <a:bodyPr/>
                    <a:lstStyle/>
                    <a:p>
                      <a:pPr algn="l" indent="0" marL="0">
                        <a:buNone/>
                      </a:pPr>
                      <a:r>
                        <a:rPr lang="en-US" sz="1050" dirty="0">
                          <a:solidFill>
                            <a:srgbClr val="4A4943"/>
                          </a:solidFill>
                          <a:latin typeface="Meiryo" pitchFamily="34" charset="0"/>
                          <a:ea typeface="Meiryo" pitchFamily="34" charset="-122"/>
                          <a:cs typeface="Meiryo" pitchFamily="34" charset="-120"/>
                        </a:rPr>
                        <a:t>向いている場面</a:t>
                      </a:r>
                      <a:endParaRPr lang="en-US" sz="1050" dirty="0">
                        <a:latin typeface="Meiryo" charset="0"/>
                        <a:ea typeface="Meiryo" charset="0"/>
                        <a:cs typeface="Meiryo" charset="0"/>
                      </a:endParaRPr>
                    </a:p>
                  </a:txBody>
                  <a:tcPr marL="63500" marR="63500" marT="63500" marB="63500" anchor="ctr">
                    <a:lnL w="12700" cap="flat" cmpd="sng" algn="ctr">
                      <a:solidFill>
                        <a:srgbClr val="E8E6DC"/>
                      </a:solidFill>
                      <a:prstDash val="solid"/>
                      <a:round/>
                      <a:headEnd type="none" w="med" len="med"/>
                      <a:tailEnd type="none" w="med" len="med"/>
                    </a:lnL>
                    <a:lnR w="12700" cap="flat" cmpd="sng" algn="ctr">
                      <a:solidFill>
                        <a:srgbClr val="E8E6DC"/>
                      </a:solidFill>
                      <a:prstDash val="solid"/>
                      <a:round/>
                      <a:headEnd type="none" w="med" len="med"/>
                      <a:tailEnd type="none" w="med" len="med"/>
                    </a:lnR>
                    <a:lnT w="12700" cap="flat" cmpd="sng" algn="ctr">
                      <a:solidFill>
                        <a:srgbClr val="E8E6DC"/>
                      </a:solidFill>
                      <a:prstDash val="solid"/>
                      <a:round/>
                      <a:headEnd type="none" w="med" len="med"/>
                      <a:tailEnd type="none" w="med" len="med"/>
                    </a:lnT>
                    <a:lnB w="12700" cap="flat" cmpd="sng" algn="ctr">
                      <a:solidFill>
                        <a:srgbClr val="E8E6DC"/>
                      </a:solidFill>
                      <a:prstDash val="solid"/>
                      <a:round/>
                      <a:headEnd type="none" w="med" len="med"/>
                      <a:tailEnd type="none" w="med" len="med"/>
                    </a:lnB>
                  </a:tcPr>
                </a:tc>
                <a:tc>
                  <a:txBody>
                    <a:bodyPr/>
                    <a:lstStyle/>
                    <a:p>
                      <a:pPr algn="l" indent="0" marL="0">
                        <a:buNone/>
                      </a:pPr>
                      <a:r>
                        <a:rPr lang="en-US" sz="1050" dirty="0">
                          <a:solidFill>
                            <a:srgbClr val="4A4943"/>
                          </a:solidFill>
                          <a:latin typeface="Meiryo" pitchFamily="34" charset="0"/>
                          <a:ea typeface="Meiryo" pitchFamily="34" charset="-122"/>
                          <a:cs typeface="Meiryo" pitchFamily="34" charset="-120"/>
                        </a:rPr>
                        <a:t>急な欠員・専門職</a:t>
                      </a:r>
                      <a:endParaRPr lang="en-US" sz="1050" dirty="0">
                        <a:latin typeface="Meiryo" charset="0"/>
                        <a:ea typeface="Meiryo" charset="0"/>
                        <a:cs typeface="Meiryo" charset="0"/>
                      </a:endParaRPr>
                    </a:p>
                  </a:txBody>
                  <a:tcPr marL="63500" marR="63500" marT="63500" marB="63500" anchor="ctr">
                    <a:lnL w="12700" cap="flat" cmpd="sng" algn="ctr">
                      <a:solidFill>
                        <a:srgbClr val="E8E6DC"/>
                      </a:solidFill>
                      <a:prstDash val="solid"/>
                      <a:round/>
                      <a:headEnd type="none" w="med" len="med"/>
                      <a:tailEnd type="none" w="med" len="med"/>
                    </a:lnL>
                    <a:lnR w="12700" cap="flat" cmpd="sng" algn="ctr">
                      <a:solidFill>
                        <a:srgbClr val="E8E6DC"/>
                      </a:solidFill>
                      <a:prstDash val="solid"/>
                      <a:round/>
                      <a:headEnd type="none" w="med" len="med"/>
                      <a:tailEnd type="none" w="med" len="med"/>
                    </a:lnR>
                    <a:lnT w="12700" cap="flat" cmpd="sng" algn="ctr">
                      <a:solidFill>
                        <a:srgbClr val="E8E6DC"/>
                      </a:solidFill>
                      <a:prstDash val="solid"/>
                      <a:round/>
                      <a:headEnd type="none" w="med" len="med"/>
                      <a:tailEnd type="none" w="med" len="med"/>
                    </a:lnT>
                    <a:lnB w="12700" cap="flat" cmpd="sng" algn="ctr">
                      <a:solidFill>
                        <a:srgbClr val="E8E6DC"/>
                      </a:solidFill>
                      <a:prstDash val="solid"/>
                      <a:round/>
                      <a:headEnd type="none" w="med" len="med"/>
                      <a:tailEnd type="none" w="med" len="med"/>
                    </a:lnB>
                  </a:tcPr>
                </a:tc>
                <a:tc>
                  <a:txBody>
                    <a:bodyPr/>
                    <a:lstStyle/>
                    <a:p>
                      <a:pPr algn="l" indent="0" marL="0">
                        <a:buNone/>
                      </a:pPr>
                      <a:r>
                        <a:rPr lang="en-US" sz="1050" dirty="0">
                          <a:solidFill>
                            <a:srgbClr val="4A4943"/>
                          </a:solidFill>
                          <a:latin typeface="Meiryo" pitchFamily="34" charset="0"/>
                          <a:ea typeface="Meiryo" pitchFamily="34" charset="-122"/>
                          <a:cs typeface="Meiryo" pitchFamily="34" charset="-120"/>
                        </a:rPr>
                        <a:t>計画的な採用の主軸</a:t>
                      </a:r>
                      <a:endParaRPr lang="en-US" sz="1050" dirty="0">
                        <a:latin typeface="Meiryo" charset="0"/>
                        <a:ea typeface="Meiryo" charset="0"/>
                        <a:cs typeface="Meiryo" charset="0"/>
                      </a:endParaRPr>
                    </a:p>
                  </a:txBody>
                  <a:tcPr marL="63500" marR="63500" marT="63500" marB="63500" anchor="ctr">
                    <a:lnL w="12700" cap="flat" cmpd="sng" algn="ctr">
                      <a:solidFill>
                        <a:srgbClr val="E8E6DC"/>
                      </a:solidFill>
                      <a:prstDash val="solid"/>
                      <a:round/>
                      <a:headEnd type="none" w="med" len="med"/>
                      <a:tailEnd type="none" w="med" len="med"/>
                    </a:lnL>
                    <a:lnR w="12700" cap="flat" cmpd="sng" algn="ctr">
                      <a:solidFill>
                        <a:srgbClr val="E8E6DC"/>
                      </a:solidFill>
                      <a:prstDash val="solid"/>
                      <a:round/>
                      <a:headEnd type="none" w="med" len="med"/>
                      <a:tailEnd type="none" w="med" len="med"/>
                    </a:lnR>
                    <a:lnT w="12700" cap="flat" cmpd="sng" algn="ctr">
                      <a:solidFill>
                        <a:srgbClr val="E8E6DC"/>
                      </a:solidFill>
                      <a:prstDash val="solid"/>
                      <a:round/>
                      <a:headEnd type="none" w="med" len="med"/>
                      <a:tailEnd type="none" w="med" len="med"/>
                    </a:lnT>
                    <a:lnB w="12700" cap="flat" cmpd="sng" algn="ctr">
                      <a:solidFill>
                        <a:srgbClr val="E8E6DC"/>
                      </a:solidFill>
                      <a:prstDash val="solid"/>
                      <a:round/>
                      <a:headEnd type="none" w="med" len="med"/>
                      <a:tailEnd type="none" w="med" len="med"/>
                    </a:lnB>
                  </a:tcPr>
                </a:tc>
              </a:tr>
            </a:tbl>
          </a:graphicData>
        </a:graphic>
      </p:graphicFrame>
      <p:sp>
        <p:nvSpPr>
          <p:cNvPr id="10" name="Shape 6"/>
          <p:cNvSpPr/>
          <p:nvPr/>
        </p:nvSpPr>
        <p:spPr>
          <a:xfrm>
            <a:off x="7223760" y="4754880"/>
            <a:ext cx="4297680" cy="777240"/>
          </a:xfrm>
          <a:prstGeom prst="roundRect">
            <a:avLst>
              <a:gd name="adj" fmla="val 7059"/>
            </a:avLst>
          </a:prstGeom>
          <a:solidFill>
            <a:srgbClr val="141413"/>
          </a:solidFill>
          <a:ln/>
        </p:spPr>
      </p:sp>
      <p:sp>
        <p:nvSpPr>
          <p:cNvPr id="11" name="Text 7"/>
          <p:cNvSpPr/>
          <p:nvPr/>
        </p:nvSpPr>
        <p:spPr>
          <a:xfrm>
            <a:off x="7424928" y="4754880"/>
            <a:ext cx="3895344" cy="777240"/>
          </a:xfrm>
          <a:prstGeom prst="rect">
            <a:avLst/>
          </a:prstGeom>
          <a:noFill/>
          <a:ln/>
        </p:spPr>
        <p:txBody>
          <a:bodyPr wrap="square" lIns="0" tIns="0" rIns="0" bIns="0" rtlCol="0" anchor="ctr"/>
          <a:lstStyle/>
          <a:p>
            <a:pPr indent="0" marL="0">
              <a:lnSpc>
                <a:spcPts val="1700"/>
              </a:lnSpc>
              <a:buNone/>
            </a:pPr>
            <a:r>
              <a:rPr lang="en-US" sz="1100" dirty="0">
                <a:solidFill>
                  <a:srgbClr val="FFFFFF"/>
                </a:solidFill>
                <a:latin typeface="Meiryo" pitchFamily="34" charset="0"/>
                <a:ea typeface="Meiryo" pitchFamily="34" charset="-122"/>
                <a:cs typeface="Meiryo" pitchFamily="34" charset="-120"/>
              </a:rPr>
              <a:t>紹介会社をゼロにする必要はありません。</a:t>
            </a:r>
            <a:endParaRPr lang="en-US" sz="1100" dirty="0"/>
          </a:p>
          <a:p>
            <a:pPr indent="0" marL="0">
              <a:lnSpc>
                <a:spcPts val="1700"/>
              </a:lnSpc>
              <a:buNone/>
            </a:pPr>
            <a:r>
              <a:rPr lang="en-US" sz="1100" dirty="0">
                <a:solidFill>
                  <a:srgbClr val="FFFFFF"/>
                </a:solidFill>
                <a:latin typeface="Meiryo" pitchFamily="34" charset="0"/>
                <a:ea typeface="Meiryo" pitchFamily="34" charset="-122"/>
                <a:cs typeface="Meiryo" pitchFamily="34" charset="-120"/>
              </a:rPr>
              <a:t>主軸を内製に移し、紹介は緊急時の保険にします。</a:t>
            </a:r>
            <a:endParaRPr lang="en-US" sz="1100" dirty="0"/>
          </a:p>
        </p:txBody>
      </p:sp>
      <p:sp>
        <p:nvSpPr>
          <p:cNvPr id="12" name="Text 8"/>
          <p:cNvSpPr/>
          <p:nvPr/>
        </p:nvSpPr>
        <p:spPr>
          <a:xfrm>
            <a:off x="640080" y="5623560"/>
            <a:ext cx="10881360" cy="320040"/>
          </a:xfrm>
          <a:prstGeom prst="rect">
            <a:avLst/>
          </a:prstGeom>
          <a:noFill/>
          <a:ln/>
        </p:spPr>
        <p:txBody>
          <a:bodyPr wrap="square" lIns="0" tIns="0" rIns="0" bIns="0" rtlCol="0" anchor="ctr"/>
          <a:lstStyle/>
          <a:p>
            <a:pPr indent="0" marL="0">
              <a:buNone/>
            </a:pPr>
            <a:r>
              <a:rPr lang="en-US" sz="1000" dirty="0">
                <a:solidFill>
                  <a:srgbClr val="7D7B72"/>
                </a:solidFill>
                <a:latin typeface="Meiryo" pitchFamily="34" charset="0"/>
                <a:ea typeface="Meiryo" pitchFamily="34" charset="-122"/>
                <a:cs typeface="Meiryo" pitchFamily="34" charset="-120"/>
              </a:rPr>
              <a:t>※ 内製側の初期 60 万円は、ページ制作・写真・動画・初期工数を含む試算例です。</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347472"/>
            <a:ext cx="1783080" cy="329184"/>
          </a:xfrm>
          <a:prstGeom prst="roundRect">
            <a:avLst>
              <a:gd name="adj" fmla="val 13889"/>
            </a:avLst>
          </a:prstGeom>
          <a:solidFill>
            <a:srgbClr val="D97757"/>
          </a:solidFill>
          <a:ln/>
        </p:spPr>
      </p:sp>
      <p:sp>
        <p:nvSpPr>
          <p:cNvPr id="3" name="Text 1"/>
          <p:cNvSpPr/>
          <p:nvPr/>
        </p:nvSpPr>
        <p:spPr>
          <a:xfrm>
            <a:off x="640080" y="347472"/>
            <a:ext cx="1783080" cy="329184"/>
          </a:xfrm>
          <a:prstGeom prst="rect">
            <a:avLst/>
          </a:prstGeom>
          <a:noFill/>
          <a:ln/>
        </p:spPr>
        <p:txBody>
          <a:bodyPr wrap="square" lIns="0" tIns="0" rIns="0" bIns="0" rtlCol="0" anchor="ctr"/>
          <a:lstStyle/>
          <a:p>
            <a:pPr algn="ctr" indent="0" marL="0">
              <a:buNone/>
            </a:pPr>
            <a:r>
              <a:rPr lang="en-US" sz="1150" b="1" spc="100" kern="0" dirty="0">
                <a:solidFill>
                  <a:srgbClr val="FFFFFF"/>
                </a:solidFill>
                <a:latin typeface="Meiryo" pitchFamily="34" charset="0"/>
                <a:ea typeface="Meiryo" pitchFamily="34" charset="-122"/>
                <a:cs typeface="Meiryo" pitchFamily="34" charset="-120"/>
              </a:rPr>
              <a:t>MODULE 3</a:t>
            </a:r>
            <a:endParaRPr lang="en-US" sz="1150" dirty="0"/>
          </a:p>
        </p:txBody>
      </p:sp>
      <p:sp>
        <p:nvSpPr>
          <p:cNvPr id="4" name="Text 2"/>
          <p:cNvSpPr/>
          <p:nvPr/>
        </p:nvSpPr>
        <p:spPr>
          <a:xfrm>
            <a:off x="640080" y="768096"/>
            <a:ext cx="10881360" cy="566928"/>
          </a:xfrm>
          <a:prstGeom prst="rect">
            <a:avLst/>
          </a:prstGeom>
          <a:noFill/>
          <a:ln/>
        </p:spPr>
        <p:txBody>
          <a:bodyPr wrap="square" lIns="0" tIns="0" rIns="0" bIns="0" rtlCol="0" anchor="ctr"/>
          <a:lstStyle/>
          <a:p>
            <a:pPr indent="0" marL="0">
              <a:buNone/>
            </a:pPr>
            <a:r>
              <a:rPr lang="en-US" sz="2700" b="1" dirty="0">
                <a:solidFill>
                  <a:srgbClr val="141413"/>
                </a:solidFill>
                <a:latin typeface="Meiryo" pitchFamily="34" charset="0"/>
                <a:ea typeface="Meiryo" pitchFamily="34" charset="-122"/>
                <a:cs typeface="Meiryo" pitchFamily="34" charset="-120"/>
              </a:rPr>
              <a:t>採用ページの鉄板構成 ｜ 6 ブロック</a:t>
            </a:r>
            <a:endParaRPr lang="en-US" sz="2700" dirty="0"/>
          </a:p>
        </p:txBody>
      </p:sp>
      <p:sp>
        <p:nvSpPr>
          <p:cNvPr id="5" name="Text 3"/>
          <p:cNvSpPr/>
          <p:nvPr/>
        </p:nvSpPr>
        <p:spPr>
          <a:xfrm>
            <a:off x="640080" y="1316736"/>
            <a:ext cx="10881360" cy="329184"/>
          </a:xfrm>
          <a:prstGeom prst="rect">
            <a:avLst/>
          </a:prstGeom>
          <a:noFill/>
          <a:ln/>
        </p:spPr>
        <p:txBody>
          <a:bodyPr wrap="square" lIns="0" tIns="0" rIns="0" bIns="0" rtlCol="0" anchor="ctr"/>
          <a:lstStyle/>
          <a:p>
            <a:pPr indent="0" marL="0">
              <a:buNone/>
            </a:pPr>
            <a:r>
              <a:rPr lang="en-US" sz="1300" dirty="0">
                <a:solidFill>
                  <a:srgbClr val="6E6C63"/>
                </a:solidFill>
                <a:latin typeface="Meiryo" pitchFamily="34" charset="0"/>
                <a:ea typeface="Meiryo" pitchFamily="34" charset="-122"/>
                <a:cs typeface="Meiryo" pitchFamily="34" charset="-120"/>
              </a:rPr>
              <a:t>告知の場ではなく、上から順に読ませる 1 本のストーリーとして組みます</a:t>
            </a:r>
            <a:endParaRPr lang="en-US" sz="1300" dirty="0"/>
          </a:p>
        </p:txBody>
      </p:sp>
      <p:sp>
        <p:nvSpPr>
          <p:cNvPr id="6" name="Shape 4"/>
          <p:cNvSpPr/>
          <p:nvPr/>
        </p:nvSpPr>
        <p:spPr>
          <a:xfrm>
            <a:off x="640080" y="1828800"/>
            <a:ext cx="5234940" cy="1170432"/>
          </a:xfrm>
          <a:prstGeom prst="roundRect">
            <a:avLst>
              <a:gd name="adj" fmla="val 3906"/>
            </a:avLst>
          </a:prstGeom>
          <a:solidFill>
            <a:srgbClr val="FAF9F5"/>
          </a:solidFill>
          <a:ln w="12700">
            <a:solidFill>
              <a:srgbClr val="E8E6DC"/>
            </a:solidFill>
            <a:prstDash val="solid"/>
          </a:ln>
        </p:spPr>
      </p:sp>
      <p:sp>
        <p:nvSpPr>
          <p:cNvPr id="7" name="Shape 5"/>
          <p:cNvSpPr/>
          <p:nvPr/>
        </p:nvSpPr>
        <p:spPr>
          <a:xfrm>
            <a:off x="896112" y="2084832"/>
            <a:ext cx="502920" cy="502920"/>
          </a:xfrm>
          <a:prstGeom prst="ellipse">
            <a:avLst/>
          </a:prstGeom>
          <a:solidFill>
            <a:srgbClr val="141413"/>
          </a:solidFill>
          <a:ln/>
        </p:spPr>
      </p:sp>
      <p:sp>
        <p:nvSpPr>
          <p:cNvPr id="8" name="Text 6"/>
          <p:cNvSpPr/>
          <p:nvPr/>
        </p:nvSpPr>
        <p:spPr>
          <a:xfrm>
            <a:off x="896112" y="2084832"/>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Meiryo" pitchFamily="34" charset="0"/>
                <a:ea typeface="Meiryo" pitchFamily="34" charset="-122"/>
                <a:cs typeface="Meiryo" pitchFamily="34" charset="-120"/>
              </a:rPr>
              <a:t>1</a:t>
            </a:r>
            <a:endParaRPr lang="en-US" sz="1600" dirty="0"/>
          </a:p>
        </p:txBody>
      </p:sp>
      <p:sp>
        <p:nvSpPr>
          <p:cNvPr id="9" name="Text 7"/>
          <p:cNvSpPr/>
          <p:nvPr/>
        </p:nvSpPr>
        <p:spPr>
          <a:xfrm>
            <a:off x="1554480" y="1993392"/>
            <a:ext cx="4046220" cy="329184"/>
          </a:xfrm>
          <a:prstGeom prst="rect">
            <a:avLst/>
          </a:prstGeom>
          <a:noFill/>
          <a:ln/>
        </p:spPr>
        <p:txBody>
          <a:bodyPr wrap="square" lIns="0" tIns="0" rIns="0" bIns="0" rtlCol="0" anchor="ctr"/>
          <a:lstStyle/>
          <a:p>
            <a:pPr indent="0" marL="0">
              <a:buNone/>
            </a:pPr>
            <a:r>
              <a:rPr lang="en-US" sz="1400" b="1" dirty="0">
                <a:solidFill>
                  <a:srgbClr val="141413"/>
                </a:solidFill>
                <a:latin typeface="Meiryo" pitchFamily="34" charset="0"/>
                <a:ea typeface="Meiryo" pitchFamily="34" charset="-122"/>
                <a:cs typeface="Meiryo" pitchFamily="34" charset="-120"/>
              </a:rPr>
              <a:t>メインパネル（キャッチコピー）</a:t>
            </a:r>
            <a:endParaRPr lang="en-US" sz="1400" dirty="0"/>
          </a:p>
        </p:txBody>
      </p:sp>
      <p:sp>
        <p:nvSpPr>
          <p:cNvPr id="10" name="Text 8"/>
          <p:cNvSpPr/>
          <p:nvPr/>
        </p:nvSpPr>
        <p:spPr>
          <a:xfrm>
            <a:off x="1554480" y="2331720"/>
            <a:ext cx="4046220" cy="566928"/>
          </a:xfrm>
          <a:prstGeom prst="rect">
            <a:avLst/>
          </a:prstGeom>
          <a:noFill/>
          <a:ln/>
        </p:spPr>
        <p:txBody>
          <a:bodyPr wrap="square" lIns="0" tIns="0" rIns="0" bIns="0" rtlCol="0" anchor="t"/>
          <a:lstStyle/>
          <a:p>
            <a:pPr indent="0" marL="0">
              <a:lnSpc>
                <a:spcPts val="1600"/>
              </a:lnSpc>
              <a:buNone/>
            </a:pPr>
            <a:r>
              <a:rPr lang="en-US" sz="1050" dirty="0">
                <a:solidFill>
                  <a:srgbClr val="6E6C63"/>
                </a:solidFill>
                <a:latin typeface="Meiryo" pitchFamily="34" charset="0"/>
                <a:ea typeface="Meiryo" pitchFamily="34" charset="-122"/>
                <a:cs typeface="Meiryo" pitchFamily="34" charset="-120"/>
              </a:rPr>
              <a:t>ターゲットが今かかえている状況と本音を言語化し、「これは自分向けの求人だ」と気づかせる。</a:t>
            </a:r>
            <a:endParaRPr lang="en-US" sz="1050" dirty="0"/>
          </a:p>
        </p:txBody>
      </p:sp>
      <p:sp>
        <p:nvSpPr>
          <p:cNvPr id="11" name="Shape 9"/>
          <p:cNvSpPr/>
          <p:nvPr/>
        </p:nvSpPr>
        <p:spPr>
          <a:xfrm>
            <a:off x="6286500" y="1828800"/>
            <a:ext cx="5234940" cy="1170432"/>
          </a:xfrm>
          <a:prstGeom prst="roundRect">
            <a:avLst>
              <a:gd name="adj" fmla="val 3906"/>
            </a:avLst>
          </a:prstGeom>
          <a:solidFill>
            <a:srgbClr val="FAF9F5"/>
          </a:solidFill>
          <a:ln w="12700">
            <a:solidFill>
              <a:srgbClr val="E8E6DC"/>
            </a:solidFill>
            <a:prstDash val="solid"/>
          </a:ln>
        </p:spPr>
      </p:sp>
      <p:sp>
        <p:nvSpPr>
          <p:cNvPr id="12" name="Shape 10"/>
          <p:cNvSpPr/>
          <p:nvPr/>
        </p:nvSpPr>
        <p:spPr>
          <a:xfrm>
            <a:off x="6542532" y="2084832"/>
            <a:ext cx="502920" cy="502920"/>
          </a:xfrm>
          <a:prstGeom prst="ellipse">
            <a:avLst/>
          </a:prstGeom>
          <a:solidFill>
            <a:srgbClr val="141413"/>
          </a:solidFill>
          <a:ln/>
        </p:spPr>
      </p:sp>
      <p:sp>
        <p:nvSpPr>
          <p:cNvPr id="13" name="Text 11"/>
          <p:cNvSpPr/>
          <p:nvPr/>
        </p:nvSpPr>
        <p:spPr>
          <a:xfrm>
            <a:off x="6542532" y="2084832"/>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Meiryo" pitchFamily="34" charset="0"/>
                <a:ea typeface="Meiryo" pitchFamily="34" charset="-122"/>
                <a:cs typeface="Meiryo" pitchFamily="34" charset="-120"/>
              </a:rPr>
              <a:t>2</a:t>
            </a:r>
            <a:endParaRPr lang="en-US" sz="1600" dirty="0"/>
          </a:p>
        </p:txBody>
      </p:sp>
      <p:sp>
        <p:nvSpPr>
          <p:cNvPr id="14" name="Text 12"/>
          <p:cNvSpPr/>
          <p:nvPr/>
        </p:nvSpPr>
        <p:spPr>
          <a:xfrm>
            <a:off x="7200900" y="1993392"/>
            <a:ext cx="4046220" cy="329184"/>
          </a:xfrm>
          <a:prstGeom prst="rect">
            <a:avLst/>
          </a:prstGeom>
          <a:noFill/>
          <a:ln/>
        </p:spPr>
        <p:txBody>
          <a:bodyPr wrap="square" lIns="0" tIns="0" rIns="0" bIns="0" rtlCol="0" anchor="ctr"/>
          <a:lstStyle/>
          <a:p>
            <a:pPr indent="0" marL="0">
              <a:buNone/>
            </a:pPr>
            <a:r>
              <a:rPr lang="en-US" sz="1400" b="1" dirty="0">
                <a:solidFill>
                  <a:srgbClr val="141413"/>
                </a:solidFill>
                <a:latin typeface="Meiryo" pitchFamily="34" charset="0"/>
                <a:ea typeface="Meiryo" pitchFamily="34" charset="-122"/>
                <a:cs typeface="Meiryo" pitchFamily="34" charset="-120"/>
              </a:rPr>
              <a:t>悩みへの共感</a:t>
            </a:r>
            <a:endParaRPr lang="en-US" sz="1400" dirty="0"/>
          </a:p>
        </p:txBody>
      </p:sp>
      <p:sp>
        <p:nvSpPr>
          <p:cNvPr id="15" name="Text 13"/>
          <p:cNvSpPr/>
          <p:nvPr/>
        </p:nvSpPr>
        <p:spPr>
          <a:xfrm>
            <a:off x="7200900" y="2331720"/>
            <a:ext cx="4046220" cy="566928"/>
          </a:xfrm>
          <a:prstGeom prst="rect">
            <a:avLst/>
          </a:prstGeom>
          <a:noFill/>
          <a:ln/>
        </p:spPr>
        <p:txBody>
          <a:bodyPr wrap="square" lIns="0" tIns="0" rIns="0" bIns="0" rtlCol="0" anchor="t"/>
          <a:lstStyle/>
          <a:p>
            <a:pPr indent="0" marL="0">
              <a:lnSpc>
                <a:spcPts val="1600"/>
              </a:lnSpc>
              <a:buNone/>
            </a:pPr>
            <a:r>
              <a:rPr lang="en-US" sz="1050" dirty="0">
                <a:solidFill>
                  <a:srgbClr val="6E6C63"/>
                </a:solidFill>
                <a:latin typeface="Meiryo" pitchFamily="34" charset="0"/>
                <a:ea typeface="Meiryo" pitchFamily="34" charset="-122"/>
                <a:cs typeface="Meiryo" pitchFamily="34" charset="-120"/>
              </a:rPr>
              <a:t>「毎日記録に追われている」「今の職場ではスキルが活かせない」など、不満をこちらから言葉にする。</a:t>
            </a:r>
            <a:endParaRPr lang="en-US" sz="1050" dirty="0"/>
          </a:p>
        </p:txBody>
      </p:sp>
      <p:sp>
        <p:nvSpPr>
          <p:cNvPr id="16" name="Shape 14"/>
          <p:cNvSpPr/>
          <p:nvPr/>
        </p:nvSpPr>
        <p:spPr>
          <a:xfrm>
            <a:off x="640080" y="3255264"/>
            <a:ext cx="5234940" cy="1170432"/>
          </a:xfrm>
          <a:prstGeom prst="roundRect">
            <a:avLst>
              <a:gd name="adj" fmla="val 3906"/>
            </a:avLst>
          </a:prstGeom>
          <a:solidFill>
            <a:srgbClr val="FAF9F5"/>
          </a:solidFill>
          <a:ln w="12700">
            <a:solidFill>
              <a:srgbClr val="E8E6DC"/>
            </a:solidFill>
            <a:prstDash val="solid"/>
          </a:ln>
        </p:spPr>
      </p:sp>
      <p:sp>
        <p:nvSpPr>
          <p:cNvPr id="17" name="Shape 15"/>
          <p:cNvSpPr/>
          <p:nvPr/>
        </p:nvSpPr>
        <p:spPr>
          <a:xfrm>
            <a:off x="896112" y="3511296"/>
            <a:ext cx="502920" cy="502920"/>
          </a:xfrm>
          <a:prstGeom prst="ellipse">
            <a:avLst/>
          </a:prstGeom>
          <a:solidFill>
            <a:srgbClr val="141413"/>
          </a:solidFill>
          <a:ln/>
        </p:spPr>
      </p:sp>
      <p:sp>
        <p:nvSpPr>
          <p:cNvPr id="18" name="Text 16"/>
          <p:cNvSpPr/>
          <p:nvPr/>
        </p:nvSpPr>
        <p:spPr>
          <a:xfrm>
            <a:off x="896112" y="3511296"/>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Meiryo" pitchFamily="34" charset="0"/>
                <a:ea typeface="Meiryo" pitchFamily="34" charset="-122"/>
                <a:cs typeface="Meiryo" pitchFamily="34" charset="-120"/>
              </a:rPr>
              <a:t>3</a:t>
            </a:r>
            <a:endParaRPr lang="en-US" sz="1600" dirty="0"/>
          </a:p>
        </p:txBody>
      </p:sp>
      <p:sp>
        <p:nvSpPr>
          <p:cNvPr id="19" name="Text 17"/>
          <p:cNvSpPr/>
          <p:nvPr/>
        </p:nvSpPr>
        <p:spPr>
          <a:xfrm>
            <a:off x="1554480" y="3419856"/>
            <a:ext cx="4046220" cy="329184"/>
          </a:xfrm>
          <a:prstGeom prst="rect">
            <a:avLst/>
          </a:prstGeom>
          <a:noFill/>
          <a:ln/>
        </p:spPr>
        <p:txBody>
          <a:bodyPr wrap="square" lIns="0" tIns="0" rIns="0" bIns="0" rtlCol="0" anchor="ctr"/>
          <a:lstStyle/>
          <a:p>
            <a:pPr indent="0" marL="0">
              <a:buNone/>
            </a:pPr>
            <a:r>
              <a:rPr lang="en-US" sz="1400" b="1" dirty="0">
                <a:solidFill>
                  <a:srgbClr val="141413"/>
                </a:solidFill>
                <a:latin typeface="Meiryo" pitchFamily="34" charset="0"/>
                <a:ea typeface="Meiryo" pitchFamily="34" charset="-122"/>
                <a:cs typeface="Meiryo" pitchFamily="34" charset="-120"/>
              </a:rPr>
              <a:t>本当の原因と解決策</a:t>
            </a:r>
            <a:endParaRPr lang="en-US" sz="1400" dirty="0"/>
          </a:p>
        </p:txBody>
      </p:sp>
      <p:sp>
        <p:nvSpPr>
          <p:cNvPr id="20" name="Text 18"/>
          <p:cNvSpPr/>
          <p:nvPr/>
        </p:nvSpPr>
        <p:spPr>
          <a:xfrm>
            <a:off x="1554480" y="3758184"/>
            <a:ext cx="4046220" cy="566928"/>
          </a:xfrm>
          <a:prstGeom prst="rect">
            <a:avLst/>
          </a:prstGeom>
          <a:noFill/>
          <a:ln/>
        </p:spPr>
        <p:txBody>
          <a:bodyPr wrap="square" lIns="0" tIns="0" rIns="0" bIns="0" rtlCol="0" anchor="t"/>
          <a:lstStyle/>
          <a:p>
            <a:pPr indent="0" marL="0">
              <a:lnSpc>
                <a:spcPts val="1600"/>
              </a:lnSpc>
              <a:buNone/>
            </a:pPr>
            <a:r>
              <a:rPr lang="en-US" sz="1050" dirty="0">
                <a:solidFill>
                  <a:srgbClr val="6E6C63"/>
                </a:solidFill>
                <a:latin typeface="Meiryo" pitchFamily="34" charset="0"/>
                <a:ea typeface="Meiryo" pitchFamily="34" charset="-122"/>
                <a:cs typeface="Meiryo" pitchFamily="34" charset="-120"/>
              </a:rPr>
              <a:t>なぜその悩みが起きるのか（雑務の多さ・担当業務の広さ）を明かし、自社での解決策を具体的に示す。</a:t>
            </a:r>
            <a:endParaRPr lang="en-US" sz="1050" dirty="0"/>
          </a:p>
        </p:txBody>
      </p:sp>
      <p:sp>
        <p:nvSpPr>
          <p:cNvPr id="21" name="Shape 19"/>
          <p:cNvSpPr/>
          <p:nvPr/>
        </p:nvSpPr>
        <p:spPr>
          <a:xfrm>
            <a:off x="6286500" y="3255264"/>
            <a:ext cx="5234940" cy="1170432"/>
          </a:xfrm>
          <a:prstGeom prst="roundRect">
            <a:avLst>
              <a:gd name="adj" fmla="val 3906"/>
            </a:avLst>
          </a:prstGeom>
          <a:solidFill>
            <a:srgbClr val="FAF9F5"/>
          </a:solidFill>
          <a:ln w="12700">
            <a:solidFill>
              <a:srgbClr val="E8E6DC"/>
            </a:solidFill>
            <a:prstDash val="solid"/>
          </a:ln>
        </p:spPr>
      </p:sp>
      <p:sp>
        <p:nvSpPr>
          <p:cNvPr id="22" name="Shape 20"/>
          <p:cNvSpPr/>
          <p:nvPr/>
        </p:nvSpPr>
        <p:spPr>
          <a:xfrm>
            <a:off x="6542532" y="3511296"/>
            <a:ext cx="502920" cy="502920"/>
          </a:xfrm>
          <a:prstGeom prst="ellipse">
            <a:avLst/>
          </a:prstGeom>
          <a:solidFill>
            <a:srgbClr val="141413"/>
          </a:solidFill>
          <a:ln/>
        </p:spPr>
      </p:sp>
      <p:sp>
        <p:nvSpPr>
          <p:cNvPr id="23" name="Text 21"/>
          <p:cNvSpPr/>
          <p:nvPr/>
        </p:nvSpPr>
        <p:spPr>
          <a:xfrm>
            <a:off x="6542532" y="3511296"/>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Meiryo" pitchFamily="34" charset="0"/>
                <a:ea typeface="Meiryo" pitchFamily="34" charset="-122"/>
                <a:cs typeface="Meiryo" pitchFamily="34" charset="-120"/>
              </a:rPr>
              <a:t>4</a:t>
            </a:r>
            <a:endParaRPr lang="en-US" sz="1600" dirty="0"/>
          </a:p>
        </p:txBody>
      </p:sp>
      <p:sp>
        <p:nvSpPr>
          <p:cNvPr id="24" name="Text 22"/>
          <p:cNvSpPr/>
          <p:nvPr/>
        </p:nvSpPr>
        <p:spPr>
          <a:xfrm>
            <a:off x="7200900" y="3419856"/>
            <a:ext cx="4046220" cy="329184"/>
          </a:xfrm>
          <a:prstGeom prst="rect">
            <a:avLst/>
          </a:prstGeom>
          <a:noFill/>
          <a:ln/>
        </p:spPr>
        <p:txBody>
          <a:bodyPr wrap="square" lIns="0" tIns="0" rIns="0" bIns="0" rtlCol="0" anchor="ctr"/>
          <a:lstStyle/>
          <a:p>
            <a:pPr indent="0" marL="0">
              <a:buNone/>
            </a:pPr>
            <a:r>
              <a:rPr lang="en-US" sz="1400" b="1" dirty="0">
                <a:solidFill>
                  <a:srgbClr val="141413"/>
                </a:solidFill>
                <a:latin typeface="Meiryo" pitchFamily="34" charset="0"/>
                <a:ea typeface="Meiryo" pitchFamily="34" charset="-122"/>
                <a:cs typeface="Meiryo" pitchFamily="34" charset="-120"/>
              </a:rPr>
              <a:t>どんなふうに働けるか</a:t>
            </a:r>
            <a:endParaRPr lang="en-US" sz="1400" dirty="0"/>
          </a:p>
        </p:txBody>
      </p:sp>
      <p:sp>
        <p:nvSpPr>
          <p:cNvPr id="25" name="Text 23"/>
          <p:cNvSpPr/>
          <p:nvPr/>
        </p:nvSpPr>
        <p:spPr>
          <a:xfrm>
            <a:off x="7200900" y="3758184"/>
            <a:ext cx="4046220" cy="566928"/>
          </a:xfrm>
          <a:prstGeom prst="rect">
            <a:avLst/>
          </a:prstGeom>
          <a:noFill/>
          <a:ln/>
        </p:spPr>
        <p:txBody>
          <a:bodyPr wrap="square" lIns="0" tIns="0" rIns="0" bIns="0" rtlCol="0" anchor="t"/>
          <a:lstStyle/>
          <a:p>
            <a:pPr indent="0" marL="0">
              <a:lnSpc>
                <a:spcPts val="1600"/>
              </a:lnSpc>
              <a:buNone/>
            </a:pPr>
            <a:r>
              <a:rPr lang="en-US" sz="1050" dirty="0">
                <a:solidFill>
                  <a:srgbClr val="6E6C63"/>
                </a:solidFill>
                <a:latin typeface="Meiryo" pitchFamily="34" charset="0"/>
                <a:ea typeface="Meiryo" pitchFamily="34" charset="-122"/>
                <a:cs typeface="Meiryo" pitchFamily="34" charset="-120"/>
              </a:rPr>
              <a:t>1 日のスケジュール、研修制度、キャリアの道すじを見せ、入社後の姿を想像できるようにする。</a:t>
            </a:r>
            <a:endParaRPr lang="en-US" sz="1050" dirty="0"/>
          </a:p>
        </p:txBody>
      </p:sp>
      <p:sp>
        <p:nvSpPr>
          <p:cNvPr id="26" name="Shape 24"/>
          <p:cNvSpPr/>
          <p:nvPr/>
        </p:nvSpPr>
        <p:spPr>
          <a:xfrm>
            <a:off x="640080" y="4681728"/>
            <a:ext cx="5234940" cy="1170432"/>
          </a:xfrm>
          <a:prstGeom prst="roundRect">
            <a:avLst>
              <a:gd name="adj" fmla="val 3906"/>
            </a:avLst>
          </a:prstGeom>
          <a:solidFill>
            <a:srgbClr val="FAF9F5"/>
          </a:solidFill>
          <a:ln w="12700">
            <a:solidFill>
              <a:srgbClr val="E8E6DC"/>
            </a:solidFill>
            <a:prstDash val="solid"/>
          </a:ln>
        </p:spPr>
      </p:sp>
      <p:sp>
        <p:nvSpPr>
          <p:cNvPr id="27" name="Shape 25"/>
          <p:cNvSpPr/>
          <p:nvPr/>
        </p:nvSpPr>
        <p:spPr>
          <a:xfrm>
            <a:off x="896112" y="4937760"/>
            <a:ext cx="502920" cy="502920"/>
          </a:xfrm>
          <a:prstGeom prst="ellipse">
            <a:avLst/>
          </a:prstGeom>
          <a:solidFill>
            <a:srgbClr val="141413"/>
          </a:solidFill>
          <a:ln/>
        </p:spPr>
      </p:sp>
      <p:sp>
        <p:nvSpPr>
          <p:cNvPr id="28" name="Text 26"/>
          <p:cNvSpPr/>
          <p:nvPr/>
        </p:nvSpPr>
        <p:spPr>
          <a:xfrm>
            <a:off x="896112" y="4937760"/>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Meiryo" pitchFamily="34" charset="0"/>
                <a:ea typeface="Meiryo" pitchFamily="34" charset="-122"/>
                <a:cs typeface="Meiryo" pitchFamily="34" charset="-120"/>
              </a:rPr>
              <a:t>5</a:t>
            </a:r>
            <a:endParaRPr lang="en-US" sz="1600" dirty="0"/>
          </a:p>
        </p:txBody>
      </p:sp>
      <p:sp>
        <p:nvSpPr>
          <p:cNvPr id="29" name="Text 27"/>
          <p:cNvSpPr/>
          <p:nvPr/>
        </p:nvSpPr>
        <p:spPr>
          <a:xfrm>
            <a:off x="1554480" y="4846320"/>
            <a:ext cx="4046220" cy="329184"/>
          </a:xfrm>
          <a:prstGeom prst="rect">
            <a:avLst/>
          </a:prstGeom>
          <a:noFill/>
          <a:ln/>
        </p:spPr>
        <p:txBody>
          <a:bodyPr wrap="square" lIns="0" tIns="0" rIns="0" bIns="0" rtlCol="0" anchor="ctr"/>
          <a:lstStyle/>
          <a:p>
            <a:pPr indent="0" marL="0">
              <a:buNone/>
            </a:pPr>
            <a:r>
              <a:rPr lang="en-US" sz="1400" b="1" dirty="0">
                <a:solidFill>
                  <a:srgbClr val="141413"/>
                </a:solidFill>
                <a:latin typeface="Meiryo" pitchFamily="34" charset="0"/>
                <a:ea typeface="Meiryo" pitchFamily="34" charset="-122"/>
                <a:cs typeface="Meiryo" pitchFamily="34" charset="-120"/>
              </a:rPr>
              <a:t>スタッフの紹介・声（動画）</a:t>
            </a:r>
            <a:endParaRPr lang="en-US" sz="1400" dirty="0"/>
          </a:p>
        </p:txBody>
      </p:sp>
      <p:sp>
        <p:nvSpPr>
          <p:cNvPr id="30" name="Text 28"/>
          <p:cNvSpPr/>
          <p:nvPr/>
        </p:nvSpPr>
        <p:spPr>
          <a:xfrm>
            <a:off x="1554480" y="5184648"/>
            <a:ext cx="4046220" cy="566928"/>
          </a:xfrm>
          <a:prstGeom prst="rect">
            <a:avLst/>
          </a:prstGeom>
          <a:noFill/>
          <a:ln/>
        </p:spPr>
        <p:txBody>
          <a:bodyPr wrap="square" lIns="0" tIns="0" rIns="0" bIns="0" rtlCol="0" anchor="t"/>
          <a:lstStyle/>
          <a:p>
            <a:pPr indent="0" marL="0">
              <a:lnSpc>
                <a:spcPts val="1600"/>
              </a:lnSpc>
              <a:buNone/>
            </a:pPr>
            <a:r>
              <a:rPr lang="en-US" sz="1050" dirty="0">
                <a:solidFill>
                  <a:srgbClr val="6E6C63"/>
                </a:solidFill>
                <a:latin typeface="Meiryo" pitchFamily="34" charset="0"/>
                <a:ea typeface="Meiryo" pitchFamily="34" charset="-122"/>
                <a:cs typeface="Meiryo" pitchFamily="34" charset="-120"/>
              </a:rPr>
              <a:t>30〜40 秒のインタビュー動画。表情や声色といった、文字では伝わらない空気感を届ける。</a:t>
            </a:r>
            <a:endParaRPr lang="en-US" sz="1050" dirty="0"/>
          </a:p>
        </p:txBody>
      </p:sp>
      <p:sp>
        <p:nvSpPr>
          <p:cNvPr id="31" name="Shape 29"/>
          <p:cNvSpPr/>
          <p:nvPr/>
        </p:nvSpPr>
        <p:spPr>
          <a:xfrm>
            <a:off x="6286500" y="4681728"/>
            <a:ext cx="5234940" cy="1170432"/>
          </a:xfrm>
          <a:prstGeom prst="roundRect">
            <a:avLst>
              <a:gd name="adj" fmla="val 3906"/>
            </a:avLst>
          </a:prstGeom>
          <a:solidFill>
            <a:srgbClr val="FAF9F5"/>
          </a:solidFill>
          <a:ln w="12700">
            <a:solidFill>
              <a:srgbClr val="E8E6DC"/>
            </a:solidFill>
            <a:prstDash val="solid"/>
          </a:ln>
        </p:spPr>
      </p:sp>
      <p:sp>
        <p:nvSpPr>
          <p:cNvPr id="32" name="Shape 30"/>
          <p:cNvSpPr/>
          <p:nvPr/>
        </p:nvSpPr>
        <p:spPr>
          <a:xfrm>
            <a:off x="6542532" y="4937760"/>
            <a:ext cx="502920" cy="502920"/>
          </a:xfrm>
          <a:prstGeom prst="ellipse">
            <a:avLst/>
          </a:prstGeom>
          <a:solidFill>
            <a:srgbClr val="141413"/>
          </a:solidFill>
          <a:ln/>
        </p:spPr>
      </p:sp>
      <p:sp>
        <p:nvSpPr>
          <p:cNvPr id="33" name="Text 31"/>
          <p:cNvSpPr/>
          <p:nvPr/>
        </p:nvSpPr>
        <p:spPr>
          <a:xfrm>
            <a:off x="6542532" y="4937760"/>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Meiryo" pitchFamily="34" charset="0"/>
                <a:ea typeface="Meiryo" pitchFamily="34" charset="-122"/>
                <a:cs typeface="Meiryo" pitchFamily="34" charset="-120"/>
              </a:rPr>
              <a:t>6</a:t>
            </a:r>
            <a:endParaRPr lang="en-US" sz="1600" dirty="0"/>
          </a:p>
        </p:txBody>
      </p:sp>
      <p:sp>
        <p:nvSpPr>
          <p:cNvPr id="34" name="Text 32"/>
          <p:cNvSpPr/>
          <p:nvPr/>
        </p:nvSpPr>
        <p:spPr>
          <a:xfrm>
            <a:off x="7200900" y="4846320"/>
            <a:ext cx="4046220" cy="329184"/>
          </a:xfrm>
          <a:prstGeom prst="rect">
            <a:avLst/>
          </a:prstGeom>
          <a:noFill/>
          <a:ln/>
        </p:spPr>
        <p:txBody>
          <a:bodyPr wrap="square" lIns="0" tIns="0" rIns="0" bIns="0" rtlCol="0" anchor="ctr"/>
          <a:lstStyle/>
          <a:p>
            <a:pPr indent="0" marL="0">
              <a:buNone/>
            </a:pPr>
            <a:r>
              <a:rPr lang="en-US" sz="1400" b="1" dirty="0">
                <a:solidFill>
                  <a:srgbClr val="141413"/>
                </a:solidFill>
                <a:latin typeface="Meiryo" pitchFamily="34" charset="0"/>
                <a:ea typeface="Meiryo" pitchFamily="34" charset="-122"/>
                <a:cs typeface="Meiryo" pitchFamily="34" charset="-120"/>
              </a:rPr>
              <a:t>数字で見える会社</a:t>
            </a:r>
            <a:endParaRPr lang="en-US" sz="1400" dirty="0"/>
          </a:p>
        </p:txBody>
      </p:sp>
      <p:sp>
        <p:nvSpPr>
          <p:cNvPr id="35" name="Text 33"/>
          <p:cNvSpPr/>
          <p:nvPr/>
        </p:nvSpPr>
        <p:spPr>
          <a:xfrm>
            <a:off x="7200900" y="5184648"/>
            <a:ext cx="4046220" cy="566928"/>
          </a:xfrm>
          <a:prstGeom prst="rect">
            <a:avLst/>
          </a:prstGeom>
          <a:noFill/>
          <a:ln/>
        </p:spPr>
        <p:txBody>
          <a:bodyPr wrap="square" lIns="0" tIns="0" rIns="0" bIns="0" rtlCol="0" anchor="t"/>
          <a:lstStyle/>
          <a:p>
            <a:pPr indent="0" marL="0">
              <a:lnSpc>
                <a:spcPts val="1600"/>
              </a:lnSpc>
              <a:buNone/>
            </a:pPr>
            <a:r>
              <a:rPr lang="en-US" sz="1050" dirty="0">
                <a:solidFill>
                  <a:srgbClr val="6E6C63"/>
                </a:solidFill>
                <a:latin typeface="Meiryo" pitchFamily="34" charset="0"/>
                <a:ea typeface="Meiryo" pitchFamily="34" charset="-122"/>
                <a:cs typeface="Meiryo" pitchFamily="34" charset="-120"/>
              </a:rPr>
              <a:t>年間休日、平均年齢、勤続年数、有給取得率。客観的な数字が最後の安心材料になります。</a:t>
            </a:r>
            <a:endParaRPr lang="en-US" sz="1050" dirty="0"/>
          </a:p>
        </p:txBody>
      </p:sp>
      <p:sp>
        <p:nvSpPr>
          <p:cNvPr id="36" name="Text 34"/>
          <p:cNvSpPr/>
          <p:nvPr/>
        </p:nvSpPr>
        <p:spPr>
          <a:xfrm>
            <a:off x="640080" y="6126480"/>
            <a:ext cx="10881360" cy="320040"/>
          </a:xfrm>
          <a:prstGeom prst="rect">
            <a:avLst/>
          </a:prstGeom>
          <a:noFill/>
          <a:ln/>
        </p:spPr>
        <p:txBody>
          <a:bodyPr wrap="square" lIns="0" tIns="0" rIns="0" bIns="0" rtlCol="0" anchor="ctr"/>
          <a:lstStyle/>
          <a:p>
            <a:pPr indent="0" marL="0">
              <a:buNone/>
            </a:pPr>
            <a:r>
              <a:rPr lang="en-US" sz="1000" dirty="0">
                <a:solidFill>
                  <a:srgbClr val="D97757"/>
                </a:solidFill>
                <a:latin typeface="Meiryo" pitchFamily="34" charset="0"/>
                <a:ea typeface="Meiryo" pitchFamily="34" charset="-122"/>
                <a:cs typeface="Meiryo" pitchFamily="34" charset="-120"/>
              </a:rPr>
              <a:t>※ 上から 1→6 の順に並べます。順番を入れ替えると、共感が生まれる前に条件の話が始まってしまいます。</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AF9F5"/>
        </a:solidFill>
      </p:bgPr>
    </p:bg>
    <p:spTree>
      <p:nvGrpSpPr>
        <p:cNvPr id="1" name=""/>
        <p:cNvGrpSpPr/>
        <p:nvPr/>
      </p:nvGrpSpPr>
      <p:grpSpPr>
        <a:xfrm>
          <a:off x="0" y="0"/>
          <a:ext cx="0" cy="0"/>
          <a:chOff x="0" y="0"/>
          <a:chExt cx="0" cy="0"/>
        </a:xfrm>
      </p:grpSpPr>
      <p:sp>
        <p:nvSpPr>
          <p:cNvPr id="2" name="Shape 0"/>
          <p:cNvSpPr/>
          <p:nvPr/>
        </p:nvSpPr>
        <p:spPr>
          <a:xfrm>
            <a:off x="9646920" y="365760"/>
            <a:ext cx="1874520" cy="310896"/>
          </a:xfrm>
          <a:prstGeom prst="roundRect">
            <a:avLst>
              <a:gd name="adj" fmla="val 14706"/>
            </a:avLst>
          </a:prstGeom>
          <a:solidFill>
            <a:srgbClr val="E7ECDD"/>
          </a:solidFill>
          <a:ln w="12700">
            <a:solidFill>
              <a:srgbClr val="788C5D"/>
            </a:solidFill>
            <a:prstDash val="solid"/>
          </a:ln>
        </p:spPr>
      </p:sp>
      <p:sp>
        <p:nvSpPr>
          <p:cNvPr id="3" name="Text 1"/>
          <p:cNvSpPr/>
          <p:nvPr/>
        </p:nvSpPr>
        <p:spPr>
          <a:xfrm>
            <a:off x="9646920" y="365760"/>
            <a:ext cx="1874520" cy="310896"/>
          </a:xfrm>
          <a:prstGeom prst="rect">
            <a:avLst/>
          </a:prstGeom>
          <a:noFill/>
          <a:ln/>
        </p:spPr>
        <p:txBody>
          <a:bodyPr wrap="square" lIns="0" tIns="0" rIns="0" bIns="0" rtlCol="0" anchor="ctr"/>
          <a:lstStyle/>
          <a:p>
            <a:pPr algn="ctr" indent="0" marL="0">
              <a:buNone/>
            </a:pPr>
            <a:r>
              <a:rPr lang="en-US" sz="1050" b="1" dirty="0">
                <a:solidFill>
                  <a:srgbClr val="788C5D"/>
                </a:solidFill>
                <a:latin typeface="Meiryo" pitchFamily="34" charset="0"/>
                <a:ea typeface="Meiryo" pitchFamily="34" charset="-122"/>
                <a:cs typeface="Meiryo" pitchFamily="34" charset="-120"/>
              </a:rPr>
              <a:t>AI 講座パート</a:t>
            </a:r>
            <a:endParaRPr lang="en-US" sz="1050" dirty="0"/>
          </a:p>
        </p:txBody>
      </p:sp>
      <p:sp>
        <p:nvSpPr>
          <p:cNvPr id="4" name="Shape 2"/>
          <p:cNvSpPr/>
          <p:nvPr/>
        </p:nvSpPr>
        <p:spPr>
          <a:xfrm>
            <a:off x="640080" y="347472"/>
            <a:ext cx="1783080" cy="329184"/>
          </a:xfrm>
          <a:prstGeom prst="roundRect">
            <a:avLst>
              <a:gd name="adj" fmla="val 13889"/>
            </a:avLst>
          </a:prstGeom>
          <a:solidFill>
            <a:srgbClr val="D97757"/>
          </a:solidFill>
          <a:ln/>
        </p:spPr>
      </p:sp>
      <p:sp>
        <p:nvSpPr>
          <p:cNvPr id="5" name="Text 3"/>
          <p:cNvSpPr/>
          <p:nvPr/>
        </p:nvSpPr>
        <p:spPr>
          <a:xfrm>
            <a:off x="640080" y="347472"/>
            <a:ext cx="1783080" cy="329184"/>
          </a:xfrm>
          <a:prstGeom prst="rect">
            <a:avLst/>
          </a:prstGeom>
          <a:noFill/>
          <a:ln/>
        </p:spPr>
        <p:txBody>
          <a:bodyPr wrap="square" lIns="0" tIns="0" rIns="0" bIns="0" rtlCol="0" anchor="ctr"/>
          <a:lstStyle/>
          <a:p>
            <a:pPr algn="ctr" indent="0" marL="0">
              <a:buNone/>
            </a:pPr>
            <a:r>
              <a:rPr lang="en-US" sz="1150" b="1" spc="100" kern="0" dirty="0">
                <a:solidFill>
                  <a:srgbClr val="FFFFFF"/>
                </a:solidFill>
                <a:latin typeface="Meiryo" pitchFamily="34" charset="0"/>
                <a:ea typeface="Meiryo" pitchFamily="34" charset="-122"/>
                <a:cs typeface="Meiryo" pitchFamily="34" charset="-120"/>
              </a:rPr>
              <a:t>MODULE 3</a:t>
            </a:r>
            <a:endParaRPr lang="en-US" sz="1150" dirty="0"/>
          </a:p>
        </p:txBody>
      </p:sp>
      <p:sp>
        <p:nvSpPr>
          <p:cNvPr id="6" name="Text 4"/>
          <p:cNvSpPr/>
          <p:nvPr/>
        </p:nvSpPr>
        <p:spPr>
          <a:xfrm>
            <a:off x="640080" y="768096"/>
            <a:ext cx="10881360" cy="566928"/>
          </a:xfrm>
          <a:prstGeom prst="rect">
            <a:avLst/>
          </a:prstGeom>
          <a:noFill/>
          <a:ln/>
        </p:spPr>
        <p:txBody>
          <a:bodyPr wrap="square" lIns="0" tIns="0" rIns="0" bIns="0" rtlCol="0" anchor="ctr"/>
          <a:lstStyle/>
          <a:p>
            <a:pPr indent="0" marL="0">
              <a:buNone/>
            </a:pPr>
            <a:r>
              <a:rPr lang="en-US" sz="2700" b="1" dirty="0">
                <a:solidFill>
                  <a:srgbClr val="141413"/>
                </a:solidFill>
                <a:latin typeface="Meiryo" pitchFamily="34" charset="0"/>
                <a:ea typeface="Meiryo" pitchFamily="34" charset="-122"/>
                <a:cs typeface="Meiryo" pitchFamily="34" charset="-120"/>
              </a:rPr>
              <a:t>AI で原稿をつくる ｜ プロンプトの型</a:t>
            </a:r>
            <a:endParaRPr lang="en-US" sz="2700" dirty="0"/>
          </a:p>
        </p:txBody>
      </p:sp>
      <p:sp>
        <p:nvSpPr>
          <p:cNvPr id="7" name="Text 5"/>
          <p:cNvSpPr/>
          <p:nvPr/>
        </p:nvSpPr>
        <p:spPr>
          <a:xfrm>
            <a:off x="640080" y="1316736"/>
            <a:ext cx="10881360" cy="329184"/>
          </a:xfrm>
          <a:prstGeom prst="rect">
            <a:avLst/>
          </a:prstGeom>
          <a:noFill/>
          <a:ln/>
        </p:spPr>
        <p:txBody>
          <a:bodyPr wrap="square" lIns="0" tIns="0" rIns="0" bIns="0" rtlCol="0" anchor="ctr"/>
          <a:lstStyle/>
          <a:p>
            <a:pPr indent="0" marL="0">
              <a:buNone/>
            </a:pPr>
            <a:r>
              <a:rPr lang="en-US" sz="1300" dirty="0">
                <a:solidFill>
                  <a:srgbClr val="6E6C63"/>
                </a:solidFill>
                <a:latin typeface="Meiryo" pitchFamily="34" charset="0"/>
                <a:ea typeface="Meiryo" pitchFamily="34" charset="-122"/>
                <a:cs typeface="Meiryo" pitchFamily="34" charset="-120"/>
              </a:rPr>
              <a:t>この 5 つを埋めて渡すだけで、たたき台の質が大きく変わります</a:t>
            </a:r>
            <a:endParaRPr lang="en-US" sz="1300" dirty="0"/>
          </a:p>
        </p:txBody>
      </p:sp>
      <p:sp>
        <p:nvSpPr>
          <p:cNvPr id="8" name="Shape 6"/>
          <p:cNvSpPr/>
          <p:nvPr/>
        </p:nvSpPr>
        <p:spPr>
          <a:xfrm>
            <a:off x="640080" y="1810512"/>
            <a:ext cx="5029200" cy="548640"/>
          </a:xfrm>
          <a:prstGeom prst="roundRect">
            <a:avLst>
              <a:gd name="adj" fmla="val 8333"/>
            </a:avLst>
          </a:prstGeom>
          <a:solidFill>
            <a:srgbClr val="FFFFFF"/>
          </a:solidFill>
          <a:ln w="12700">
            <a:solidFill>
              <a:srgbClr val="E8E6DC"/>
            </a:solidFill>
            <a:prstDash val="solid"/>
          </a:ln>
        </p:spPr>
      </p:sp>
      <p:sp>
        <p:nvSpPr>
          <p:cNvPr id="9" name="Text 7"/>
          <p:cNvSpPr/>
          <p:nvPr/>
        </p:nvSpPr>
        <p:spPr>
          <a:xfrm>
            <a:off x="822960" y="1810512"/>
            <a:ext cx="777240" cy="548640"/>
          </a:xfrm>
          <a:prstGeom prst="rect">
            <a:avLst/>
          </a:prstGeom>
          <a:noFill/>
          <a:ln/>
        </p:spPr>
        <p:txBody>
          <a:bodyPr wrap="square" lIns="0" tIns="0" rIns="0" bIns="0" rtlCol="0" anchor="ctr"/>
          <a:lstStyle/>
          <a:p>
            <a:pPr indent="0" marL="0">
              <a:buNone/>
            </a:pPr>
            <a:r>
              <a:rPr lang="en-US" sz="1250" b="1" dirty="0">
                <a:solidFill>
                  <a:srgbClr val="D97757"/>
                </a:solidFill>
                <a:latin typeface="Meiryo" pitchFamily="34" charset="0"/>
                <a:ea typeface="Meiryo" pitchFamily="34" charset="-122"/>
                <a:cs typeface="Meiryo" pitchFamily="34" charset="-120"/>
              </a:rPr>
              <a:t>① 役割</a:t>
            </a:r>
            <a:endParaRPr lang="en-US" sz="1250" dirty="0"/>
          </a:p>
        </p:txBody>
      </p:sp>
      <p:sp>
        <p:nvSpPr>
          <p:cNvPr id="10" name="Text 8"/>
          <p:cNvSpPr/>
          <p:nvPr/>
        </p:nvSpPr>
        <p:spPr>
          <a:xfrm>
            <a:off x="1645920" y="1810512"/>
            <a:ext cx="3840480" cy="548640"/>
          </a:xfrm>
          <a:prstGeom prst="rect">
            <a:avLst/>
          </a:prstGeom>
          <a:noFill/>
          <a:ln/>
        </p:spPr>
        <p:txBody>
          <a:bodyPr wrap="square" lIns="0" tIns="0" rIns="0" bIns="0" rtlCol="0" anchor="ctr"/>
          <a:lstStyle/>
          <a:p>
            <a:pPr indent="0" marL="0">
              <a:buNone/>
            </a:pPr>
            <a:r>
              <a:rPr lang="en-US" sz="1100" dirty="0">
                <a:solidFill>
                  <a:srgbClr val="4A4943"/>
                </a:solidFill>
                <a:latin typeface="Meiryo" pitchFamily="34" charset="0"/>
                <a:ea typeface="Meiryo" pitchFamily="34" charset="-122"/>
                <a:cs typeface="Meiryo" pitchFamily="34" charset="-120"/>
              </a:rPr>
              <a:t>「介護業界の採用コピーライターとして」</a:t>
            </a:r>
            <a:endParaRPr lang="en-US" sz="1100" dirty="0"/>
          </a:p>
        </p:txBody>
      </p:sp>
      <p:sp>
        <p:nvSpPr>
          <p:cNvPr id="11" name="Shape 9"/>
          <p:cNvSpPr/>
          <p:nvPr/>
        </p:nvSpPr>
        <p:spPr>
          <a:xfrm>
            <a:off x="640080" y="2450592"/>
            <a:ext cx="5029200" cy="548640"/>
          </a:xfrm>
          <a:prstGeom prst="roundRect">
            <a:avLst>
              <a:gd name="adj" fmla="val 8333"/>
            </a:avLst>
          </a:prstGeom>
          <a:solidFill>
            <a:srgbClr val="FFFFFF"/>
          </a:solidFill>
          <a:ln w="12700">
            <a:solidFill>
              <a:srgbClr val="E8E6DC"/>
            </a:solidFill>
            <a:prstDash val="solid"/>
          </a:ln>
        </p:spPr>
      </p:sp>
      <p:sp>
        <p:nvSpPr>
          <p:cNvPr id="12" name="Text 10"/>
          <p:cNvSpPr/>
          <p:nvPr/>
        </p:nvSpPr>
        <p:spPr>
          <a:xfrm>
            <a:off x="822960" y="2450592"/>
            <a:ext cx="777240" cy="548640"/>
          </a:xfrm>
          <a:prstGeom prst="rect">
            <a:avLst/>
          </a:prstGeom>
          <a:noFill/>
          <a:ln/>
        </p:spPr>
        <p:txBody>
          <a:bodyPr wrap="square" lIns="0" tIns="0" rIns="0" bIns="0" rtlCol="0" anchor="ctr"/>
          <a:lstStyle/>
          <a:p>
            <a:pPr indent="0" marL="0">
              <a:buNone/>
            </a:pPr>
            <a:r>
              <a:rPr lang="en-US" sz="1250" b="1" dirty="0">
                <a:solidFill>
                  <a:srgbClr val="D97757"/>
                </a:solidFill>
                <a:latin typeface="Meiryo" pitchFamily="34" charset="0"/>
                <a:ea typeface="Meiryo" pitchFamily="34" charset="-122"/>
                <a:cs typeface="Meiryo" pitchFamily="34" charset="-120"/>
              </a:rPr>
              <a:t>② 前提</a:t>
            </a:r>
            <a:endParaRPr lang="en-US" sz="1250" dirty="0"/>
          </a:p>
        </p:txBody>
      </p:sp>
      <p:sp>
        <p:nvSpPr>
          <p:cNvPr id="13" name="Text 11"/>
          <p:cNvSpPr/>
          <p:nvPr/>
        </p:nvSpPr>
        <p:spPr>
          <a:xfrm>
            <a:off x="1645920" y="2450592"/>
            <a:ext cx="3840480" cy="548640"/>
          </a:xfrm>
          <a:prstGeom prst="rect">
            <a:avLst/>
          </a:prstGeom>
          <a:noFill/>
          <a:ln/>
        </p:spPr>
        <p:txBody>
          <a:bodyPr wrap="square" lIns="0" tIns="0" rIns="0" bIns="0" rtlCol="0" anchor="ctr"/>
          <a:lstStyle/>
          <a:p>
            <a:pPr indent="0" marL="0">
              <a:buNone/>
            </a:pPr>
            <a:r>
              <a:rPr lang="en-US" sz="1100" dirty="0">
                <a:solidFill>
                  <a:srgbClr val="4A4943"/>
                </a:solidFill>
                <a:latin typeface="Meiryo" pitchFamily="34" charset="0"/>
                <a:ea typeface="Meiryo" pitchFamily="34" charset="-122"/>
                <a:cs typeface="Meiryo" pitchFamily="34" charset="-120"/>
              </a:rPr>
              <a:t>理念・体制・シフト・研修を箇条書きで渡す</a:t>
            </a:r>
            <a:endParaRPr lang="en-US" sz="1100" dirty="0"/>
          </a:p>
        </p:txBody>
      </p:sp>
      <p:sp>
        <p:nvSpPr>
          <p:cNvPr id="14" name="Shape 12"/>
          <p:cNvSpPr/>
          <p:nvPr/>
        </p:nvSpPr>
        <p:spPr>
          <a:xfrm>
            <a:off x="640080" y="3090672"/>
            <a:ext cx="5029200" cy="548640"/>
          </a:xfrm>
          <a:prstGeom prst="roundRect">
            <a:avLst>
              <a:gd name="adj" fmla="val 8333"/>
            </a:avLst>
          </a:prstGeom>
          <a:solidFill>
            <a:srgbClr val="FFFFFF"/>
          </a:solidFill>
          <a:ln w="12700">
            <a:solidFill>
              <a:srgbClr val="E8E6DC"/>
            </a:solidFill>
            <a:prstDash val="solid"/>
          </a:ln>
        </p:spPr>
      </p:sp>
      <p:sp>
        <p:nvSpPr>
          <p:cNvPr id="15" name="Text 13"/>
          <p:cNvSpPr/>
          <p:nvPr/>
        </p:nvSpPr>
        <p:spPr>
          <a:xfrm>
            <a:off x="822960" y="3090672"/>
            <a:ext cx="777240" cy="548640"/>
          </a:xfrm>
          <a:prstGeom prst="rect">
            <a:avLst/>
          </a:prstGeom>
          <a:noFill/>
          <a:ln/>
        </p:spPr>
        <p:txBody>
          <a:bodyPr wrap="square" lIns="0" tIns="0" rIns="0" bIns="0" rtlCol="0" anchor="ctr"/>
          <a:lstStyle/>
          <a:p>
            <a:pPr indent="0" marL="0">
              <a:buNone/>
            </a:pPr>
            <a:r>
              <a:rPr lang="en-US" sz="1250" b="1" dirty="0">
                <a:solidFill>
                  <a:srgbClr val="D97757"/>
                </a:solidFill>
                <a:latin typeface="Meiryo" pitchFamily="34" charset="0"/>
                <a:ea typeface="Meiryo" pitchFamily="34" charset="-122"/>
                <a:cs typeface="Meiryo" pitchFamily="34" charset="-120"/>
              </a:rPr>
              <a:t>③ 相手</a:t>
            </a:r>
            <a:endParaRPr lang="en-US" sz="1250" dirty="0"/>
          </a:p>
        </p:txBody>
      </p:sp>
      <p:sp>
        <p:nvSpPr>
          <p:cNvPr id="16" name="Text 14"/>
          <p:cNvSpPr/>
          <p:nvPr/>
        </p:nvSpPr>
        <p:spPr>
          <a:xfrm>
            <a:off x="1645920" y="3090672"/>
            <a:ext cx="3840480" cy="548640"/>
          </a:xfrm>
          <a:prstGeom prst="rect">
            <a:avLst/>
          </a:prstGeom>
          <a:noFill/>
          <a:ln/>
        </p:spPr>
        <p:txBody>
          <a:bodyPr wrap="square" lIns="0" tIns="0" rIns="0" bIns="0" rtlCol="0" anchor="ctr"/>
          <a:lstStyle/>
          <a:p>
            <a:pPr indent="0" marL="0">
              <a:buNone/>
            </a:pPr>
            <a:r>
              <a:rPr lang="en-US" sz="1100" dirty="0">
                <a:solidFill>
                  <a:srgbClr val="4A4943"/>
                </a:solidFill>
                <a:latin typeface="Meiryo" pitchFamily="34" charset="0"/>
                <a:ea typeface="Meiryo" pitchFamily="34" charset="-122"/>
                <a:cs typeface="Meiryo" pitchFamily="34" charset="-120"/>
              </a:rPr>
              <a:t>誰に読ませたいか（例：記録に疲れた 30 代職員）</a:t>
            </a:r>
            <a:endParaRPr lang="en-US" sz="1100" dirty="0"/>
          </a:p>
        </p:txBody>
      </p:sp>
      <p:sp>
        <p:nvSpPr>
          <p:cNvPr id="17" name="Shape 15"/>
          <p:cNvSpPr/>
          <p:nvPr/>
        </p:nvSpPr>
        <p:spPr>
          <a:xfrm>
            <a:off x="640080" y="3730752"/>
            <a:ext cx="5029200" cy="548640"/>
          </a:xfrm>
          <a:prstGeom prst="roundRect">
            <a:avLst>
              <a:gd name="adj" fmla="val 8333"/>
            </a:avLst>
          </a:prstGeom>
          <a:solidFill>
            <a:srgbClr val="FFFFFF"/>
          </a:solidFill>
          <a:ln w="12700">
            <a:solidFill>
              <a:srgbClr val="E8E6DC"/>
            </a:solidFill>
            <a:prstDash val="solid"/>
          </a:ln>
        </p:spPr>
      </p:sp>
      <p:sp>
        <p:nvSpPr>
          <p:cNvPr id="18" name="Text 16"/>
          <p:cNvSpPr/>
          <p:nvPr/>
        </p:nvSpPr>
        <p:spPr>
          <a:xfrm>
            <a:off x="822960" y="3730752"/>
            <a:ext cx="777240" cy="548640"/>
          </a:xfrm>
          <a:prstGeom prst="rect">
            <a:avLst/>
          </a:prstGeom>
          <a:noFill/>
          <a:ln/>
        </p:spPr>
        <p:txBody>
          <a:bodyPr wrap="square" lIns="0" tIns="0" rIns="0" bIns="0" rtlCol="0" anchor="ctr"/>
          <a:lstStyle/>
          <a:p>
            <a:pPr indent="0" marL="0">
              <a:buNone/>
            </a:pPr>
            <a:r>
              <a:rPr lang="en-US" sz="1250" b="1" dirty="0">
                <a:solidFill>
                  <a:srgbClr val="D97757"/>
                </a:solidFill>
                <a:latin typeface="Meiryo" pitchFamily="34" charset="0"/>
                <a:ea typeface="Meiryo" pitchFamily="34" charset="-122"/>
                <a:cs typeface="Meiryo" pitchFamily="34" charset="-120"/>
              </a:rPr>
              <a:t>④ 形式</a:t>
            </a:r>
            <a:endParaRPr lang="en-US" sz="1250" dirty="0"/>
          </a:p>
        </p:txBody>
      </p:sp>
      <p:sp>
        <p:nvSpPr>
          <p:cNvPr id="19" name="Text 17"/>
          <p:cNvSpPr/>
          <p:nvPr/>
        </p:nvSpPr>
        <p:spPr>
          <a:xfrm>
            <a:off x="1645920" y="3730752"/>
            <a:ext cx="3840480" cy="548640"/>
          </a:xfrm>
          <a:prstGeom prst="rect">
            <a:avLst/>
          </a:prstGeom>
          <a:noFill/>
          <a:ln/>
        </p:spPr>
        <p:txBody>
          <a:bodyPr wrap="square" lIns="0" tIns="0" rIns="0" bIns="0" rtlCol="0" anchor="ctr"/>
          <a:lstStyle/>
          <a:p>
            <a:pPr indent="0" marL="0">
              <a:buNone/>
            </a:pPr>
            <a:r>
              <a:rPr lang="en-US" sz="1100" dirty="0">
                <a:solidFill>
                  <a:srgbClr val="4A4943"/>
                </a:solidFill>
                <a:latin typeface="Meiryo" pitchFamily="34" charset="0"/>
                <a:ea typeface="Meiryo" pitchFamily="34" charset="-122"/>
                <a:cs typeface="Meiryo" pitchFamily="34" charset="-120"/>
              </a:rPr>
              <a:t>「キャッチコピー 10 案、25 字以内」と形を指定</a:t>
            </a:r>
            <a:endParaRPr lang="en-US" sz="1100" dirty="0"/>
          </a:p>
        </p:txBody>
      </p:sp>
      <p:sp>
        <p:nvSpPr>
          <p:cNvPr id="20" name="Shape 18"/>
          <p:cNvSpPr/>
          <p:nvPr/>
        </p:nvSpPr>
        <p:spPr>
          <a:xfrm>
            <a:off x="640080" y="4370832"/>
            <a:ext cx="5029200" cy="548640"/>
          </a:xfrm>
          <a:prstGeom prst="roundRect">
            <a:avLst>
              <a:gd name="adj" fmla="val 8333"/>
            </a:avLst>
          </a:prstGeom>
          <a:solidFill>
            <a:srgbClr val="FFFFFF"/>
          </a:solidFill>
          <a:ln w="12700">
            <a:solidFill>
              <a:srgbClr val="E8E6DC"/>
            </a:solidFill>
            <a:prstDash val="solid"/>
          </a:ln>
        </p:spPr>
      </p:sp>
      <p:sp>
        <p:nvSpPr>
          <p:cNvPr id="21" name="Text 19"/>
          <p:cNvSpPr/>
          <p:nvPr/>
        </p:nvSpPr>
        <p:spPr>
          <a:xfrm>
            <a:off x="822960" y="4370832"/>
            <a:ext cx="777240" cy="548640"/>
          </a:xfrm>
          <a:prstGeom prst="rect">
            <a:avLst/>
          </a:prstGeom>
          <a:noFill/>
          <a:ln/>
        </p:spPr>
        <p:txBody>
          <a:bodyPr wrap="square" lIns="0" tIns="0" rIns="0" bIns="0" rtlCol="0" anchor="ctr"/>
          <a:lstStyle/>
          <a:p>
            <a:pPr indent="0" marL="0">
              <a:buNone/>
            </a:pPr>
            <a:r>
              <a:rPr lang="en-US" sz="1250" b="1" dirty="0">
                <a:solidFill>
                  <a:srgbClr val="D97757"/>
                </a:solidFill>
                <a:latin typeface="Meiryo" pitchFamily="34" charset="0"/>
                <a:ea typeface="Meiryo" pitchFamily="34" charset="-122"/>
                <a:cs typeface="Meiryo" pitchFamily="34" charset="-120"/>
              </a:rPr>
              <a:t>⑤ 制約</a:t>
            </a:r>
            <a:endParaRPr lang="en-US" sz="1250" dirty="0"/>
          </a:p>
        </p:txBody>
      </p:sp>
      <p:sp>
        <p:nvSpPr>
          <p:cNvPr id="22" name="Text 20"/>
          <p:cNvSpPr/>
          <p:nvPr/>
        </p:nvSpPr>
        <p:spPr>
          <a:xfrm>
            <a:off x="1645920" y="4370832"/>
            <a:ext cx="3840480" cy="548640"/>
          </a:xfrm>
          <a:prstGeom prst="rect">
            <a:avLst/>
          </a:prstGeom>
          <a:noFill/>
          <a:ln/>
        </p:spPr>
        <p:txBody>
          <a:bodyPr wrap="square" lIns="0" tIns="0" rIns="0" bIns="0" rtlCol="0" anchor="ctr"/>
          <a:lstStyle/>
          <a:p>
            <a:pPr indent="0" marL="0">
              <a:buNone/>
            </a:pPr>
            <a:r>
              <a:rPr lang="en-US" sz="1100" dirty="0">
                <a:solidFill>
                  <a:srgbClr val="4A4943"/>
                </a:solidFill>
                <a:latin typeface="Meiryo" pitchFamily="34" charset="0"/>
                <a:ea typeface="Meiryo" pitchFamily="34" charset="-122"/>
                <a:cs typeface="Meiryo" pitchFamily="34" charset="-120"/>
              </a:rPr>
              <a:t>「誇張表現は使わない」「事実にない数字は書かない」</a:t>
            </a:r>
            <a:endParaRPr lang="en-US" sz="1100" dirty="0"/>
          </a:p>
        </p:txBody>
      </p:sp>
      <p:sp>
        <p:nvSpPr>
          <p:cNvPr id="23" name="Shape 21"/>
          <p:cNvSpPr/>
          <p:nvPr/>
        </p:nvSpPr>
        <p:spPr>
          <a:xfrm>
            <a:off x="6126480" y="1810512"/>
            <a:ext cx="5394960" cy="3127248"/>
          </a:xfrm>
          <a:prstGeom prst="roundRect">
            <a:avLst>
              <a:gd name="adj" fmla="val 1754"/>
            </a:avLst>
          </a:prstGeom>
          <a:solidFill>
            <a:srgbClr val="141413"/>
          </a:solidFill>
          <a:ln/>
        </p:spPr>
      </p:sp>
      <p:sp>
        <p:nvSpPr>
          <p:cNvPr id="24" name="Text 22"/>
          <p:cNvSpPr/>
          <p:nvPr/>
        </p:nvSpPr>
        <p:spPr>
          <a:xfrm>
            <a:off x="6400800" y="1947672"/>
            <a:ext cx="4846320" cy="320040"/>
          </a:xfrm>
          <a:prstGeom prst="rect">
            <a:avLst/>
          </a:prstGeom>
          <a:noFill/>
          <a:ln/>
        </p:spPr>
        <p:txBody>
          <a:bodyPr wrap="square" lIns="0" tIns="0" rIns="0" bIns="0" rtlCol="0" anchor="ctr"/>
          <a:lstStyle/>
          <a:p>
            <a:pPr indent="0" marL="0">
              <a:buNone/>
            </a:pPr>
            <a:r>
              <a:rPr lang="en-US" sz="1250" b="1" dirty="0">
                <a:solidFill>
                  <a:srgbClr val="D97757"/>
                </a:solidFill>
                <a:latin typeface="Meiryo" pitchFamily="34" charset="0"/>
                <a:ea typeface="Meiryo" pitchFamily="34" charset="-122"/>
                <a:cs typeface="Meiryo" pitchFamily="34" charset="-120"/>
              </a:rPr>
              <a:t>記入例（そのまま使えます）</a:t>
            </a:r>
            <a:endParaRPr lang="en-US" sz="1250" dirty="0"/>
          </a:p>
        </p:txBody>
      </p:sp>
      <p:sp>
        <p:nvSpPr>
          <p:cNvPr id="25" name="Text 23"/>
          <p:cNvSpPr/>
          <p:nvPr/>
        </p:nvSpPr>
        <p:spPr>
          <a:xfrm>
            <a:off x="6400800" y="2331720"/>
            <a:ext cx="4846320" cy="2468880"/>
          </a:xfrm>
          <a:prstGeom prst="rect">
            <a:avLst/>
          </a:prstGeom>
          <a:noFill/>
          <a:ln/>
        </p:spPr>
        <p:txBody>
          <a:bodyPr wrap="square" lIns="0" tIns="0" rIns="0" bIns="0" rtlCol="0" anchor="t"/>
          <a:lstStyle/>
          <a:p>
            <a:pPr indent="0" marL="0">
              <a:lnSpc>
                <a:spcPts val="1800"/>
              </a:lnSpc>
              <a:buNone/>
            </a:pPr>
            <a:r>
              <a:rPr lang="en-US" sz="1100" dirty="0">
                <a:solidFill>
                  <a:srgbClr val="D6D3C8"/>
                </a:solidFill>
                <a:latin typeface="Meiryo" pitchFamily="34" charset="0"/>
                <a:ea typeface="Meiryo" pitchFamily="34" charset="-122"/>
                <a:cs typeface="Meiryo" pitchFamily="34" charset="-120"/>
              </a:rPr>
              <a:t>あなたは介護業界の採用コピーライターです。</a:t>
            </a:r>
            <a:endParaRPr lang="en-US" sz="1100" dirty="0"/>
          </a:p>
          <a:p>
            <a:pPr indent="0" marL="0">
              <a:lnSpc>
                <a:spcPts val="1800"/>
              </a:lnSpc>
              <a:buNone/>
            </a:pPr>
            <a:endParaRPr lang="en-US" sz="1100" dirty="0"/>
          </a:p>
          <a:p>
            <a:pPr indent="0" marL="0">
              <a:lnSpc>
                <a:spcPts val="1800"/>
              </a:lnSpc>
              <a:buNone/>
            </a:pPr>
            <a:r>
              <a:rPr lang="en-US" sz="1100" dirty="0">
                <a:solidFill>
                  <a:srgbClr val="D6D3C8"/>
                </a:solidFill>
                <a:latin typeface="Meiryo" pitchFamily="34" charset="0"/>
                <a:ea typeface="Meiryo" pitchFamily="34" charset="-122"/>
                <a:cs typeface="Meiryo" pitchFamily="34" charset="-120"/>
              </a:rPr>
              <a:t>【施設】訪問介護・スタッフ 28 名・年間休日 118 日</a:t>
            </a:r>
            <a:endParaRPr lang="en-US" sz="1100" dirty="0"/>
          </a:p>
          <a:p>
            <a:pPr indent="0" marL="0">
              <a:lnSpc>
                <a:spcPts val="1800"/>
              </a:lnSpc>
              <a:buNone/>
            </a:pPr>
            <a:r>
              <a:rPr lang="en-US" sz="1100" dirty="0">
                <a:solidFill>
                  <a:srgbClr val="D6D3C8"/>
                </a:solidFill>
                <a:latin typeface="Meiryo" pitchFamily="34" charset="0"/>
                <a:ea typeface="Meiryo" pitchFamily="34" charset="-122"/>
                <a:cs typeface="Meiryo" pitchFamily="34" charset="-120"/>
              </a:rPr>
              <a:t>　記録は音声入力に切替済み／残業は月平均 4 時間</a:t>
            </a:r>
            <a:endParaRPr lang="en-US" sz="1100" dirty="0"/>
          </a:p>
          <a:p>
            <a:pPr indent="0" marL="0">
              <a:lnSpc>
                <a:spcPts val="1800"/>
              </a:lnSpc>
              <a:buNone/>
            </a:pPr>
            <a:r>
              <a:rPr lang="en-US" sz="1100" dirty="0">
                <a:solidFill>
                  <a:srgbClr val="D6D3C8"/>
                </a:solidFill>
                <a:latin typeface="Meiryo" pitchFamily="34" charset="0"/>
                <a:ea typeface="Meiryo" pitchFamily="34" charset="-122"/>
                <a:cs typeface="Meiryo" pitchFamily="34" charset="-120"/>
              </a:rPr>
              <a:t>【読み手】記録と残業に疲れた 30 代の介護福祉士</a:t>
            </a:r>
            <a:endParaRPr lang="en-US" sz="1100" dirty="0"/>
          </a:p>
          <a:p>
            <a:pPr indent="0" marL="0">
              <a:lnSpc>
                <a:spcPts val="1800"/>
              </a:lnSpc>
              <a:buNone/>
            </a:pPr>
            <a:r>
              <a:rPr lang="en-US" sz="1100" dirty="0">
                <a:solidFill>
                  <a:srgbClr val="D6D3C8"/>
                </a:solidFill>
                <a:latin typeface="Meiryo" pitchFamily="34" charset="0"/>
                <a:ea typeface="Meiryo" pitchFamily="34" charset="-122"/>
                <a:cs typeface="Meiryo" pitchFamily="34" charset="-120"/>
              </a:rPr>
              <a:t>【出力】求人ページのキャッチコピーを 10 案、</a:t>
            </a:r>
            <a:endParaRPr lang="en-US" sz="1100" dirty="0"/>
          </a:p>
          <a:p>
            <a:pPr indent="0" marL="0">
              <a:lnSpc>
                <a:spcPts val="1800"/>
              </a:lnSpc>
              <a:buNone/>
            </a:pPr>
            <a:r>
              <a:rPr lang="en-US" sz="1100" dirty="0">
                <a:solidFill>
                  <a:srgbClr val="D6D3C8"/>
                </a:solidFill>
                <a:latin typeface="Meiryo" pitchFamily="34" charset="0"/>
                <a:ea typeface="Meiryo" pitchFamily="34" charset="-122"/>
                <a:cs typeface="Meiryo" pitchFamily="34" charset="-120"/>
              </a:rPr>
              <a:t>　各 25 字以内。悩みを言い当てる形にする。</a:t>
            </a:r>
            <a:endParaRPr lang="en-US" sz="1100" dirty="0"/>
          </a:p>
          <a:p>
            <a:pPr indent="0" marL="0">
              <a:lnSpc>
                <a:spcPts val="1800"/>
              </a:lnSpc>
              <a:buNone/>
            </a:pPr>
            <a:r>
              <a:rPr lang="en-US" sz="1100" dirty="0">
                <a:solidFill>
                  <a:srgbClr val="D6D3C8"/>
                </a:solidFill>
                <a:latin typeface="Meiryo" pitchFamily="34" charset="0"/>
                <a:ea typeface="Meiryo" pitchFamily="34" charset="-122"/>
                <a:cs typeface="Meiryo" pitchFamily="34" charset="-120"/>
              </a:rPr>
              <a:t>【制約】事実にない数字は書かない。</a:t>
            </a:r>
            <a:endParaRPr lang="en-US" sz="1100" dirty="0"/>
          </a:p>
          <a:p>
            <a:pPr indent="0" marL="0">
              <a:lnSpc>
                <a:spcPts val="1800"/>
              </a:lnSpc>
              <a:buNone/>
            </a:pPr>
            <a:r>
              <a:rPr lang="en-US" sz="1100" dirty="0">
                <a:solidFill>
                  <a:srgbClr val="D6D3C8"/>
                </a:solidFill>
                <a:latin typeface="Meiryo" pitchFamily="34" charset="0"/>
                <a:ea typeface="Meiryo" pitchFamily="34" charset="-122"/>
                <a:cs typeface="Meiryo" pitchFamily="34" charset="-120"/>
              </a:rPr>
              <a:t>　「アットホーム」など曖昧な言葉は使わない。</a:t>
            </a:r>
            <a:endParaRPr lang="en-US" sz="1100" dirty="0"/>
          </a:p>
        </p:txBody>
      </p:sp>
      <p:sp>
        <p:nvSpPr>
          <p:cNvPr id="26" name="Text 24"/>
          <p:cNvSpPr/>
          <p:nvPr/>
        </p:nvSpPr>
        <p:spPr>
          <a:xfrm>
            <a:off x="640080" y="5120640"/>
            <a:ext cx="5029200" cy="320040"/>
          </a:xfrm>
          <a:prstGeom prst="rect">
            <a:avLst/>
          </a:prstGeom>
          <a:noFill/>
          <a:ln/>
        </p:spPr>
        <p:txBody>
          <a:bodyPr wrap="square" lIns="0" tIns="0" rIns="0" bIns="0" rtlCol="0" anchor="ctr"/>
          <a:lstStyle/>
          <a:p>
            <a:pPr indent="0" marL="0">
              <a:buNone/>
            </a:pPr>
            <a:r>
              <a:rPr lang="en-US" sz="1300" b="1" dirty="0">
                <a:solidFill>
                  <a:srgbClr val="141413"/>
                </a:solidFill>
                <a:latin typeface="Meiryo" pitchFamily="34" charset="0"/>
                <a:ea typeface="Meiryo" pitchFamily="34" charset="-122"/>
                <a:cs typeface="Meiryo" pitchFamily="34" charset="-120"/>
              </a:rPr>
              <a:t>出てきた原稿のチェック 3 点</a:t>
            </a:r>
            <a:endParaRPr lang="en-US" sz="1300" dirty="0"/>
          </a:p>
        </p:txBody>
      </p:sp>
      <p:pic>
        <p:nvPicPr>
          <p:cNvPr id="27" name="Image 0" descr="preencoded.png">    </p:cNvPr>
          <p:cNvPicPr>
            <a:picLocks noChangeAspect="1"/>
          </p:cNvPicPr>
          <p:nvPr/>
        </p:nvPicPr>
        <p:blipFill>
          <a:blip r:embed="rId1"/>
          <a:stretch>
            <a:fillRect/>
          </a:stretch>
        </p:blipFill>
        <p:spPr>
          <a:xfrm>
            <a:off x="640080" y="5486400"/>
            <a:ext cx="210312" cy="210312"/>
          </a:xfrm>
          <a:prstGeom prst="rect">
            <a:avLst/>
          </a:prstGeom>
        </p:spPr>
      </p:pic>
      <p:sp>
        <p:nvSpPr>
          <p:cNvPr id="28" name="Text 25"/>
          <p:cNvSpPr/>
          <p:nvPr/>
        </p:nvSpPr>
        <p:spPr>
          <a:xfrm>
            <a:off x="941832" y="5468112"/>
            <a:ext cx="4754880" cy="274320"/>
          </a:xfrm>
          <a:prstGeom prst="rect">
            <a:avLst/>
          </a:prstGeom>
          <a:noFill/>
          <a:ln/>
        </p:spPr>
        <p:txBody>
          <a:bodyPr wrap="square" lIns="0" tIns="0" rIns="0" bIns="0" rtlCol="0" anchor="ctr"/>
          <a:lstStyle/>
          <a:p>
            <a:pPr indent="0" marL="0">
              <a:buNone/>
            </a:pPr>
            <a:r>
              <a:rPr lang="en-US" sz="1100" dirty="0">
                <a:solidFill>
                  <a:srgbClr val="4A4943"/>
                </a:solidFill>
                <a:latin typeface="Meiryo" pitchFamily="34" charset="0"/>
                <a:ea typeface="Meiryo" pitchFamily="34" charset="-122"/>
                <a:cs typeface="Meiryo" pitchFamily="34" charset="-120"/>
              </a:rPr>
              <a:t>書かれた数字は事実か</a:t>
            </a:r>
            <a:endParaRPr lang="en-US" sz="1100" dirty="0"/>
          </a:p>
        </p:txBody>
      </p:sp>
      <p:pic>
        <p:nvPicPr>
          <p:cNvPr id="29" name="Image 1" descr="preencoded.png">    </p:cNvPr>
          <p:cNvPicPr>
            <a:picLocks noChangeAspect="1"/>
          </p:cNvPicPr>
          <p:nvPr/>
        </p:nvPicPr>
        <p:blipFill>
          <a:blip r:embed="rId2"/>
          <a:stretch>
            <a:fillRect/>
          </a:stretch>
        </p:blipFill>
        <p:spPr>
          <a:xfrm>
            <a:off x="640080" y="5779008"/>
            <a:ext cx="210312" cy="210312"/>
          </a:xfrm>
          <a:prstGeom prst="rect">
            <a:avLst/>
          </a:prstGeom>
        </p:spPr>
      </p:pic>
      <p:sp>
        <p:nvSpPr>
          <p:cNvPr id="30" name="Text 26"/>
          <p:cNvSpPr/>
          <p:nvPr/>
        </p:nvSpPr>
        <p:spPr>
          <a:xfrm>
            <a:off x="941832" y="5760720"/>
            <a:ext cx="4754880" cy="274320"/>
          </a:xfrm>
          <a:prstGeom prst="rect">
            <a:avLst/>
          </a:prstGeom>
          <a:noFill/>
          <a:ln/>
        </p:spPr>
        <p:txBody>
          <a:bodyPr wrap="square" lIns="0" tIns="0" rIns="0" bIns="0" rtlCol="0" anchor="ctr"/>
          <a:lstStyle/>
          <a:p>
            <a:pPr indent="0" marL="0">
              <a:buNone/>
            </a:pPr>
            <a:r>
              <a:rPr lang="en-US" sz="1100" dirty="0">
                <a:solidFill>
                  <a:srgbClr val="4A4943"/>
                </a:solidFill>
                <a:latin typeface="Meiryo" pitchFamily="34" charset="0"/>
                <a:ea typeface="Meiryo" pitchFamily="34" charset="-122"/>
                <a:cs typeface="Meiryo" pitchFamily="34" charset="-120"/>
              </a:rPr>
              <a:t>現場の人が読んで違和感がないか</a:t>
            </a:r>
            <a:endParaRPr lang="en-US" sz="1100" dirty="0"/>
          </a:p>
        </p:txBody>
      </p:sp>
      <p:pic>
        <p:nvPicPr>
          <p:cNvPr id="31" name="Image 2" descr="preencoded.png">    </p:cNvPr>
          <p:cNvPicPr>
            <a:picLocks noChangeAspect="1"/>
          </p:cNvPicPr>
          <p:nvPr/>
        </p:nvPicPr>
        <p:blipFill>
          <a:blip r:embed="rId3"/>
          <a:stretch>
            <a:fillRect/>
          </a:stretch>
        </p:blipFill>
        <p:spPr>
          <a:xfrm>
            <a:off x="640080" y="6071616"/>
            <a:ext cx="210312" cy="210312"/>
          </a:xfrm>
          <a:prstGeom prst="rect">
            <a:avLst/>
          </a:prstGeom>
        </p:spPr>
      </p:pic>
      <p:sp>
        <p:nvSpPr>
          <p:cNvPr id="32" name="Text 27"/>
          <p:cNvSpPr/>
          <p:nvPr/>
        </p:nvSpPr>
        <p:spPr>
          <a:xfrm>
            <a:off x="941832" y="6053328"/>
            <a:ext cx="4754880" cy="274320"/>
          </a:xfrm>
          <a:prstGeom prst="rect">
            <a:avLst/>
          </a:prstGeom>
          <a:noFill/>
          <a:ln/>
        </p:spPr>
        <p:txBody>
          <a:bodyPr wrap="square" lIns="0" tIns="0" rIns="0" bIns="0" rtlCol="0" anchor="ctr"/>
          <a:lstStyle/>
          <a:p>
            <a:pPr indent="0" marL="0">
              <a:buNone/>
            </a:pPr>
            <a:r>
              <a:rPr lang="en-US" sz="1100" dirty="0">
                <a:solidFill>
                  <a:srgbClr val="4A4943"/>
                </a:solidFill>
                <a:latin typeface="Meiryo" pitchFamily="34" charset="0"/>
                <a:ea typeface="Meiryo" pitchFamily="34" charset="-122"/>
                <a:cs typeface="Meiryo" pitchFamily="34" charset="-120"/>
              </a:rPr>
              <a:t>他施設でも成立する文章になっていないか</a:t>
            </a:r>
            <a:endParaRPr lang="en-US" sz="1100" dirty="0"/>
          </a:p>
        </p:txBody>
      </p:sp>
      <p:sp>
        <p:nvSpPr>
          <p:cNvPr id="33" name="Shape 28"/>
          <p:cNvSpPr/>
          <p:nvPr/>
        </p:nvSpPr>
        <p:spPr>
          <a:xfrm>
            <a:off x="6126480" y="5120640"/>
            <a:ext cx="5394960" cy="914400"/>
          </a:xfrm>
          <a:prstGeom prst="roundRect">
            <a:avLst>
              <a:gd name="adj" fmla="val 6000"/>
            </a:avLst>
          </a:prstGeom>
          <a:solidFill>
            <a:srgbClr val="E7ECDD"/>
          </a:solidFill>
          <a:ln w="12700">
            <a:solidFill>
              <a:srgbClr val="788C5D"/>
            </a:solidFill>
            <a:prstDash val="solid"/>
          </a:ln>
        </p:spPr>
      </p:sp>
      <p:sp>
        <p:nvSpPr>
          <p:cNvPr id="34" name="Text 29"/>
          <p:cNvSpPr/>
          <p:nvPr/>
        </p:nvSpPr>
        <p:spPr>
          <a:xfrm>
            <a:off x="6382512" y="5120640"/>
            <a:ext cx="4882896" cy="914400"/>
          </a:xfrm>
          <a:prstGeom prst="rect">
            <a:avLst/>
          </a:prstGeom>
          <a:noFill/>
          <a:ln/>
        </p:spPr>
        <p:txBody>
          <a:bodyPr wrap="square" lIns="0" tIns="0" rIns="0" bIns="0" rtlCol="0" anchor="ctr"/>
          <a:lstStyle/>
          <a:p>
            <a:pPr indent="0" marL="0">
              <a:lnSpc>
                <a:spcPts val="1800"/>
              </a:lnSpc>
              <a:buNone/>
            </a:pPr>
            <a:r>
              <a:rPr lang="en-US" sz="1100" b="1" dirty="0">
                <a:solidFill>
                  <a:srgbClr val="4A4943"/>
                </a:solidFill>
                <a:latin typeface="Meiryo" pitchFamily="34" charset="0"/>
                <a:ea typeface="Meiryo" pitchFamily="34" charset="-122"/>
                <a:cs typeface="Meiryo" pitchFamily="34" charset="-120"/>
              </a:rPr>
              <a:t>3 番目のチェックが最重要です。他施設に貼り替えても通る文章は、</a:t>
            </a:r>
            <a:endParaRPr lang="en-US" sz="1100" dirty="0"/>
          </a:p>
          <a:p>
            <a:pPr indent="0" marL="0">
              <a:lnSpc>
                <a:spcPts val="1800"/>
              </a:lnSpc>
              <a:buNone/>
            </a:pPr>
            <a:r>
              <a:rPr lang="en-US" sz="1100" b="1" dirty="0">
                <a:solidFill>
                  <a:srgbClr val="4A4943"/>
                </a:solidFill>
                <a:latin typeface="Meiryo" pitchFamily="34" charset="0"/>
                <a:ea typeface="Meiryo" pitchFamily="34" charset="-122"/>
                <a:cs typeface="Meiryo" pitchFamily="34" charset="-120"/>
              </a:rPr>
              <a:t>求職者にとって「選ぶ理由」になりません。</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347472"/>
            <a:ext cx="1783080" cy="329184"/>
          </a:xfrm>
          <a:prstGeom prst="roundRect">
            <a:avLst>
              <a:gd name="adj" fmla="val 13889"/>
            </a:avLst>
          </a:prstGeom>
          <a:solidFill>
            <a:srgbClr val="D97757"/>
          </a:solidFill>
          <a:ln/>
        </p:spPr>
      </p:sp>
      <p:sp>
        <p:nvSpPr>
          <p:cNvPr id="3" name="Text 1"/>
          <p:cNvSpPr/>
          <p:nvPr/>
        </p:nvSpPr>
        <p:spPr>
          <a:xfrm>
            <a:off x="640080" y="347472"/>
            <a:ext cx="1783080" cy="329184"/>
          </a:xfrm>
          <a:prstGeom prst="rect">
            <a:avLst/>
          </a:prstGeom>
          <a:noFill/>
          <a:ln/>
        </p:spPr>
        <p:txBody>
          <a:bodyPr wrap="square" lIns="0" tIns="0" rIns="0" bIns="0" rtlCol="0" anchor="ctr"/>
          <a:lstStyle/>
          <a:p>
            <a:pPr algn="ctr" indent="0" marL="0">
              <a:buNone/>
            </a:pPr>
            <a:r>
              <a:rPr lang="en-US" sz="1150" b="1" spc="100" kern="0" dirty="0">
                <a:solidFill>
                  <a:srgbClr val="FFFFFF"/>
                </a:solidFill>
                <a:latin typeface="Meiryo" pitchFamily="34" charset="0"/>
                <a:ea typeface="Meiryo" pitchFamily="34" charset="-122"/>
                <a:cs typeface="Meiryo" pitchFamily="34" charset="-120"/>
              </a:rPr>
              <a:t>MODULE 3</a:t>
            </a:r>
            <a:endParaRPr lang="en-US" sz="1150" dirty="0"/>
          </a:p>
        </p:txBody>
      </p:sp>
      <p:sp>
        <p:nvSpPr>
          <p:cNvPr id="4" name="Text 2"/>
          <p:cNvSpPr/>
          <p:nvPr/>
        </p:nvSpPr>
        <p:spPr>
          <a:xfrm>
            <a:off x="640080" y="768096"/>
            <a:ext cx="10881360" cy="566928"/>
          </a:xfrm>
          <a:prstGeom prst="rect">
            <a:avLst/>
          </a:prstGeom>
          <a:noFill/>
          <a:ln/>
        </p:spPr>
        <p:txBody>
          <a:bodyPr wrap="square" lIns="0" tIns="0" rIns="0" bIns="0" rtlCol="0" anchor="ctr"/>
          <a:lstStyle/>
          <a:p>
            <a:pPr indent="0" marL="0">
              <a:buNone/>
            </a:pPr>
            <a:r>
              <a:rPr lang="en-US" sz="2700" b="1" dirty="0">
                <a:solidFill>
                  <a:srgbClr val="141413"/>
                </a:solidFill>
                <a:latin typeface="Meiryo" pitchFamily="34" charset="0"/>
                <a:ea typeface="Meiryo" pitchFamily="34" charset="-122"/>
                <a:cs typeface="Meiryo" pitchFamily="34" charset="-120"/>
              </a:rPr>
              <a:t>ワーク③：ペルソナと「介護職の本音」</a:t>
            </a:r>
            <a:endParaRPr lang="en-US" sz="2700" dirty="0"/>
          </a:p>
        </p:txBody>
      </p:sp>
      <p:sp>
        <p:nvSpPr>
          <p:cNvPr id="5" name="Text 3"/>
          <p:cNvSpPr/>
          <p:nvPr/>
        </p:nvSpPr>
        <p:spPr>
          <a:xfrm>
            <a:off x="640080" y="1316736"/>
            <a:ext cx="10881360" cy="329184"/>
          </a:xfrm>
          <a:prstGeom prst="rect">
            <a:avLst/>
          </a:prstGeom>
          <a:noFill/>
          <a:ln/>
        </p:spPr>
        <p:txBody>
          <a:bodyPr wrap="square" lIns="0" tIns="0" rIns="0" bIns="0" rtlCol="0" anchor="ctr"/>
          <a:lstStyle/>
          <a:p>
            <a:pPr indent="0" marL="0">
              <a:buNone/>
            </a:pPr>
            <a:r>
              <a:rPr lang="en-US" sz="1300" dirty="0">
                <a:solidFill>
                  <a:srgbClr val="6E6C63"/>
                </a:solidFill>
                <a:latin typeface="Meiryo" pitchFamily="34" charset="0"/>
                <a:ea typeface="Meiryo" pitchFamily="34" charset="-122"/>
                <a:cs typeface="Meiryo" pitchFamily="34" charset="-120"/>
              </a:rPr>
              <a:t>共感は想像では書けません。実際に出ている声を材料にします</a:t>
            </a:r>
            <a:endParaRPr lang="en-US" sz="1300" dirty="0"/>
          </a:p>
        </p:txBody>
      </p:sp>
      <p:sp>
        <p:nvSpPr>
          <p:cNvPr id="6" name="Shape 4"/>
          <p:cNvSpPr/>
          <p:nvPr/>
        </p:nvSpPr>
        <p:spPr>
          <a:xfrm>
            <a:off x="640080" y="1810512"/>
            <a:ext cx="4754880" cy="3840480"/>
          </a:xfrm>
          <a:prstGeom prst="roundRect">
            <a:avLst>
              <a:gd name="adj" fmla="val 1429"/>
            </a:avLst>
          </a:prstGeom>
          <a:solidFill>
            <a:srgbClr val="FAF9F5"/>
          </a:solidFill>
          <a:ln w="12700">
            <a:solidFill>
              <a:srgbClr val="E8E6DC"/>
            </a:solidFill>
            <a:prstDash val="solid"/>
          </a:ln>
        </p:spPr>
      </p:sp>
      <p:sp>
        <p:nvSpPr>
          <p:cNvPr id="7" name="Text 5"/>
          <p:cNvSpPr/>
          <p:nvPr/>
        </p:nvSpPr>
        <p:spPr>
          <a:xfrm>
            <a:off x="932688" y="1965960"/>
            <a:ext cx="4169664" cy="365760"/>
          </a:xfrm>
          <a:prstGeom prst="rect">
            <a:avLst/>
          </a:prstGeom>
          <a:noFill/>
          <a:ln/>
        </p:spPr>
        <p:txBody>
          <a:bodyPr wrap="square" lIns="0" tIns="0" rIns="0" bIns="0" rtlCol="0" anchor="ctr"/>
          <a:lstStyle/>
          <a:p>
            <a:pPr indent="0" marL="0">
              <a:buNone/>
            </a:pPr>
            <a:r>
              <a:rPr lang="en-US" sz="1500" b="1" dirty="0">
                <a:solidFill>
                  <a:srgbClr val="141413"/>
                </a:solidFill>
                <a:latin typeface="Meiryo" pitchFamily="34" charset="0"/>
                <a:ea typeface="Meiryo" pitchFamily="34" charset="-122"/>
                <a:cs typeface="Meiryo" pitchFamily="34" charset="-120"/>
              </a:rPr>
              <a:t>採用要件は 1 枚に絞る</a:t>
            </a:r>
            <a:endParaRPr lang="en-US" sz="1500" dirty="0"/>
          </a:p>
        </p:txBody>
      </p:sp>
      <p:sp>
        <p:nvSpPr>
          <p:cNvPr id="8" name="Shape 6"/>
          <p:cNvSpPr/>
          <p:nvPr/>
        </p:nvSpPr>
        <p:spPr>
          <a:xfrm>
            <a:off x="932688" y="2423160"/>
            <a:ext cx="4169664" cy="841248"/>
          </a:xfrm>
          <a:prstGeom prst="roundRect">
            <a:avLst>
              <a:gd name="adj" fmla="val 5435"/>
            </a:avLst>
          </a:prstGeom>
          <a:solidFill>
            <a:srgbClr val="FFFFFF"/>
          </a:solidFill>
          <a:ln w="12700">
            <a:solidFill>
              <a:srgbClr val="E8E6DC"/>
            </a:solidFill>
            <a:prstDash val="solid"/>
          </a:ln>
        </p:spPr>
      </p:sp>
      <p:sp>
        <p:nvSpPr>
          <p:cNvPr id="9" name="Text 7"/>
          <p:cNvSpPr/>
          <p:nvPr/>
        </p:nvSpPr>
        <p:spPr>
          <a:xfrm>
            <a:off x="1097280" y="2423160"/>
            <a:ext cx="1005840" cy="841248"/>
          </a:xfrm>
          <a:prstGeom prst="rect">
            <a:avLst/>
          </a:prstGeom>
          <a:noFill/>
          <a:ln/>
        </p:spPr>
        <p:txBody>
          <a:bodyPr wrap="square" lIns="0" tIns="0" rIns="0" bIns="0" rtlCol="0" anchor="ctr"/>
          <a:lstStyle/>
          <a:p>
            <a:pPr indent="0" marL="0">
              <a:buNone/>
            </a:pPr>
            <a:r>
              <a:rPr lang="en-US" sz="1500" b="1" dirty="0">
                <a:solidFill>
                  <a:srgbClr val="D97757"/>
                </a:solidFill>
                <a:latin typeface="Meiryo" pitchFamily="34" charset="0"/>
                <a:ea typeface="Meiryo" pitchFamily="34" charset="-122"/>
                <a:cs typeface="Meiryo" pitchFamily="34" charset="-120"/>
              </a:rPr>
              <a:t>MUST</a:t>
            </a:r>
            <a:endParaRPr lang="en-US" sz="1500" dirty="0"/>
          </a:p>
        </p:txBody>
      </p:sp>
      <p:sp>
        <p:nvSpPr>
          <p:cNvPr id="10" name="Text 8"/>
          <p:cNvSpPr/>
          <p:nvPr/>
        </p:nvSpPr>
        <p:spPr>
          <a:xfrm>
            <a:off x="2103120" y="2551176"/>
            <a:ext cx="2971800" cy="292608"/>
          </a:xfrm>
          <a:prstGeom prst="rect">
            <a:avLst/>
          </a:prstGeom>
          <a:noFill/>
          <a:ln/>
        </p:spPr>
        <p:txBody>
          <a:bodyPr wrap="square" lIns="0" tIns="0" rIns="0" bIns="0" rtlCol="0" anchor="ctr"/>
          <a:lstStyle/>
          <a:p>
            <a:pPr indent="0" marL="0">
              <a:buNone/>
            </a:pPr>
            <a:r>
              <a:rPr lang="en-US" sz="1250" b="1" dirty="0">
                <a:solidFill>
                  <a:srgbClr val="141413"/>
                </a:solidFill>
                <a:latin typeface="Meiryo" pitchFamily="34" charset="0"/>
                <a:ea typeface="Meiryo" pitchFamily="34" charset="-122"/>
                <a:cs typeface="Meiryo" pitchFamily="34" charset="-120"/>
              </a:rPr>
              <a:t>3 つまで</a:t>
            </a:r>
            <a:endParaRPr lang="en-US" sz="1250" dirty="0"/>
          </a:p>
        </p:txBody>
      </p:sp>
      <p:sp>
        <p:nvSpPr>
          <p:cNvPr id="11" name="Text 9"/>
          <p:cNvSpPr/>
          <p:nvPr/>
        </p:nvSpPr>
        <p:spPr>
          <a:xfrm>
            <a:off x="2103120" y="2843784"/>
            <a:ext cx="2971800" cy="329184"/>
          </a:xfrm>
          <a:prstGeom prst="rect">
            <a:avLst/>
          </a:prstGeom>
          <a:noFill/>
          <a:ln/>
        </p:spPr>
        <p:txBody>
          <a:bodyPr wrap="square" lIns="0" tIns="0" rIns="0" bIns="0" rtlCol="0" anchor="ctr"/>
          <a:lstStyle/>
          <a:p>
            <a:pPr indent="0" marL="0">
              <a:buNone/>
            </a:pPr>
            <a:r>
              <a:rPr lang="en-US" sz="1050" dirty="0">
                <a:solidFill>
                  <a:srgbClr val="6E6C63"/>
                </a:solidFill>
                <a:latin typeface="Meiryo" pitchFamily="34" charset="0"/>
                <a:ea typeface="Meiryo" pitchFamily="34" charset="-122"/>
                <a:cs typeface="Meiryo" pitchFamily="34" charset="-120"/>
              </a:rPr>
              <a:t>資格・経験年数など、無いと成立しない条件</a:t>
            </a:r>
            <a:endParaRPr lang="en-US" sz="1050" dirty="0"/>
          </a:p>
        </p:txBody>
      </p:sp>
      <p:sp>
        <p:nvSpPr>
          <p:cNvPr id="12" name="Shape 10"/>
          <p:cNvSpPr/>
          <p:nvPr/>
        </p:nvSpPr>
        <p:spPr>
          <a:xfrm>
            <a:off x="932688" y="3410712"/>
            <a:ext cx="4169664" cy="841248"/>
          </a:xfrm>
          <a:prstGeom prst="roundRect">
            <a:avLst>
              <a:gd name="adj" fmla="val 5435"/>
            </a:avLst>
          </a:prstGeom>
          <a:solidFill>
            <a:srgbClr val="FFFFFF"/>
          </a:solidFill>
          <a:ln w="12700">
            <a:solidFill>
              <a:srgbClr val="E8E6DC"/>
            </a:solidFill>
            <a:prstDash val="solid"/>
          </a:ln>
        </p:spPr>
      </p:sp>
      <p:sp>
        <p:nvSpPr>
          <p:cNvPr id="13" name="Text 11"/>
          <p:cNvSpPr/>
          <p:nvPr/>
        </p:nvSpPr>
        <p:spPr>
          <a:xfrm>
            <a:off x="1097280" y="3410712"/>
            <a:ext cx="1005840" cy="841248"/>
          </a:xfrm>
          <a:prstGeom prst="rect">
            <a:avLst/>
          </a:prstGeom>
          <a:noFill/>
          <a:ln/>
        </p:spPr>
        <p:txBody>
          <a:bodyPr wrap="square" lIns="0" tIns="0" rIns="0" bIns="0" rtlCol="0" anchor="ctr"/>
          <a:lstStyle/>
          <a:p>
            <a:pPr indent="0" marL="0">
              <a:buNone/>
            </a:pPr>
            <a:r>
              <a:rPr lang="en-US" sz="1500" b="1" dirty="0">
                <a:solidFill>
                  <a:srgbClr val="141413"/>
                </a:solidFill>
                <a:latin typeface="Meiryo" pitchFamily="34" charset="0"/>
                <a:ea typeface="Meiryo" pitchFamily="34" charset="-122"/>
                <a:cs typeface="Meiryo" pitchFamily="34" charset="-120"/>
              </a:rPr>
              <a:t>WANT</a:t>
            </a:r>
            <a:endParaRPr lang="en-US" sz="1500" dirty="0"/>
          </a:p>
        </p:txBody>
      </p:sp>
      <p:sp>
        <p:nvSpPr>
          <p:cNvPr id="14" name="Text 12"/>
          <p:cNvSpPr/>
          <p:nvPr/>
        </p:nvSpPr>
        <p:spPr>
          <a:xfrm>
            <a:off x="2103120" y="3538728"/>
            <a:ext cx="2971800" cy="292608"/>
          </a:xfrm>
          <a:prstGeom prst="rect">
            <a:avLst/>
          </a:prstGeom>
          <a:noFill/>
          <a:ln/>
        </p:spPr>
        <p:txBody>
          <a:bodyPr wrap="square" lIns="0" tIns="0" rIns="0" bIns="0" rtlCol="0" anchor="ctr"/>
          <a:lstStyle/>
          <a:p>
            <a:pPr indent="0" marL="0">
              <a:buNone/>
            </a:pPr>
            <a:r>
              <a:rPr lang="en-US" sz="1250" b="1" dirty="0">
                <a:solidFill>
                  <a:srgbClr val="141413"/>
                </a:solidFill>
                <a:latin typeface="Meiryo" pitchFamily="34" charset="0"/>
                <a:ea typeface="Meiryo" pitchFamily="34" charset="-122"/>
                <a:cs typeface="Meiryo" pitchFamily="34" charset="-120"/>
              </a:rPr>
              <a:t>自由に</a:t>
            </a:r>
            <a:endParaRPr lang="en-US" sz="1250" dirty="0"/>
          </a:p>
        </p:txBody>
      </p:sp>
      <p:sp>
        <p:nvSpPr>
          <p:cNvPr id="15" name="Text 13"/>
          <p:cNvSpPr/>
          <p:nvPr/>
        </p:nvSpPr>
        <p:spPr>
          <a:xfrm>
            <a:off x="2103120" y="3831336"/>
            <a:ext cx="2971800" cy="329184"/>
          </a:xfrm>
          <a:prstGeom prst="rect">
            <a:avLst/>
          </a:prstGeom>
          <a:noFill/>
          <a:ln/>
        </p:spPr>
        <p:txBody>
          <a:bodyPr wrap="square" lIns="0" tIns="0" rIns="0" bIns="0" rtlCol="0" anchor="ctr"/>
          <a:lstStyle/>
          <a:p>
            <a:pPr indent="0" marL="0">
              <a:buNone/>
            </a:pPr>
            <a:r>
              <a:rPr lang="en-US" sz="1050" dirty="0">
                <a:solidFill>
                  <a:srgbClr val="6E6C63"/>
                </a:solidFill>
                <a:latin typeface="Meiryo" pitchFamily="34" charset="0"/>
                <a:ea typeface="Meiryo" pitchFamily="34" charset="-122"/>
                <a:cs typeface="Meiryo" pitchFamily="34" charset="-120"/>
              </a:rPr>
              <a:t>あれば嬉しい。無くても採用する条件</a:t>
            </a:r>
            <a:endParaRPr lang="en-US" sz="1050" dirty="0"/>
          </a:p>
        </p:txBody>
      </p:sp>
      <p:sp>
        <p:nvSpPr>
          <p:cNvPr id="16" name="Shape 14"/>
          <p:cNvSpPr/>
          <p:nvPr/>
        </p:nvSpPr>
        <p:spPr>
          <a:xfrm>
            <a:off x="932688" y="4398264"/>
            <a:ext cx="4169664" cy="841248"/>
          </a:xfrm>
          <a:prstGeom prst="roundRect">
            <a:avLst>
              <a:gd name="adj" fmla="val 5435"/>
            </a:avLst>
          </a:prstGeom>
          <a:solidFill>
            <a:srgbClr val="FFFFFF"/>
          </a:solidFill>
          <a:ln w="12700">
            <a:solidFill>
              <a:srgbClr val="E8E6DC"/>
            </a:solidFill>
            <a:prstDash val="solid"/>
          </a:ln>
        </p:spPr>
      </p:sp>
      <p:sp>
        <p:nvSpPr>
          <p:cNvPr id="17" name="Text 15"/>
          <p:cNvSpPr/>
          <p:nvPr/>
        </p:nvSpPr>
        <p:spPr>
          <a:xfrm>
            <a:off x="1097280" y="4398264"/>
            <a:ext cx="1005840" cy="841248"/>
          </a:xfrm>
          <a:prstGeom prst="rect">
            <a:avLst/>
          </a:prstGeom>
          <a:noFill/>
          <a:ln/>
        </p:spPr>
        <p:txBody>
          <a:bodyPr wrap="square" lIns="0" tIns="0" rIns="0" bIns="0" rtlCol="0" anchor="ctr"/>
          <a:lstStyle/>
          <a:p>
            <a:pPr indent="0" marL="0">
              <a:buNone/>
            </a:pPr>
            <a:r>
              <a:rPr lang="en-US" sz="1500" b="1" dirty="0">
                <a:solidFill>
                  <a:srgbClr val="141413"/>
                </a:solidFill>
                <a:latin typeface="Meiryo" pitchFamily="34" charset="0"/>
                <a:ea typeface="Meiryo" pitchFamily="34" charset="-122"/>
                <a:cs typeface="Meiryo" pitchFamily="34" charset="-120"/>
              </a:rPr>
              <a:t>NG</a:t>
            </a:r>
            <a:endParaRPr lang="en-US" sz="1500" dirty="0"/>
          </a:p>
        </p:txBody>
      </p:sp>
      <p:sp>
        <p:nvSpPr>
          <p:cNvPr id="18" name="Text 16"/>
          <p:cNvSpPr/>
          <p:nvPr/>
        </p:nvSpPr>
        <p:spPr>
          <a:xfrm>
            <a:off x="2103120" y="4526280"/>
            <a:ext cx="2971800" cy="292608"/>
          </a:xfrm>
          <a:prstGeom prst="rect">
            <a:avLst/>
          </a:prstGeom>
          <a:noFill/>
          <a:ln/>
        </p:spPr>
        <p:txBody>
          <a:bodyPr wrap="square" lIns="0" tIns="0" rIns="0" bIns="0" rtlCol="0" anchor="ctr"/>
          <a:lstStyle/>
          <a:p>
            <a:pPr indent="0" marL="0">
              <a:buNone/>
            </a:pPr>
            <a:r>
              <a:rPr lang="en-US" sz="1250" b="1" dirty="0">
                <a:solidFill>
                  <a:srgbClr val="141413"/>
                </a:solidFill>
                <a:latin typeface="Meiryo" pitchFamily="34" charset="0"/>
                <a:ea typeface="Meiryo" pitchFamily="34" charset="-122"/>
                <a:cs typeface="Meiryo" pitchFamily="34" charset="-120"/>
              </a:rPr>
              <a:t>2 つまで</a:t>
            </a:r>
            <a:endParaRPr lang="en-US" sz="1250" dirty="0"/>
          </a:p>
        </p:txBody>
      </p:sp>
      <p:sp>
        <p:nvSpPr>
          <p:cNvPr id="19" name="Text 17"/>
          <p:cNvSpPr/>
          <p:nvPr/>
        </p:nvSpPr>
        <p:spPr>
          <a:xfrm>
            <a:off x="2103120" y="4818888"/>
            <a:ext cx="2971800" cy="329184"/>
          </a:xfrm>
          <a:prstGeom prst="rect">
            <a:avLst/>
          </a:prstGeom>
          <a:noFill/>
          <a:ln/>
        </p:spPr>
        <p:txBody>
          <a:bodyPr wrap="square" lIns="0" tIns="0" rIns="0" bIns="0" rtlCol="0" anchor="ctr"/>
          <a:lstStyle/>
          <a:p>
            <a:pPr indent="0" marL="0">
              <a:buNone/>
            </a:pPr>
            <a:r>
              <a:rPr lang="en-US" sz="1050" dirty="0">
                <a:solidFill>
                  <a:srgbClr val="6E6C63"/>
                </a:solidFill>
                <a:latin typeface="Meiryo" pitchFamily="34" charset="0"/>
                <a:ea typeface="Meiryo" pitchFamily="34" charset="-122"/>
                <a:cs typeface="Meiryo" pitchFamily="34" charset="-120"/>
              </a:rPr>
              <a:t>これがあったら見送る、と決めておく条件</a:t>
            </a:r>
            <a:endParaRPr lang="en-US" sz="1050" dirty="0"/>
          </a:p>
        </p:txBody>
      </p:sp>
      <p:sp>
        <p:nvSpPr>
          <p:cNvPr id="20" name="Text 18"/>
          <p:cNvSpPr/>
          <p:nvPr/>
        </p:nvSpPr>
        <p:spPr>
          <a:xfrm>
            <a:off x="932688" y="5257800"/>
            <a:ext cx="4169664" cy="320040"/>
          </a:xfrm>
          <a:prstGeom prst="rect">
            <a:avLst/>
          </a:prstGeom>
          <a:noFill/>
          <a:ln/>
        </p:spPr>
        <p:txBody>
          <a:bodyPr wrap="square" lIns="0" tIns="0" rIns="0" bIns="0" rtlCol="0" anchor="ctr"/>
          <a:lstStyle/>
          <a:p>
            <a:pPr indent="0" marL="0">
              <a:buNone/>
            </a:pPr>
            <a:r>
              <a:rPr lang="en-US" sz="1100" b="1" dirty="0">
                <a:solidFill>
                  <a:srgbClr val="D97757"/>
                </a:solidFill>
                <a:latin typeface="Meiryo" pitchFamily="34" charset="0"/>
                <a:ea typeface="Meiryo" pitchFamily="34" charset="-122"/>
                <a:cs typeface="Meiryo" pitchFamily="34" charset="-120"/>
              </a:rPr>
              <a:t>MUST を 3 つに絞るほど、会える人は増えます。</a:t>
            </a:r>
            <a:endParaRPr lang="en-US" sz="1100" dirty="0"/>
          </a:p>
        </p:txBody>
      </p:sp>
      <p:sp>
        <p:nvSpPr>
          <p:cNvPr id="21" name="Text 19"/>
          <p:cNvSpPr/>
          <p:nvPr/>
        </p:nvSpPr>
        <p:spPr>
          <a:xfrm>
            <a:off x="5852160" y="1965960"/>
            <a:ext cx="5669280" cy="365760"/>
          </a:xfrm>
          <a:prstGeom prst="rect">
            <a:avLst/>
          </a:prstGeom>
          <a:noFill/>
          <a:ln/>
        </p:spPr>
        <p:txBody>
          <a:bodyPr wrap="square" lIns="0" tIns="0" rIns="0" bIns="0" rtlCol="0" anchor="ctr"/>
          <a:lstStyle/>
          <a:p>
            <a:pPr indent="0" marL="0">
              <a:buNone/>
            </a:pPr>
            <a:r>
              <a:rPr lang="en-US" sz="1500" b="1" dirty="0">
                <a:solidFill>
                  <a:srgbClr val="141413"/>
                </a:solidFill>
                <a:latin typeface="Meiryo" pitchFamily="34" charset="0"/>
                <a:ea typeface="Meiryo" pitchFamily="34" charset="-122"/>
                <a:cs typeface="Meiryo" pitchFamily="34" charset="-120"/>
              </a:rPr>
              <a:t>転職を考える介護職の「本音」</a:t>
            </a:r>
            <a:endParaRPr lang="en-US" sz="1500" dirty="0"/>
          </a:p>
        </p:txBody>
      </p:sp>
      <p:sp>
        <p:nvSpPr>
          <p:cNvPr id="22" name="Shape 20"/>
          <p:cNvSpPr/>
          <p:nvPr/>
        </p:nvSpPr>
        <p:spPr>
          <a:xfrm>
            <a:off x="5852160" y="2395728"/>
            <a:ext cx="5669280" cy="576072"/>
          </a:xfrm>
          <a:prstGeom prst="roundRect">
            <a:avLst>
              <a:gd name="adj" fmla="val 7937"/>
            </a:avLst>
          </a:prstGeom>
          <a:solidFill>
            <a:srgbClr val="FAF9F5"/>
          </a:solidFill>
          <a:ln w="12700">
            <a:solidFill>
              <a:srgbClr val="E8E6DC"/>
            </a:solidFill>
            <a:prstDash val="solid"/>
          </a:ln>
        </p:spPr>
      </p:sp>
      <p:sp>
        <p:nvSpPr>
          <p:cNvPr id="23" name="Text 21"/>
          <p:cNvSpPr/>
          <p:nvPr/>
        </p:nvSpPr>
        <p:spPr>
          <a:xfrm>
            <a:off x="6053328" y="2432304"/>
            <a:ext cx="5266944" cy="274320"/>
          </a:xfrm>
          <a:prstGeom prst="rect">
            <a:avLst/>
          </a:prstGeom>
          <a:noFill/>
          <a:ln/>
        </p:spPr>
        <p:txBody>
          <a:bodyPr wrap="square" lIns="0" tIns="0" rIns="0" bIns="0" rtlCol="0" anchor="ctr"/>
          <a:lstStyle/>
          <a:p>
            <a:pPr indent="0" marL="0">
              <a:buNone/>
            </a:pPr>
            <a:r>
              <a:rPr lang="en-US" sz="1150" b="1" dirty="0">
                <a:solidFill>
                  <a:srgbClr val="4A4943"/>
                </a:solidFill>
                <a:latin typeface="Meiryo" pitchFamily="34" charset="0"/>
                <a:ea typeface="Meiryo" pitchFamily="34" charset="-122"/>
                <a:cs typeface="Meiryo" pitchFamily="34" charset="-120"/>
              </a:rPr>
              <a:t>「記録と事務に追われて、利用者と向き合う時間がない」</a:t>
            </a:r>
            <a:endParaRPr lang="en-US" sz="1150" dirty="0"/>
          </a:p>
        </p:txBody>
      </p:sp>
      <p:sp>
        <p:nvSpPr>
          <p:cNvPr id="24" name="Text 22"/>
          <p:cNvSpPr/>
          <p:nvPr/>
        </p:nvSpPr>
        <p:spPr>
          <a:xfrm>
            <a:off x="6053328" y="2697480"/>
            <a:ext cx="5266944" cy="237744"/>
          </a:xfrm>
          <a:prstGeom prst="rect">
            <a:avLst/>
          </a:prstGeom>
          <a:noFill/>
          <a:ln/>
        </p:spPr>
        <p:txBody>
          <a:bodyPr wrap="square" lIns="0" tIns="0" rIns="0" bIns="0" rtlCol="0" anchor="ctr"/>
          <a:lstStyle/>
          <a:p>
            <a:pPr indent="0" marL="0">
              <a:buNone/>
            </a:pPr>
            <a:r>
              <a:rPr lang="en-US" sz="1050" dirty="0">
                <a:solidFill>
                  <a:srgbClr val="D97757"/>
                </a:solidFill>
                <a:latin typeface="Meiryo" pitchFamily="34" charset="0"/>
                <a:ea typeface="Meiryo" pitchFamily="34" charset="-122"/>
                <a:cs typeface="Meiryo" pitchFamily="34" charset="-120"/>
              </a:rPr>
              <a:t>→ 記録の効率化・間接業務の削減を示す</a:t>
            </a:r>
            <a:endParaRPr lang="en-US" sz="1050" dirty="0"/>
          </a:p>
        </p:txBody>
      </p:sp>
      <p:sp>
        <p:nvSpPr>
          <p:cNvPr id="25" name="Shape 23"/>
          <p:cNvSpPr/>
          <p:nvPr/>
        </p:nvSpPr>
        <p:spPr>
          <a:xfrm>
            <a:off x="5852160" y="3063240"/>
            <a:ext cx="5669280" cy="576072"/>
          </a:xfrm>
          <a:prstGeom prst="roundRect">
            <a:avLst>
              <a:gd name="adj" fmla="val 7937"/>
            </a:avLst>
          </a:prstGeom>
          <a:solidFill>
            <a:srgbClr val="FAF9F5"/>
          </a:solidFill>
          <a:ln w="12700">
            <a:solidFill>
              <a:srgbClr val="E8E6DC"/>
            </a:solidFill>
            <a:prstDash val="solid"/>
          </a:ln>
        </p:spPr>
      </p:sp>
      <p:sp>
        <p:nvSpPr>
          <p:cNvPr id="26" name="Text 24"/>
          <p:cNvSpPr/>
          <p:nvPr/>
        </p:nvSpPr>
        <p:spPr>
          <a:xfrm>
            <a:off x="6053328" y="3099816"/>
            <a:ext cx="5266944" cy="274320"/>
          </a:xfrm>
          <a:prstGeom prst="rect">
            <a:avLst/>
          </a:prstGeom>
          <a:noFill/>
          <a:ln/>
        </p:spPr>
        <p:txBody>
          <a:bodyPr wrap="square" lIns="0" tIns="0" rIns="0" bIns="0" rtlCol="0" anchor="ctr"/>
          <a:lstStyle/>
          <a:p>
            <a:pPr indent="0" marL="0">
              <a:buNone/>
            </a:pPr>
            <a:r>
              <a:rPr lang="en-US" sz="1150" b="1" dirty="0">
                <a:solidFill>
                  <a:srgbClr val="4A4943"/>
                </a:solidFill>
                <a:latin typeface="Meiryo" pitchFamily="34" charset="0"/>
                <a:ea typeface="Meiryo" pitchFamily="34" charset="-122"/>
                <a:cs typeface="Meiryo" pitchFamily="34" charset="-120"/>
              </a:rPr>
              <a:t>「人間関係が読めない。入ってみないと分からない」</a:t>
            </a:r>
            <a:endParaRPr lang="en-US" sz="1150" dirty="0"/>
          </a:p>
        </p:txBody>
      </p:sp>
      <p:sp>
        <p:nvSpPr>
          <p:cNvPr id="27" name="Text 25"/>
          <p:cNvSpPr/>
          <p:nvPr/>
        </p:nvSpPr>
        <p:spPr>
          <a:xfrm>
            <a:off x="6053328" y="3364992"/>
            <a:ext cx="5266944" cy="237744"/>
          </a:xfrm>
          <a:prstGeom prst="rect">
            <a:avLst/>
          </a:prstGeom>
          <a:noFill/>
          <a:ln/>
        </p:spPr>
        <p:txBody>
          <a:bodyPr wrap="square" lIns="0" tIns="0" rIns="0" bIns="0" rtlCol="0" anchor="ctr"/>
          <a:lstStyle/>
          <a:p>
            <a:pPr indent="0" marL="0">
              <a:buNone/>
            </a:pPr>
            <a:r>
              <a:rPr lang="en-US" sz="1050" dirty="0">
                <a:solidFill>
                  <a:srgbClr val="D97757"/>
                </a:solidFill>
                <a:latin typeface="Meiryo" pitchFamily="34" charset="0"/>
                <a:ea typeface="Meiryo" pitchFamily="34" charset="-122"/>
                <a:cs typeface="Meiryo" pitchFamily="34" charset="-120"/>
              </a:rPr>
              <a:t>→ 職場体験会とスタッフ動画で先に見せる</a:t>
            </a:r>
            <a:endParaRPr lang="en-US" sz="1050" dirty="0"/>
          </a:p>
        </p:txBody>
      </p:sp>
      <p:sp>
        <p:nvSpPr>
          <p:cNvPr id="28" name="Shape 26"/>
          <p:cNvSpPr/>
          <p:nvPr/>
        </p:nvSpPr>
        <p:spPr>
          <a:xfrm>
            <a:off x="5852160" y="3730752"/>
            <a:ext cx="5669280" cy="576072"/>
          </a:xfrm>
          <a:prstGeom prst="roundRect">
            <a:avLst>
              <a:gd name="adj" fmla="val 7937"/>
            </a:avLst>
          </a:prstGeom>
          <a:solidFill>
            <a:srgbClr val="FAF9F5"/>
          </a:solidFill>
          <a:ln w="12700">
            <a:solidFill>
              <a:srgbClr val="E8E6DC"/>
            </a:solidFill>
            <a:prstDash val="solid"/>
          </a:ln>
        </p:spPr>
      </p:sp>
      <p:sp>
        <p:nvSpPr>
          <p:cNvPr id="29" name="Text 27"/>
          <p:cNvSpPr/>
          <p:nvPr/>
        </p:nvSpPr>
        <p:spPr>
          <a:xfrm>
            <a:off x="6053328" y="3767328"/>
            <a:ext cx="5266944" cy="274320"/>
          </a:xfrm>
          <a:prstGeom prst="rect">
            <a:avLst/>
          </a:prstGeom>
          <a:noFill/>
          <a:ln/>
        </p:spPr>
        <p:txBody>
          <a:bodyPr wrap="square" lIns="0" tIns="0" rIns="0" bIns="0" rtlCol="0" anchor="ctr"/>
          <a:lstStyle/>
          <a:p>
            <a:pPr indent="0" marL="0">
              <a:buNone/>
            </a:pPr>
            <a:r>
              <a:rPr lang="en-US" sz="1150" b="1" dirty="0">
                <a:solidFill>
                  <a:srgbClr val="4A4943"/>
                </a:solidFill>
                <a:latin typeface="Meiryo" pitchFamily="34" charset="0"/>
                <a:ea typeface="Meiryo" pitchFamily="34" charset="-122"/>
                <a:cs typeface="Meiryo" pitchFamily="34" charset="-120"/>
              </a:rPr>
              <a:t>「シフトが急に変わる。休みの予定が立てられない」</a:t>
            </a:r>
            <a:endParaRPr lang="en-US" sz="1150" dirty="0"/>
          </a:p>
        </p:txBody>
      </p:sp>
      <p:sp>
        <p:nvSpPr>
          <p:cNvPr id="30" name="Text 28"/>
          <p:cNvSpPr/>
          <p:nvPr/>
        </p:nvSpPr>
        <p:spPr>
          <a:xfrm>
            <a:off x="6053328" y="4032504"/>
            <a:ext cx="5266944" cy="237744"/>
          </a:xfrm>
          <a:prstGeom prst="rect">
            <a:avLst/>
          </a:prstGeom>
          <a:noFill/>
          <a:ln/>
        </p:spPr>
        <p:txBody>
          <a:bodyPr wrap="square" lIns="0" tIns="0" rIns="0" bIns="0" rtlCol="0" anchor="ctr"/>
          <a:lstStyle/>
          <a:p>
            <a:pPr indent="0" marL="0">
              <a:buNone/>
            </a:pPr>
            <a:r>
              <a:rPr lang="en-US" sz="1050" dirty="0">
                <a:solidFill>
                  <a:srgbClr val="D97757"/>
                </a:solidFill>
                <a:latin typeface="Meiryo" pitchFamily="34" charset="0"/>
                <a:ea typeface="Meiryo" pitchFamily="34" charset="-122"/>
                <a:cs typeface="Meiryo" pitchFamily="34" charset="-120"/>
              </a:rPr>
              <a:t>→ シフトの決め方と年間休日を数字で示す</a:t>
            </a:r>
            <a:endParaRPr lang="en-US" sz="1050" dirty="0"/>
          </a:p>
        </p:txBody>
      </p:sp>
      <p:sp>
        <p:nvSpPr>
          <p:cNvPr id="31" name="Shape 29"/>
          <p:cNvSpPr/>
          <p:nvPr/>
        </p:nvSpPr>
        <p:spPr>
          <a:xfrm>
            <a:off x="5852160" y="4398264"/>
            <a:ext cx="5669280" cy="576072"/>
          </a:xfrm>
          <a:prstGeom prst="roundRect">
            <a:avLst>
              <a:gd name="adj" fmla="val 7937"/>
            </a:avLst>
          </a:prstGeom>
          <a:solidFill>
            <a:srgbClr val="FAF9F5"/>
          </a:solidFill>
          <a:ln w="12700">
            <a:solidFill>
              <a:srgbClr val="E8E6DC"/>
            </a:solidFill>
            <a:prstDash val="solid"/>
          </a:ln>
        </p:spPr>
      </p:sp>
      <p:sp>
        <p:nvSpPr>
          <p:cNvPr id="32" name="Text 30"/>
          <p:cNvSpPr/>
          <p:nvPr/>
        </p:nvSpPr>
        <p:spPr>
          <a:xfrm>
            <a:off x="6053328" y="4434840"/>
            <a:ext cx="5266944" cy="274320"/>
          </a:xfrm>
          <a:prstGeom prst="rect">
            <a:avLst/>
          </a:prstGeom>
          <a:noFill/>
          <a:ln/>
        </p:spPr>
        <p:txBody>
          <a:bodyPr wrap="square" lIns="0" tIns="0" rIns="0" bIns="0" rtlCol="0" anchor="ctr"/>
          <a:lstStyle/>
          <a:p>
            <a:pPr indent="0" marL="0">
              <a:buNone/>
            </a:pPr>
            <a:r>
              <a:rPr lang="en-US" sz="1150" b="1" dirty="0">
                <a:solidFill>
                  <a:srgbClr val="4A4943"/>
                </a:solidFill>
                <a:latin typeface="Meiryo" pitchFamily="34" charset="0"/>
                <a:ea typeface="Meiryo" pitchFamily="34" charset="-122"/>
                <a:cs typeface="Meiryo" pitchFamily="34" charset="-120"/>
              </a:rPr>
              <a:t>「がんばっても評価されない。給与が上がらない」</a:t>
            </a:r>
            <a:endParaRPr lang="en-US" sz="1150" dirty="0"/>
          </a:p>
        </p:txBody>
      </p:sp>
      <p:sp>
        <p:nvSpPr>
          <p:cNvPr id="33" name="Text 31"/>
          <p:cNvSpPr/>
          <p:nvPr/>
        </p:nvSpPr>
        <p:spPr>
          <a:xfrm>
            <a:off x="6053328" y="4700016"/>
            <a:ext cx="5266944" cy="237744"/>
          </a:xfrm>
          <a:prstGeom prst="rect">
            <a:avLst/>
          </a:prstGeom>
          <a:noFill/>
          <a:ln/>
        </p:spPr>
        <p:txBody>
          <a:bodyPr wrap="square" lIns="0" tIns="0" rIns="0" bIns="0" rtlCol="0" anchor="ctr"/>
          <a:lstStyle/>
          <a:p>
            <a:pPr indent="0" marL="0">
              <a:buNone/>
            </a:pPr>
            <a:r>
              <a:rPr lang="en-US" sz="1050" dirty="0">
                <a:solidFill>
                  <a:srgbClr val="D97757"/>
                </a:solidFill>
                <a:latin typeface="Meiryo" pitchFamily="34" charset="0"/>
                <a:ea typeface="Meiryo" pitchFamily="34" charset="-122"/>
                <a:cs typeface="Meiryo" pitchFamily="34" charset="-120"/>
              </a:rPr>
              <a:t>→ 評価基準とキャリアの道すじを明記する</a:t>
            </a:r>
            <a:endParaRPr lang="en-US" sz="1050" dirty="0"/>
          </a:p>
        </p:txBody>
      </p:sp>
      <p:sp>
        <p:nvSpPr>
          <p:cNvPr id="34" name="Shape 32"/>
          <p:cNvSpPr/>
          <p:nvPr/>
        </p:nvSpPr>
        <p:spPr>
          <a:xfrm>
            <a:off x="5852160" y="5065776"/>
            <a:ext cx="5669280" cy="576072"/>
          </a:xfrm>
          <a:prstGeom prst="roundRect">
            <a:avLst>
              <a:gd name="adj" fmla="val 7937"/>
            </a:avLst>
          </a:prstGeom>
          <a:solidFill>
            <a:srgbClr val="FAF9F5"/>
          </a:solidFill>
          <a:ln w="12700">
            <a:solidFill>
              <a:srgbClr val="E8E6DC"/>
            </a:solidFill>
            <a:prstDash val="solid"/>
          </a:ln>
        </p:spPr>
      </p:sp>
      <p:sp>
        <p:nvSpPr>
          <p:cNvPr id="35" name="Text 33"/>
          <p:cNvSpPr/>
          <p:nvPr/>
        </p:nvSpPr>
        <p:spPr>
          <a:xfrm>
            <a:off x="6053328" y="5102352"/>
            <a:ext cx="5266944" cy="274320"/>
          </a:xfrm>
          <a:prstGeom prst="rect">
            <a:avLst/>
          </a:prstGeom>
          <a:noFill/>
          <a:ln/>
        </p:spPr>
        <p:txBody>
          <a:bodyPr wrap="square" lIns="0" tIns="0" rIns="0" bIns="0" rtlCol="0" anchor="ctr"/>
          <a:lstStyle/>
          <a:p>
            <a:pPr indent="0" marL="0">
              <a:buNone/>
            </a:pPr>
            <a:r>
              <a:rPr lang="en-US" sz="1150" b="1" dirty="0">
                <a:solidFill>
                  <a:srgbClr val="4A4943"/>
                </a:solidFill>
                <a:latin typeface="Meiryo" pitchFamily="34" charset="0"/>
                <a:ea typeface="Meiryo" pitchFamily="34" charset="-122"/>
                <a:cs typeface="Meiryo" pitchFamily="34" charset="-120"/>
              </a:rPr>
              <a:t>「自分のスキルがこの職場では活かせていない」</a:t>
            </a:r>
            <a:endParaRPr lang="en-US" sz="1150" dirty="0"/>
          </a:p>
        </p:txBody>
      </p:sp>
      <p:sp>
        <p:nvSpPr>
          <p:cNvPr id="36" name="Text 34"/>
          <p:cNvSpPr/>
          <p:nvPr/>
        </p:nvSpPr>
        <p:spPr>
          <a:xfrm>
            <a:off x="6053328" y="5367528"/>
            <a:ext cx="5266944" cy="237744"/>
          </a:xfrm>
          <a:prstGeom prst="rect">
            <a:avLst/>
          </a:prstGeom>
          <a:noFill/>
          <a:ln/>
        </p:spPr>
        <p:txBody>
          <a:bodyPr wrap="square" lIns="0" tIns="0" rIns="0" bIns="0" rtlCol="0" anchor="ctr"/>
          <a:lstStyle/>
          <a:p>
            <a:pPr indent="0" marL="0">
              <a:buNone/>
            </a:pPr>
            <a:r>
              <a:rPr lang="en-US" sz="1050" dirty="0">
                <a:solidFill>
                  <a:srgbClr val="D97757"/>
                </a:solidFill>
                <a:latin typeface="Meiryo" pitchFamily="34" charset="0"/>
                <a:ea typeface="Meiryo" pitchFamily="34" charset="-122"/>
                <a:cs typeface="Meiryo" pitchFamily="34" charset="-120"/>
              </a:rPr>
              <a:t>→ 任せたい役割を具体的に書く</a:t>
            </a:r>
            <a:endParaRPr lang="en-US" sz="1050" dirty="0"/>
          </a:p>
        </p:txBody>
      </p:sp>
      <p:sp>
        <p:nvSpPr>
          <p:cNvPr id="37" name="Text 35"/>
          <p:cNvSpPr/>
          <p:nvPr/>
        </p:nvSpPr>
        <p:spPr>
          <a:xfrm>
            <a:off x="640080" y="5806440"/>
            <a:ext cx="10881360" cy="320040"/>
          </a:xfrm>
          <a:prstGeom prst="rect">
            <a:avLst/>
          </a:prstGeom>
          <a:noFill/>
          <a:ln/>
        </p:spPr>
        <p:txBody>
          <a:bodyPr wrap="square" lIns="0" tIns="0" rIns="0" bIns="0" rtlCol="0" anchor="ctr"/>
          <a:lstStyle/>
          <a:p>
            <a:pPr indent="0" marL="0">
              <a:buNone/>
            </a:pPr>
            <a:r>
              <a:rPr lang="en-US" sz="1000" dirty="0">
                <a:solidFill>
                  <a:srgbClr val="7D7B72"/>
                </a:solidFill>
                <a:latin typeface="Meiryo" pitchFamily="34" charset="0"/>
                <a:ea typeface="Meiryo" pitchFamily="34" charset="-122"/>
                <a:cs typeface="Meiryo" pitchFamily="34" charset="-120"/>
              </a:rPr>
              <a:t>※ 本音は自社の退職面談・面接メモから集めるのが最も正確です。AI には整理と分類をさせます。</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AF9F5"/>
        </a:solidFill>
      </p:bgPr>
    </p:bg>
    <p:spTree>
      <p:nvGrpSpPr>
        <p:cNvPr id="1" name=""/>
        <p:cNvGrpSpPr/>
        <p:nvPr/>
      </p:nvGrpSpPr>
      <p:grpSpPr>
        <a:xfrm>
          <a:off x="0" y="0"/>
          <a:ext cx="0" cy="0"/>
          <a:chOff x="0" y="0"/>
          <a:chExt cx="0" cy="0"/>
        </a:xfrm>
      </p:grpSpPr>
      <p:sp>
        <p:nvSpPr>
          <p:cNvPr id="2" name="Shape 0"/>
          <p:cNvSpPr/>
          <p:nvPr/>
        </p:nvSpPr>
        <p:spPr>
          <a:xfrm>
            <a:off x="640080" y="347472"/>
            <a:ext cx="1783080" cy="329184"/>
          </a:xfrm>
          <a:prstGeom prst="roundRect">
            <a:avLst>
              <a:gd name="adj" fmla="val 13889"/>
            </a:avLst>
          </a:prstGeom>
          <a:solidFill>
            <a:srgbClr val="D97757"/>
          </a:solidFill>
          <a:ln/>
        </p:spPr>
      </p:sp>
      <p:sp>
        <p:nvSpPr>
          <p:cNvPr id="3" name="Text 1"/>
          <p:cNvSpPr/>
          <p:nvPr/>
        </p:nvSpPr>
        <p:spPr>
          <a:xfrm>
            <a:off x="640080" y="347472"/>
            <a:ext cx="1783080" cy="329184"/>
          </a:xfrm>
          <a:prstGeom prst="rect">
            <a:avLst/>
          </a:prstGeom>
          <a:noFill/>
          <a:ln/>
        </p:spPr>
        <p:txBody>
          <a:bodyPr wrap="square" lIns="0" tIns="0" rIns="0" bIns="0" rtlCol="0" anchor="ctr"/>
          <a:lstStyle/>
          <a:p>
            <a:pPr algn="ctr" indent="0" marL="0">
              <a:buNone/>
            </a:pPr>
            <a:r>
              <a:rPr lang="en-US" sz="1150" b="1" spc="100" kern="0" dirty="0">
                <a:solidFill>
                  <a:srgbClr val="FFFFFF"/>
                </a:solidFill>
                <a:latin typeface="Meiryo" pitchFamily="34" charset="0"/>
                <a:ea typeface="Meiryo" pitchFamily="34" charset="-122"/>
                <a:cs typeface="Meiryo" pitchFamily="34" charset="-120"/>
              </a:rPr>
              <a:t>MODULE 4</a:t>
            </a:r>
            <a:endParaRPr lang="en-US" sz="1150" dirty="0"/>
          </a:p>
        </p:txBody>
      </p:sp>
      <p:sp>
        <p:nvSpPr>
          <p:cNvPr id="4" name="Text 2"/>
          <p:cNvSpPr/>
          <p:nvPr/>
        </p:nvSpPr>
        <p:spPr>
          <a:xfrm>
            <a:off x="640080" y="768096"/>
            <a:ext cx="10881360" cy="566928"/>
          </a:xfrm>
          <a:prstGeom prst="rect">
            <a:avLst/>
          </a:prstGeom>
          <a:noFill/>
          <a:ln/>
        </p:spPr>
        <p:txBody>
          <a:bodyPr wrap="square" lIns="0" tIns="0" rIns="0" bIns="0" rtlCol="0" anchor="ctr"/>
          <a:lstStyle/>
          <a:p>
            <a:pPr indent="0" marL="0">
              <a:buNone/>
            </a:pPr>
            <a:r>
              <a:rPr lang="en-US" sz="2700" b="1" dirty="0">
                <a:solidFill>
                  <a:srgbClr val="141413"/>
                </a:solidFill>
                <a:latin typeface="Meiryo" pitchFamily="34" charset="0"/>
                <a:ea typeface="Meiryo" pitchFamily="34" charset="-122"/>
                <a:cs typeface="Meiryo" pitchFamily="34" charset="-120"/>
              </a:rPr>
              <a:t>体験型選考 ｜ 職場体験会のつくり方</a:t>
            </a:r>
            <a:endParaRPr lang="en-US" sz="2700" dirty="0"/>
          </a:p>
        </p:txBody>
      </p:sp>
      <p:sp>
        <p:nvSpPr>
          <p:cNvPr id="5" name="Text 3"/>
          <p:cNvSpPr/>
          <p:nvPr/>
        </p:nvSpPr>
        <p:spPr>
          <a:xfrm>
            <a:off x="640080" y="1316736"/>
            <a:ext cx="10881360" cy="329184"/>
          </a:xfrm>
          <a:prstGeom prst="rect">
            <a:avLst/>
          </a:prstGeom>
          <a:noFill/>
          <a:ln/>
        </p:spPr>
        <p:txBody>
          <a:bodyPr wrap="square" lIns="0" tIns="0" rIns="0" bIns="0" rtlCol="0" anchor="ctr"/>
          <a:lstStyle/>
          <a:p>
            <a:pPr indent="0" marL="0">
              <a:buNone/>
            </a:pPr>
            <a:r>
              <a:rPr lang="en-US" sz="1300" dirty="0">
                <a:solidFill>
                  <a:srgbClr val="6E6C63"/>
                </a:solidFill>
                <a:latin typeface="Meiryo" pitchFamily="34" charset="0"/>
                <a:ea typeface="Meiryo" pitchFamily="34" charset="-122"/>
                <a:cs typeface="Meiryo" pitchFamily="34" charset="-120"/>
              </a:rPr>
              <a:t>求職者の最大の不安は「入ってみないと分からない」。それを先に解消します</a:t>
            </a:r>
            <a:endParaRPr lang="en-US" sz="1300" dirty="0"/>
          </a:p>
        </p:txBody>
      </p:sp>
      <p:sp>
        <p:nvSpPr>
          <p:cNvPr id="6" name="Shape 4"/>
          <p:cNvSpPr/>
          <p:nvPr/>
        </p:nvSpPr>
        <p:spPr>
          <a:xfrm>
            <a:off x="640080" y="1783080"/>
            <a:ext cx="1993392" cy="2331720"/>
          </a:xfrm>
          <a:prstGeom prst="roundRect">
            <a:avLst>
              <a:gd name="adj" fmla="val 2752"/>
            </a:avLst>
          </a:prstGeom>
          <a:solidFill>
            <a:srgbClr val="FFFFFF"/>
          </a:solidFill>
          <a:ln w="12700">
            <a:solidFill>
              <a:srgbClr val="E8E6DC"/>
            </a:solidFill>
            <a:prstDash val="solid"/>
          </a:ln>
          <a:effectLst>
            <a:outerShdw sx="100000" sy="100000" kx="0" ky="0" algn="bl" rotWithShape="0" blurRad="114300" dist="25400" dir="5400000">
              <a:srgbClr val="B0AEA5">
                <a:alpha val="30000"/>
              </a:srgbClr>
            </a:outerShdw>
          </a:effectLst>
        </p:spPr>
      </p:sp>
      <p:sp>
        <p:nvSpPr>
          <p:cNvPr id="7" name="Shape 5"/>
          <p:cNvSpPr/>
          <p:nvPr/>
        </p:nvSpPr>
        <p:spPr>
          <a:xfrm>
            <a:off x="841248" y="1965960"/>
            <a:ext cx="1591056" cy="310896"/>
          </a:xfrm>
          <a:prstGeom prst="roundRect">
            <a:avLst>
              <a:gd name="adj" fmla="val 14706"/>
            </a:avLst>
          </a:prstGeom>
          <a:solidFill>
            <a:srgbClr val="141413"/>
          </a:solidFill>
          <a:ln/>
        </p:spPr>
      </p:sp>
      <p:sp>
        <p:nvSpPr>
          <p:cNvPr id="8" name="Text 6"/>
          <p:cNvSpPr/>
          <p:nvPr/>
        </p:nvSpPr>
        <p:spPr>
          <a:xfrm>
            <a:off x="841248" y="1965960"/>
            <a:ext cx="1591056" cy="310896"/>
          </a:xfrm>
          <a:prstGeom prst="rect">
            <a:avLst/>
          </a:prstGeom>
          <a:noFill/>
          <a:ln/>
        </p:spPr>
        <p:txBody>
          <a:bodyPr wrap="square" lIns="0" tIns="0" rIns="0" bIns="0" rtlCol="0" anchor="ctr"/>
          <a:lstStyle/>
          <a:p>
            <a:pPr algn="ctr" indent="0" marL="0">
              <a:buNone/>
            </a:pPr>
            <a:r>
              <a:rPr lang="en-US" sz="1050" b="1" dirty="0">
                <a:solidFill>
                  <a:srgbClr val="FFFFFF"/>
                </a:solidFill>
                <a:latin typeface="Meiryo" pitchFamily="34" charset="0"/>
                <a:ea typeface="Meiryo" pitchFamily="34" charset="-122"/>
                <a:cs typeface="Meiryo" pitchFamily="34" charset="-120"/>
              </a:rPr>
              <a:t>10分</a:t>
            </a:r>
            <a:endParaRPr lang="en-US" sz="1050" dirty="0"/>
          </a:p>
        </p:txBody>
      </p:sp>
      <p:sp>
        <p:nvSpPr>
          <p:cNvPr id="9" name="Text 7"/>
          <p:cNvSpPr/>
          <p:nvPr/>
        </p:nvSpPr>
        <p:spPr>
          <a:xfrm>
            <a:off x="841248" y="2359152"/>
            <a:ext cx="1591056" cy="384048"/>
          </a:xfrm>
          <a:prstGeom prst="rect">
            <a:avLst/>
          </a:prstGeom>
          <a:noFill/>
          <a:ln/>
        </p:spPr>
        <p:txBody>
          <a:bodyPr wrap="square" lIns="0" tIns="0" rIns="0" bIns="0" rtlCol="0" anchor="ctr"/>
          <a:lstStyle/>
          <a:p>
            <a:pPr indent="0" marL="0">
              <a:buNone/>
            </a:pPr>
            <a:r>
              <a:rPr lang="en-US" sz="1500" b="1" dirty="0">
                <a:solidFill>
                  <a:srgbClr val="141413"/>
                </a:solidFill>
                <a:latin typeface="Meiryo" pitchFamily="34" charset="0"/>
                <a:ea typeface="Meiryo" pitchFamily="34" charset="-122"/>
                <a:cs typeface="Meiryo" pitchFamily="34" charset="-120"/>
              </a:rPr>
              <a:t>① 出迎え</a:t>
            </a:r>
            <a:endParaRPr lang="en-US" sz="1500" dirty="0"/>
          </a:p>
        </p:txBody>
      </p:sp>
      <p:sp>
        <p:nvSpPr>
          <p:cNvPr id="10" name="Text 8"/>
          <p:cNvSpPr/>
          <p:nvPr/>
        </p:nvSpPr>
        <p:spPr>
          <a:xfrm>
            <a:off x="841248" y="2761488"/>
            <a:ext cx="1591056" cy="1188720"/>
          </a:xfrm>
          <a:prstGeom prst="rect">
            <a:avLst/>
          </a:prstGeom>
          <a:noFill/>
          <a:ln/>
        </p:spPr>
        <p:txBody>
          <a:bodyPr wrap="square" lIns="0" tIns="0" rIns="0" bIns="0" rtlCol="0" anchor="t"/>
          <a:lstStyle/>
          <a:p>
            <a:pPr indent="0" marL="0">
              <a:lnSpc>
                <a:spcPts val="1700"/>
              </a:lnSpc>
              <a:buNone/>
            </a:pPr>
            <a:r>
              <a:rPr lang="en-US" sz="1050" dirty="0">
                <a:solidFill>
                  <a:srgbClr val="6E6C63"/>
                </a:solidFill>
                <a:latin typeface="Meiryo" pitchFamily="34" charset="0"/>
                <a:ea typeface="Meiryo" pitchFamily="34" charset="-122"/>
                <a:cs typeface="Meiryo" pitchFamily="34" charset="-120"/>
              </a:rPr>
              <a:t>採用担当だけでなく、</a:t>
            </a:r>
            <a:endParaRPr lang="en-US" sz="1050" dirty="0"/>
          </a:p>
          <a:p>
            <a:pPr indent="0" marL="0">
              <a:lnSpc>
                <a:spcPts val="1700"/>
              </a:lnSpc>
              <a:buNone/>
            </a:pPr>
            <a:r>
              <a:rPr lang="en-US" sz="1050" dirty="0">
                <a:solidFill>
                  <a:srgbClr val="6E6C63"/>
                </a:solidFill>
                <a:latin typeface="Meiryo" pitchFamily="34" charset="0"/>
                <a:ea typeface="Meiryo" pitchFamily="34" charset="-122"/>
                <a:cs typeface="Meiryo" pitchFamily="34" charset="-120"/>
              </a:rPr>
              <a:t>一緒に働く現場スタッフが出迎える</a:t>
            </a:r>
            <a:endParaRPr lang="en-US" sz="1050" dirty="0"/>
          </a:p>
        </p:txBody>
      </p:sp>
      <p:sp>
        <p:nvSpPr>
          <p:cNvPr id="11" name="Shape 9"/>
          <p:cNvSpPr/>
          <p:nvPr/>
        </p:nvSpPr>
        <p:spPr>
          <a:xfrm>
            <a:off x="2862072" y="1783080"/>
            <a:ext cx="1993392" cy="2331720"/>
          </a:xfrm>
          <a:prstGeom prst="roundRect">
            <a:avLst>
              <a:gd name="adj" fmla="val 2752"/>
            </a:avLst>
          </a:prstGeom>
          <a:solidFill>
            <a:srgbClr val="FFFFFF"/>
          </a:solidFill>
          <a:ln w="12700">
            <a:solidFill>
              <a:srgbClr val="E8E6DC"/>
            </a:solidFill>
            <a:prstDash val="solid"/>
          </a:ln>
          <a:effectLst>
            <a:outerShdw sx="100000" sy="100000" kx="0" ky="0" algn="bl" rotWithShape="0" blurRad="114300" dist="25400" dir="5400000">
              <a:srgbClr val="B0AEA5">
                <a:alpha val="30000"/>
              </a:srgbClr>
            </a:outerShdw>
          </a:effectLst>
        </p:spPr>
      </p:sp>
      <p:sp>
        <p:nvSpPr>
          <p:cNvPr id="12" name="Shape 10"/>
          <p:cNvSpPr/>
          <p:nvPr/>
        </p:nvSpPr>
        <p:spPr>
          <a:xfrm>
            <a:off x="3063240" y="1965960"/>
            <a:ext cx="1591056" cy="310896"/>
          </a:xfrm>
          <a:prstGeom prst="roundRect">
            <a:avLst>
              <a:gd name="adj" fmla="val 14706"/>
            </a:avLst>
          </a:prstGeom>
          <a:solidFill>
            <a:srgbClr val="141413"/>
          </a:solidFill>
          <a:ln/>
        </p:spPr>
      </p:sp>
      <p:sp>
        <p:nvSpPr>
          <p:cNvPr id="13" name="Text 11"/>
          <p:cNvSpPr/>
          <p:nvPr/>
        </p:nvSpPr>
        <p:spPr>
          <a:xfrm>
            <a:off x="3063240" y="1965960"/>
            <a:ext cx="1591056" cy="310896"/>
          </a:xfrm>
          <a:prstGeom prst="rect">
            <a:avLst/>
          </a:prstGeom>
          <a:noFill/>
          <a:ln/>
        </p:spPr>
        <p:txBody>
          <a:bodyPr wrap="square" lIns="0" tIns="0" rIns="0" bIns="0" rtlCol="0" anchor="ctr"/>
          <a:lstStyle/>
          <a:p>
            <a:pPr algn="ctr" indent="0" marL="0">
              <a:buNone/>
            </a:pPr>
            <a:r>
              <a:rPr lang="en-US" sz="1050" b="1" dirty="0">
                <a:solidFill>
                  <a:srgbClr val="FFFFFF"/>
                </a:solidFill>
                <a:latin typeface="Meiryo" pitchFamily="34" charset="0"/>
                <a:ea typeface="Meiryo" pitchFamily="34" charset="-122"/>
                <a:cs typeface="Meiryo" pitchFamily="34" charset="-120"/>
              </a:rPr>
              <a:t>30分</a:t>
            </a:r>
            <a:endParaRPr lang="en-US" sz="1050" dirty="0"/>
          </a:p>
        </p:txBody>
      </p:sp>
      <p:sp>
        <p:nvSpPr>
          <p:cNvPr id="14" name="Text 12"/>
          <p:cNvSpPr/>
          <p:nvPr/>
        </p:nvSpPr>
        <p:spPr>
          <a:xfrm>
            <a:off x="3063240" y="2359152"/>
            <a:ext cx="1591056" cy="384048"/>
          </a:xfrm>
          <a:prstGeom prst="rect">
            <a:avLst/>
          </a:prstGeom>
          <a:noFill/>
          <a:ln/>
        </p:spPr>
        <p:txBody>
          <a:bodyPr wrap="square" lIns="0" tIns="0" rIns="0" bIns="0" rtlCol="0" anchor="ctr"/>
          <a:lstStyle/>
          <a:p>
            <a:pPr indent="0" marL="0">
              <a:buNone/>
            </a:pPr>
            <a:r>
              <a:rPr lang="en-US" sz="1500" b="1" dirty="0">
                <a:solidFill>
                  <a:srgbClr val="141413"/>
                </a:solidFill>
                <a:latin typeface="Meiryo" pitchFamily="34" charset="0"/>
                <a:ea typeface="Meiryo" pitchFamily="34" charset="-122"/>
                <a:cs typeface="Meiryo" pitchFamily="34" charset="-120"/>
              </a:rPr>
              <a:t>② 現場を歩く</a:t>
            </a:r>
            <a:endParaRPr lang="en-US" sz="1500" dirty="0"/>
          </a:p>
        </p:txBody>
      </p:sp>
      <p:sp>
        <p:nvSpPr>
          <p:cNvPr id="15" name="Text 13"/>
          <p:cNvSpPr/>
          <p:nvPr/>
        </p:nvSpPr>
        <p:spPr>
          <a:xfrm>
            <a:off x="3063240" y="2761488"/>
            <a:ext cx="1591056" cy="1188720"/>
          </a:xfrm>
          <a:prstGeom prst="rect">
            <a:avLst/>
          </a:prstGeom>
          <a:noFill/>
          <a:ln/>
        </p:spPr>
        <p:txBody>
          <a:bodyPr wrap="square" lIns="0" tIns="0" rIns="0" bIns="0" rtlCol="0" anchor="t"/>
          <a:lstStyle/>
          <a:p>
            <a:pPr indent="0" marL="0">
              <a:lnSpc>
                <a:spcPts val="1700"/>
              </a:lnSpc>
              <a:buNone/>
            </a:pPr>
            <a:r>
              <a:rPr lang="en-US" sz="1050" dirty="0">
                <a:solidFill>
                  <a:srgbClr val="6E6C63"/>
                </a:solidFill>
                <a:latin typeface="Meiryo" pitchFamily="34" charset="0"/>
                <a:ea typeface="Meiryo" pitchFamily="34" charset="-122"/>
                <a:cs typeface="Meiryo" pitchFamily="34" charset="-120"/>
              </a:rPr>
              <a:t>挨拶、笑顔、</a:t>
            </a:r>
            <a:endParaRPr lang="en-US" sz="1050" dirty="0"/>
          </a:p>
          <a:p>
            <a:pPr indent="0" marL="0">
              <a:lnSpc>
                <a:spcPts val="1700"/>
              </a:lnSpc>
              <a:buNone/>
            </a:pPr>
            <a:r>
              <a:rPr lang="en-US" sz="1050" dirty="0">
                <a:solidFill>
                  <a:srgbClr val="6E6C63"/>
                </a:solidFill>
                <a:latin typeface="Meiryo" pitchFamily="34" charset="0"/>
                <a:ea typeface="Meiryo" pitchFamily="34" charset="-122"/>
                <a:cs typeface="Meiryo" pitchFamily="34" charset="-120"/>
              </a:rPr>
              <a:t>利用者との関わり。</a:t>
            </a:r>
            <a:endParaRPr lang="en-US" sz="1050" dirty="0"/>
          </a:p>
          <a:p>
            <a:pPr indent="0" marL="0">
              <a:lnSpc>
                <a:spcPts val="1700"/>
              </a:lnSpc>
              <a:buNone/>
            </a:pPr>
            <a:r>
              <a:rPr lang="en-US" sz="1050" dirty="0">
                <a:solidFill>
                  <a:srgbClr val="6E6C63"/>
                </a:solidFill>
                <a:latin typeface="Meiryo" pitchFamily="34" charset="0"/>
                <a:ea typeface="Meiryo" pitchFamily="34" charset="-122"/>
                <a:cs typeface="Meiryo" pitchFamily="34" charset="-120"/>
              </a:rPr>
              <a:t>作り込まない普段の姿</a:t>
            </a:r>
            <a:endParaRPr lang="en-US" sz="1050" dirty="0"/>
          </a:p>
        </p:txBody>
      </p:sp>
      <p:sp>
        <p:nvSpPr>
          <p:cNvPr id="16" name="Shape 14"/>
          <p:cNvSpPr/>
          <p:nvPr/>
        </p:nvSpPr>
        <p:spPr>
          <a:xfrm>
            <a:off x="5084064" y="1783080"/>
            <a:ext cx="1993392" cy="2331720"/>
          </a:xfrm>
          <a:prstGeom prst="roundRect">
            <a:avLst>
              <a:gd name="adj" fmla="val 2752"/>
            </a:avLst>
          </a:prstGeom>
          <a:solidFill>
            <a:srgbClr val="FFFFFF"/>
          </a:solidFill>
          <a:ln w="12700">
            <a:solidFill>
              <a:srgbClr val="E8E6DC"/>
            </a:solidFill>
            <a:prstDash val="solid"/>
          </a:ln>
          <a:effectLst>
            <a:outerShdw sx="100000" sy="100000" kx="0" ky="0" algn="bl" rotWithShape="0" blurRad="114300" dist="25400" dir="5400000">
              <a:srgbClr val="B0AEA5">
                <a:alpha val="30000"/>
              </a:srgbClr>
            </a:outerShdw>
          </a:effectLst>
        </p:spPr>
      </p:sp>
      <p:sp>
        <p:nvSpPr>
          <p:cNvPr id="17" name="Shape 15"/>
          <p:cNvSpPr/>
          <p:nvPr/>
        </p:nvSpPr>
        <p:spPr>
          <a:xfrm>
            <a:off x="5285232" y="1965960"/>
            <a:ext cx="1591056" cy="310896"/>
          </a:xfrm>
          <a:prstGeom prst="roundRect">
            <a:avLst>
              <a:gd name="adj" fmla="val 14706"/>
            </a:avLst>
          </a:prstGeom>
          <a:solidFill>
            <a:srgbClr val="141413"/>
          </a:solidFill>
          <a:ln/>
        </p:spPr>
      </p:sp>
      <p:sp>
        <p:nvSpPr>
          <p:cNvPr id="18" name="Text 16"/>
          <p:cNvSpPr/>
          <p:nvPr/>
        </p:nvSpPr>
        <p:spPr>
          <a:xfrm>
            <a:off x="5285232" y="1965960"/>
            <a:ext cx="1591056" cy="310896"/>
          </a:xfrm>
          <a:prstGeom prst="rect">
            <a:avLst/>
          </a:prstGeom>
          <a:noFill/>
          <a:ln/>
        </p:spPr>
        <p:txBody>
          <a:bodyPr wrap="square" lIns="0" tIns="0" rIns="0" bIns="0" rtlCol="0" anchor="ctr"/>
          <a:lstStyle/>
          <a:p>
            <a:pPr algn="ctr" indent="0" marL="0">
              <a:buNone/>
            </a:pPr>
            <a:r>
              <a:rPr lang="en-US" sz="1050" b="1" dirty="0">
                <a:solidFill>
                  <a:srgbClr val="FFFFFF"/>
                </a:solidFill>
                <a:latin typeface="Meiryo" pitchFamily="34" charset="0"/>
                <a:ea typeface="Meiryo" pitchFamily="34" charset="-122"/>
                <a:cs typeface="Meiryo" pitchFamily="34" charset="-120"/>
              </a:rPr>
              <a:t>40分</a:t>
            </a:r>
            <a:endParaRPr lang="en-US" sz="1050" dirty="0"/>
          </a:p>
        </p:txBody>
      </p:sp>
      <p:sp>
        <p:nvSpPr>
          <p:cNvPr id="19" name="Text 17"/>
          <p:cNvSpPr/>
          <p:nvPr/>
        </p:nvSpPr>
        <p:spPr>
          <a:xfrm>
            <a:off x="5285232" y="2359152"/>
            <a:ext cx="1591056" cy="384048"/>
          </a:xfrm>
          <a:prstGeom prst="rect">
            <a:avLst/>
          </a:prstGeom>
          <a:noFill/>
          <a:ln/>
        </p:spPr>
        <p:txBody>
          <a:bodyPr wrap="square" lIns="0" tIns="0" rIns="0" bIns="0" rtlCol="0" anchor="ctr"/>
          <a:lstStyle/>
          <a:p>
            <a:pPr indent="0" marL="0">
              <a:buNone/>
            </a:pPr>
            <a:r>
              <a:rPr lang="en-US" sz="1500" b="1" dirty="0">
                <a:solidFill>
                  <a:srgbClr val="141413"/>
                </a:solidFill>
                <a:latin typeface="Meiryo" pitchFamily="34" charset="0"/>
                <a:ea typeface="Meiryo" pitchFamily="34" charset="-122"/>
                <a:cs typeface="Meiryo" pitchFamily="34" charset="-120"/>
              </a:rPr>
              <a:t>③ 体験・同行</a:t>
            </a:r>
            <a:endParaRPr lang="en-US" sz="1500" dirty="0"/>
          </a:p>
        </p:txBody>
      </p:sp>
      <p:sp>
        <p:nvSpPr>
          <p:cNvPr id="20" name="Text 18"/>
          <p:cNvSpPr/>
          <p:nvPr/>
        </p:nvSpPr>
        <p:spPr>
          <a:xfrm>
            <a:off x="5285232" y="2761488"/>
            <a:ext cx="1591056" cy="1188720"/>
          </a:xfrm>
          <a:prstGeom prst="rect">
            <a:avLst/>
          </a:prstGeom>
          <a:noFill/>
          <a:ln/>
        </p:spPr>
        <p:txBody>
          <a:bodyPr wrap="square" lIns="0" tIns="0" rIns="0" bIns="0" rtlCol="0" anchor="t"/>
          <a:lstStyle/>
          <a:p>
            <a:pPr indent="0" marL="0">
              <a:lnSpc>
                <a:spcPts val="1700"/>
              </a:lnSpc>
              <a:buNone/>
            </a:pPr>
            <a:r>
              <a:rPr lang="en-US" sz="1050" dirty="0">
                <a:solidFill>
                  <a:srgbClr val="6E6C63"/>
                </a:solidFill>
                <a:latin typeface="Meiryo" pitchFamily="34" charset="0"/>
                <a:ea typeface="Meiryo" pitchFamily="34" charset="-122"/>
                <a:cs typeface="Meiryo" pitchFamily="34" charset="-120"/>
              </a:rPr>
              <a:t>実際の業務を</a:t>
            </a:r>
            <a:endParaRPr lang="en-US" sz="1050" dirty="0"/>
          </a:p>
          <a:p>
            <a:pPr indent="0" marL="0">
              <a:lnSpc>
                <a:spcPts val="1700"/>
              </a:lnSpc>
              <a:buNone/>
            </a:pPr>
            <a:r>
              <a:rPr lang="en-US" sz="1050" dirty="0">
                <a:solidFill>
                  <a:srgbClr val="6E6C63"/>
                </a:solidFill>
                <a:latin typeface="Meiryo" pitchFamily="34" charset="0"/>
                <a:ea typeface="Meiryo" pitchFamily="34" charset="-122"/>
                <a:cs typeface="Meiryo" pitchFamily="34" charset="-120"/>
              </a:rPr>
              <a:t>一部体験してもらう。</a:t>
            </a:r>
            <a:endParaRPr lang="en-US" sz="1050" dirty="0"/>
          </a:p>
          <a:p>
            <a:pPr indent="0" marL="0">
              <a:lnSpc>
                <a:spcPts val="1700"/>
              </a:lnSpc>
              <a:buNone/>
            </a:pPr>
            <a:r>
              <a:rPr lang="en-US" sz="1050" dirty="0">
                <a:solidFill>
                  <a:srgbClr val="6E6C63"/>
                </a:solidFill>
                <a:latin typeface="Meiryo" pitchFamily="34" charset="0"/>
                <a:ea typeface="Meiryo" pitchFamily="34" charset="-122"/>
                <a:cs typeface="Meiryo" pitchFamily="34" charset="-120"/>
              </a:rPr>
              <a:t>記録画面も触る</a:t>
            </a:r>
            <a:endParaRPr lang="en-US" sz="1050" dirty="0"/>
          </a:p>
        </p:txBody>
      </p:sp>
      <p:sp>
        <p:nvSpPr>
          <p:cNvPr id="21" name="Shape 19"/>
          <p:cNvSpPr/>
          <p:nvPr/>
        </p:nvSpPr>
        <p:spPr>
          <a:xfrm>
            <a:off x="7306056" y="1783080"/>
            <a:ext cx="1993392" cy="2331720"/>
          </a:xfrm>
          <a:prstGeom prst="roundRect">
            <a:avLst>
              <a:gd name="adj" fmla="val 2752"/>
            </a:avLst>
          </a:prstGeom>
          <a:solidFill>
            <a:srgbClr val="FFFFFF"/>
          </a:solidFill>
          <a:ln w="12700">
            <a:solidFill>
              <a:srgbClr val="E8E6DC"/>
            </a:solidFill>
            <a:prstDash val="solid"/>
          </a:ln>
          <a:effectLst>
            <a:outerShdw sx="100000" sy="100000" kx="0" ky="0" algn="bl" rotWithShape="0" blurRad="114300" dist="25400" dir="5400000">
              <a:srgbClr val="B0AEA5">
                <a:alpha val="30000"/>
              </a:srgbClr>
            </a:outerShdw>
          </a:effectLst>
        </p:spPr>
      </p:sp>
      <p:sp>
        <p:nvSpPr>
          <p:cNvPr id="22" name="Shape 20"/>
          <p:cNvSpPr/>
          <p:nvPr/>
        </p:nvSpPr>
        <p:spPr>
          <a:xfrm>
            <a:off x="7507224" y="1965960"/>
            <a:ext cx="1591056" cy="310896"/>
          </a:xfrm>
          <a:prstGeom prst="roundRect">
            <a:avLst>
              <a:gd name="adj" fmla="val 14706"/>
            </a:avLst>
          </a:prstGeom>
          <a:solidFill>
            <a:srgbClr val="141413"/>
          </a:solidFill>
          <a:ln/>
        </p:spPr>
      </p:sp>
      <p:sp>
        <p:nvSpPr>
          <p:cNvPr id="23" name="Text 21"/>
          <p:cNvSpPr/>
          <p:nvPr/>
        </p:nvSpPr>
        <p:spPr>
          <a:xfrm>
            <a:off x="7507224" y="1965960"/>
            <a:ext cx="1591056" cy="310896"/>
          </a:xfrm>
          <a:prstGeom prst="rect">
            <a:avLst/>
          </a:prstGeom>
          <a:noFill/>
          <a:ln/>
        </p:spPr>
        <p:txBody>
          <a:bodyPr wrap="square" lIns="0" tIns="0" rIns="0" bIns="0" rtlCol="0" anchor="ctr"/>
          <a:lstStyle/>
          <a:p>
            <a:pPr algn="ctr" indent="0" marL="0">
              <a:buNone/>
            </a:pPr>
            <a:r>
              <a:rPr lang="en-US" sz="1050" b="1" dirty="0">
                <a:solidFill>
                  <a:srgbClr val="FFFFFF"/>
                </a:solidFill>
                <a:latin typeface="Meiryo" pitchFamily="34" charset="0"/>
                <a:ea typeface="Meiryo" pitchFamily="34" charset="-122"/>
                <a:cs typeface="Meiryo" pitchFamily="34" charset="-120"/>
              </a:rPr>
              <a:t>30分</a:t>
            </a:r>
            <a:endParaRPr lang="en-US" sz="1050" dirty="0"/>
          </a:p>
        </p:txBody>
      </p:sp>
      <p:sp>
        <p:nvSpPr>
          <p:cNvPr id="24" name="Text 22"/>
          <p:cNvSpPr/>
          <p:nvPr/>
        </p:nvSpPr>
        <p:spPr>
          <a:xfrm>
            <a:off x="7507224" y="2359152"/>
            <a:ext cx="1591056" cy="384048"/>
          </a:xfrm>
          <a:prstGeom prst="rect">
            <a:avLst/>
          </a:prstGeom>
          <a:noFill/>
          <a:ln/>
        </p:spPr>
        <p:txBody>
          <a:bodyPr wrap="square" lIns="0" tIns="0" rIns="0" bIns="0" rtlCol="0" anchor="ctr"/>
          <a:lstStyle/>
          <a:p>
            <a:pPr indent="0" marL="0">
              <a:buNone/>
            </a:pPr>
            <a:r>
              <a:rPr lang="en-US" sz="1500" b="1" dirty="0">
                <a:solidFill>
                  <a:srgbClr val="141413"/>
                </a:solidFill>
                <a:latin typeface="Meiryo" pitchFamily="34" charset="0"/>
                <a:ea typeface="Meiryo" pitchFamily="34" charset="-122"/>
                <a:cs typeface="Meiryo" pitchFamily="34" charset="-120"/>
              </a:rPr>
              <a:t>④ 本音の面談</a:t>
            </a:r>
            <a:endParaRPr lang="en-US" sz="1500" dirty="0"/>
          </a:p>
        </p:txBody>
      </p:sp>
      <p:sp>
        <p:nvSpPr>
          <p:cNvPr id="25" name="Text 23"/>
          <p:cNvSpPr/>
          <p:nvPr/>
        </p:nvSpPr>
        <p:spPr>
          <a:xfrm>
            <a:off x="7507224" y="2761488"/>
            <a:ext cx="1591056" cy="1188720"/>
          </a:xfrm>
          <a:prstGeom prst="rect">
            <a:avLst/>
          </a:prstGeom>
          <a:noFill/>
          <a:ln/>
        </p:spPr>
        <p:txBody>
          <a:bodyPr wrap="square" lIns="0" tIns="0" rIns="0" bIns="0" rtlCol="0" anchor="t"/>
          <a:lstStyle/>
          <a:p>
            <a:pPr indent="0" marL="0">
              <a:lnSpc>
                <a:spcPts val="1700"/>
              </a:lnSpc>
              <a:buNone/>
            </a:pPr>
            <a:r>
              <a:rPr lang="en-US" sz="1050" dirty="0">
                <a:solidFill>
                  <a:srgbClr val="6E6C63"/>
                </a:solidFill>
                <a:latin typeface="Meiryo" pitchFamily="34" charset="0"/>
                <a:ea typeface="Meiryo" pitchFamily="34" charset="-122"/>
                <a:cs typeface="Meiryo" pitchFamily="34" charset="-120"/>
              </a:rPr>
              <a:t>条件の説明より、</a:t>
            </a:r>
            <a:endParaRPr lang="en-US" sz="1050" dirty="0"/>
          </a:p>
          <a:p>
            <a:pPr indent="0" marL="0">
              <a:lnSpc>
                <a:spcPts val="1700"/>
              </a:lnSpc>
              <a:buNone/>
            </a:pPr>
            <a:r>
              <a:rPr lang="en-US" sz="1050" dirty="0">
                <a:solidFill>
                  <a:srgbClr val="6E6C63"/>
                </a:solidFill>
                <a:latin typeface="Meiryo" pitchFamily="34" charset="0"/>
                <a:ea typeface="Meiryo" pitchFamily="34" charset="-122"/>
                <a:cs typeface="Meiryo" pitchFamily="34" charset="-120"/>
              </a:rPr>
              <a:t>不安の聞き取り。</a:t>
            </a:r>
            <a:endParaRPr lang="en-US" sz="1050" dirty="0"/>
          </a:p>
          <a:p>
            <a:pPr indent="0" marL="0">
              <a:lnSpc>
                <a:spcPts val="1700"/>
              </a:lnSpc>
              <a:buNone/>
            </a:pPr>
            <a:r>
              <a:rPr lang="en-US" sz="1050" dirty="0">
                <a:solidFill>
                  <a:srgbClr val="6E6C63"/>
                </a:solidFill>
                <a:latin typeface="Meiryo" pitchFamily="34" charset="0"/>
                <a:ea typeface="Meiryo" pitchFamily="34" charset="-122"/>
                <a:cs typeface="Meiryo" pitchFamily="34" charset="-120"/>
              </a:rPr>
              <a:t>その場で答える</a:t>
            </a:r>
            <a:endParaRPr lang="en-US" sz="1050" dirty="0"/>
          </a:p>
        </p:txBody>
      </p:sp>
      <p:sp>
        <p:nvSpPr>
          <p:cNvPr id="26" name="Shape 24"/>
          <p:cNvSpPr/>
          <p:nvPr/>
        </p:nvSpPr>
        <p:spPr>
          <a:xfrm>
            <a:off x="9528048" y="1783080"/>
            <a:ext cx="1993392" cy="2331720"/>
          </a:xfrm>
          <a:prstGeom prst="roundRect">
            <a:avLst>
              <a:gd name="adj" fmla="val 2752"/>
            </a:avLst>
          </a:prstGeom>
          <a:solidFill>
            <a:srgbClr val="FFFFFF"/>
          </a:solidFill>
          <a:ln w="12700">
            <a:solidFill>
              <a:srgbClr val="E8E6DC"/>
            </a:solidFill>
            <a:prstDash val="solid"/>
          </a:ln>
          <a:effectLst>
            <a:outerShdw sx="100000" sy="100000" kx="0" ky="0" algn="bl" rotWithShape="0" blurRad="114300" dist="25400" dir="5400000">
              <a:srgbClr val="B0AEA5">
                <a:alpha val="30000"/>
              </a:srgbClr>
            </a:outerShdw>
          </a:effectLst>
        </p:spPr>
      </p:sp>
      <p:sp>
        <p:nvSpPr>
          <p:cNvPr id="27" name="Shape 25"/>
          <p:cNvSpPr/>
          <p:nvPr/>
        </p:nvSpPr>
        <p:spPr>
          <a:xfrm>
            <a:off x="9729216" y="1965960"/>
            <a:ext cx="1591056" cy="310896"/>
          </a:xfrm>
          <a:prstGeom prst="roundRect">
            <a:avLst>
              <a:gd name="adj" fmla="val 14706"/>
            </a:avLst>
          </a:prstGeom>
          <a:solidFill>
            <a:srgbClr val="D97757"/>
          </a:solidFill>
          <a:ln/>
        </p:spPr>
      </p:sp>
      <p:sp>
        <p:nvSpPr>
          <p:cNvPr id="28" name="Text 26"/>
          <p:cNvSpPr/>
          <p:nvPr/>
        </p:nvSpPr>
        <p:spPr>
          <a:xfrm>
            <a:off x="9729216" y="1965960"/>
            <a:ext cx="1591056" cy="310896"/>
          </a:xfrm>
          <a:prstGeom prst="rect">
            <a:avLst/>
          </a:prstGeom>
          <a:noFill/>
          <a:ln/>
        </p:spPr>
        <p:txBody>
          <a:bodyPr wrap="square" lIns="0" tIns="0" rIns="0" bIns="0" rtlCol="0" anchor="ctr"/>
          <a:lstStyle/>
          <a:p>
            <a:pPr algn="ctr" indent="0" marL="0">
              <a:buNone/>
            </a:pPr>
            <a:r>
              <a:rPr lang="en-US" sz="1050" b="1" dirty="0">
                <a:solidFill>
                  <a:srgbClr val="FFFFFF"/>
                </a:solidFill>
                <a:latin typeface="Meiryo" pitchFamily="34" charset="0"/>
                <a:ea typeface="Meiryo" pitchFamily="34" charset="-122"/>
                <a:cs typeface="Meiryo" pitchFamily="34" charset="-120"/>
              </a:rPr>
              <a:t>—</a:t>
            </a:r>
            <a:endParaRPr lang="en-US" sz="1050" dirty="0"/>
          </a:p>
        </p:txBody>
      </p:sp>
      <p:sp>
        <p:nvSpPr>
          <p:cNvPr id="29" name="Text 27"/>
          <p:cNvSpPr/>
          <p:nvPr/>
        </p:nvSpPr>
        <p:spPr>
          <a:xfrm>
            <a:off x="9729216" y="2359152"/>
            <a:ext cx="1591056" cy="384048"/>
          </a:xfrm>
          <a:prstGeom prst="rect">
            <a:avLst/>
          </a:prstGeom>
          <a:noFill/>
          <a:ln/>
        </p:spPr>
        <p:txBody>
          <a:bodyPr wrap="square" lIns="0" tIns="0" rIns="0" bIns="0" rtlCol="0" anchor="ctr"/>
          <a:lstStyle/>
          <a:p>
            <a:pPr indent="0" marL="0">
              <a:buNone/>
            </a:pPr>
            <a:r>
              <a:rPr lang="en-US" sz="1500" b="1" dirty="0">
                <a:solidFill>
                  <a:srgbClr val="141413"/>
                </a:solidFill>
                <a:latin typeface="Meiryo" pitchFamily="34" charset="0"/>
                <a:ea typeface="Meiryo" pitchFamily="34" charset="-122"/>
                <a:cs typeface="Meiryo" pitchFamily="34" charset="-120"/>
              </a:rPr>
              <a:t>⑤ 当日中に連絡</a:t>
            </a:r>
            <a:endParaRPr lang="en-US" sz="1500" dirty="0"/>
          </a:p>
        </p:txBody>
      </p:sp>
      <p:sp>
        <p:nvSpPr>
          <p:cNvPr id="30" name="Text 28"/>
          <p:cNvSpPr/>
          <p:nvPr/>
        </p:nvSpPr>
        <p:spPr>
          <a:xfrm>
            <a:off x="9729216" y="2761488"/>
            <a:ext cx="1591056" cy="1188720"/>
          </a:xfrm>
          <a:prstGeom prst="rect">
            <a:avLst/>
          </a:prstGeom>
          <a:noFill/>
          <a:ln/>
        </p:spPr>
        <p:txBody>
          <a:bodyPr wrap="square" lIns="0" tIns="0" rIns="0" bIns="0" rtlCol="0" anchor="t"/>
          <a:lstStyle/>
          <a:p>
            <a:pPr indent="0" marL="0">
              <a:lnSpc>
                <a:spcPts val="1700"/>
              </a:lnSpc>
              <a:buNone/>
            </a:pPr>
            <a:r>
              <a:rPr lang="en-US" sz="1050" dirty="0">
                <a:solidFill>
                  <a:srgbClr val="6E6C63"/>
                </a:solidFill>
                <a:latin typeface="Meiryo" pitchFamily="34" charset="0"/>
                <a:ea typeface="Meiryo" pitchFamily="34" charset="-122"/>
                <a:cs typeface="Meiryo" pitchFamily="34" charset="-120"/>
              </a:rPr>
              <a:t>お礼と次の案内を</a:t>
            </a:r>
            <a:endParaRPr lang="en-US" sz="1050" dirty="0"/>
          </a:p>
          <a:p>
            <a:pPr indent="0" marL="0">
              <a:lnSpc>
                <a:spcPts val="1700"/>
              </a:lnSpc>
              <a:buNone/>
            </a:pPr>
            <a:r>
              <a:rPr lang="en-US" sz="1050" dirty="0">
                <a:solidFill>
                  <a:srgbClr val="6E6C63"/>
                </a:solidFill>
                <a:latin typeface="Meiryo" pitchFamily="34" charset="0"/>
                <a:ea typeface="Meiryo" pitchFamily="34" charset="-122"/>
                <a:cs typeface="Meiryo" pitchFamily="34" charset="-120"/>
              </a:rPr>
              <a:t>当日中に送る。</a:t>
            </a:r>
            <a:endParaRPr lang="en-US" sz="1050" dirty="0"/>
          </a:p>
          <a:p>
            <a:pPr indent="0" marL="0">
              <a:lnSpc>
                <a:spcPts val="1700"/>
              </a:lnSpc>
              <a:buNone/>
            </a:pPr>
            <a:r>
              <a:rPr lang="en-US" sz="1050" dirty="0">
                <a:solidFill>
                  <a:srgbClr val="6E6C63"/>
                </a:solidFill>
                <a:latin typeface="Meiryo" pitchFamily="34" charset="0"/>
                <a:ea typeface="Meiryo" pitchFamily="34" charset="-122"/>
                <a:cs typeface="Meiryo" pitchFamily="34" charset="-120"/>
              </a:rPr>
              <a:t>迷う間に他社が決まる</a:t>
            </a:r>
            <a:endParaRPr lang="en-US" sz="1050" dirty="0"/>
          </a:p>
        </p:txBody>
      </p:sp>
      <p:sp>
        <p:nvSpPr>
          <p:cNvPr id="31" name="Shape 29"/>
          <p:cNvSpPr/>
          <p:nvPr/>
        </p:nvSpPr>
        <p:spPr>
          <a:xfrm>
            <a:off x="640080" y="4343400"/>
            <a:ext cx="5234940" cy="1417320"/>
          </a:xfrm>
          <a:prstGeom prst="roundRect">
            <a:avLst>
              <a:gd name="adj" fmla="val 3871"/>
            </a:avLst>
          </a:prstGeom>
          <a:solidFill>
            <a:srgbClr val="141413"/>
          </a:solidFill>
          <a:ln w="12700">
            <a:solidFill>
              <a:srgbClr val="141413"/>
            </a:solidFill>
            <a:prstDash val="solid"/>
          </a:ln>
        </p:spPr>
      </p:sp>
      <p:sp>
        <p:nvSpPr>
          <p:cNvPr id="32" name="Text 30"/>
          <p:cNvSpPr/>
          <p:nvPr/>
        </p:nvSpPr>
        <p:spPr>
          <a:xfrm>
            <a:off x="914400" y="4480560"/>
            <a:ext cx="4686300" cy="320040"/>
          </a:xfrm>
          <a:prstGeom prst="rect">
            <a:avLst/>
          </a:prstGeom>
          <a:noFill/>
          <a:ln/>
        </p:spPr>
        <p:txBody>
          <a:bodyPr wrap="square" lIns="0" tIns="0" rIns="0" bIns="0" rtlCol="0" anchor="ctr"/>
          <a:lstStyle/>
          <a:p>
            <a:pPr indent="0" marL="0">
              <a:buNone/>
            </a:pPr>
            <a:r>
              <a:rPr lang="en-US" sz="1350" b="1" dirty="0">
                <a:solidFill>
                  <a:srgbClr val="D97757"/>
                </a:solidFill>
                <a:latin typeface="Meiryo" pitchFamily="34" charset="0"/>
                <a:ea typeface="Meiryo" pitchFamily="34" charset="-122"/>
                <a:cs typeface="Meiryo" pitchFamily="34" charset="-120"/>
              </a:rPr>
              <a:t>必ず見せる 3 つ</a:t>
            </a:r>
            <a:endParaRPr lang="en-US" sz="1350" dirty="0"/>
          </a:p>
        </p:txBody>
      </p:sp>
      <p:sp>
        <p:nvSpPr>
          <p:cNvPr id="33" name="Text 31"/>
          <p:cNvSpPr/>
          <p:nvPr/>
        </p:nvSpPr>
        <p:spPr>
          <a:xfrm>
            <a:off x="914400" y="4828032"/>
            <a:ext cx="4686300" cy="868680"/>
          </a:xfrm>
          <a:prstGeom prst="rect">
            <a:avLst/>
          </a:prstGeom>
          <a:noFill/>
          <a:ln/>
        </p:spPr>
        <p:txBody>
          <a:bodyPr wrap="square" lIns="0" tIns="0" rIns="0" bIns="0" rtlCol="0" anchor="t"/>
          <a:lstStyle/>
          <a:p>
            <a:pPr indent="0" marL="0">
              <a:lnSpc>
                <a:spcPts val="1900"/>
              </a:lnSpc>
              <a:buNone/>
            </a:pPr>
            <a:r>
              <a:rPr lang="en-US" sz="1150" dirty="0">
                <a:solidFill>
                  <a:srgbClr val="FFFFFF"/>
                </a:solidFill>
                <a:latin typeface="Meiryo" pitchFamily="34" charset="0"/>
                <a:ea typeface="Meiryo" pitchFamily="34" charset="-122"/>
                <a:cs typeface="Meiryo" pitchFamily="34" charset="-120"/>
              </a:rPr>
              <a:t>・スタッフ同士の会話（作らない、普段のまま）</a:t>
            </a:r>
            <a:endParaRPr lang="en-US" sz="1150" dirty="0"/>
          </a:p>
          <a:p>
            <a:pPr indent="0" marL="0">
              <a:lnSpc>
                <a:spcPts val="1900"/>
              </a:lnSpc>
              <a:buNone/>
            </a:pPr>
            <a:r>
              <a:rPr lang="en-US" sz="1150" dirty="0">
                <a:solidFill>
                  <a:srgbClr val="FFFFFF"/>
                </a:solidFill>
                <a:latin typeface="Meiryo" pitchFamily="34" charset="0"/>
                <a:ea typeface="Meiryo" pitchFamily="34" charset="-122"/>
                <a:cs typeface="Meiryo" pitchFamily="34" charset="-120"/>
              </a:rPr>
              <a:t>・利用者との関わり方</a:t>
            </a:r>
            <a:endParaRPr lang="en-US" sz="1150" dirty="0"/>
          </a:p>
          <a:p>
            <a:pPr indent="0" marL="0">
              <a:lnSpc>
                <a:spcPts val="1900"/>
              </a:lnSpc>
              <a:buNone/>
            </a:pPr>
            <a:r>
              <a:rPr lang="en-US" sz="1150" dirty="0">
                <a:solidFill>
                  <a:srgbClr val="FFFFFF"/>
                </a:solidFill>
                <a:latin typeface="Meiryo" pitchFamily="34" charset="0"/>
                <a:ea typeface="Meiryo" pitchFamily="34" charset="-122"/>
                <a:cs typeface="Meiryo" pitchFamily="34" charset="-120"/>
              </a:rPr>
              <a:t>・記録や申し送りの実際の運用画面</a:t>
            </a:r>
            <a:endParaRPr lang="en-US" sz="1150" dirty="0"/>
          </a:p>
        </p:txBody>
      </p:sp>
      <p:sp>
        <p:nvSpPr>
          <p:cNvPr id="34" name="Shape 32"/>
          <p:cNvSpPr/>
          <p:nvPr/>
        </p:nvSpPr>
        <p:spPr>
          <a:xfrm>
            <a:off x="6286500" y="4343400"/>
            <a:ext cx="5234940" cy="1417320"/>
          </a:xfrm>
          <a:prstGeom prst="roundRect">
            <a:avLst>
              <a:gd name="adj" fmla="val 3871"/>
            </a:avLst>
          </a:prstGeom>
          <a:solidFill>
            <a:srgbClr val="FFFFFF"/>
          </a:solidFill>
          <a:ln w="12700">
            <a:solidFill>
              <a:srgbClr val="E8E6DC"/>
            </a:solidFill>
            <a:prstDash val="solid"/>
          </a:ln>
        </p:spPr>
      </p:sp>
      <p:sp>
        <p:nvSpPr>
          <p:cNvPr id="35" name="Text 33"/>
          <p:cNvSpPr/>
          <p:nvPr/>
        </p:nvSpPr>
        <p:spPr>
          <a:xfrm>
            <a:off x="6560820" y="4480560"/>
            <a:ext cx="4686300" cy="320040"/>
          </a:xfrm>
          <a:prstGeom prst="rect">
            <a:avLst/>
          </a:prstGeom>
          <a:noFill/>
          <a:ln/>
        </p:spPr>
        <p:txBody>
          <a:bodyPr wrap="square" lIns="0" tIns="0" rIns="0" bIns="0" rtlCol="0" anchor="ctr"/>
          <a:lstStyle/>
          <a:p>
            <a:pPr indent="0" marL="0">
              <a:buNone/>
            </a:pPr>
            <a:r>
              <a:rPr lang="en-US" sz="1350" b="1" dirty="0">
                <a:solidFill>
                  <a:srgbClr val="D97757"/>
                </a:solidFill>
                <a:latin typeface="Meiryo" pitchFamily="34" charset="0"/>
                <a:ea typeface="Meiryo" pitchFamily="34" charset="-122"/>
                <a:cs typeface="Meiryo" pitchFamily="34" charset="-120"/>
              </a:rPr>
              <a:t>やってはいけない 3 つ</a:t>
            </a:r>
            <a:endParaRPr lang="en-US" sz="1350" dirty="0"/>
          </a:p>
        </p:txBody>
      </p:sp>
      <p:sp>
        <p:nvSpPr>
          <p:cNvPr id="36" name="Text 34"/>
          <p:cNvSpPr/>
          <p:nvPr/>
        </p:nvSpPr>
        <p:spPr>
          <a:xfrm>
            <a:off x="6560820" y="4828032"/>
            <a:ext cx="4686300" cy="868680"/>
          </a:xfrm>
          <a:prstGeom prst="rect">
            <a:avLst/>
          </a:prstGeom>
          <a:noFill/>
          <a:ln/>
        </p:spPr>
        <p:txBody>
          <a:bodyPr wrap="square" lIns="0" tIns="0" rIns="0" bIns="0" rtlCol="0" anchor="t"/>
          <a:lstStyle/>
          <a:p>
            <a:pPr indent="0" marL="0">
              <a:lnSpc>
                <a:spcPts val="1900"/>
              </a:lnSpc>
              <a:buNone/>
            </a:pPr>
            <a:r>
              <a:rPr lang="en-US" sz="1150" dirty="0">
                <a:solidFill>
                  <a:srgbClr val="6E6C63"/>
                </a:solidFill>
                <a:latin typeface="Meiryo" pitchFamily="34" charset="0"/>
                <a:ea typeface="Meiryo" pitchFamily="34" charset="-122"/>
                <a:cs typeface="Meiryo" pitchFamily="34" charset="-120"/>
              </a:rPr>
              <a:t>・当日だけ特別にきれいにする</a:t>
            </a:r>
            <a:endParaRPr lang="en-US" sz="1150" dirty="0"/>
          </a:p>
          <a:p>
            <a:pPr indent="0" marL="0">
              <a:lnSpc>
                <a:spcPts val="1900"/>
              </a:lnSpc>
              <a:buNone/>
            </a:pPr>
            <a:r>
              <a:rPr lang="en-US" sz="1150" dirty="0">
                <a:solidFill>
                  <a:srgbClr val="6E6C63"/>
                </a:solidFill>
                <a:latin typeface="Meiryo" pitchFamily="34" charset="0"/>
                <a:ea typeface="Meiryo" pitchFamily="34" charset="-122"/>
                <a:cs typeface="Meiryo" pitchFamily="34" charset="-120"/>
              </a:rPr>
              <a:t>・採用担当が最後まで付きっきりで説明する</a:t>
            </a:r>
            <a:endParaRPr lang="en-US" sz="1150" dirty="0"/>
          </a:p>
          <a:p>
            <a:pPr indent="0" marL="0">
              <a:lnSpc>
                <a:spcPts val="1900"/>
              </a:lnSpc>
              <a:buNone/>
            </a:pPr>
            <a:r>
              <a:rPr lang="en-US" sz="1150" dirty="0">
                <a:solidFill>
                  <a:srgbClr val="6E6C63"/>
                </a:solidFill>
                <a:latin typeface="Meiryo" pitchFamily="34" charset="0"/>
                <a:ea typeface="Meiryo" pitchFamily="34" charset="-122"/>
                <a:cs typeface="Meiryo" pitchFamily="34" charset="-120"/>
              </a:rPr>
              <a:t>・条件面の話だけで時間を使い切る</a:t>
            </a:r>
            <a:endParaRPr lang="en-US" sz="1150" dirty="0"/>
          </a:p>
        </p:txBody>
      </p:sp>
      <p:sp>
        <p:nvSpPr>
          <p:cNvPr id="37" name="Text 35"/>
          <p:cNvSpPr/>
          <p:nvPr/>
        </p:nvSpPr>
        <p:spPr>
          <a:xfrm>
            <a:off x="640080" y="5897880"/>
            <a:ext cx="10881360" cy="320040"/>
          </a:xfrm>
          <a:prstGeom prst="rect">
            <a:avLst/>
          </a:prstGeom>
          <a:noFill/>
          <a:ln/>
        </p:spPr>
        <p:txBody>
          <a:bodyPr wrap="square" lIns="0" tIns="0" rIns="0" bIns="0" rtlCol="0" anchor="ctr"/>
          <a:lstStyle/>
          <a:p>
            <a:pPr indent="0" marL="0">
              <a:buNone/>
            </a:pPr>
            <a:r>
              <a:rPr lang="en-US" sz="1000" dirty="0">
                <a:solidFill>
                  <a:srgbClr val="7D7B72"/>
                </a:solidFill>
                <a:latin typeface="Meiryo" pitchFamily="34" charset="0"/>
                <a:ea typeface="Meiryo" pitchFamily="34" charset="-122"/>
                <a:cs typeface="Meiryo" pitchFamily="34" charset="-120"/>
              </a:rPr>
              <a:t>※ 体験会は「選考」ではなく「相互確認の場」と伝えると、参加のハードルが大きく下がります。</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9646920" y="365760"/>
            <a:ext cx="1874520" cy="310896"/>
          </a:xfrm>
          <a:prstGeom prst="roundRect">
            <a:avLst>
              <a:gd name="adj" fmla="val 14706"/>
            </a:avLst>
          </a:prstGeom>
          <a:solidFill>
            <a:srgbClr val="E7ECDD"/>
          </a:solidFill>
          <a:ln w="12700">
            <a:solidFill>
              <a:srgbClr val="788C5D"/>
            </a:solidFill>
            <a:prstDash val="solid"/>
          </a:ln>
        </p:spPr>
      </p:sp>
      <p:sp>
        <p:nvSpPr>
          <p:cNvPr id="3" name="Text 1"/>
          <p:cNvSpPr/>
          <p:nvPr/>
        </p:nvSpPr>
        <p:spPr>
          <a:xfrm>
            <a:off x="9646920" y="365760"/>
            <a:ext cx="1874520" cy="310896"/>
          </a:xfrm>
          <a:prstGeom prst="rect">
            <a:avLst/>
          </a:prstGeom>
          <a:noFill/>
          <a:ln/>
        </p:spPr>
        <p:txBody>
          <a:bodyPr wrap="square" lIns="0" tIns="0" rIns="0" bIns="0" rtlCol="0" anchor="ctr"/>
          <a:lstStyle/>
          <a:p>
            <a:pPr algn="ctr" indent="0" marL="0">
              <a:buNone/>
            </a:pPr>
            <a:r>
              <a:rPr lang="en-US" sz="1050" b="1" dirty="0">
                <a:solidFill>
                  <a:srgbClr val="788C5D"/>
                </a:solidFill>
                <a:latin typeface="Meiryo" pitchFamily="34" charset="0"/>
                <a:ea typeface="Meiryo" pitchFamily="34" charset="-122"/>
                <a:cs typeface="Meiryo" pitchFamily="34" charset="-120"/>
              </a:rPr>
              <a:t>AI 講座パート</a:t>
            </a:r>
            <a:endParaRPr lang="en-US" sz="1050" dirty="0"/>
          </a:p>
        </p:txBody>
      </p:sp>
      <p:sp>
        <p:nvSpPr>
          <p:cNvPr id="4" name="Shape 2"/>
          <p:cNvSpPr/>
          <p:nvPr/>
        </p:nvSpPr>
        <p:spPr>
          <a:xfrm>
            <a:off x="640080" y="347472"/>
            <a:ext cx="1783080" cy="329184"/>
          </a:xfrm>
          <a:prstGeom prst="roundRect">
            <a:avLst>
              <a:gd name="adj" fmla="val 13889"/>
            </a:avLst>
          </a:prstGeom>
          <a:solidFill>
            <a:srgbClr val="D97757"/>
          </a:solidFill>
          <a:ln/>
        </p:spPr>
      </p:sp>
      <p:sp>
        <p:nvSpPr>
          <p:cNvPr id="5" name="Text 3"/>
          <p:cNvSpPr/>
          <p:nvPr/>
        </p:nvSpPr>
        <p:spPr>
          <a:xfrm>
            <a:off x="640080" y="347472"/>
            <a:ext cx="1783080" cy="329184"/>
          </a:xfrm>
          <a:prstGeom prst="rect">
            <a:avLst/>
          </a:prstGeom>
          <a:noFill/>
          <a:ln/>
        </p:spPr>
        <p:txBody>
          <a:bodyPr wrap="square" lIns="0" tIns="0" rIns="0" bIns="0" rtlCol="0" anchor="ctr"/>
          <a:lstStyle/>
          <a:p>
            <a:pPr algn="ctr" indent="0" marL="0">
              <a:buNone/>
            </a:pPr>
            <a:r>
              <a:rPr lang="en-US" sz="1150" b="1" spc="100" kern="0" dirty="0">
                <a:solidFill>
                  <a:srgbClr val="FFFFFF"/>
                </a:solidFill>
                <a:latin typeface="Meiryo" pitchFamily="34" charset="0"/>
                <a:ea typeface="Meiryo" pitchFamily="34" charset="-122"/>
                <a:cs typeface="Meiryo" pitchFamily="34" charset="-120"/>
              </a:rPr>
              <a:t>MODULE 4</a:t>
            </a:r>
            <a:endParaRPr lang="en-US" sz="1150" dirty="0"/>
          </a:p>
        </p:txBody>
      </p:sp>
      <p:sp>
        <p:nvSpPr>
          <p:cNvPr id="6" name="Text 4"/>
          <p:cNvSpPr/>
          <p:nvPr/>
        </p:nvSpPr>
        <p:spPr>
          <a:xfrm>
            <a:off x="640080" y="768096"/>
            <a:ext cx="10881360" cy="566928"/>
          </a:xfrm>
          <a:prstGeom prst="rect">
            <a:avLst/>
          </a:prstGeom>
          <a:noFill/>
          <a:ln/>
        </p:spPr>
        <p:txBody>
          <a:bodyPr wrap="square" lIns="0" tIns="0" rIns="0" bIns="0" rtlCol="0" anchor="ctr"/>
          <a:lstStyle/>
          <a:p>
            <a:pPr indent="0" marL="0">
              <a:buNone/>
            </a:pPr>
            <a:r>
              <a:rPr lang="en-US" sz="2700" b="1" dirty="0">
                <a:solidFill>
                  <a:srgbClr val="141413"/>
                </a:solidFill>
                <a:latin typeface="Meiryo" pitchFamily="34" charset="0"/>
                <a:ea typeface="Meiryo" pitchFamily="34" charset="-122"/>
                <a:cs typeface="Meiryo" pitchFamily="34" charset="-120"/>
              </a:rPr>
              <a:t>スタッフ動画 ｜ 30〜40 秒でつくる</a:t>
            </a:r>
            <a:endParaRPr lang="en-US" sz="2700" dirty="0"/>
          </a:p>
        </p:txBody>
      </p:sp>
      <p:sp>
        <p:nvSpPr>
          <p:cNvPr id="7" name="Text 5"/>
          <p:cNvSpPr/>
          <p:nvPr/>
        </p:nvSpPr>
        <p:spPr>
          <a:xfrm>
            <a:off x="640080" y="1316736"/>
            <a:ext cx="10881360" cy="329184"/>
          </a:xfrm>
          <a:prstGeom prst="rect">
            <a:avLst/>
          </a:prstGeom>
          <a:noFill/>
          <a:ln/>
        </p:spPr>
        <p:txBody>
          <a:bodyPr wrap="square" lIns="0" tIns="0" rIns="0" bIns="0" rtlCol="0" anchor="ctr"/>
          <a:lstStyle/>
          <a:p>
            <a:pPr indent="0" marL="0">
              <a:buNone/>
            </a:pPr>
            <a:r>
              <a:rPr lang="en-US" sz="1300" dirty="0">
                <a:solidFill>
                  <a:srgbClr val="6E6C63"/>
                </a:solidFill>
                <a:latin typeface="Meiryo" pitchFamily="34" charset="0"/>
                <a:ea typeface="Meiryo" pitchFamily="34" charset="-122"/>
                <a:cs typeface="Meiryo" pitchFamily="34" charset="-120"/>
              </a:rPr>
              <a:t>文字では伝わらない「空気感」を運ぶ、いちばん効率のいい素材です</a:t>
            </a:r>
            <a:endParaRPr lang="en-US" sz="1300" dirty="0"/>
          </a:p>
        </p:txBody>
      </p:sp>
      <p:sp>
        <p:nvSpPr>
          <p:cNvPr id="8" name="Shape 6"/>
          <p:cNvSpPr/>
          <p:nvPr/>
        </p:nvSpPr>
        <p:spPr>
          <a:xfrm>
            <a:off x="640080" y="1810512"/>
            <a:ext cx="3352800" cy="2148840"/>
          </a:xfrm>
          <a:prstGeom prst="roundRect">
            <a:avLst>
              <a:gd name="adj" fmla="val 2553"/>
            </a:avLst>
          </a:prstGeom>
          <a:solidFill>
            <a:srgbClr val="FAF9F5"/>
          </a:solidFill>
          <a:ln w="12700">
            <a:solidFill>
              <a:srgbClr val="E8E6DC"/>
            </a:solidFill>
            <a:prstDash val="solid"/>
          </a:ln>
        </p:spPr>
      </p:sp>
      <p:sp>
        <p:nvSpPr>
          <p:cNvPr id="9" name="Shape 7"/>
          <p:cNvSpPr/>
          <p:nvPr/>
        </p:nvSpPr>
        <p:spPr>
          <a:xfrm>
            <a:off x="932688" y="2029968"/>
            <a:ext cx="658368" cy="658368"/>
          </a:xfrm>
          <a:prstGeom prst="ellipse">
            <a:avLst/>
          </a:prstGeom>
          <a:solidFill>
            <a:srgbClr val="F5E3DA"/>
          </a:solidFill>
          <a:ln/>
        </p:spPr>
      </p:sp>
      <p:pic>
        <p:nvPicPr>
          <p:cNvPr id="10" name="Image 0" descr="preencoded.png">    </p:cNvPr>
          <p:cNvPicPr>
            <a:picLocks noChangeAspect="1"/>
          </p:cNvPicPr>
          <p:nvPr/>
        </p:nvPicPr>
        <p:blipFill>
          <a:blip r:embed="rId1"/>
          <a:stretch>
            <a:fillRect/>
          </a:stretch>
        </p:blipFill>
        <p:spPr>
          <a:xfrm>
            <a:off x="1097280" y="2194560"/>
            <a:ext cx="329184" cy="329184"/>
          </a:xfrm>
          <a:prstGeom prst="rect">
            <a:avLst/>
          </a:prstGeom>
        </p:spPr>
      </p:pic>
      <p:sp>
        <p:nvSpPr>
          <p:cNvPr id="11" name="Text 8"/>
          <p:cNvSpPr/>
          <p:nvPr/>
        </p:nvSpPr>
        <p:spPr>
          <a:xfrm>
            <a:off x="932688" y="2788920"/>
            <a:ext cx="2767584" cy="365760"/>
          </a:xfrm>
          <a:prstGeom prst="rect">
            <a:avLst/>
          </a:prstGeom>
          <a:noFill/>
          <a:ln/>
        </p:spPr>
        <p:txBody>
          <a:bodyPr wrap="square" lIns="0" tIns="0" rIns="0" bIns="0" rtlCol="0" anchor="ctr"/>
          <a:lstStyle/>
          <a:p>
            <a:pPr indent="0" marL="0">
              <a:buNone/>
            </a:pPr>
            <a:r>
              <a:rPr lang="en-US" sz="1500" b="1" dirty="0">
                <a:solidFill>
                  <a:srgbClr val="141413"/>
                </a:solidFill>
                <a:latin typeface="Meiryo" pitchFamily="34" charset="0"/>
                <a:ea typeface="Meiryo" pitchFamily="34" charset="-122"/>
                <a:cs typeface="Meiryo" pitchFamily="34" charset="-120"/>
              </a:rPr>
              <a:t>スマホ 1 台でいい</a:t>
            </a:r>
            <a:endParaRPr lang="en-US" sz="1500" dirty="0"/>
          </a:p>
        </p:txBody>
      </p:sp>
      <p:sp>
        <p:nvSpPr>
          <p:cNvPr id="12" name="Text 9"/>
          <p:cNvSpPr/>
          <p:nvPr/>
        </p:nvSpPr>
        <p:spPr>
          <a:xfrm>
            <a:off x="932688" y="3182112"/>
            <a:ext cx="2767584" cy="685800"/>
          </a:xfrm>
          <a:prstGeom prst="rect">
            <a:avLst/>
          </a:prstGeom>
          <a:noFill/>
          <a:ln/>
        </p:spPr>
        <p:txBody>
          <a:bodyPr wrap="square" lIns="0" tIns="0" rIns="0" bIns="0" rtlCol="0" anchor="t"/>
          <a:lstStyle/>
          <a:p>
            <a:pPr indent="0" marL="0">
              <a:lnSpc>
                <a:spcPts val="1700"/>
              </a:lnSpc>
              <a:buNone/>
            </a:pPr>
            <a:r>
              <a:rPr lang="en-US" sz="1100" dirty="0">
                <a:solidFill>
                  <a:srgbClr val="6E6C63"/>
                </a:solidFill>
                <a:latin typeface="Meiryo" pitchFamily="34" charset="0"/>
                <a:ea typeface="Meiryo" pitchFamily="34" charset="-122"/>
                <a:cs typeface="Meiryo" pitchFamily="34" charset="-120"/>
              </a:rPr>
              <a:t>三脚とピンマイクだけ用意。</a:t>
            </a:r>
            <a:endParaRPr lang="en-US" sz="1100" dirty="0"/>
          </a:p>
          <a:p>
            <a:pPr indent="0" marL="0">
              <a:lnSpc>
                <a:spcPts val="1700"/>
              </a:lnSpc>
              <a:buNone/>
            </a:pPr>
            <a:r>
              <a:rPr lang="en-US" sz="1100" dirty="0">
                <a:solidFill>
                  <a:srgbClr val="6E6C63"/>
                </a:solidFill>
                <a:latin typeface="Meiryo" pitchFamily="34" charset="0"/>
                <a:ea typeface="Meiryo" pitchFamily="34" charset="-122"/>
                <a:cs typeface="Meiryo" pitchFamily="34" charset="-120"/>
              </a:rPr>
              <a:t>照明は窓際の自然光で十分です。</a:t>
            </a:r>
            <a:endParaRPr lang="en-US" sz="1100" dirty="0"/>
          </a:p>
          <a:p>
            <a:pPr indent="0" marL="0">
              <a:lnSpc>
                <a:spcPts val="1700"/>
              </a:lnSpc>
              <a:buNone/>
            </a:pPr>
            <a:r>
              <a:rPr lang="en-US" sz="1100" dirty="0">
                <a:solidFill>
                  <a:srgbClr val="6E6C63"/>
                </a:solidFill>
                <a:latin typeface="Meiryo" pitchFamily="34" charset="0"/>
                <a:ea typeface="Meiryo" pitchFamily="34" charset="-122"/>
                <a:cs typeface="Meiryo" pitchFamily="34" charset="-120"/>
              </a:rPr>
              <a:t>背景は実際の職場を写します。</a:t>
            </a:r>
            <a:endParaRPr lang="en-US" sz="1100" dirty="0"/>
          </a:p>
        </p:txBody>
      </p:sp>
      <p:sp>
        <p:nvSpPr>
          <p:cNvPr id="13" name="Shape 10"/>
          <p:cNvSpPr/>
          <p:nvPr/>
        </p:nvSpPr>
        <p:spPr>
          <a:xfrm>
            <a:off x="4404360" y="1810512"/>
            <a:ext cx="3352800" cy="2148840"/>
          </a:xfrm>
          <a:prstGeom prst="roundRect">
            <a:avLst>
              <a:gd name="adj" fmla="val 2553"/>
            </a:avLst>
          </a:prstGeom>
          <a:solidFill>
            <a:srgbClr val="FAF9F5"/>
          </a:solidFill>
          <a:ln w="12700">
            <a:solidFill>
              <a:srgbClr val="E8E6DC"/>
            </a:solidFill>
            <a:prstDash val="solid"/>
          </a:ln>
        </p:spPr>
      </p:sp>
      <p:sp>
        <p:nvSpPr>
          <p:cNvPr id="14" name="Shape 11"/>
          <p:cNvSpPr/>
          <p:nvPr/>
        </p:nvSpPr>
        <p:spPr>
          <a:xfrm>
            <a:off x="4696968" y="2029968"/>
            <a:ext cx="658368" cy="658368"/>
          </a:xfrm>
          <a:prstGeom prst="ellipse">
            <a:avLst/>
          </a:prstGeom>
          <a:solidFill>
            <a:srgbClr val="F5E3DA"/>
          </a:solidFill>
          <a:ln/>
        </p:spPr>
      </p:sp>
      <p:pic>
        <p:nvPicPr>
          <p:cNvPr id="15" name="Image 1" descr="preencoded.png">    </p:cNvPr>
          <p:cNvPicPr>
            <a:picLocks noChangeAspect="1"/>
          </p:cNvPicPr>
          <p:nvPr/>
        </p:nvPicPr>
        <p:blipFill>
          <a:blip r:embed="rId2"/>
          <a:stretch>
            <a:fillRect/>
          </a:stretch>
        </p:blipFill>
        <p:spPr>
          <a:xfrm>
            <a:off x="4861560" y="2194560"/>
            <a:ext cx="329184" cy="329184"/>
          </a:xfrm>
          <a:prstGeom prst="rect">
            <a:avLst/>
          </a:prstGeom>
        </p:spPr>
      </p:pic>
      <p:sp>
        <p:nvSpPr>
          <p:cNvPr id="16" name="Text 12"/>
          <p:cNvSpPr/>
          <p:nvPr/>
        </p:nvSpPr>
        <p:spPr>
          <a:xfrm>
            <a:off x="4696968" y="2788920"/>
            <a:ext cx="2767584" cy="365760"/>
          </a:xfrm>
          <a:prstGeom prst="rect">
            <a:avLst/>
          </a:prstGeom>
          <a:noFill/>
          <a:ln/>
        </p:spPr>
        <p:txBody>
          <a:bodyPr wrap="square" lIns="0" tIns="0" rIns="0" bIns="0" rtlCol="0" anchor="ctr"/>
          <a:lstStyle/>
          <a:p>
            <a:pPr indent="0" marL="0">
              <a:buNone/>
            </a:pPr>
            <a:r>
              <a:rPr lang="en-US" sz="1500" b="1" dirty="0">
                <a:solidFill>
                  <a:srgbClr val="141413"/>
                </a:solidFill>
                <a:latin typeface="Meiryo" pitchFamily="34" charset="0"/>
                <a:ea typeface="Meiryo" pitchFamily="34" charset="-122"/>
                <a:cs typeface="Meiryo" pitchFamily="34" charset="-120"/>
              </a:rPr>
              <a:t>台本は書かない</a:t>
            </a:r>
            <a:endParaRPr lang="en-US" sz="1500" dirty="0"/>
          </a:p>
        </p:txBody>
      </p:sp>
      <p:sp>
        <p:nvSpPr>
          <p:cNvPr id="17" name="Text 13"/>
          <p:cNvSpPr/>
          <p:nvPr/>
        </p:nvSpPr>
        <p:spPr>
          <a:xfrm>
            <a:off x="4696968" y="3182112"/>
            <a:ext cx="2767584" cy="685800"/>
          </a:xfrm>
          <a:prstGeom prst="rect">
            <a:avLst/>
          </a:prstGeom>
          <a:noFill/>
          <a:ln/>
        </p:spPr>
        <p:txBody>
          <a:bodyPr wrap="square" lIns="0" tIns="0" rIns="0" bIns="0" rtlCol="0" anchor="t"/>
          <a:lstStyle/>
          <a:p>
            <a:pPr indent="0" marL="0">
              <a:lnSpc>
                <a:spcPts val="1700"/>
              </a:lnSpc>
              <a:buNone/>
            </a:pPr>
            <a:r>
              <a:rPr lang="en-US" sz="1100" dirty="0">
                <a:solidFill>
                  <a:srgbClr val="6E6C63"/>
                </a:solidFill>
                <a:latin typeface="Meiryo" pitchFamily="34" charset="0"/>
                <a:ea typeface="Meiryo" pitchFamily="34" charset="-122"/>
                <a:cs typeface="Meiryo" pitchFamily="34" charset="-120"/>
              </a:rPr>
              <a:t>質問を投げて答えてもらう形式に。</a:t>
            </a:r>
            <a:endParaRPr lang="en-US" sz="1100" dirty="0"/>
          </a:p>
          <a:p>
            <a:pPr indent="0" marL="0">
              <a:lnSpc>
                <a:spcPts val="1700"/>
              </a:lnSpc>
              <a:buNone/>
            </a:pPr>
            <a:r>
              <a:rPr lang="en-US" sz="1100" dirty="0">
                <a:solidFill>
                  <a:srgbClr val="6E6C63"/>
                </a:solidFill>
                <a:latin typeface="Meiryo" pitchFamily="34" charset="0"/>
                <a:ea typeface="Meiryo" pitchFamily="34" charset="-122"/>
                <a:cs typeface="Meiryo" pitchFamily="34" charset="-120"/>
              </a:rPr>
              <a:t>言い直しはそのまま残したほうが</a:t>
            </a:r>
            <a:endParaRPr lang="en-US" sz="1100" dirty="0"/>
          </a:p>
          <a:p>
            <a:pPr indent="0" marL="0">
              <a:lnSpc>
                <a:spcPts val="1700"/>
              </a:lnSpc>
              <a:buNone/>
            </a:pPr>
            <a:r>
              <a:rPr lang="en-US" sz="1100" dirty="0">
                <a:solidFill>
                  <a:srgbClr val="6E6C63"/>
                </a:solidFill>
                <a:latin typeface="Meiryo" pitchFamily="34" charset="0"/>
                <a:ea typeface="Meiryo" pitchFamily="34" charset="-122"/>
                <a:cs typeface="Meiryo" pitchFamily="34" charset="-120"/>
              </a:rPr>
              <a:t>かえって信用されます。</a:t>
            </a:r>
            <a:endParaRPr lang="en-US" sz="1100" dirty="0"/>
          </a:p>
        </p:txBody>
      </p:sp>
      <p:sp>
        <p:nvSpPr>
          <p:cNvPr id="18" name="Shape 14"/>
          <p:cNvSpPr/>
          <p:nvPr/>
        </p:nvSpPr>
        <p:spPr>
          <a:xfrm>
            <a:off x="8168640" y="1810512"/>
            <a:ext cx="3352800" cy="2148840"/>
          </a:xfrm>
          <a:prstGeom prst="roundRect">
            <a:avLst>
              <a:gd name="adj" fmla="val 2553"/>
            </a:avLst>
          </a:prstGeom>
          <a:solidFill>
            <a:srgbClr val="FAF9F5"/>
          </a:solidFill>
          <a:ln w="12700">
            <a:solidFill>
              <a:srgbClr val="E8E6DC"/>
            </a:solidFill>
            <a:prstDash val="solid"/>
          </a:ln>
        </p:spPr>
      </p:sp>
      <p:sp>
        <p:nvSpPr>
          <p:cNvPr id="19" name="Shape 15"/>
          <p:cNvSpPr/>
          <p:nvPr/>
        </p:nvSpPr>
        <p:spPr>
          <a:xfrm>
            <a:off x="8461248" y="2029968"/>
            <a:ext cx="658368" cy="658368"/>
          </a:xfrm>
          <a:prstGeom prst="ellipse">
            <a:avLst/>
          </a:prstGeom>
          <a:solidFill>
            <a:srgbClr val="F5E3DA"/>
          </a:solidFill>
          <a:ln/>
        </p:spPr>
      </p:sp>
      <p:pic>
        <p:nvPicPr>
          <p:cNvPr id="20" name="Image 2" descr="preencoded.png">    </p:cNvPr>
          <p:cNvPicPr>
            <a:picLocks noChangeAspect="1"/>
          </p:cNvPicPr>
          <p:nvPr/>
        </p:nvPicPr>
        <p:blipFill>
          <a:blip r:embed="rId3"/>
          <a:stretch>
            <a:fillRect/>
          </a:stretch>
        </p:blipFill>
        <p:spPr>
          <a:xfrm>
            <a:off x="8625840" y="2194560"/>
            <a:ext cx="329184" cy="329184"/>
          </a:xfrm>
          <a:prstGeom prst="rect">
            <a:avLst/>
          </a:prstGeom>
        </p:spPr>
      </p:pic>
      <p:sp>
        <p:nvSpPr>
          <p:cNvPr id="21" name="Text 16"/>
          <p:cNvSpPr/>
          <p:nvPr/>
        </p:nvSpPr>
        <p:spPr>
          <a:xfrm>
            <a:off x="8461248" y="2788920"/>
            <a:ext cx="2767584" cy="365760"/>
          </a:xfrm>
          <a:prstGeom prst="rect">
            <a:avLst/>
          </a:prstGeom>
          <a:noFill/>
          <a:ln/>
        </p:spPr>
        <p:txBody>
          <a:bodyPr wrap="square" lIns="0" tIns="0" rIns="0" bIns="0" rtlCol="0" anchor="ctr"/>
          <a:lstStyle/>
          <a:p>
            <a:pPr indent="0" marL="0">
              <a:buNone/>
            </a:pPr>
            <a:r>
              <a:rPr lang="en-US" sz="1500" b="1" dirty="0">
                <a:solidFill>
                  <a:srgbClr val="141413"/>
                </a:solidFill>
                <a:latin typeface="Meiryo" pitchFamily="34" charset="0"/>
                <a:ea typeface="Meiryo" pitchFamily="34" charset="-122"/>
                <a:cs typeface="Meiryo" pitchFamily="34" charset="-120"/>
              </a:rPr>
              <a:t>字幕は必ず入れる</a:t>
            </a:r>
            <a:endParaRPr lang="en-US" sz="1500" dirty="0"/>
          </a:p>
        </p:txBody>
      </p:sp>
      <p:sp>
        <p:nvSpPr>
          <p:cNvPr id="22" name="Text 17"/>
          <p:cNvSpPr/>
          <p:nvPr/>
        </p:nvSpPr>
        <p:spPr>
          <a:xfrm>
            <a:off x="8461248" y="3182112"/>
            <a:ext cx="2767584" cy="685800"/>
          </a:xfrm>
          <a:prstGeom prst="rect">
            <a:avLst/>
          </a:prstGeom>
          <a:noFill/>
          <a:ln/>
        </p:spPr>
        <p:txBody>
          <a:bodyPr wrap="square" lIns="0" tIns="0" rIns="0" bIns="0" rtlCol="0" anchor="t"/>
          <a:lstStyle/>
          <a:p>
            <a:pPr indent="0" marL="0">
              <a:lnSpc>
                <a:spcPts val="1700"/>
              </a:lnSpc>
              <a:buNone/>
            </a:pPr>
            <a:r>
              <a:rPr lang="en-US" sz="1100" dirty="0">
                <a:solidFill>
                  <a:srgbClr val="6E6C63"/>
                </a:solidFill>
                <a:latin typeface="Meiryo" pitchFamily="34" charset="0"/>
                <a:ea typeface="Meiryo" pitchFamily="34" charset="-122"/>
                <a:cs typeface="Meiryo" pitchFamily="34" charset="-120"/>
              </a:rPr>
              <a:t>求職者の多くは音を出さずに見ます。</a:t>
            </a:r>
            <a:endParaRPr lang="en-US" sz="1100" dirty="0"/>
          </a:p>
          <a:p>
            <a:pPr indent="0" marL="0">
              <a:lnSpc>
                <a:spcPts val="1700"/>
              </a:lnSpc>
              <a:buNone/>
            </a:pPr>
            <a:r>
              <a:rPr lang="en-US" sz="1100" dirty="0">
                <a:solidFill>
                  <a:srgbClr val="6E6C63"/>
                </a:solidFill>
                <a:latin typeface="Meiryo" pitchFamily="34" charset="0"/>
                <a:ea typeface="Meiryo" pitchFamily="34" charset="-122"/>
                <a:cs typeface="Meiryo" pitchFamily="34" charset="-120"/>
              </a:rPr>
              <a:t>字幕がないと、内容が</a:t>
            </a:r>
            <a:endParaRPr lang="en-US" sz="1100" dirty="0"/>
          </a:p>
          <a:p>
            <a:pPr indent="0" marL="0">
              <a:lnSpc>
                <a:spcPts val="1700"/>
              </a:lnSpc>
              <a:buNone/>
            </a:pPr>
            <a:r>
              <a:rPr lang="en-US" sz="1100" dirty="0">
                <a:solidFill>
                  <a:srgbClr val="6E6C63"/>
                </a:solidFill>
                <a:latin typeface="Meiryo" pitchFamily="34" charset="0"/>
                <a:ea typeface="Meiryo" pitchFamily="34" charset="-122"/>
                <a:cs typeface="Meiryo" pitchFamily="34" charset="-120"/>
              </a:rPr>
              <a:t>まったく届きません。</a:t>
            </a:r>
            <a:endParaRPr lang="en-US" sz="1100" dirty="0"/>
          </a:p>
        </p:txBody>
      </p:sp>
      <p:sp>
        <p:nvSpPr>
          <p:cNvPr id="23" name="Text 18"/>
          <p:cNvSpPr/>
          <p:nvPr/>
        </p:nvSpPr>
        <p:spPr>
          <a:xfrm>
            <a:off x="640080" y="4114800"/>
            <a:ext cx="5852160" cy="365760"/>
          </a:xfrm>
          <a:prstGeom prst="rect">
            <a:avLst/>
          </a:prstGeom>
          <a:noFill/>
          <a:ln/>
        </p:spPr>
        <p:txBody>
          <a:bodyPr wrap="square" lIns="0" tIns="0" rIns="0" bIns="0" rtlCol="0" anchor="ctr"/>
          <a:lstStyle/>
          <a:p>
            <a:pPr indent="0" marL="0">
              <a:buNone/>
            </a:pPr>
            <a:r>
              <a:rPr lang="en-US" sz="1400" b="1" dirty="0">
                <a:solidFill>
                  <a:srgbClr val="141413"/>
                </a:solidFill>
                <a:latin typeface="Meiryo" pitchFamily="34" charset="0"/>
                <a:ea typeface="Meiryo" pitchFamily="34" charset="-122"/>
                <a:cs typeface="Meiryo" pitchFamily="34" charset="-120"/>
              </a:rPr>
              <a:t>そのまま使える質問 5 つ</a:t>
            </a:r>
            <a:endParaRPr lang="en-US" sz="1400" dirty="0"/>
          </a:p>
        </p:txBody>
      </p:sp>
      <p:sp>
        <p:nvSpPr>
          <p:cNvPr id="24" name="Text 19"/>
          <p:cNvSpPr/>
          <p:nvPr/>
        </p:nvSpPr>
        <p:spPr>
          <a:xfrm>
            <a:off x="640080" y="4498848"/>
            <a:ext cx="411480" cy="292608"/>
          </a:xfrm>
          <a:prstGeom prst="rect">
            <a:avLst/>
          </a:prstGeom>
          <a:noFill/>
          <a:ln/>
        </p:spPr>
        <p:txBody>
          <a:bodyPr wrap="square" lIns="0" tIns="0" rIns="0" bIns="0" rtlCol="0" anchor="ctr"/>
          <a:lstStyle/>
          <a:p>
            <a:pPr indent="0" marL="0">
              <a:buNone/>
            </a:pPr>
            <a:r>
              <a:rPr lang="en-US" sz="1100" b="1" dirty="0">
                <a:solidFill>
                  <a:srgbClr val="D97757"/>
                </a:solidFill>
                <a:latin typeface="Meiryo" pitchFamily="34" charset="0"/>
                <a:ea typeface="Meiryo" pitchFamily="34" charset="-122"/>
                <a:cs typeface="Meiryo" pitchFamily="34" charset="-120"/>
              </a:rPr>
              <a:t>Q1</a:t>
            </a:r>
            <a:endParaRPr lang="en-US" sz="1100" dirty="0"/>
          </a:p>
        </p:txBody>
      </p:sp>
      <p:sp>
        <p:nvSpPr>
          <p:cNvPr id="25" name="Text 20"/>
          <p:cNvSpPr/>
          <p:nvPr/>
        </p:nvSpPr>
        <p:spPr>
          <a:xfrm>
            <a:off x="1097280" y="4498848"/>
            <a:ext cx="5394960" cy="292608"/>
          </a:xfrm>
          <a:prstGeom prst="rect">
            <a:avLst/>
          </a:prstGeom>
          <a:noFill/>
          <a:ln/>
        </p:spPr>
        <p:txBody>
          <a:bodyPr wrap="square" lIns="0" tIns="0" rIns="0" bIns="0" rtlCol="0" anchor="ctr"/>
          <a:lstStyle/>
          <a:p>
            <a:pPr indent="0" marL="0">
              <a:buNone/>
            </a:pPr>
            <a:r>
              <a:rPr lang="en-US" sz="1150" dirty="0">
                <a:solidFill>
                  <a:srgbClr val="4A4943"/>
                </a:solidFill>
                <a:latin typeface="Meiryo" pitchFamily="34" charset="0"/>
                <a:ea typeface="Meiryo" pitchFamily="34" charset="-122"/>
                <a:cs typeface="Meiryo" pitchFamily="34" charset="-120"/>
              </a:rPr>
              <a:t>入る前に不安だったことは何でしたか？</a:t>
            </a:r>
            <a:endParaRPr lang="en-US" sz="1150" dirty="0"/>
          </a:p>
        </p:txBody>
      </p:sp>
      <p:sp>
        <p:nvSpPr>
          <p:cNvPr id="26" name="Text 21"/>
          <p:cNvSpPr/>
          <p:nvPr/>
        </p:nvSpPr>
        <p:spPr>
          <a:xfrm>
            <a:off x="640080" y="4818888"/>
            <a:ext cx="411480" cy="292608"/>
          </a:xfrm>
          <a:prstGeom prst="rect">
            <a:avLst/>
          </a:prstGeom>
          <a:noFill/>
          <a:ln/>
        </p:spPr>
        <p:txBody>
          <a:bodyPr wrap="square" lIns="0" tIns="0" rIns="0" bIns="0" rtlCol="0" anchor="ctr"/>
          <a:lstStyle/>
          <a:p>
            <a:pPr indent="0" marL="0">
              <a:buNone/>
            </a:pPr>
            <a:r>
              <a:rPr lang="en-US" sz="1100" b="1" dirty="0">
                <a:solidFill>
                  <a:srgbClr val="D97757"/>
                </a:solidFill>
                <a:latin typeface="Meiryo" pitchFamily="34" charset="0"/>
                <a:ea typeface="Meiryo" pitchFamily="34" charset="-122"/>
                <a:cs typeface="Meiryo" pitchFamily="34" charset="-120"/>
              </a:rPr>
              <a:t>Q2</a:t>
            </a:r>
            <a:endParaRPr lang="en-US" sz="1100" dirty="0"/>
          </a:p>
        </p:txBody>
      </p:sp>
      <p:sp>
        <p:nvSpPr>
          <p:cNvPr id="27" name="Text 22"/>
          <p:cNvSpPr/>
          <p:nvPr/>
        </p:nvSpPr>
        <p:spPr>
          <a:xfrm>
            <a:off x="1097280" y="4818888"/>
            <a:ext cx="5394960" cy="292608"/>
          </a:xfrm>
          <a:prstGeom prst="rect">
            <a:avLst/>
          </a:prstGeom>
          <a:noFill/>
          <a:ln/>
        </p:spPr>
        <p:txBody>
          <a:bodyPr wrap="square" lIns="0" tIns="0" rIns="0" bIns="0" rtlCol="0" anchor="ctr"/>
          <a:lstStyle/>
          <a:p>
            <a:pPr indent="0" marL="0">
              <a:buNone/>
            </a:pPr>
            <a:r>
              <a:rPr lang="en-US" sz="1150" dirty="0">
                <a:solidFill>
                  <a:srgbClr val="4A4943"/>
                </a:solidFill>
                <a:latin typeface="Meiryo" pitchFamily="34" charset="0"/>
                <a:ea typeface="Meiryo" pitchFamily="34" charset="-122"/>
                <a:cs typeface="Meiryo" pitchFamily="34" charset="-120"/>
              </a:rPr>
              <a:t>実際に入ってみて、その不安はどうなりましたか？</a:t>
            </a:r>
            <a:endParaRPr lang="en-US" sz="1150" dirty="0"/>
          </a:p>
        </p:txBody>
      </p:sp>
      <p:sp>
        <p:nvSpPr>
          <p:cNvPr id="28" name="Text 23"/>
          <p:cNvSpPr/>
          <p:nvPr/>
        </p:nvSpPr>
        <p:spPr>
          <a:xfrm>
            <a:off x="640080" y="5138928"/>
            <a:ext cx="411480" cy="292608"/>
          </a:xfrm>
          <a:prstGeom prst="rect">
            <a:avLst/>
          </a:prstGeom>
          <a:noFill/>
          <a:ln/>
        </p:spPr>
        <p:txBody>
          <a:bodyPr wrap="square" lIns="0" tIns="0" rIns="0" bIns="0" rtlCol="0" anchor="ctr"/>
          <a:lstStyle/>
          <a:p>
            <a:pPr indent="0" marL="0">
              <a:buNone/>
            </a:pPr>
            <a:r>
              <a:rPr lang="en-US" sz="1100" b="1" dirty="0">
                <a:solidFill>
                  <a:srgbClr val="D97757"/>
                </a:solidFill>
                <a:latin typeface="Meiryo" pitchFamily="34" charset="0"/>
                <a:ea typeface="Meiryo" pitchFamily="34" charset="-122"/>
                <a:cs typeface="Meiryo" pitchFamily="34" charset="-120"/>
              </a:rPr>
              <a:t>Q3</a:t>
            </a:r>
            <a:endParaRPr lang="en-US" sz="1100" dirty="0"/>
          </a:p>
        </p:txBody>
      </p:sp>
      <p:sp>
        <p:nvSpPr>
          <p:cNvPr id="29" name="Text 24"/>
          <p:cNvSpPr/>
          <p:nvPr/>
        </p:nvSpPr>
        <p:spPr>
          <a:xfrm>
            <a:off x="1097280" y="5138928"/>
            <a:ext cx="5394960" cy="292608"/>
          </a:xfrm>
          <a:prstGeom prst="rect">
            <a:avLst/>
          </a:prstGeom>
          <a:noFill/>
          <a:ln/>
        </p:spPr>
        <p:txBody>
          <a:bodyPr wrap="square" lIns="0" tIns="0" rIns="0" bIns="0" rtlCol="0" anchor="ctr"/>
          <a:lstStyle/>
          <a:p>
            <a:pPr indent="0" marL="0">
              <a:buNone/>
            </a:pPr>
            <a:r>
              <a:rPr lang="en-US" sz="1150" dirty="0">
                <a:solidFill>
                  <a:srgbClr val="4A4943"/>
                </a:solidFill>
                <a:latin typeface="Meiryo" pitchFamily="34" charset="0"/>
                <a:ea typeface="Meiryo" pitchFamily="34" charset="-122"/>
                <a:cs typeface="Meiryo" pitchFamily="34" charset="-120"/>
              </a:rPr>
              <a:t>この職場で「いいな」と思う瞬間はいつですか？</a:t>
            </a:r>
            <a:endParaRPr lang="en-US" sz="1150" dirty="0"/>
          </a:p>
        </p:txBody>
      </p:sp>
      <p:sp>
        <p:nvSpPr>
          <p:cNvPr id="30" name="Text 25"/>
          <p:cNvSpPr/>
          <p:nvPr/>
        </p:nvSpPr>
        <p:spPr>
          <a:xfrm>
            <a:off x="640080" y="5458968"/>
            <a:ext cx="411480" cy="292608"/>
          </a:xfrm>
          <a:prstGeom prst="rect">
            <a:avLst/>
          </a:prstGeom>
          <a:noFill/>
          <a:ln/>
        </p:spPr>
        <p:txBody>
          <a:bodyPr wrap="square" lIns="0" tIns="0" rIns="0" bIns="0" rtlCol="0" anchor="ctr"/>
          <a:lstStyle/>
          <a:p>
            <a:pPr indent="0" marL="0">
              <a:buNone/>
            </a:pPr>
            <a:r>
              <a:rPr lang="en-US" sz="1100" b="1" dirty="0">
                <a:solidFill>
                  <a:srgbClr val="D97757"/>
                </a:solidFill>
                <a:latin typeface="Meiryo" pitchFamily="34" charset="0"/>
                <a:ea typeface="Meiryo" pitchFamily="34" charset="-122"/>
                <a:cs typeface="Meiryo" pitchFamily="34" charset="-120"/>
              </a:rPr>
              <a:t>Q4</a:t>
            </a:r>
            <a:endParaRPr lang="en-US" sz="1100" dirty="0"/>
          </a:p>
        </p:txBody>
      </p:sp>
      <p:sp>
        <p:nvSpPr>
          <p:cNvPr id="31" name="Text 26"/>
          <p:cNvSpPr/>
          <p:nvPr/>
        </p:nvSpPr>
        <p:spPr>
          <a:xfrm>
            <a:off x="1097280" y="5458968"/>
            <a:ext cx="5394960" cy="292608"/>
          </a:xfrm>
          <a:prstGeom prst="rect">
            <a:avLst/>
          </a:prstGeom>
          <a:noFill/>
          <a:ln/>
        </p:spPr>
        <p:txBody>
          <a:bodyPr wrap="square" lIns="0" tIns="0" rIns="0" bIns="0" rtlCol="0" anchor="ctr"/>
          <a:lstStyle/>
          <a:p>
            <a:pPr indent="0" marL="0">
              <a:buNone/>
            </a:pPr>
            <a:r>
              <a:rPr lang="en-US" sz="1150" dirty="0">
                <a:solidFill>
                  <a:srgbClr val="4A4943"/>
                </a:solidFill>
                <a:latin typeface="Meiryo" pitchFamily="34" charset="0"/>
                <a:ea typeface="Meiryo" pitchFamily="34" charset="-122"/>
                <a:cs typeface="Meiryo" pitchFamily="34" charset="-120"/>
              </a:rPr>
              <a:t>1 日のうち、いちばん好きな時間は？</a:t>
            </a:r>
            <a:endParaRPr lang="en-US" sz="1150" dirty="0"/>
          </a:p>
        </p:txBody>
      </p:sp>
      <p:sp>
        <p:nvSpPr>
          <p:cNvPr id="32" name="Text 27"/>
          <p:cNvSpPr/>
          <p:nvPr/>
        </p:nvSpPr>
        <p:spPr>
          <a:xfrm>
            <a:off x="640080" y="5779008"/>
            <a:ext cx="411480" cy="292608"/>
          </a:xfrm>
          <a:prstGeom prst="rect">
            <a:avLst/>
          </a:prstGeom>
          <a:noFill/>
          <a:ln/>
        </p:spPr>
        <p:txBody>
          <a:bodyPr wrap="square" lIns="0" tIns="0" rIns="0" bIns="0" rtlCol="0" anchor="ctr"/>
          <a:lstStyle/>
          <a:p>
            <a:pPr indent="0" marL="0">
              <a:buNone/>
            </a:pPr>
            <a:r>
              <a:rPr lang="en-US" sz="1100" b="1" dirty="0">
                <a:solidFill>
                  <a:srgbClr val="D97757"/>
                </a:solidFill>
                <a:latin typeface="Meiryo" pitchFamily="34" charset="0"/>
                <a:ea typeface="Meiryo" pitchFamily="34" charset="-122"/>
                <a:cs typeface="Meiryo" pitchFamily="34" charset="-120"/>
              </a:rPr>
              <a:t>Q5</a:t>
            </a:r>
            <a:endParaRPr lang="en-US" sz="1100" dirty="0"/>
          </a:p>
        </p:txBody>
      </p:sp>
      <p:sp>
        <p:nvSpPr>
          <p:cNvPr id="33" name="Text 28"/>
          <p:cNvSpPr/>
          <p:nvPr/>
        </p:nvSpPr>
        <p:spPr>
          <a:xfrm>
            <a:off x="1097280" y="5779008"/>
            <a:ext cx="5394960" cy="292608"/>
          </a:xfrm>
          <a:prstGeom prst="rect">
            <a:avLst/>
          </a:prstGeom>
          <a:noFill/>
          <a:ln/>
        </p:spPr>
        <p:txBody>
          <a:bodyPr wrap="square" lIns="0" tIns="0" rIns="0" bIns="0" rtlCol="0" anchor="ctr"/>
          <a:lstStyle/>
          <a:p>
            <a:pPr indent="0" marL="0">
              <a:buNone/>
            </a:pPr>
            <a:r>
              <a:rPr lang="en-US" sz="1150" dirty="0">
                <a:solidFill>
                  <a:srgbClr val="4A4943"/>
                </a:solidFill>
                <a:latin typeface="Meiryo" pitchFamily="34" charset="0"/>
                <a:ea typeface="Meiryo" pitchFamily="34" charset="-122"/>
                <a:cs typeface="Meiryo" pitchFamily="34" charset="-120"/>
              </a:rPr>
              <a:t>どんな人と一緒に働きたいですか？</a:t>
            </a:r>
            <a:endParaRPr lang="en-US" sz="1150" dirty="0"/>
          </a:p>
        </p:txBody>
      </p:sp>
      <p:sp>
        <p:nvSpPr>
          <p:cNvPr id="34" name="Shape 29"/>
          <p:cNvSpPr/>
          <p:nvPr/>
        </p:nvSpPr>
        <p:spPr>
          <a:xfrm>
            <a:off x="6949440" y="4114800"/>
            <a:ext cx="4572000" cy="1965960"/>
          </a:xfrm>
          <a:prstGeom prst="roundRect">
            <a:avLst>
              <a:gd name="adj" fmla="val 2791"/>
            </a:avLst>
          </a:prstGeom>
          <a:solidFill>
            <a:srgbClr val="E7ECDD"/>
          </a:solidFill>
          <a:ln w="12700">
            <a:solidFill>
              <a:srgbClr val="788C5D"/>
            </a:solidFill>
            <a:prstDash val="solid"/>
          </a:ln>
        </p:spPr>
      </p:sp>
      <p:pic>
        <p:nvPicPr>
          <p:cNvPr id="35" name="Image 3" descr="preencoded.png">    </p:cNvPr>
          <p:cNvPicPr>
            <a:picLocks noChangeAspect="1"/>
          </p:cNvPicPr>
          <p:nvPr/>
        </p:nvPicPr>
        <p:blipFill>
          <a:blip r:embed="rId4"/>
          <a:stretch>
            <a:fillRect/>
          </a:stretch>
        </p:blipFill>
        <p:spPr>
          <a:xfrm>
            <a:off x="7223760" y="4315968"/>
            <a:ext cx="292608" cy="292608"/>
          </a:xfrm>
          <a:prstGeom prst="rect">
            <a:avLst/>
          </a:prstGeom>
        </p:spPr>
      </p:pic>
      <p:sp>
        <p:nvSpPr>
          <p:cNvPr id="36" name="Text 30"/>
          <p:cNvSpPr/>
          <p:nvPr/>
        </p:nvSpPr>
        <p:spPr>
          <a:xfrm>
            <a:off x="7607808" y="4315968"/>
            <a:ext cx="3657600" cy="292608"/>
          </a:xfrm>
          <a:prstGeom prst="rect">
            <a:avLst/>
          </a:prstGeom>
          <a:noFill/>
          <a:ln/>
        </p:spPr>
        <p:txBody>
          <a:bodyPr wrap="square" lIns="0" tIns="0" rIns="0" bIns="0" rtlCol="0" anchor="ctr"/>
          <a:lstStyle/>
          <a:p>
            <a:pPr indent="0" marL="0">
              <a:buNone/>
            </a:pPr>
            <a:r>
              <a:rPr lang="en-US" sz="1350" b="1" dirty="0">
                <a:solidFill>
                  <a:srgbClr val="788C5D"/>
                </a:solidFill>
                <a:latin typeface="Meiryo" pitchFamily="34" charset="0"/>
                <a:ea typeface="Meiryo" pitchFamily="34" charset="-122"/>
                <a:cs typeface="Meiryo" pitchFamily="34" charset="-120"/>
              </a:rPr>
              <a:t>編集は AI に任せる</a:t>
            </a:r>
            <a:endParaRPr lang="en-US" sz="1350" dirty="0"/>
          </a:p>
        </p:txBody>
      </p:sp>
      <p:sp>
        <p:nvSpPr>
          <p:cNvPr id="37" name="Text 31"/>
          <p:cNvSpPr/>
          <p:nvPr/>
        </p:nvSpPr>
        <p:spPr>
          <a:xfrm>
            <a:off x="7223760" y="4709160"/>
            <a:ext cx="4023360" cy="1234440"/>
          </a:xfrm>
          <a:prstGeom prst="rect">
            <a:avLst/>
          </a:prstGeom>
          <a:noFill/>
          <a:ln/>
        </p:spPr>
        <p:txBody>
          <a:bodyPr wrap="square" lIns="0" tIns="0" rIns="0" bIns="0" rtlCol="0" anchor="t"/>
          <a:lstStyle/>
          <a:p>
            <a:pPr indent="0" marL="0">
              <a:lnSpc>
                <a:spcPts val="1900"/>
              </a:lnSpc>
              <a:buNone/>
            </a:pPr>
            <a:r>
              <a:rPr lang="en-US" sz="1100" dirty="0">
                <a:solidFill>
                  <a:srgbClr val="4A4943"/>
                </a:solidFill>
                <a:latin typeface="Meiryo" pitchFamily="34" charset="0"/>
                <a:ea typeface="Meiryo" pitchFamily="34" charset="-122"/>
                <a:cs typeface="Meiryo" pitchFamily="34" charset="-120"/>
              </a:rPr>
              <a:t>① 撮った動画を文字起こしする</a:t>
            </a:r>
            <a:endParaRPr lang="en-US" sz="1100" dirty="0"/>
          </a:p>
          <a:p>
            <a:pPr indent="0" marL="0">
              <a:lnSpc>
                <a:spcPts val="1900"/>
              </a:lnSpc>
              <a:buNone/>
            </a:pPr>
            <a:r>
              <a:rPr lang="en-US" sz="1100" dirty="0">
                <a:solidFill>
                  <a:srgbClr val="4A4943"/>
                </a:solidFill>
                <a:latin typeface="Meiryo" pitchFamily="34" charset="0"/>
                <a:ea typeface="Meiryo" pitchFamily="34" charset="-122"/>
                <a:cs typeface="Meiryo" pitchFamily="34" charset="-120"/>
              </a:rPr>
              <a:t>② 一番いい 30〜40 秒をどこか選ばせる</a:t>
            </a:r>
            <a:endParaRPr lang="en-US" sz="1100" dirty="0"/>
          </a:p>
          <a:p>
            <a:pPr indent="0" marL="0">
              <a:lnSpc>
                <a:spcPts val="1900"/>
              </a:lnSpc>
              <a:buNone/>
            </a:pPr>
            <a:r>
              <a:rPr lang="en-US" sz="1100" dirty="0">
                <a:solidFill>
                  <a:srgbClr val="4A4943"/>
                </a:solidFill>
                <a:latin typeface="Meiryo" pitchFamily="34" charset="0"/>
                <a:ea typeface="Meiryo" pitchFamily="34" charset="-122"/>
                <a:cs typeface="Meiryo" pitchFamily="34" charset="-120"/>
              </a:rPr>
              <a:t>③ 字幕テキストを整える（言い間違いだけ直す）</a:t>
            </a:r>
            <a:endParaRPr lang="en-US" sz="1100" dirty="0"/>
          </a:p>
          <a:p>
            <a:pPr indent="0" marL="0">
              <a:lnSpc>
                <a:spcPts val="1900"/>
              </a:lnSpc>
              <a:buNone/>
            </a:pPr>
            <a:r>
              <a:rPr lang="en-US" sz="1100" dirty="0">
                <a:solidFill>
                  <a:srgbClr val="4A4943"/>
                </a:solidFill>
                <a:latin typeface="Meiryo" pitchFamily="34" charset="0"/>
                <a:ea typeface="Meiryo" pitchFamily="34" charset="-122"/>
                <a:cs typeface="Meiryo" pitchFamily="34" charset="-120"/>
              </a:rPr>
              <a:t>④ 求人ページ用の紹介文を 3 案つくらせる</a:t>
            </a:r>
            <a:endParaRPr lang="en-US" sz="11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AF9F5"/>
        </a:solidFill>
      </p:bgPr>
    </p:bg>
    <p:spTree>
      <p:nvGrpSpPr>
        <p:cNvPr id="1" name=""/>
        <p:cNvGrpSpPr/>
        <p:nvPr/>
      </p:nvGrpSpPr>
      <p:grpSpPr>
        <a:xfrm>
          <a:off x="0" y="0"/>
          <a:ext cx="0" cy="0"/>
          <a:chOff x="0" y="0"/>
          <a:chExt cx="0" cy="0"/>
        </a:xfrm>
      </p:grpSpPr>
      <p:sp>
        <p:nvSpPr>
          <p:cNvPr id="2" name="Shape 0"/>
          <p:cNvSpPr/>
          <p:nvPr/>
        </p:nvSpPr>
        <p:spPr>
          <a:xfrm>
            <a:off x="640080" y="347472"/>
            <a:ext cx="1783080" cy="329184"/>
          </a:xfrm>
          <a:prstGeom prst="roundRect">
            <a:avLst>
              <a:gd name="adj" fmla="val 13889"/>
            </a:avLst>
          </a:prstGeom>
          <a:solidFill>
            <a:srgbClr val="D97757"/>
          </a:solidFill>
          <a:ln/>
        </p:spPr>
      </p:sp>
      <p:sp>
        <p:nvSpPr>
          <p:cNvPr id="3" name="Text 1"/>
          <p:cNvSpPr/>
          <p:nvPr/>
        </p:nvSpPr>
        <p:spPr>
          <a:xfrm>
            <a:off x="640080" y="347472"/>
            <a:ext cx="1783080" cy="329184"/>
          </a:xfrm>
          <a:prstGeom prst="rect">
            <a:avLst/>
          </a:prstGeom>
          <a:noFill/>
          <a:ln/>
        </p:spPr>
        <p:txBody>
          <a:bodyPr wrap="square" lIns="0" tIns="0" rIns="0" bIns="0" rtlCol="0" anchor="ctr"/>
          <a:lstStyle/>
          <a:p>
            <a:pPr algn="ctr" indent="0" marL="0">
              <a:buNone/>
            </a:pPr>
            <a:r>
              <a:rPr lang="en-US" sz="1150" b="1" spc="100" kern="0" dirty="0">
                <a:solidFill>
                  <a:srgbClr val="FFFFFF"/>
                </a:solidFill>
                <a:latin typeface="Meiryo" pitchFamily="34" charset="0"/>
                <a:ea typeface="Meiryo" pitchFamily="34" charset="-122"/>
                <a:cs typeface="Meiryo" pitchFamily="34" charset="-120"/>
              </a:rPr>
              <a:t>MODULE 5</a:t>
            </a:r>
            <a:endParaRPr lang="en-US" sz="1150" dirty="0"/>
          </a:p>
        </p:txBody>
      </p:sp>
      <p:sp>
        <p:nvSpPr>
          <p:cNvPr id="4" name="Text 2"/>
          <p:cNvSpPr/>
          <p:nvPr/>
        </p:nvSpPr>
        <p:spPr>
          <a:xfrm>
            <a:off x="640080" y="768096"/>
            <a:ext cx="10881360" cy="566928"/>
          </a:xfrm>
          <a:prstGeom prst="rect">
            <a:avLst/>
          </a:prstGeom>
          <a:noFill/>
          <a:ln/>
        </p:spPr>
        <p:txBody>
          <a:bodyPr wrap="square" lIns="0" tIns="0" rIns="0" bIns="0" rtlCol="0" anchor="ctr"/>
          <a:lstStyle/>
          <a:p>
            <a:pPr indent="0" marL="0">
              <a:buNone/>
            </a:pPr>
            <a:r>
              <a:rPr lang="en-US" sz="2700" b="1" dirty="0">
                <a:solidFill>
                  <a:srgbClr val="141413"/>
                </a:solidFill>
                <a:latin typeface="Meiryo" pitchFamily="34" charset="0"/>
                <a:ea typeface="Meiryo" pitchFamily="34" charset="-122"/>
                <a:cs typeface="Meiryo" pitchFamily="34" charset="-120"/>
              </a:rPr>
              <a:t>毎週 15 分で回す ｜ 運用ダッシュボード</a:t>
            </a:r>
            <a:endParaRPr lang="en-US" sz="2700" dirty="0"/>
          </a:p>
        </p:txBody>
      </p:sp>
      <p:sp>
        <p:nvSpPr>
          <p:cNvPr id="5" name="Text 3"/>
          <p:cNvSpPr/>
          <p:nvPr/>
        </p:nvSpPr>
        <p:spPr>
          <a:xfrm>
            <a:off x="640080" y="1316736"/>
            <a:ext cx="10881360" cy="329184"/>
          </a:xfrm>
          <a:prstGeom prst="rect">
            <a:avLst/>
          </a:prstGeom>
          <a:noFill/>
          <a:ln/>
        </p:spPr>
        <p:txBody>
          <a:bodyPr wrap="square" lIns="0" tIns="0" rIns="0" bIns="0" rtlCol="0" anchor="ctr"/>
          <a:lstStyle/>
          <a:p>
            <a:pPr indent="0" marL="0">
              <a:buNone/>
            </a:pPr>
            <a:r>
              <a:rPr lang="en-US" sz="1300" dirty="0">
                <a:solidFill>
                  <a:srgbClr val="6E6C63"/>
                </a:solidFill>
                <a:latin typeface="Meiryo" pitchFamily="34" charset="0"/>
                <a:ea typeface="Meiryo" pitchFamily="34" charset="-122"/>
                <a:cs typeface="Meiryo" pitchFamily="34" charset="-120"/>
              </a:rPr>
              <a:t>つくって終わりにしないための、いちばん短い会議の型</a:t>
            </a:r>
            <a:endParaRPr lang="en-US" sz="13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640080" y="1828800"/>
          <a:ext cx="10881360" cy="914400"/>
        </p:xfrm>
        <a:graphic>
          <a:graphicData uri="http://schemas.openxmlformats.org/drawingml/2006/table">
            <a:tbl>
              <a:tblPr/>
              <a:tblGrid>
                <a:gridCol w="1965960"/>
                <a:gridCol w="2743200"/>
                <a:gridCol w="1874520"/>
                <a:gridCol w="4297680"/>
              </a:tblGrid>
              <a:tr h="548640">
                <a:tc>
                  <a:txBody>
                    <a:bodyPr/>
                    <a:lstStyle/>
                    <a:p>
                      <a:pPr algn="l" indent="0" marL="0">
                        <a:buNone/>
                      </a:pPr>
                      <a:r>
                        <a:rPr lang="en-US" sz="1100" b="1" dirty="0">
                          <a:solidFill>
                            <a:srgbClr val="FFFFFF"/>
                          </a:solidFill>
                          <a:latin typeface="Meiryo" pitchFamily="34" charset="0"/>
                          <a:ea typeface="Meiryo" pitchFamily="34" charset="-122"/>
                          <a:cs typeface="Meiryo" pitchFamily="34" charset="-120"/>
                        </a:rPr>
                        <a:t>見る数字</a:t>
                      </a:r>
                      <a:endParaRPr lang="en-US" sz="1100" dirty="0">
                        <a:latin typeface="Meiryo" charset="0"/>
                        <a:ea typeface="Meiryo" charset="0"/>
                        <a:cs typeface="Meiryo" charset="0"/>
                      </a:endParaRPr>
                    </a:p>
                  </a:txBody>
                  <a:tcPr marL="76200" marR="76200" marT="76200" marB="76200" anchor="ctr">
                    <a:lnL w="12700" cap="flat" cmpd="sng" algn="ctr">
                      <a:solidFill>
                        <a:srgbClr val="E8E6DC"/>
                      </a:solidFill>
                      <a:prstDash val="solid"/>
                      <a:round/>
                      <a:headEnd type="none" w="med" len="med"/>
                      <a:tailEnd type="none" w="med" len="med"/>
                    </a:lnL>
                    <a:lnR w="12700" cap="flat" cmpd="sng" algn="ctr">
                      <a:solidFill>
                        <a:srgbClr val="E8E6DC"/>
                      </a:solidFill>
                      <a:prstDash val="solid"/>
                      <a:round/>
                      <a:headEnd type="none" w="med" len="med"/>
                      <a:tailEnd type="none" w="med" len="med"/>
                    </a:lnR>
                    <a:lnT w="12700" cap="flat" cmpd="sng" algn="ctr">
                      <a:solidFill>
                        <a:srgbClr val="E8E6DC"/>
                      </a:solidFill>
                      <a:prstDash val="solid"/>
                      <a:round/>
                      <a:headEnd type="none" w="med" len="med"/>
                      <a:tailEnd type="none" w="med" len="med"/>
                    </a:lnT>
                    <a:lnB w="12700" cap="flat" cmpd="sng" algn="ctr">
                      <a:solidFill>
                        <a:srgbClr val="E8E6DC"/>
                      </a:solidFill>
                      <a:prstDash val="solid"/>
                      <a:round/>
                      <a:headEnd type="none" w="med" len="med"/>
                      <a:tailEnd type="none" w="med" len="med"/>
                    </a:lnB>
                    <a:solidFill>
                      <a:srgbClr val="141413"/>
                    </a:solidFill>
                  </a:tcPr>
                </a:tc>
                <a:tc>
                  <a:txBody>
                    <a:bodyPr/>
                    <a:lstStyle/>
                    <a:p>
                      <a:pPr algn="l" indent="0" marL="0">
                        <a:buNone/>
                      </a:pPr>
                      <a:r>
                        <a:rPr lang="en-US" sz="1100" b="1" dirty="0">
                          <a:solidFill>
                            <a:srgbClr val="FFFFFF"/>
                          </a:solidFill>
                          <a:latin typeface="Meiryo" pitchFamily="34" charset="0"/>
                          <a:ea typeface="Meiryo" pitchFamily="34" charset="-122"/>
                          <a:cs typeface="Meiryo" pitchFamily="34" charset="-120"/>
                        </a:rPr>
                        <a:t>どこで取るか</a:t>
                      </a:r>
                      <a:endParaRPr lang="en-US" sz="1100" dirty="0">
                        <a:latin typeface="Meiryo" charset="0"/>
                        <a:ea typeface="Meiryo" charset="0"/>
                        <a:cs typeface="Meiryo" charset="0"/>
                      </a:endParaRPr>
                    </a:p>
                  </a:txBody>
                  <a:tcPr marL="76200" marR="76200" marT="76200" marB="76200" anchor="ctr">
                    <a:lnL w="12700" cap="flat" cmpd="sng" algn="ctr">
                      <a:solidFill>
                        <a:srgbClr val="E8E6DC"/>
                      </a:solidFill>
                      <a:prstDash val="solid"/>
                      <a:round/>
                      <a:headEnd type="none" w="med" len="med"/>
                      <a:tailEnd type="none" w="med" len="med"/>
                    </a:lnL>
                    <a:lnR w="12700" cap="flat" cmpd="sng" algn="ctr">
                      <a:solidFill>
                        <a:srgbClr val="E8E6DC"/>
                      </a:solidFill>
                      <a:prstDash val="solid"/>
                      <a:round/>
                      <a:headEnd type="none" w="med" len="med"/>
                      <a:tailEnd type="none" w="med" len="med"/>
                    </a:lnR>
                    <a:lnT w="12700" cap="flat" cmpd="sng" algn="ctr">
                      <a:solidFill>
                        <a:srgbClr val="E8E6DC"/>
                      </a:solidFill>
                      <a:prstDash val="solid"/>
                      <a:round/>
                      <a:headEnd type="none" w="med" len="med"/>
                      <a:tailEnd type="none" w="med" len="med"/>
                    </a:lnT>
                    <a:lnB w="12700" cap="flat" cmpd="sng" algn="ctr">
                      <a:solidFill>
                        <a:srgbClr val="E8E6DC"/>
                      </a:solidFill>
                      <a:prstDash val="solid"/>
                      <a:round/>
                      <a:headEnd type="none" w="med" len="med"/>
                      <a:tailEnd type="none" w="med" len="med"/>
                    </a:lnB>
                    <a:solidFill>
                      <a:srgbClr val="141413"/>
                    </a:solidFill>
                  </a:tcPr>
                </a:tc>
                <a:tc>
                  <a:txBody>
                    <a:bodyPr/>
                    <a:lstStyle/>
                    <a:p>
                      <a:pPr algn="l" indent="0" marL="0">
                        <a:buNone/>
                      </a:pPr>
                      <a:r>
                        <a:rPr lang="en-US" sz="1100" b="1" dirty="0">
                          <a:solidFill>
                            <a:srgbClr val="FFFFFF"/>
                          </a:solidFill>
                          <a:latin typeface="Meiryo" pitchFamily="34" charset="0"/>
                          <a:ea typeface="Meiryo" pitchFamily="34" charset="-122"/>
                          <a:cs typeface="Meiryo" pitchFamily="34" charset="-120"/>
                        </a:rPr>
                        <a:t>目安</a:t>
                      </a:r>
                      <a:endParaRPr lang="en-US" sz="1100" dirty="0">
                        <a:latin typeface="Meiryo" charset="0"/>
                        <a:ea typeface="Meiryo" charset="0"/>
                        <a:cs typeface="Meiryo" charset="0"/>
                      </a:endParaRPr>
                    </a:p>
                  </a:txBody>
                  <a:tcPr marL="76200" marR="76200" marT="76200" marB="76200" anchor="ctr">
                    <a:lnL w="12700" cap="flat" cmpd="sng" algn="ctr">
                      <a:solidFill>
                        <a:srgbClr val="E8E6DC"/>
                      </a:solidFill>
                      <a:prstDash val="solid"/>
                      <a:round/>
                      <a:headEnd type="none" w="med" len="med"/>
                      <a:tailEnd type="none" w="med" len="med"/>
                    </a:lnL>
                    <a:lnR w="12700" cap="flat" cmpd="sng" algn="ctr">
                      <a:solidFill>
                        <a:srgbClr val="E8E6DC"/>
                      </a:solidFill>
                      <a:prstDash val="solid"/>
                      <a:round/>
                      <a:headEnd type="none" w="med" len="med"/>
                      <a:tailEnd type="none" w="med" len="med"/>
                    </a:lnR>
                    <a:lnT w="12700" cap="flat" cmpd="sng" algn="ctr">
                      <a:solidFill>
                        <a:srgbClr val="E8E6DC"/>
                      </a:solidFill>
                      <a:prstDash val="solid"/>
                      <a:round/>
                      <a:headEnd type="none" w="med" len="med"/>
                      <a:tailEnd type="none" w="med" len="med"/>
                    </a:lnT>
                    <a:lnB w="12700" cap="flat" cmpd="sng" algn="ctr">
                      <a:solidFill>
                        <a:srgbClr val="E8E6DC"/>
                      </a:solidFill>
                      <a:prstDash val="solid"/>
                      <a:round/>
                      <a:headEnd type="none" w="med" len="med"/>
                      <a:tailEnd type="none" w="med" len="med"/>
                    </a:lnB>
                    <a:solidFill>
                      <a:srgbClr val="141413"/>
                    </a:solidFill>
                  </a:tcPr>
                </a:tc>
                <a:tc>
                  <a:txBody>
                    <a:bodyPr/>
                    <a:lstStyle/>
                    <a:p>
                      <a:pPr algn="l" indent="0" marL="0">
                        <a:buNone/>
                      </a:pPr>
                      <a:r>
                        <a:rPr lang="en-US" sz="1100" b="1" dirty="0">
                          <a:solidFill>
                            <a:srgbClr val="FFFFFF"/>
                          </a:solidFill>
                          <a:latin typeface="Meiryo" pitchFamily="34" charset="0"/>
                          <a:ea typeface="Meiryo" pitchFamily="34" charset="-122"/>
                          <a:cs typeface="Meiryo" pitchFamily="34" charset="-120"/>
                        </a:rPr>
                        <a:t>下がっていたら直すところ</a:t>
                      </a:r>
                      <a:endParaRPr lang="en-US" sz="1100" dirty="0">
                        <a:latin typeface="Meiryo" charset="0"/>
                        <a:ea typeface="Meiryo" charset="0"/>
                        <a:cs typeface="Meiryo" charset="0"/>
                      </a:endParaRPr>
                    </a:p>
                  </a:txBody>
                  <a:tcPr marL="76200" marR="76200" marT="76200" marB="76200" anchor="ctr">
                    <a:lnL w="12700" cap="flat" cmpd="sng" algn="ctr">
                      <a:solidFill>
                        <a:srgbClr val="E8E6DC"/>
                      </a:solidFill>
                      <a:prstDash val="solid"/>
                      <a:round/>
                      <a:headEnd type="none" w="med" len="med"/>
                      <a:tailEnd type="none" w="med" len="med"/>
                    </a:lnL>
                    <a:lnR w="12700" cap="flat" cmpd="sng" algn="ctr">
                      <a:solidFill>
                        <a:srgbClr val="E8E6DC"/>
                      </a:solidFill>
                      <a:prstDash val="solid"/>
                      <a:round/>
                      <a:headEnd type="none" w="med" len="med"/>
                      <a:tailEnd type="none" w="med" len="med"/>
                    </a:lnR>
                    <a:lnT w="12700" cap="flat" cmpd="sng" algn="ctr">
                      <a:solidFill>
                        <a:srgbClr val="E8E6DC"/>
                      </a:solidFill>
                      <a:prstDash val="solid"/>
                      <a:round/>
                      <a:headEnd type="none" w="med" len="med"/>
                      <a:tailEnd type="none" w="med" len="med"/>
                    </a:lnT>
                    <a:lnB w="12700" cap="flat" cmpd="sng" algn="ctr">
                      <a:solidFill>
                        <a:srgbClr val="E8E6DC"/>
                      </a:solidFill>
                      <a:prstDash val="solid"/>
                      <a:round/>
                      <a:headEnd type="none" w="med" len="med"/>
                      <a:tailEnd type="none" w="med" len="med"/>
                    </a:lnB>
                    <a:solidFill>
                      <a:srgbClr val="141413"/>
                    </a:solidFill>
                  </a:tcPr>
                </a:tc>
              </a:tr>
              <a:tr h="548640">
                <a:tc>
                  <a:txBody>
                    <a:bodyPr/>
                    <a:lstStyle/>
                    <a:p>
                      <a:pPr algn="l" indent="0" marL="0">
                        <a:buNone/>
                      </a:pPr>
                      <a:r>
                        <a:rPr lang="en-US" sz="1100" dirty="0">
                          <a:solidFill>
                            <a:srgbClr val="4A4943"/>
                          </a:solidFill>
                          <a:latin typeface="Meiryo" pitchFamily="34" charset="0"/>
                          <a:ea typeface="Meiryo" pitchFamily="34" charset="-122"/>
                          <a:cs typeface="Meiryo" pitchFamily="34" charset="-120"/>
                        </a:rPr>
                        <a:t>求人の表示回数</a:t>
                      </a:r>
                      <a:endParaRPr lang="en-US" sz="1100" dirty="0">
                        <a:latin typeface="Meiryo" charset="0"/>
                        <a:ea typeface="Meiryo" charset="0"/>
                        <a:cs typeface="Meiryo" charset="0"/>
                      </a:endParaRPr>
                    </a:p>
                  </a:txBody>
                  <a:tcPr marL="76200" marR="76200" marT="76200" marB="76200" anchor="ctr">
                    <a:lnL w="12700" cap="flat" cmpd="sng" algn="ctr">
                      <a:solidFill>
                        <a:srgbClr val="E8E6DC"/>
                      </a:solidFill>
                      <a:prstDash val="solid"/>
                      <a:round/>
                      <a:headEnd type="none" w="med" len="med"/>
                      <a:tailEnd type="none" w="med" len="med"/>
                    </a:lnL>
                    <a:lnR w="12700" cap="flat" cmpd="sng" algn="ctr">
                      <a:solidFill>
                        <a:srgbClr val="E8E6DC"/>
                      </a:solidFill>
                      <a:prstDash val="solid"/>
                      <a:round/>
                      <a:headEnd type="none" w="med" len="med"/>
                      <a:tailEnd type="none" w="med" len="med"/>
                    </a:lnR>
                    <a:lnT w="12700" cap="flat" cmpd="sng" algn="ctr">
                      <a:solidFill>
                        <a:srgbClr val="E8E6DC"/>
                      </a:solidFill>
                      <a:prstDash val="solid"/>
                      <a:round/>
                      <a:headEnd type="none" w="med" len="med"/>
                      <a:tailEnd type="none" w="med" len="med"/>
                    </a:lnT>
                    <a:lnB w="12700" cap="flat" cmpd="sng" algn="ctr">
                      <a:solidFill>
                        <a:srgbClr val="E8E6DC"/>
                      </a:solidFill>
                      <a:prstDash val="solid"/>
                      <a:round/>
                      <a:headEnd type="none" w="med" len="med"/>
                      <a:tailEnd type="none" w="med" len="med"/>
                    </a:lnB>
                  </a:tcPr>
                </a:tc>
                <a:tc>
                  <a:txBody>
                    <a:bodyPr/>
                    <a:lstStyle/>
                    <a:p>
                      <a:pPr algn="l" indent="0" marL="0">
                        <a:buNone/>
                      </a:pPr>
                      <a:r>
                        <a:rPr lang="en-US" sz="1100" dirty="0">
                          <a:solidFill>
                            <a:srgbClr val="4A4943"/>
                          </a:solidFill>
                          <a:latin typeface="Meiryo" pitchFamily="34" charset="0"/>
                          <a:ea typeface="Meiryo" pitchFamily="34" charset="-122"/>
                          <a:cs typeface="Meiryo" pitchFamily="34" charset="-120"/>
                        </a:rPr>
                        <a:t>Engage / Indeed の管理画面</a:t>
                      </a:r>
                      <a:endParaRPr lang="en-US" sz="1100" dirty="0">
                        <a:latin typeface="Meiryo" charset="0"/>
                        <a:ea typeface="Meiryo" charset="0"/>
                        <a:cs typeface="Meiryo" charset="0"/>
                      </a:endParaRPr>
                    </a:p>
                  </a:txBody>
                  <a:tcPr marL="76200" marR="76200" marT="76200" marB="76200" anchor="ctr">
                    <a:lnL w="12700" cap="flat" cmpd="sng" algn="ctr">
                      <a:solidFill>
                        <a:srgbClr val="E8E6DC"/>
                      </a:solidFill>
                      <a:prstDash val="solid"/>
                      <a:round/>
                      <a:headEnd type="none" w="med" len="med"/>
                      <a:tailEnd type="none" w="med" len="med"/>
                    </a:lnL>
                    <a:lnR w="12700" cap="flat" cmpd="sng" algn="ctr">
                      <a:solidFill>
                        <a:srgbClr val="E8E6DC"/>
                      </a:solidFill>
                      <a:prstDash val="solid"/>
                      <a:round/>
                      <a:headEnd type="none" w="med" len="med"/>
                      <a:tailEnd type="none" w="med" len="med"/>
                    </a:lnR>
                    <a:lnT w="12700" cap="flat" cmpd="sng" algn="ctr">
                      <a:solidFill>
                        <a:srgbClr val="E8E6DC"/>
                      </a:solidFill>
                      <a:prstDash val="solid"/>
                      <a:round/>
                      <a:headEnd type="none" w="med" len="med"/>
                      <a:tailEnd type="none" w="med" len="med"/>
                    </a:lnT>
                    <a:lnB w="12700" cap="flat" cmpd="sng" algn="ctr">
                      <a:solidFill>
                        <a:srgbClr val="E8E6DC"/>
                      </a:solidFill>
                      <a:prstDash val="solid"/>
                      <a:round/>
                      <a:headEnd type="none" w="med" len="med"/>
                      <a:tailEnd type="none" w="med" len="med"/>
                    </a:lnB>
                  </a:tcPr>
                </a:tc>
                <a:tc>
                  <a:txBody>
                    <a:bodyPr/>
                    <a:lstStyle/>
                    <a:p>
                      <a:pPr algn="l" indent="0" marL="0">
                        <a:buNone/>
                      </a:pPr>
                      <a:r>
                        <a:rPr lang="en-US" sz="1100" dirty="0">
                          <a:solidFill>
                            <a:srgbClr val="4A4943"/>
                          </a:solidFill>
                          <a:latin typeface="Meiryo" pitchFamily="34" charset="0"/>
                          <a:ea typeface="Meiryo" pitchFamily="34" charset="-122"/>
                          <a:cs typeface="Meiryo" pitchFamily="34" charset="-120"/>
                        </a:rPr>
                        <a:t>前週比 ±20% 以内</a:t>
                      </a:r>
                      <a:endParaRPr lang="en-US" sz="1100" dirty="0">
                        <a:latin typeface="Meiryo" charset="0"/>
                        <a:ea typeface="Meiryo" charset="0"/>
                        <a:cs typeface="Meiryo" charset="0"/>
                      </a:endParaRPr>
                    </a:p>
                  </a:txBody>
                  <a:tcPr marL="76200" marR="76200" marT="76200" marB="76200" anchor="ctr">
                    <a:lnL w="12700" cap="flat" cmpd="sng" algn="ctr">
                      <a:solidFill>
                        <a:srgbClr val="E8E6DC"/>
                      </a:solidFill>
                      <a:prstDash val="solid"/>
                      <a:round/>
                      <a:headEnd type="none" w="med" len="med"/>
                      <a:tailEnd type="none" w="med" len="med"/>
                    </a:lnL>
                    <a:lnR w="12700" cap="flat" cmpd="sng" algn="ctr">
                      <a:solidFill>
                        <a:srgbClr val="E8E6DC"/>
                      </a:solidFill>
                      <a:prstDash val="solid"/>
                      <a:round/>
                      <a:headEnd type="none" w="med" len="med"/>
                      <a:tailEnd type="none" w="med" len="med"/>
                    </a:lnR>
                    <a:lnT w="12700" cap="flat" cmpd="sng" algn="ctr">
                      <a:solidFill>
                        <a:srgbClr val="E8E6DC"/>
                      </a:solidFill>
                      <a:prstDash val="solid"/>
                      <a:round/>
                      <a:headEnd type="none" w="med" len="med"/>
                      <a:tailEnd type="none" w="med" len="med"/>
                    </a:lnT>
                    <a:lnB w="12700" cap="flat" cmpd="sng" algn="ctr">
                      <a:solidFill>
                        <a:srgbClr val="E8E6DC"/>
                      </a:solidFill>
                      <a:prstDash val="solid"/>
                      <a:round/>
                      <a:headEnd type="none" w="med" len="med"/>
                      <a:tailEnd type="none" w="med" len="med"/>
                    </a:lnB>
                  </a:tcPr>
                </a:tc>
                <a:tc>
                  <a:txBody>
                    <a:bodyPr/>
                    <a:lstStyle/>
                    <a:p>
                      <a:pPr algn="l" indent="0" marL="0">
                        <a:buNone/>
                      </a:pPr>
                      <a:r>
                        <a:rPr lang="en-US" sz="1100" dirty="0">
                          <a:solidFill>
                            <a:srgbClr val="4A4943"/>
                          </a:solidFill>
                          <a:latin typeface="Meiryo" pitchFamily="34" charset="0"/>
                          <a:ea typeface="Meiryo" pitchFamily="34" charset="-122"/>
                          <a:cs typeface="Meiryo" pitchFamily="34" charset="-120"/>
                        </a:rPr>
                        <a:t>職種名と勤務地の書き方、掲載チャネルの数</a:t>
                      </a:r>
                      <a:endParaRPr lang="en-US" sz="1100" dirty="0">
                        <a:latin typeface="Meiryo" charset="0"/>
                        <a:ea typeface="Meiryo" charset="0"/>
                        <a:cs typeface="Meiryo" charset="0"/>
                      </a:endParaRPr>
                    </a:p>
                  </a:txBody>
                  <a:tcPr marL="76200" marR="76200" marT="76200" marB="76200" anchor="ctr">
                    <a:lnL w="12700" cap="flat" cmpd="sng" algn="ctr">
                      <a:solidFill>
                        <a:srgbClr val="E8E6DC"/>
                      </a:solidFill>
                      <a:prstDash val="solid"/>
                      <a:round/>
                      <a:headEnd type="none" w="med" len="med"/>
                      <a:tailEnd type="none" w="med" len="med"/>
                    </a:lnL>
                    <a:lnR w="12700" cap="flat" cmpd="sng" algn="ctr">
                      <a:solidFill>
                        <a:srgbClr val="E8E6DC"/>
                      </a:solidFill>
                      <a:prstDash val="solid"/>
                      <a:round/>
                      <a:headEnd type="none" w="med" len="med"/>
                      <a:tailEnd type="none" w="med" len="med"/>
                    </a:lnR>
                    <a:lnT w="12700" cap="flat" cmpd="sng" algn="ctr">
                      <a:solidFill>
                        <a:srgbClr val="E8E6DC"/>
                      </a:solidFill>
                      <a:prstDash val="solid"/>
                      <a:round/>
                      <a:headEnd type="none" w="med" len="med"/>
                      <a:tailEnd type="none" w="med" len="med"/>
                    </a:lnT>
                    <a:lnB w="12700" cap="flat" cmpd="sng" algn="ctr">
                      <a:solidFill>
                        <a:srgbClr val="E8E6DC"/>
                      </a:solidFill>
                      <a:prstDash val="solid"/>
                      <a:round/>
                      <a:headEnd type="none" w="med" len="med"/>
                      <a:tailEnd type="none" w="med" len="med"/>
                    </a:lnB>
                  </a:tcPr>
                </a:tc>
              </a:tr>
              <a:tr h="548640">
                <a:tc>
                  <a:txBody>
                    <a:bodyPr/>
                    <a:lstStyle/>
                    <a:p>
                      <a:pPr algn="l" indent="0" marL="0">
                        <a:buNone/>
                      </a:pPr>
                      <a:r>
                        <a:rPr lang="en-US" sz="1100" dirty="0">
                          <a:solidFill>
                            <a:srgbClr val="4A4943"/>
                          </a:solidFill>
                          <a:latin typeface="Meiryo" pitchFamily="34" charset="0"/>
                          <a:ea typeface="Meiryo" pitchFamily="34" charset="-122"/>
                          <a:cs typeface="Meiryo" pitchFamily="34" charset="-120"/>
                        </a:rPr>
                        <a:t>ページの閲覧数</a:t>
                      </a:r>
                      <a:endParaRPr lang="en-US" sz="1100" dirty="0">
                        <a:latin typeface="Meiryo" charset="0"/>
                        <a:ea typeface="Meiryo" charset="0"/>
                        <a:cs typeface="Meiryo" charset="0"/>
                      </a:endParaRPr>
                    </a:p>
                  </a:txBody>
                  <a:tcPr marL="76200" marR="76200" marT="76200" marB="76200" anchor="ctr">
                    <a:lnL w="12700" cap="flat" cmpd="sng" algn="ctr">
                      <a:solidFill>
                        <a:srgbClr val="E8E6DC"/>
                      </a:solidFill>
                      <a:prstDash val="solid"/>
                      <a:round/>
                      <a:headEnd type="none" w="med" len="med"/>
                      <a:tailEnd type="none" w="med" len="med"/>
                    </a:lnL>
                    <a:lnR w="12700" cap="flat" cmpd="sng" algn="ctr">
                      <a:solidFill>
                        <a:srgbClr val="E8E6DC"/>
                      </a:solidFill>
                      <a:prstDash val="solid"/>
                      <a:round/>
                      <a:headEnd type="none" w="med" len="med"/>
                      <a:tailEnd type="none" w="med" len="med"/>
                    </a:lnR>
                    <a:lnT w="12700" cap="flat" cmpd="sng" algn="ctr">
                      <a:solidFill>
                        <a:srgbClr val="E8E6DC"/>
                      </a:solidFill>
                      <a:prstDash val="solid"/>
                      <a:round/>
                      <a:headEnd type="none" w="med" len="med"/>
                      <a:tailEnd type="none" w="med" len="med"/>
                    </a:lnT>
                    <a:lnB w="12700" cap="flat" cmpd="sng" algn="ctr">
                      <a:solidFill>
                        <a:srgbClr val="E8E6DC"/>
                      </a:solidFill>
                      <a:prstDash val="solid"/>
                      <a:round/>
                      <a:headEnd type="none" w="med" len="med"/>
                      <a:tailEnd type="none" w="med" len="med"/>
                    </a:lnB>
                  </a:tcPr>
                </a:tc>
                <a:tc>
                  <a:txBody>
                    <a:bodyPr/>
                    <a:lstStyle/>
                    <a:p>
                      <a:pPr algn="l" indent="0" marL="0">
                        <a:buNone/>
                      </a:pPr>
                      <a:r>
                        <a:rPr lang="en-US" sz="1100" dirty="0">
                          <a:solidFill>
                            <a:srgbClr val="4A4943"/>
                          </a:solidFill>
                          <a:latin typeface="Meiryo" pitchFamily="34" charset="0"/>
                          <a:ea typeface="Meiryo" pitchFamily="34" charset="-122"/>
                          <a:cs typeface="Meiryo" pitchFamily="34" charset="-120"/>
                        </a:rPr>
                        <a:t>Engage の管理画面</a:t>
                      </a:r>
                      <a:endParaRPr lang="en-US" sz="1100" dirty="0">
                        <a:latin typeface="Meiryo" charset="0"/>
                        <a:ea typeface="Meiryo" charset="0"/>
                        <a:cs typeface="Meiryo" charset="0"/>
                      </a:endParaRPr>
                    </a:p>
                  </a:txBody>
                  <a:tcPr marL="76200" marR="76200" marT="76200" marB="76200" anchor="ctr">
                    <a:lnL w="12700" cap="flat" cmpd="sng" algn="ctr">
                      <a:solidFill>
                        <a:srgbClr val="E8E6DC"/>
                      </a:solidFill>
                      <a:prstDash val="solid"/>
                      <a:round/>
                      <a:headEnd type="none" w="med" len="med"/>
                      <a:tailEnd type="none" w="med" len="med"/>
                    </a:lnL>
                    <a:lnR w="12700" cap="flat" cmpd="sng" algn="ctr">
                      <a:solidFill>
                        <a:srgbClr val="E8E6DC"/>
                      </a:solidFill>
                      <a:prstDash val="solid"/>
                      <a:round/>
                      <a:headEnd type="none" w="med" len="med"/>
                      <a:tailEnd type="none" w="med" len="med"/>
                    </a:lnR>
                    <a:lnT w="12700" cap="flat" cmpd="sng" algn="ctr">
                      <a:solidFill>
                        <a:srgbClr val="E8E6DC"/>
                      </a:solidFill>
                      <a:prstDash val="solid"/>
                      <a:round/>
                      <a:headEnd type="none" w="med" len="med"/>
                      <a:tailEnd type="none" w="med" len="med"/>
                    </a:lnT>
                    <a:lnB w="12700" cap="flat" cmpd="sng" algn="ctr">
                      <a:solidFill>
                        <a:srgbClr val="E8E6DC"/>
                      </a:solidFill>
                      <a:prstDash val="solid"/>
                      <a:round/>
                      <a:headEnd type="none" w="med" len="med"/>
                      <a:tailEnd type="none" w="med" len="med"/>
                    </a:lnB>
                  </a:tcPr>
                </a:tc>
                <a:tc>
                  <a:txBody>
                    <a:bodyPr/>
                    <a:lstStyle/>
                    <a:p>
                      <a:pPr algn="l" indent="0" marL="0">
                        <a:buNone/>
                      </a:pPr>
                      <a:r>
                        <a:rPr lang="en-US" sz="1100" dirty="0">
                          <a:solidFill>
                            <a:srgbClr val="4A4943"/>
                          </a:solidFill>
                          <a:latin typeface="Meiryo" pitchFamily="34" charset="0"/>
                          <a:ea typeface="Meiryo" pitchFamily="34" charset="-122"/>
                          <a:cs typeface="Meiryo" pitchFamily="34" charset="-120"/>
                        </a:rPr>
                        <a:t>表示の 3〜5%</a:t>
                      </a:r>
                      <a:endParaRPr lang="en-US" sz="1100" dirty="0">
                        <a:latin typeface="Meiryo" charset="0"/>
                        <a:ea typeface="Meiryo" charset="0"/>
                        <a:cs typeface="Meiryo" charset="0"/>
                      </a:endParaRPr>
                    </a:p>
                  </a:txBody>
                  <a:tcPr marL="76200" marR="76200" marT="76200" marB="76200" anchor="ctr">
                    <a:lnL w="12700" cap="flat" cmpd="sng" algn="ctr">
                      <a:solidFill>
                        <a:srgbClr val="E8E6DC"/>
                      </a:solidFill>
                      <a:prstDash val="solid"/>
                      <a:round/>
                      <a:headEnd type="none" w="med" len="med"/>
                      <a:tailEnd type="none" w="med" len="med"/>
                    </a:lnL>
                    <a:lnR w="12700" cap="flat" cmpd="sng" algn="ctr">
                      <a:solidFill>
                        <a:srgbClr val="E8E6DC"/>
                      </a:solidFill>
                      <a:prstDash val="solid"/>
                      <a:round/>
                      <a:headEnd type="none" w="med" len="med"/>
                      <a:tailEnd type="none" w="med" len="med"/>
                    </a:lnR>
                    <a:lnT w="12700" cap="flat" cmpd="sng" algn="ctr">
                      <a:solidFill>
                        <a:srgbClr val="E8E6DC"/>
                      </a:solidFill>
                      <a:prstDash val="solid"/>
                      <a:round/>
                      <a:headEnd type="none" w="med" len="med"/>
                      <a:tailEnd type="none" w="med" len="med"/>
                    </a:lnT>
                    <a:lnB w="12700" cap="flat" cmpd="sng" algn="ctr">
                      <a:solidFill>
                        <a:srgbClr val="E8E6DC"/>
                      </a:solidFill>
                      <a:prstDash val="solid"/>
                      <a:round/>
                      <a:headEnd type="none" w="med" len="med"/>
                      <a:tailEnd type="none" w="med" len="med"/>
                    </a:lnB>
                  </a:tcPr>
                </a:tc>
                <a:tc>
                  <a:txBody>
                    <a:bodyPr/>
                    <a:lstStyle/>
                    <a:p>
                      <a:pPr algn="l" indent="0" marL="0">
                        <a:buNone/>
                      </a:pPr>
                      <a:r>
                        <a:rPr lang="en-US" sz="1100" dirty="0">
                          <a:solidFill>
                            <a:srgbClr val="4A4943"/>
                          </a:solidFill>
                          <a:latin typeface="Meiryo" pitchFamily="34" charset="0"/>
                          <a:ea typeface="Meiryo" pitchFamily="34" charset="-122"/>
                          <a:cs typeface="Meiryo" pitchFamily="34" charset="-120"/>
                        </a:rPr>
                        <a:t>キャッチコピー（1 行目で決まります）</a:t>
                      </a:r>
                      <a:endParaRPr lang="en-US" sz="1100" dirty="0">
                        <a:latin typeface="Meiryo" charset="0"/>
                        <a:ea typeface="Meiryo" charset="0"/>
                        <a:cs typeface="Meiryo" charset="0"/>
                      </a:endParaRPr>
                    </a:p>
                  </a:txBody>
                  <a:tcPr marL="76200" marR="76200" marT="76200" marB="76200" anchor="ctr">
                    <a:lnL w="12700" cap="flat" cmpd="sng" algn="ctr">
                      <a:solidFill>
                        <a:srgbClr val="E8E6DC"/>
                      </a:solidFill>
                      <a:prstDash val="solid"/>
                      <a:round/>
                      <a:headEnd type="none" w="med" len="med"/>
                      <a:tailEnd type="none" w="med" len="med"/>
                    </a:lnL>
                    <a:lnR w="12700" cap="flat" cmpd="sng" algn="ctr">
                      <a:solidFill>
                        <a:srgbClr val="E8E6DC"/>
                      </a:solidFill>
                      <a:prstDash val="solid"/>
                      <a:round/>
                      <a:headEnd type="none" w="med" len="med"/>
                      <a:tailEnd type="none" w="med" len="med"/>
                    </a:lnR>
                    <a:lnT w="12700" cap="flat" cmpd="sng" algn="ctr">
                      <a:solidFill>
                        <a:srgbClr val="E8E6DC"/>
                      </a:solidFill>
                      <a:prstDash val="solid"/>
                      <a:round/>
                      <a:headEnd type="none" w="med" len="med"/>
                      <a:tailEnd type="none" w="med" len="med"/>
                    </a:lnT>
                    <a:lnB w="12700" cap="flat" cmpd="sng" algn="ctr">
                      <a:solidFill>
                        <a:srgbClr val="E8E6DC"/>
                      </a:solidFill>
                      <a:prstDash val="solid"/>
                      <a:round/>
                      <a:headEnd type="none" w="med" len="med"/>
                      <a:tailEnd type="none" w="med" len="med"/>
                    </a:lnB>
                  </a:tcPr>
                </a:tc>
              </a:tr>
              <a:tr h="548640">
                <a:tc>
                  <a:txBody>
                    <a:bodyPr/>
                    <a:lstStyle/>
                    <a:p>
                      <a:pPr algn="l" indent="0" marL="0">
                        <a:buNone/>
                      </a:pPr>
                      <a:r>
                        <a:rPr lang="en-US" sz="1100" dirty="0">
                          <a:solidFill>
                            <a:srgbClr val="4A4943"/>
                          </a:solidFill>
                          <a:latin typeface="Meiryo" pitchFamily="34" charset="0"/>
                          <a:ea typeface="Meiryo" pitchFamily="34" charset="-122"/>
                          <a:cs typeface="Meiryo" pitchFamily="34" charset="-120"/>
                        </a:rPr>
                        <a:t>応募数</a:t>
                      </a:r>
                      <a:endParaRPr lang="en-US" sz="1100" dirty="0">
                        <a:latin typeface="Meiryo" charset="0"/>
                        <a:ea typeface="Meiryo" charset="0"/>
                        <a:cs typeface="Meiryo" charset="0"/>
                      </a:endParaRPr>
                    </a:p>
                  </a:txBody>
                  <a:tcPr marL="76200" marR="76200" marT="76200" marB="76200" anchor="ctr">
                    <a:lnL w="12700" cap="flat" cmpd="sng" algn="ctr">
                      <a:solidFill>
                        <a:srgbClr val="E8E6DC"/>
                      </a:solidFill>
                      <a:prstDash val="solid"/>
                      <a:round/>
                      <a:headEnd type="none" w="med" len="med"/>
                      <a:tailEnd type="none" w="med" len="med"/>
                    </a:lnL>
                    <a:lnR w="12700" cap="flat" cmpd="sng" algn="ctr">
                      <a:solidFill>
                        <a:srgbClr val="E8E6DC"/>
                      </a:solidFill>
                      <a:prstDash val="solid"/>
                      <a:round/>
                      <a:headEnd type="none" w="med" len="med"/>
                      <a:tailEnd type="none" w="med" len="med"/>
                    </a:lnR>
                    <a:lnT w="12700" cap="flat" cmpd="sng" algn="ctr">
                      <a:solidFill>
                        <a:srgbClr val="E8E6DC"/>
                      </a:solidFill>
                      <a:prstDash val="solid"/>
                      <a:round/>
                      <a:headEnd type="none" w="med" len="med"/>
                      <a:tailEnd type="none" w="med" len="med"/>
                    </a:lnT>
                    <a:lnB w="12700" cap="flat" cmpd="sng" algn="ctr">
                      <a:solidFill>
                        <a:srgbClr val="E8E6DC"/>
                      </a:solidFill>
                      <a:prstDash val="solid"/>
                      <a:round/>
                      <a:headEnd type="none" w="med" len="med"/>
                      <a:tailEnd type="none" w="med" len="med"/>
                    </a:lnB>
                  </a:tcPr>
                </a:tc>
                <a:tc>
                  <a:txBody>
                    <a:bodyPr/>
                    <a:lstStyle/>
                    <a:p>
                      <a:pPr algn="l" indent="0" marL="0">
                        <a:buNone/>
                      </a:pPr>
                      <a:r>
                        <a:rPr lang="en-US" sz="1100" dirty="0">
                          <a:solidFill>
                            <a:srgbClr val="4A4943"/>
                          </a:solidFill>
                          <a:latin typeface="Meiryo" pitchFamily="34" charset="0"/>
                          <a:ea typeface="Meiryo" pitchFamily="34" charset="-122"/>
                          <a:cs typeface="Meiryo" pitchFamily="34" charset="-120"/>
                        </a:rPr>
                        <a:t>Engage の応募者管理</a:t>
                      </a:r>
                      <a:endParaRPr lang="en-US" sz="1100" dirty="0">
                        <a:latin typeface="Meiryo" charset="0"/>
                        <a:ea typeface="Meiryo" charset="0"/>
                        <a:cs typeface="Meiryo" charset="0"/>
                      </a:endParaRPr>
                    </a:p>
                  </a:txBody>
                  <a:tcPr marL="76200" marR="76200" marT="76200" marB="76200" anchor="ctr">
                    <a:lnL w="12700" cap="flat" cmpd="sng" algn="ctr">
                      <a:solidFill>
                        <a:srgbClr val="E8E6DC"/>
                      </a:solidFill>
                      <a:prstDash val="solid"/>
                      <a:round/>
                      <a:headEnd type="none" w="med" len="med"/>
                      <a:tailEnd type="none" w="med" len="med"/>
                    </a:lnL>
                    <a:lnR w="12700" cap="flat" cmpd="sng" algn="ctr">
                      <a:solidFill>
                        <a:srgbClr val="E8E6DC"/>
                      </a:solidFill>
                      <a:prstDash val="solid"/>
                      <a:round/>
                      <a:headEnd type="none" w="med" len="med"/>
                      <a:tailEnd type="none" w="med" len="med"/>
                    </a:lnR>
                    <a:lnT w="12700" cap="flat" cmpd="sng" algn="ctr">
                      <a:solidFill>
                        <a:srgbClr val="E8E6DC"/>
                      </a:solidFill>
                      <a:prstDash val="solid"/>
                      <a:round/>
                      <a:headEnd type="none" w="med" len="med"/>
                      <a:tailEnd type="none" w="med" len="med"/>
                    </a:lnT>
                    <a:lnB w="12700" cap="flat" cmpd="sng" algn="ctr">
                      <a:solidFill>
                        <a:srgbClr val="E8E6DC"/>
                      </a:solidFill>
                      <a:prstDash val="solid"/>
                      <a:round/>
                      <a:headEnd type="none" w="med" len="med"/>
                      <a:tailEnd type="none" w="med" len="med"/>
                    </a:lnB>
                  </a:tcPr>
                </a:tc>
                <a:tc>
                  <a:txBody>
                    <a:bodyPr/>
                    <a:lstStyle/>
                    <a:p>
                      <a:pPr algn="l" indent="0" marL="0">
                        <a:buNone/>
                      </a:pPr>
                      <a:r>
                        <a:rPr lang="en-US" sz="1100" dirty="0">
                          <a:solidFill>
                            <a:srgbClr val="4A4943"/>
                          </a:solidFill>
                          <a:latin typeface="Meiryo" pitchFamily="34" charset="0"/>
                          <a:ea typeface="Meiryo" pitchFamily="34" charset="-122"/>
                          <a:cs typeface="Meiryo" pitchFamily="34" charset="-120"/>
                        </a:rPr>
                        <a:t>閲覧の 2〜5%</a:t>
                      </a:r>
                      <a:endParaRPr lang="en-US" sz="1100" dirty="0">
                        <a:latin typeface="Meiryo" charset="0"/>
                        <a:ea typeface="Meiryo" charset="0"/>
                        <a:cs typeface="Meiryo" charset="0"/>
                      </a:endParaRPr>
                    </a:p>
                  </a:txBody>
                  <a:tcPr marL="76200" marR="76200" marT="76200" marB="76200" anchor="ctr">
                    <a:lnL w="12700" cap="flat" cmpd="sng" algn="ctr">
                      <a:solidFill>
                        <a:srgbClr val="E8E6DC"/>
                      </a:solidFill>
                      <a:prstDash val="solid"/>
                      <a:round/>
                      <a:headEnd type="none" w="med" len="med"/>
                      <a:tailEnd type="none" w="med" len="med"/>
                    </a:lnL>
                    <a:lnR w="12700" cap="flat" cmpd="sng" algn="ctr">
                      <a:solidFill>
                        <a:srgbClr val="E8E6DC"/>
                      </a:solidFill>
                      <a:prstDash val="solid"/>
                      <a:round/>
                      <a:headEnd type="none" w="med" len="med"/>
                      <a:tailEnd type="none" w="med" len="med"/>
                    </a:lnR>
                    <a:lnT w="12700" cap="flat" cmpd="sng" algn="ctr">
                      <a:solidFill>
                        <a:srgbClr val="E8E6DC"/>
                      </a:solidFill>
                      <a:prstDash val="solid"/>
                      <a:round/>
                      <a:headEnd type="none" w="med" len="med"/>
                      <a:tailEnd type="none" w="med" len="med"/>
                    </a:lnT>
                    <a:lnB w="12700" cap="flat" cmpd="sng" algn="ctr">
                      <a:solidFill>
                        <a:srgbClr val="E8E6DC"/>
                      </a:solidFill>
                      <a:prstDash val="solid"/>
                      <a:round/>
                      <a:headEnd type="none" w="med" len="med"/>
                      <a:tailEnd type="none" w="med" len="med"/>
                    </a:lnB>
                  </a:tcPr>
                </a:tc>
                <a:tc>
                  <a:txBody>
                    <a:bodyPr/>
                    <a:lstStyle/>
                    <a:p>
                      <a:pPr algn="l" indent="0" marL="0">
                        <a:buNone/>
                      </a:pPr>
                      <a:r>
                        <a:rPr lang="en-US" sz="1100" dirty="0">
                          <a:solidFill>
                            <a:srgbClr val="4A4943"/>
                          </a:solidFill>
                          <a:latin typeface="Meiryo" pitchFamily="34" charset="0"/>
                          <a:ea typeface="Meiryo" pitchFamily="34" charset="-122"/>
                          <a:cs typeface="Meiryo" pitchFamily="34" charset="-120"/>
                        </a:rPr>
                        <a:t>応募フォームの項目数、共感パートの中身</a:t>
                      </a:r>
                      <a:endParaRPr lang="en-US" sz="1100" dirty="0">
                        <a:latin typeface="Meiryo" charset="0"/>
                        <a:ea typeface="Meiryo" charset="0"/>
                        <a:cs typeface="Meiryo" charset="0"/>
                      </a:endParaRPr>
                    </a:p>
                  </a:txBody>
                  <a:tcPr marL="76200" marR="76200" marT="76200" marB="76200" anchor="ctr">
                    <a:lnL w="12700" cap="flat" cmpd="sng" algn="ctr">
                      <a:solidFill>
                        <a:srgbClr val="E8E6DC"/>
                      </a:solidFill>
                      <a:prstDash val="solid"/>
                      <a:round/>
                      <a:headEnd type="none" w="med" len="med"/>
                      <a:tailEnd type="none" w="med" len="med"/>
                    </a:lnL>
                    <a:lnR w="12700" cap="flat" cmpd="sng" algn="ctr">
                      <a:solidFill>
                        <a:srgbClr val="E8E6DC"/>
                      </a:solidFill>
                      <a:prstDash val="solid"/>
                      <a:round/>
                      <a:headEnd type="none" w="med" len="med"/>
                      <a:tailEnd type="none" w="med" len="med"/>
                    </a:lnR>
                    <a:lnT w="12700" cap="flat" cmpd="sng" algn="ctr">
                      <a:solidFill>
                        <a:srgbClr val="E8E6DC"/>
                      </a:solidFill>
                      <a:prstDash val="solid"/>
                      <a:round/>
                      <a:headEnd type="none" w="med" len="med"/>
                      <a:tailEnd type="none" w="med" len="med"/>
                    </a:lnT>
                    <a:lnB w="12700" cap="flat" cmpd="sng" algn="ctr">
                      <a:solidFill>
                        <a:srgbClr val="E8E6DC"/>
                      </a:solidFill>
                      <a:prstDash val="solid"/>
                      <a:round/>
                      <a:headEnd type="none" w="med" len="med"/>
                      <a:tailEnd type="none" w="med" len="med"/>
                    </a:lnB>
                  </a:tcPr>
                </a:tc>
              </a:tr>
              <a:tr h="548640">
                <a:tc>
                  <a:txBody>
                    <a:bodyPr/>
                    <a:lstStyle/>
                    <a:p>
                      <a:pPr algn="l" indent="0" marL="0">
                        <a:buNone/>
                      </a:pPr>
                      <a:r>
                        <a:rPr lang="en-US" sz="1100" dirty="0">
                          <a:solidFill>
                            <a:srgbClr val="4A4943"/>
                          </a:solidFill>
                          <a:latin typeface="Meiryo" pitchFamily="34" charset="0"/>
                          <a:ea typeface="Meiryo" pitchFamily="34" charset="-122"/>
                          <a:cs typeface="Meiryo" pitchFamily="34" charset="-120"/>
                        </a:rPr>
                        <a:t>体験会の参加率</a:t>
                      </a:r>
                      <a:endParaRPr lang="en-US" sz="1100" dirty="0">
                        <a:latin typeface="Meiryo" charset="0"/>
                        <a:ea typeface="Meiryo" charset="0"/>
                        <a:cs typeface="Meiryo" charset="0"/>
                      </a:endParaRPr>
                    </a:p>
                  </a:txBody>
                  <a:tcPr marL="76200" marR="76200" marT="76200" marB="76200" anchor="ctr">
                    <a:lnL w="12700" cap="flat" cmpd="sng" algn="ctr">
                      <a:solidFill>
                        <a:srgbClr val="E8E6DC"/>
                      </a:solidFill>
                      <a:prstDash val="solid"/>
                      <a:round/>
                      <a:headEnd type="none" w="med" len="med"/>
                      <a:tailEnd type="none" w="med" len="med"/>
                    </a:lnL>
                    <a:lnR w="12700" cap="flat" cmpd="sng" algn="ctr">
                      <a:solidFill>
                        <a:srgbClr val="E8E6DC"/>
                      </a:solidFill>
                      <a:prstDash val="solid"/>
                      <a:round/>
                      <a:headEnd type="none" w="med" len="med"/>
                      <a:tailEnd type="none" w="med" len="med"/>
                    </a:lnR>
                    <a:lnT w="12700" cap="flat" cmpd="sng" algn="ctr">
                      <a:solidFill>
                        <a:srgbClr val="E8E6DC"/>
                      </a:solidFill>
                      <a:prstDash val="solid"/>
                      <a:round/>
                      <a:headEnd type="none" w="med" len="med"/>
                      <a:tailEnd type="none" w="med" len="med"/>
                    </a:lnT>
                    <a:lnB w="12700" cap="flat" cmpd="sng" algn="ctr">
                      <a:solidFill>
                        <a:srgbClr val="E8E6DC"/>
                      </a:solidFill>
                      <a:prstDash val="solid"/>
                      <a:round/>
                      <a:headEnd type="none" w="med" len="med"/>
                      <a:tailEnd type="none" w="med" len="med"/>
                    </a:lnB>
                  </a:tcPr>
                </a:tc>
                <a:tc>
                  <a:txBody>
                    <a:bodyPr/>
                    <a:lstStyle/>
                    <a:p>
                      <a:pPr algn="l" indent="0" marL="0">
                        <a:buNone/>
                      </a:pPr>
                      <a:r>
                        <a:rPr lang="en-US" sz="1100" dirty="0">
                          <a:solidFill>
                            <a:srgbClr val="4A4943"/>
                          </a:solidFill>
                          <a:latin typeface="Meiryo" pitchFamily="34" charset="0"/>
                          <a:ea typeface="Meiryo" pitchFamily="34" charset="-122"/>
                          <a:cs typeface="Meiryo" pitchFamily="34" charset="-120"/>
                        </a:rPr>
                        <a:t>自社の記録</a:t>
                      </a:r>
                      <a:endParaRPr lang="en-US" sz="1100" dirty="0">
                        <a:latin typeface="Meiryo" charset="0"/>
                        <a:ea typeface="Meiryo" charset="0"/>
                        <a:cs typeface="Meiryo" charset="0"/>
                      </a:endParaRPr>
                    </a:p>
                  </a:txBody>
                  <a:tcPr marL="76200" marR="76200" marT="76200" marB="76200" anchor="ctr">
                    <a:lnL w="12700" cap="flat" cmpd="sng" algn="ctr">
                      <a:solidFill>
                        <a:srgbClr val="E8E6DC"/>
                      </a:solidFill>
                      <a:prstDash val="solid"/>
                      <a:round/>
                      <a:headEnd type="none" w="med" len="med"/>
                      <a:tailEnd type="none" w="med" len="med"/>
                    </a:lnL>
                    <a:lnR w="12700" cap="flat" cmpd="sng" algn="ctr">
                      <a:solidFill>
                        <a:srgbClr val="E8E6DC"/>
                      </a:solidFill>
                      <a:prstDash val="solid"/>
                      <a:round/>
                      <a:headEnd type="none" w="med" len="med"/>
                      <a:tailEnd type="none" w="med" len="med"/>
                    </a:lnR>
                    <a:lnT w="12700" cap="flat" cmpd="sng" algn="ctr">
                      <a:solidFill>
                        <a:srgbClr val="E8E6DC"/>
                      </a:solidFill>
                      <a:prstDash val="solid"/>
                      <a:round/>
                      <a:headEnd type="none" w="med" len="med"/>
                      <a:tailEnd type="none" w="med" len="med"/>
                    </a:lnT>
                    <a:lnB w="12700" cap="flat" cmpd="sng" algn="ctr">
                      <a:solidFill>
                        <a:srgbClr val="E8E6DC"/>
                      </a:solidFill>
                      <a:prstDash val="solid"/>
                      <a:round/>
                      <a:headEnd type="none" w="med" len="med"/>
                      <a:tailEnd type="none" w="med" len="med"/>
                    </a:lnB>
                  </a:tcPr>
                </a:tc>
                <a:tc>
                  <a:txBody>
                    <a:bodyPr/>
                    <a:lstStyle/>
                    <a:p>
                      <a:pPr algn="l" indent="0" marL="0">
                        <a:buNone/>
                      </a:pPr>
                      <a:r>
                        <a:rPr lang="en-US" sz="1100" dirty="0">
                          <a:solidFill>
                            <a:srgbClr val="4A4943"/>
                          </a:solidFill>
                          <a:latin typeface="Meiryo" pitchFamily="34" charset="0"/>
                          <a:ea typeface="Meiryo" pitchFamily="34" charset="-122"/>
                          <a:cs typeface="Meiryo" pitchFamily="34" charset="-120"/>
                        </a:rPr>
                        <a:t>応募の 50% 以上</a:t>
                      </a:r>
                      <a:endParaRPr lang="en-US" sz="1100" dirty="0">
                        <a:latin typeface="Meiryo" charset="0"/>
                        <a:ea typeface="Meiryo" charset="0"/>
                        <a:cs typeface="Meiryo" charset="0"/>
                      </a:endParaRPr>
                    </a:p>
                  </a:txBody>
                  <a:tcPr marL="76200" marR="76200" marT="76200" marB="76200" anchor="ctr">
                    <a:lnL w="12700" cap="flat" cmpd="sng" algn="ctr">
                      <a:solidFill>
                        <a:srgbClr val="E8E6DC"/>
                      </a:solidFill>
                      <a:prstDash val="solid"/>
                      <a:round/>
                      <a:headEnd type="none" w="med" len="med"/>
                      <a:tailEnd type="none" w="med" len="med"/>
                    </a:lnL>
                    <a:lnR w="12700" cap="flat" cmpd="sng" algn="ctr">
                      <a:solidFill>
                        <a:srgbClr val="E8E6DC"/>
                      </a:solidFill>
                      <a:prstDash val="solid"/>
                      <a:round/>
                      <a:headEnd type="none" w="med" len="med"/>
                      <a:tailEnd type="none" w="med" len="med"/>
                    </a:lnR>
                    <a:lnT w="12700" cap="flat" cmpd="sng" algn="ctr">
                      <a:solidFill>
                        <a:srgbClr val="E8E6DC"/>
                      </a:solidFill>
                      <a:prstDash val="solid"/>
                      <a:round/>
                      <a:headEnd type="none" w="med" len="med"/>
                      <a:tailEnd type="none" w="med" len="med"/>
                    </a:lnT>
                    <a:lnB w="12700" cap="flat" cmpd="sng" algn="ctr">
                      <a:solidFill>
                        <a:srgbClr val="E8E6DC"/>
                      </a:solidFill>
                      <a:prstDash val="solid"/>
                      <a:round/>
                      <a:headEnd type="none" w="med" len="med"/>
                      <a:tailEnd type="none" w="med" len="med"/>
                    </a:lnB>
                  </a:tcPr>
                </a:tc>
                <a:tc>
                  <a:txBody>
                    <a:bodyPr/>
                    <a:lstStyle/>
                    <a:p>
                      <a:pPr algn="l" indent="0" marL="0">
                        <a:buNone/>
                      </a:pPr>
                      <a:r>
                        <a:rPr lang="en-US" sz="1100" dirty="0">
                          <a:solidFill>
                            <a:srgbClr val="4A4943"/>
                          </a:solidFill>
                          <a:latin typeface="Meiryo" pitchFamily="34" charset="0"/>
                          <a:ea typeface="Meiryo" pitchFamily="34" charset="-122"/>
                          <a:cs typeface="Meiryo" pitchFamily="34" charset="-120"/>
                        </a:rPr>
                        <a:t>案内メールの文面、日程の選択肢の少なさ</a:t>
                      </a:r>
                      <a:endParaRPr lang="en-US" sz="1100" dirty="0">
                        <a:latin typeface="Meiryo" charset="0"/>
                        <a:ea typeface="Meiryo" charset="0"/>
                        <a:cs typeface="Meiryo" charset="0"/>
                      </a:endParaRPr>
                    </a:p>
                  </a:txBody>
                  <a:tcPr marL="76200" marR="76200" marT="76200" marB="76200" anchor="ctr">
                    <a:lnL w="12700" cap="flat" cmpd="sng" algn="ctr">
                      <a:solidFill>
                        <a:srgbClr val="E8E6DC"/>
                      </a:solidFill>
                      <a:prstDash val="solid"/>
                      <a:round/>
                      <a:headEnd type="none" w="med" len="med"/>
                      <a:tailEnd type="none" w="med" len="med"/>
                    </a:lnL>
                    <a:lnR w="12700" cap="flat" cmpd="sng" algn="ctr">
                      <a:solidFill>
                        <a:srgbClr val="E8E6DC"/>
                      </a:solidFill>
                      <a:prstDash val="solid"/>
                      <a:round/>
                      <a:headEnd type="none" w="med" len="med"/>
                      <a:tailEnd type="none" w="med" len="med"/>
                    </a:lnR>
                    <a:lnT w="12700" cap="flat" cmpd="sng" algn="ctr">
                      <a:solidFill>
                        <a:srgbClr val="E8E6DC"/>
                      </a:solidFill>
                      <a:prstDash val="solid"/>
                      <a:round/>
                      <a:headEnd type="none" w="med" len="med"/>
                      <a:tailEnd type="none" w="med" len="med"/>
                    </a:lnT>
                    <a:lnB w="12700" cap="flat" cmpd="sng" algn="ctr">
                      <a:solidFill>
                        <a:srgbClr val="E8E6DC"/>
                      </a:solidFill>
                      <a:prstDash val="solid"/>
                      <a:round/>
                      <a:headEnd type="none" w="med" len="med"/>
                      <a:tailEnd type="none" w="med" len="med"/>
                    </a:lnB>
                  </a:tcPr>
                </a:tc>
              </a:tr>
              <a:tr h="548640">
                <a:tc>
                  <a:txBody>
                    <a:bodyPr/>
                    <a:lstStyle/>
                    <a:p>
                      <a:pPr algn="l" indent="0" marL="0">
                        <a:buNone/>
                      </a:pPr>
                      <a:r>
                        <a:rPr lang="en-US" sz="1100" dirty="0">
                          <a:solidFill>
                            <a:srgbClr val="4A4943"/>
                          </a:solidFill>
                          <a:latin typeface="Meiryo" pitchFamily="34" charset="0"/>
                          <a:ea typeface="Meiryo" pitchFamily="34" charset="-122"/>
                          <a:cs typeface="Meiryo" pitchFamily="34" charset="-120"/>
                        </a:rPr>
                        <a:t>内定の承諾率</a:t>
                      </a:r>
                      <a:endParaRPr lang="en-US" sz="1100" dirty="0">
                        <a:latin typeface="Meiryo" charset="0"/>
                        <a:ea typeface="Meiryo" charset="0"/>
                        <a:cs typeface="Meiryo" charset="0"/>
                      </a:endParaRPr>
                    </a:p>
                  </a:txBody>
                  <a:tcPr marL="76200" marR="76200" marT="76200" marB="76200" anchor="ctr">
                    <a:lnL w="12700" cap="flat" cmpd="sng" algn="ctr">
                      <a:solidFill>
                        <a:srgbClr val="E8E6DC"/>
                      </a:solidFill>
                      <a:prstDash val="solid"/>
                      <a:round/>
                      <a:headEnd type="none" w="med" len="med"/>
                      <a:tailEnd type="none" w="med" len="med"/>
                    </a:lnL>
                    <a:lnR w="12700" cap="flat" cmpd="sng" algn="ctr">
                      <a:solidFill>
                        <a:srgbClr val="E8E6DC"/>
                      </a:solidFill>
                      <a:prstDash val="solid"/>
                      <a:round/>
                      <a:headEnd type="none" w="med" len="med"/>
                      <a:tailEnd type="none" w="med" len="med"/>
                    </a:lnR>
                    <a:lnT w="12700" cap="flat" cmpd="sng" algn="ctr">
                      <a:solidFill>
                        <a:srgbClr val="E8E6DC"/>
                      </a:solidFill>
                      <a:prstDash val="solid"/>
                      <a:round/>
                      <a:headEnd type="none" w="med" len="med"/>
                      <a:tailEnd type="none" w="med" len="med"/>
                    </a:lnT>
                    <a:lnB w="12700" cap="flat" cmpd="sng" algn="ctr">
                      <a:solidFill>
                        <a:srgbClr val="E8E6DC"/>
                      </a:solidFill>
                      <a:prstDash val="solid"/>
                      <a:round/>
                      <a:headEnd type="none" w="med" len="med"/>
                      <a:tailEnd type="none" w="med" len="med"/>
                    </a:lnB>
                  </a:tcPr>
                </a:tc>
                <a:tc>
                  <a:txBody>
                    <a:bodyPr/>
                    <a:lstStyle/>
                    <a:p>
                      <a:pPr algn="l" indent="0" marL="0">
                        <a:buNone/>
                      </a:pPr>
                      <a:r>
                        <a:rPr lang="en-US" sz="1100" dirty="0">
                          <a:solidFill>
                            <a:srgbClr val="4A4943"/>
                          </a:solidFill>
                          <a:latin typeface="Meiryo" pitchFamily="34" charset="0"/>
                          <a:ea typeface="Meiryo" pitchFamily="34" charset="-122"/>
                          <a:cs typeface="Meiryo" pitchFamily="34" charset="-120"/>
                        </a:rPr>
                        <a:t>自社の記録</a:t>
                      </a:r>
                      <a:endParaRPr lang="en-US" sz="1100" dirty="0">
                        <a:latin typeface="Meiryo" charset="0"/>
                        <a:ea typeface="Meiryo" charset="0"/>
                        <a:cs typeface="Meiryo" charset="0"/>
                      </a:endParaRPr>
                    </a:p>
                  </a:txBody>
                  <a:tcPr marL="76200" marR="76200" marT="76200" marB="76200" anchor="ctr">
                    <a:lnL w="12700" cap="flat" cmpd="sng" algn="ctr">
                      <a:solidFill>
                        <a:srgbClr val="E8E6DC"/>
                      </a:solidFill>
                      <a:prstDash val="solid"/>
                      <a:round/>
                      <a:headEnd type="none" w="med" len="med"/>
                      <a:tailEnd type="none" w="med" len="med"/>
                    </a:lnL>
                    <a:lnR w="12700" cap="flat" cmpd="sng" algn="ctr">
                      <a:solidFill>
                        <a:srgbClr val="E8E6DC"/>
                      </a:solidFill>
                      <a:prstDash val="solid"/>
                      <a:round/>
                      <a:headEnd type="none" w="med" len="med"/>
                      <a:tailEnd type="none" w="med" len="med"/>
                    </a:lnR>
                    <a:lnT w="12700" cap="flat" cmpd="sng" algn="ctr">
                      <a:solidFill>
                        <a:srgbClr val="E8E6DC"/>
                      </a:solidFill>
                      <a:prstDash val="solid"/>
                      <a:round/>
                      <a:headEnd type="none" w="med" len="med"/>
                      <a:tailEnd type="none" w="med" len="med"/>
                    </a:lnT>
                    <a:lnB w="12700" cap="flat" cmpd="sng" algn="ctr">
                      <a:solidFill>
                        <a:srgbClr val="E8E6DC"/>
                      </a:solidFill>
                      <a:prstDash val="solid"/>
                      <a:round/>
                      <a:headEnd type="none" w="med" len="med"/>
                      <a:tailEnd type="none" w="med" len="med"/>
                    </a:lnB>
                  </a:tcPr>
                </a:tc>
                <a:tc>
                  <a:txBody>
                    <a:bodyPr/>
                    <a:lstStyle/>
                    <a:p>
                      <a:pPr algn="l" indent="0" marL="0">
                        <a:buNone/>
                      </a:pPr>
                      <a:r>
                        <a:rPr lang="en-US" sz="1100" dirty="0">
                          <a:solidFill>
                            <a:srgbClr val="4A4943"/>
                          </a:solidFill>
                          <a:latin typeface="Meiryo" pitchFamily="34" charset="0"/>
                          <a:ea typeface="Meiryo" pitchFamily="34" charset="-122"/>
                          <a:cs typeface="Meiryo" pitchFamily="34" charset="-120"/>
                        </a:rPr>
                        <a:t>70% 以上</a:t>
                      </a:r>
                      <a:endParaRPr lang="en-US" sz="1100" dirty="0">
                        <a:latin typeface="Meiryo" charset="0"/>
                        <a:ea typeface="Meiryo" charset="0"/>
                        <a:cs typeface="Meiryo" charset="0"/>
                      </a:endParaRPr>
                    </a:p>
                  </a:txBody>
                  <a:tcPr marL="76200" marR="76200" marT="76200" marB="76200" anchor="ctr">
                    <a:lnL w="12700" cap="flat" cmpd="sng" algn="ctr">
                      <a:solidFill>
                        <a:srgbClr val="E8E6DC"/>
                      </a:solidFill>
                      <a:prstDash val="solid"/>
                      <a:round/>
                      <a:headEnd type="none" w="med" len="med"/>
                      <a:tailEnd type="none" w="med" len="med"/>
                    </a:lnL>
                    <a:lnR w="12700" cap="flat" cmpd="sng" algn="ctr">
                      <a:solidFill>
                        <a:srgbClr val="E8E6DC"/>
                      </a:solidFill>
                      <a:prstDash val="solid"/>
                      <a:round/>
                      <a:headEnd type="none" w="med" len="med"/>
                      <a:tailEnd type="none" w="med" len="med"/>
                    </a:lnR>
                    <a:lnT w="12700" cap="flat" cmpd="sng" algn="ctr">
                      <a:solidFill>
                        <a:srgbClr val="E8E6DC"/>
                      </a:solidFill>
                      <a:prstDash val="solid"/>
                      <a:round/>
                      <a:headEnd type="none" w="med" len="med"/>
                      <a:tailEnd type="none" w="med" len="med"/>
                    </a:lnT>
                    <a:lnB w="12700" cap="flat" cmpd="sng" algn="ctr">
                      <a:solidFill>
                        <a:srgbClr val="E8E6DC"/>
                      </a:solidFill>
                      <a:prstDash val="solid"/>
                      <a:round/>
                      <a:headEnd type="none" w="med" len="med"/>
                      <a:tailEnd type="none" w="med" len="med"/>
                    </a:lnB>
                  </a:tcPr>
                </a:tc>
                <a:tc>
                  <a:txBody>
                    <a:bodyPr/>
                    <a:lstStyle/>
                    <a:p>
                      <a:pPr algn="l" indent="0" marL="0">
                        <a:buNone/>
                      </a:pPr>
                      <a:r>
                        <a:rPr lang="en-US" sz="1100" dirty="0">
                          <a:solidFill>
                            <a:srgbClr val="4A4943"/>
                          </a:solidFill>
                          <a:latin typeface="Meiryo" pitchFamily="34" charset="0"/>
                          <a:ea typeface="Meiryo" pitchFamily="34" charset="-122"/>
                          <a:cs typeface="Meiryo" pitchFamily="34" charset="-120"/>
                        </a:rPr>
                        <a:t>返信の速さ、条件の伝え方、体験会の質</a:t>
                      </a:r>
                      <a:endParaRPr lang="en-US" sz="1100" dirty="0">
                        <a:latin typeface="Meiryo" charset="0"/>
                        <a:ea typeface="Meiryo" charset="0"/>
                        <a:cs typeface="Meiryo" charset="0"/>
                      </a:endParaRPr>
                    </a:p>
                  </a:txBody>
                  <a:tcPr marL="76200" marR="76200" marT="76200" marB="76200" anchor="ctr">
                    <a:lnL w="12700" cap="flat" cmpd="sng" algn="ctr">
                      <a:solidFill>
                        <a:srgbClr val="E8E6DC"/>
                      </a:solidFill>
                      <a:prstDash val="solid"/>
                      <a:round/>
                      <a:headEnd type="none" w="med" len="med"/>
                      <a:tailEnd type="none" w="med" len="med"/>
                    </a:lnL>
                    <a:lnR w="12700" cap="flat" cmpd="sng" algn="ctr">
                      <a:solidFill>
                        <a:srgbClr val="E8E6DC"/>
                      </a:solidFill>
                      <a:prstDash val="solid"/>
                      <a:round/>
                      <a:headEnd type="none" w="med" len="med"/>
                      <a:tailEnd type="none" w="med" len="med"/>
                    </a:lnR>
                    <a:lnT w="12700" cap="flat" cmpd="sng" algn="ctr">
                      <a:solidFill>
                        <a:srgbClr val="E8E6DC"/>
                      </a:solidFill>
                      <a:prstDash val="solid"/>
                      <a:round/>
                      <a:headEnd type="none" w="med" len="med"/>
                      <a:tailEnd type="none" w="med" len="med"/>
                    </a:lnT>
                    <a:lnB w="12700" cap="flat" cmpd="sng" algn="ctr">
                      <a:solidFill>
                        <a:srgbClr val="E8E6DC"/>
                      </a:solidFill>
                      <a:prstDash val="solid"/>
                      <a:round/>
                      <a:headEnd type="none" w="med" len="med"/>
                      <a:tailEnd type="none" w="med" len="med"/>
                    </a:lnB>
                  </a:tcPr>
                </a:tc>
              </a:tr>
            </a:tbl>
          </a:graphicData>
        </a:graphic>
      </p:graphicFrame>
      <p:sp>
        <p:nvSpPr>
          <p:cNvPr id="7" name="Shape 4"/>
          <p:cNvSpPr/>
          <p:nvPr/>
        </p:nvSpPr>
        <p:spPr>
          <a:xfrm>
            <a:off x="640080" y="5303520"/>
            <a:ext cx="10881360" cy="914400"/>
          </a:xfrm>
          <a:prstGeom prst="roundRect">
            <a:avLst>
              <a:gd name="adj" fmla="val 6000"/>
            </a:avLst>
          </a:prstGeom>
          <a:solidFill>
            <a:srgbClr val="141413"/>
          </a:solidFill>
          <a:ln/>
        </p:spPr>
      </p:sp>
      <p:sp>
        <p:nvSpPr>
          <p:cNvPr id="8" name="Text 5"/>
          <p:cNvSpPr/>
          <p:nvPr/>
        </p:nvSpPr>
        <p:spPr>
          <a:xfrm>
            <a:off x="960120" y="5303520"/>
            <a:ext cx="10241280" cy="914400"/>
          </a:xfrm>
          <a:prstGeom prst="rect">
            <a:avLst/>
          </a:prstGeom>
          <a:noFill/>
          <a:ln/>
        </p:spPr>
        <p:txBody>
          <a:bodyPr wrap="square" lIns="0" tIns="0" rIns="0" bIns="0" rtlCol="0" anchor="ctr"/>
          <a:lstStyle/>
          <a:p>
            <a:pPr indent="0" marL="0">
              <a:lnSpc>
                <a:spcPts val="2000"/>
              </a:lnSpc>
              <a:buNone/>
            </a:pPr>
            <a:r>
              <a:rPr lang="en-US" sz="1300" b="1" dirty="0">
                <a:solidFill>
                  <a:srgbClr val="D97757"/>
                </a:solidFill>
                <a:latin typeface="Meiryo" pitchFamily="34" charset="0"/>
                <a:ea typeface="Meiryo" pitchFamily="34" charset="-122"/>
                <a:cs typeface="Meiryo" pitchFamily="34" charset="-120"/>
              </a:rPr>
              <a:t>週次ミーティング 15 分の型　</a:t>
            </a:r>
            <a:pPr indent="0" marL="0">
              <a:lnSpc>
                <a:spcPts val="2000"/>
              </a:lnSpc>
              <a:buNone/>
            </a:pPr>
            <a:r>
              <a:rPr lang="en-US" sz="1150" dirty="0">
                <a:solidFill>
                  <a:srgbClr val="FFFFFF"/>
                </a:solidFill>
                <a:latin typeface="Meiryo" pitchFamily="34" charset="0"/>
                <a:ea typeface="Meiryo" pitchFamily="34" charset="-122"/>
                <a:cs typeface="Meiryo" pitchFamily="34" charset="-120"/>
              </a:rPr>
              <a:t>①数字を読み上げる（3 分）→ ②いちばん落ちている 1 か所を選ぶ（2 分）→ ③その 1 か所への対策を決める（7 分）→ ④担当と期限を決める（3 分）</a:t>
            </a:r>
            <a:endParaRPr lang="en-US" sz="1300" dirty="0"/>
          </a:p>
        </p:txBody>
      </p:sp>
      <p:sp>
        <p:nvSpPr>
          <p:cNvPr id="9" name="Text 6"/>
          <p:cNvSpPr/>
          <p:nvPr/>
        </p:nvSpPr>
        <p:spPr>
          <a:xfrm>
            <a:off x="640080" y="6291072"/>
            <a:ext cx="10881360" cy="320040"/>
          </a:xfrm>
          <a:prstGeom prst="rect">
            <a:avLst/>
          </a:prstGeom>
          <a:noFill/>
          <a:ln/>
        </p:spPr>
        <p:txBody>
          <a:bodyPr wrap="square" lIns="0" tIns="0" rIns="0" bIns="0" rtlCol="0" anchor="ctr"/>
          <a:lstStyle/>
          <a:p>
            <a:pPr indent="0" marL="0">
              <a:buNone/>
            </a:pPr>
            <a:r>
              <a:rPr lang="en-US" sz="1000" dirty="0">
                <a:solidFill>
                  <a:srgbClr val="7D7B72"/>
                </a:solidFill>
                <a:latin typeface="Meiryo" pitchFamily="34" charset="0"/>
                <a:ea typeface="Meiryo" pitchFamily="34" charset="-122"/>
                <a:cs typeface="Meiryo" pitchFamily="34" charset="-120"/>
              </a:rPr>
              <a:t>※ 目安の数値は一般的なレンジです。2〜3 か月運用して、自社の平常値に置き換えてください。</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9646920" y="365760"/>
            <a:ext cx="1874520" cy="310896"/>
          </a:xfrm>
          <a:prstGeom prst="roundRect">
            <a:avLst>
              <a:gd name="adj" fmla="val 14706"/>
            </a:avLst>
          </a:prstGeom>
          <a:solidFill>
            <a:srgbClr val="E7ECDD"/>
          </a:solidFill>
          <a:ln w="12700">
            <a:solidFill>
              <a:srgbClr val="788C5D"/>
            </a:solidFill>
            <a:prstDash val="solid"/>
          </a:ln>
        </p:spPr>
      </p:sp>
      <p:sp>
        <p:nvSpPr>
          <p:cNvPr id="3" name="Text 1"/>
          <p:cNvSpPr/>
          <p:nvPr/>
        </p:nvSpPr>
        <p:spPr>
          <a:xfrm>
            <a:off x="9646920" y="365760"/>
            <a:ext cx="1874520" cy="310896"/>
          </a:xfrm>
          <a:prstGeom prst="rect">
            <a:avLst/>
          </a:prstGeom>
          <a:noFill/>
          <a:ln/>
        </p:spPr>
        <p:txBody>
          <a:bodyPr wrap="square" lIns="0" tIns="0" rIns="0" bIns="0" rtlCol="0" anchor="ctr"/>
          <a:lstStyle/>
          <a:p>
            <a:pPr algn="ctr" indent="0" marL="0">
              <a:buNone/>
            </a:pPr>
            <a:r>
              <a:rPr lang="en-US" sz="1050" b="1" dirty="0">
                <a:solidFill>
                  <a:srgbClr val="788C5D"/>
                </a:solidFill>
                <a:latin typeface="Meiryo" pitchFamily="34" charset="0"/>
                <a:ea typeface="Meiryo" pitchFamily="34" charset="-122"/>
                <a:cs typeface="Meiryo" pitchFamily="34" charset="-120"/>
              </a:rPr>
              <a:t>AI 講座パート</a:t>
            </a:r>
            <a:endParaRPr lang="en-US" sz="1050" dirty="0"/>
          </a:p>
        </p:txBody>
      </p:sp>
      <p:sp>
        <p:nvSpPr>
          <p:cNvPr id="4" name="Text 2"/>
          <p:cNvSpPr/>
          <p:nvPr/>
        </p:nvSpPr>
        <p:spPr>
          <a:xfrm>
            <a:off x="640080" y="411480"/>
            <a:ext cx="10881360" cy="566928"/>
          </a:xfrm>
          <a:prstGeom prst="rect">
            <a:avLst/>
          </a:prstGeom>
          <a:noFill/>
          <a:ln/>
        </p:spPr>
        <p:txBody>
          <a:bodyPr wrap="square" lIns="0" tIns="0" rIns="0" bIns="0" rtlCol="0" anchor="ctr"/>
          <a:lstStyle/>
          <a:p>
            <a:pPr indent="0" marL="0">
              <a:buNone/>
            </a:pPr>
            <a:r>
              <a:rPr lang="en-US" sz="2700" b="1" dirty="0">
                <a:solidFill>
                  <a:srgbClr val="141413"/>
                </a:solidFill>
                <a:latin typeface="Meiryo" pitchFamily="34" charset="0"/>
                <a:ea typeface="Meiryo" pitchFamily="34" charset="-122"/>
                <a:cs typeface="Meiryo" pitchFamily="34" charset="-120"/>
              </a:rPr>
              <a:t>AI 活用マップ ｜ どこを任せ、どこを人がやるか</a:t>
            </a:r>
            <a:endParaRPr lang="en-US" sz="2700" dirty="0"/>
          </a:p>
        </p:txBody>
      </p:sp>
      <p:sp>
        <p:nvSpPr>
          <p:cNvPr id="5" name="Text 3"/>
          <p:cNvSpPr/>
          <p:nvPr/>
        </p:nvSpPr>
        <p:spPr>
          <a:xfrm>
            <a:off x="640080" y="960120"/>
            <a:ext cx="10881360" cy="329184"/>
          </a:xfrm>
          <a:prstGeom prst="rect">
            <a:avLst/>
          </a:prstGeom>
          <a:noFill/>
          <a:ln/>
        </p:spPr>
        <p:txBody>
          <a:bodyPr wrap="square" lIns="0" tIns="0" rIns="0" bIns="0" rtlCol="0" anchor="ctr"/>
          <a:lstStyle/>
          <a:p>
            <a:pPr indent="0" marL="0">
              <a:buNone/>
            </a:pPr>
            <a:r>
              <a:rPr lang="en-US" sz="1300" dirty="0">
                <a:solidFill>
                  <a:srgbClr val="6E6C63"/>
                </a:solidFill>
                <a:latin typeface="Meiryo" pitchFamily="34" charset="0"/>
                <a:ea typeface="Meiryo" pitchFamily="34" charset="-122"/>
                <a:cs typeface="Meiryo" pitchFamily="34" charset="-120"/>
              </a:rPr>
              <a:t>AI は作業を速くする道具です。判断と現場の関係づくりは人の仕事のままです</a:t>
            </a:r>
            <a:endParaRPr lang="en-US" sz="13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640080" y="1572768"/>
          <a:ext cx="10881360" cy="914400"/>
        </p:xfrm>
        <a:graphic>
          <a:graphicData uri="http://schemas.openxmlformats.org/drawingml/2006/table">
            <a:tbl>
              <a:tblPr/>
              <a:tblGrid>
                <a:gridCol w="1828800"/>
                <a:gridCol w="3794760"/>
                <a:gridCol w="3429000"/>
                <a:gridCol w="1828800"/>
              </a:tblGrid>
              <a:tr h="502920">
                <a:tc>
                  <a:txBody>
                    <a:bodyPr/>
                    <a:lstStyle/>
                    <a:p>
                      <a:pPr algn="l" indent="0" marL="0">
                        <a:buNone/>
                      </a:pPr>
                      <a:r>
                        <a:rPr lang="en-US" sz="1050" b="1" dirty="0">
                          <a:solidFill>
                            <a:srgbClr val="FFFFFF"/>
                          </a:solidFill>
                          <a:latin typeface="Meiryo" pitchFamily="34" charset="0"/>
                          <a:ea typeface="Meiryo" pitchFamily="34" charset="-122"/>
                          <a:cs typeface="Meiryo" pitchFamily="34" charset="-120"/>
                        </a:rPr>
                        <a:t>工程</a:t>
                      </a:r>
                      <a:endParaRPr lang="en-US" sz="1050" dirty="0">
                        <a:latin typeface="Meiryo" charset="0"/>
                        <a:ea typeface="Meiryo" charset="0"/>
                        <a:cs typeface="Meiryo" charset="0"/>
                      </a:endParaRPr>
                    </a:p>
                  </a:txBody>
                  <a:tcPr marL="76200" marR="76200" marT="76200" marB="76200" anchor="ctr">
                    <a:lnL w="12700" cap="flat" cmpd="sng" algn="ctr">
                      <a:solidFill>
                        <a:srgbClr val="E8E6DC"/>
                      </a:solidFill>
                      <a:prstDash val="solid"/>
                      <a:round/>
                      <a:headEnd type="none" w="med" len="med"/>
                      <a:tailEnd type="none" w="med" len="med"/>
                    </a:lnL>
                    <a:lnR w="12700" cap="flat" cmpd="sng" algn="ctr">
                      <a:solidFill>
                        <a:srgbClr val="E8E6DC"/>
                      </a:solidFill>
                      <a:prstDash val="solid"/>
                      <a:round/>
                      <a:headEnd type="none" w="med" len="med"/>
                      <a:tailEnd type="none" w="med" len="med"/>
                    </a:lnR>
                    <a:lnT w="12700" cap="flat" cmpd="sng" algn="ctr">
                      <a:solidFill>
                        <a:srgbClr val="E8E6DC"/>
                      </a:solidFill>
                      <a:prstDash val="solid"/>
                      <a:round/>
                      <a:headEnd type="none" w="med" len="med"/>
                      <a:tailEnd type="none" w="med" len="med"/>
                    </a:lnT>
                    <a:lnB w="12700" cap="flat" cmpd="sng" algn="ctr">
                      <a:solidFill>
                        <a:srgbClr val="E8E6DC"/>
                      </a:solidFill>
                      <a:prstDash val="solid"/>
                      <a:round/>
                      <a:headEnd type="none" w="med" len="med"/>
                      <a:tailEnd type="none" w="med" len="med"/>
                    </a:lnB>
                    <a:solidFill>
                      <a:srgbClr val="141413"/>
                    </a:solidFill>
                  </a:tcPr>
                </a:tc>
                <a:tc>
                  <a:txBody>
                    <a:bodyPr/>
                    <a:lstStyle/>
                    <a:p>
                      <a:pPr algn="l" indent="0" marL="0">
                        <a:buNone/>
                      </a:pPr>
                      <a:r>
                        <a:rPr lang="en-US" sz="1050" b="1" dirty="0">
                          <a:solidFill>
                            <a:srgbClr val="FFFFFF"/>
                          </a:solidFill>
                          <a:latin typeface="Meiryo" pitchFamily="34" charset="0"/>
                          <a:ea typeface="Meiryo" pitchFamily="34" charset="-122"/>
                          <a:cs typeface="Meiryo" pitchFamily="34" charset="-120"/>
                        </a:rPr>
                        <a:t>AI に任せること</a:t>
                      </a:r>
                      <a:endParaRPr lang="en-US" sz="1050" dirty="0">
                        <a:latin typeface="Meiryo" charset="0"/>
                        <a:ea typeface="Meiryo" charset="0"/>
                        <a:cs typeface="Meiryo" charset="0"/>
                      </a:endParaRPr>
                    </a:p>
                  </a:txBody>
                  <a:tcPr marL="76200" marR="76200" marT="76200" marB="76200" anchor="ctr">
                    <a:lnL w="12700" cap="flat" cmpd="sng" algn="ctr">
                      <a:solidFill>
                        <a:srgbClr val="E8E6DC"/>
                      </a:solidFill>
                      <a:prstDash val="solid"/>
                      <a:round/>
                      <a:headEnd type="none" w="med" len="med"/>
                      <a:tailEnd type="none" w="med" len="med"/>
                    </a:lnL>
                    <a:lnR w="12700" cap="flat" cmpd="sng" algn="ctr">
                      <a:solidFill>
                        <a:srgbClr val="E8E6DC"/>
                      </a:solidFill>
                      <a:prstDash val="solid"/>
                      <a:round/>
                      <a:headEnd type="none" w="med" len="med"/>
                      <a:tailEnd type="none" w="med" len="med"/>
                    </a:lnR>
                    <a:lnT w="12700" cap="flat" cmpd="sng" algn="ctr">
                      <a:solidFill>
                        <a:srgbClr val="E8E6DC"/>
                      </a:solidFill>
                      <a:prstDash val="solid"/>
                      <a:round/>
                      <a:headEnd type="none" w="med" len="med"/>
                      <a:tailEnd type="none" w="med" len="med"/>
                    </a:lnT>
                    <a:lnB w="12700" cap="flat" cmpd="sng" algn="ctr">
                      <a:solidFill>
                        <a:srgbClr val="E8E6DC"/>
                      </a:solidFill>
                      <a:prstDash val="solid"/>
                      <a:round/>
                      <a:headEnd type="none" w="med" len="med"/>
                      <a:tailEnd type="none" w="med" len="med"/>
                    </a:lnB>
                    <a:solidFill>
                      <a:srgbClr val="141413"/>
                    </a:solidFill>
                  </a:tcPr>
                </a:tc>
                <a:tc>
                  <a:txBody>
                    <a:bodyPr/>
                    <a:lstStyle/>
                    <a:p>
                      <a:pPr algn="l" indent="0" marL="0">
                        <a:buNone/>
                      </a:pPr>
                      <a:r>
                        <a:rPr lang="en-US" sz="1050" b="1" dirty="0">
                          <a:solidFill>
                            <a:srgbClr val="FFFFFF"/>
                          </a:solidFill>
                          <a:latin typeface="Meiryo" pitchFamily="34" charset="0"/>
                          <a:ea typeface="Meiryo" pitchFamily="34" charset="-122"/>
                          <a:cs typeface="Meiryo" pitchFamily="34" charset="-120"/>
                        </a:rPr>
                        <a:t>人がやること</a:t>
                      </a:r>
                      <a:endParaRPr lang="en-US" sz="1050" dirty="0">
                        <a:latin typeface="Meiryo" charset="0"/>
                        <a:ea typeface="Meiryo" charset="0"/>
                        <a:cs typeface="Meiryo" charset="0"/>
                      </a:endParaRPr>
                    </a:p>
                  </a:txBody>
                  <a:tcPr marL="76200" marR="76200" marT="76200" marB="76200" anchor="ctr">
                    <a:lnL w="12700" cap="flat" cmpd="sng" algn="ctr">
                      <a:solidFill>
                        <a:srgbClr val="E8E6DC"/>
                      </a:solidFill>
                      <a:prstDash val="solid"/>
                      <a:round/>
                      <a:headEnd type="none" w="med" len="med"/>
                      <a:tailEnd type="none" w="med" len="med"/>
                    </a:lnL>
                    <a:lnR w="12700" cap="flat" cmpd="sng" algn="ctr">
                      <a:solidFill>
                        <a:srgbClr val="E8E6DC"/>
                      </a:solidFill>
                      <a:prstDash val="solid"/>
                      <a:round/>
                      <a:headEnd type="none" w="med" len="med"/>
                      <a:tailEnd type="none" w="med" len="med"/>
                    </a:lnR>
                    <a:lnT w="12700" cap="flat" cmpd="sng" algn="ctr">
                      <a:solidFill>
                        <a:srgbClr val="E8E6DC"/>
                      </a:solidFill>
                      <a:prstDash val="solid"/>
                      <a:round/>
                      <a:headEnd type="none" w="med" len="med"/>
                      <a:tailEnd type="none" w="med" len="med"/>
                    </a:lnT>
                    <a:lnB w="12700" cap="flat" cmpd="sng" algn="ctr">
                      <a:solidFill>
                        <a:srgbClr val="E8E6DC"/>
                      </a:solidFill>
                      <a:prstDash val="solid"/>
                      <a:round/>
                      <a:headEnd type="none" w="med" len="med"/>
                      <a:tailEnd type="none" w="med" len="med"/>
                    </a:lnB>
                    <a:solidFill>
                      <a:srgbClr val="141413"/>
                    </a:solidFill>
                  </a:tcPr>
                </a:tc>
                <a:tc>
                  <a:txBody>
                    <a:bodyPr/>
                    <a:lstStyle/>
                    <a:p>
                      <a:pPr algn="l" indent="0" marL="0">
                        <a:buNone/>
                      </a:pPr>
                      <a:r>
                        <a:rPr lang="en-US" sz="1050" b="1" dirty="0">
                          <a:solidFill>
                            <a:srgbClr val="FFFFFF"/>
                          </a:solidFill>
                          <a:latin typeface="Meiryo" pitchFamily="34" charset="0"/>
                          <a:ea typeface="Meiryo" pitchFamily="34" charset="-122"/>
                          <a:cs typeface="Meiryo" pitchFamily="34" charset="-120"/>
                        </a:rPr>
                        <a:t>時間の目安</a:t>
                      </a:r>
                      <a:endParaRPr lang="en-US" sz="1050" dirty="0">
                        <a:latin typeface="Meiryo" charset="0"/>
                        <a:ea typeface="Meiryo" charset="0"/>
                        <a:cs typeface="Meiryo" charset="0"/>
                      </a:endParaRPr>
                    </a:p>
                  </a:txBody>
                  <a:tcPr marL="76200" marR="76200" marT="76200" marB="76200" anchor="ctr">
                    <a:lnL w="12700" cap="flat" cmpd="sng" algn="ctr">
                      <a:solidFill>
                        <a:srgbClr val="E8E6DC"/>
                      </a:solidFill>
                      <a:prstDash val="solid"/>
                      <a:round/>
                      <a:headEnd type="none" w="med" len="med"/>
                      <a:tailEnd type="none" w="med" len="med"/>
                    </a:lnL>
                    <a:lnR w="12700" cap="flat" cmpd="sng" algn="ctr">
                      <a:solidFill>
                        <a:srgbClr val="E8E6DC"/>
                      </a:solidFill>
                      <a:prstDash val="solid"/>
                      <a:round/>
                      <a:headEnd type="none" w="med" len="med"/>
                      <a:tailEnd type="none" w="med" len="med"/>
                    </a:lnR>
                    <a:lnT w="12700" cap="flat" cmpd="sng" algn="ctr">
                      <a:solidFill>
                        <a:srgbClr val="E8E6DC"/>
                      </a:solidFill>
                      <a:prstDash val="solid"/>
                      <a:round/>
                      <a:headEnd type="none" w="med" len="med"/>
                      <a:tailEnd type="none" w="med" len="med"/>
                    </a:lnT>
                    <a:lnB w="12700" cap="flat" cmpd="sng" algn="ctr">
                      <a:solidFill>
                        <a:srgbClr val="E8E6DC"/>
                      </a:solidFill>
                      <a:prstDash val="solid"/>
                      <a:round/>
                      <a:headEnd type="none" w="med" len="med"/>
                      <a:tailEnd type="none" w="med" len="med"/>
                    </a:lnB>
                    <a:solidFill>
                      <a:srgbClr val="141413"/>
                    </a:solidFill>
                  </a:tcPr>
                </a:tc>
              </a:tr>
              <a:tr h="502920">
                <a:tc>
                  <a:txBody>
                    <a:bodyPr/>
                    <a:lstStyle/>
                    <a:p>
                      <a:pPr algn="l" indent="0" marL="0">
                        <a:buNone/>
                      </a:pPr>
                      <a:r>
                        <a:rPr lang="en-US" sz="1050" dirty="0">
                          <a:solidFill>
                            <a:srgbClr val="4A4943"/>
                          </a:solidFill>
                          <a:latin typeface="Meiryo" pitchFamily="34" charset="0"/>
                          <a:ea typeface="Meiryo" pitchFamily="34" charset="-122"/>
                          <a:cs typeface="Meiryo" pitchFamily="34" charset="-120"/>
                        </a:rPr>
                        <a:t>ペルソナ設計</a:t>
                      </a:r>
                      <a:endParaRPr lang="en-US" sz="1050" dirty="0">
                        <a:latin typeface="Meiryo" charset="0"/>
                        <a:ea typeface="Meiryo" charset="0"/>
                        <a:cs typeface="Meiryo" charset="0"/>
                      </a:endParaRPr>
                    </a:p>
                  </a:txBody>
                  <a:tcPr marL="76200" marR="76200" marT="76200" marB="76200" anchor="ctr">
                    <a:lnL w="12700" cap="flat" cmpd="sng" algn="ctr">
                      <a:solidFill>
                        <a:srgbClr val="E8E6DC"/>
                      </a:solidFill>
                      <a:prstDash val="solid"/>
                      <a:round/>
                      <a:headEnd type="none" w="med" len="med"/>
                      <a:tailEnd type="none" w="med" len="med"/>
                    </a:lnL>
                    <a:lnR w="12700" cap="flat" cmpd="sng" algn="ctr">
                      <a:solidFill>
                        <a:srgbClr val="E8E6DC"/>
                      </a:solidFill>
                      <a:prstDash val="solid"/>
                      <a:round/>
                      <a:headEnd type="none" w="med" len="med"/>
                      <a:tailEnd type="none" w="med" len="med"/>
                    </a:lnR>
                    <a:lnT w="12700" cap="flat" cmpd="sng" algn="ctr">
                      <a:solidFill>
                        <a:srgbClr val="E8E6DC"/>
                      </a:solidFill>
                      <a:prstDash val="solid"/>
                      <a:round/>
                      <a:headEnd type="none" w="med" len="med"/>
                      <a:tailEnd type="none" w="med" len="med"/>
                    </a:lnT>
                    <a:lnB w="12700" cap="flat" cmpd="sng" algn="ctr">
                      <a:solidFill>
                        <a:srgbClr val="E8E6DC"/>
                      </a:solidFill>
                      <a:prstDash val="solid"/>
                      <a:round/>
                      <a:headEnd type="none" w="med" len="med"/>
                      <a:tailEnd type="none" w="med" len="med"/>
                    </a:lnB>
                  </a:tcPr>
                </a:tc>
                <a:tc>
                  <a:txBody>
                    <a:bodyPr/>
                    <a:lstStyle/>
                    <a:p>
                      <a:pPr algn="l" indent="0" marL="0">
                        <a:buNone/>
                      </a:pPr>
                      <a:r>
                        <a:rPr lang="en-US" sz="1050" dirty="0">
                          <a:solidFill>
                            <a:srgbClr val="4A4943"/>
                          </a:solidFill>
                          <a:latin typeface="Meiryo" pitchFamily="34" charset="0"/>
                          <a:ea typeface="Meiryo" pitchFamily="34" charset="-122"/>
                          <a:cs typeface="Meiryo" pitchFamily="34" charset="-120"/>
                        </a:rPr>
                        <a:t>退職面談メモの分類・要約</a:t>
                      </a:r>
                      <a:endParaRPr lang="en-US" sz="1050" dirty="0">
                        <a:latin typeface="Meiryo" charset="0"/>
                        <a:ea typeface="Meiryo" charset="0"/>
                        <a:cs typeface="Meiryo" charset="0"/>
                      </a:endParaRPr>
                    </a:p>
                  </a:txBody>
                  <a:tcPr marL="76200" marR="76200" marT="76200" marB="76200" anchor="ctr">
                    <a:lnL w="12700" cap="flat" cmpd="sng" algn="ctr">
                      <a:solidFill>
                        <a:srgbClr val="E8E6DC"/>
                      </a:solidFill>
                      <a:prstDash val="solid"/>
                      <a:round/>
                      <a:headEnd type="none" w="med" len="med"/>
                      <a:tailEnd type="none" w="med" len="med"/>
                    </a:lnL>
                    <a:lnR w="12700" cap="flat" cmpd="sng" algn="ctr">
                      <a:solidFill>
                        <a:srgbClr val="E8E6DC"/>
                      </a:solidFill>
                      <a:prstDash val="solid"/>
                      <a:round/>
                      <a:headEnd type="none" w="med" len="med"/>
                      <a:tailEnd type="none" w="med" len="med"/>
                    </a:lnR>
                    <a:lnT w="12700" cap="flat" cmpd="sng" algn="ctr">
                      <a:solidFill>
                        <a:srgbClr val="E8E6DC"/>
                      </a:solidFill>
                      <a:prstDash val="solid"/>
                      <a:round/>
                      <a:headEnd type="none" w="med" len="med"/>
                      <a:tailEnd type="none" w="med" len="med"/>
                    </a:lnT>
                    <a:lnB w="12700" cap="flat" cmpd="sng" algn="ctr">
                      <a:solidFill>
                        <a:srgbClr val="E8E6DC"/>
                      </a:solidFill>
                      <a:prstDash val="solid"/>
                      <a:round/>
                      <a:headEnd type="none" w="med" len="med"/>
                      <a:tailEnd type="none" w="med" len="med"/>
                    </a:lnB>
                  </a:tcPr>
                </a:tc>
                <a:tc>
                  <a:txBody>
                    <a:bodyPr/>
                    <a:lstStyle/>
                    <a:p>
                      <a:pPr algn="l" indent="0" marL="0">
                        <a:buNone/>
                      </a:pPr>
                      <a:r>
                        <a:rPr lang="en-US" sz="1050" dirty="0">
                          <a:solidFill>
                            <a:srgbClr val="4A4943"/>
                          </a:solidFill>
                          <a:latin typeface="Meiryo" pitchFamily="34" charset="0"/>
                          <a:ea typeface="Meiryo" pitchFamily="34" charset="-122"/>
                          <a:cs typeface="Meiryo" pitchFamily="34" charset="-120"/>
                        </a:rPr>
                        <a:t>どの層を狙うかの決定</a:t>
                      </a:r>
                      <a:endParaRPr lang="en-US" sz="1050" dirty="0">
                        <a:latin typeface="Meiryo" charset="0"/>
                        <a:ea typeface="Meiryo" charset="0"/>
                        <a:cs typeface="Meiryo" charset="0"/>
                      </a:endParaRPr>
                    </a:p>
                  </a:txBody>
                  <a:tcPr marL="76200" marR="76200" marT="76200" marB="76200" anchor="ctr">
                    <a:lnL w="12700" cap="flat" cmpd="sng" algn="ctr">
                      <a:solidFill>
                        <a:srgbClr val="E8E6DC"/>
                      </a:solidFill>
                      <a:prstDash val="solid"/>
                      <a:round/>
                      <a:headEnd type="none" w="med" len="med"/>
                      <a:tailEnd type="none" w="med" len="med"/>
                    </a:lnL>
                    <a:lnR w="12700" cap="flat" cmpd="sng" algn="ctr">
                      <a:solidFill>
                        <a:srgbClr val="E8E6DC"/>
                      </a:solidFill>
                      <a:prstDash val="solid"/>
                      <a:round/>
                      <a:headEnd type="none" w="med" len="med"/>
                      <a:tailEnd type="none" w="med" len="med"/>
                    </a:lnR>
                    <a:lnT w="12700" cap="flat" cmpd="sng" algn="ctr">
                      <a:solidFill>
                        <a:srgbClr val="E8E6DC"/>
                      </a:solidFill>
                      <a:prstDash val="solid"/>
                      <a:round/>
                      <a:headEnd type="none" w="med" len="med"/>
                      <a:tailEnd type="none" w="med" len="med"/>
                    </a:lnT>
                    <a:lnB w="12700" cap="flat" cmpd="sng" algn="ctr">
                      <a:solidFill>
                        <a:srgbClr val="E8E6DC"/>
                      </a:solidFill>
                      <a:prstDash val="solid"/>
                      <a:round/>
                      <a:headEnd type="none" w="med" len="med"/>
                      <a:tailEnd type="none" w="med" len="med"/>
                    </a:lnB>
                  </a:tcPr>
                </a:tc>
                <a:tc>
                  <a:txBody>
                    <a:bodyPr/>
                    <a:lstStyle/>
                    <a:p>
                      <a:pPr algn="l" indent="0" marL="0">
                        <a:buNone/>
                      </a:pPr>
                      <a:r>
                        <a:rPr lang="en-US" sz="1050" dirty="0">
                          <a:solidFill>
                            <a:srgbClr val="4A4943"/>
                          </a:solidFill>
                          <a:latin typeface="Meiryo" pitchFamily="34" charset="0"/>
                          <a:ea typeface="Meiryo" pitchFamily="34" charset="-122"/>
                          <a:cs typeface="Meiryo" pitchFamily="34" charset="-120"/>
                        </a:rPr>
                        <a:t>3 時間 → 1 時間</a:t>
                      </a:r>
                      <a:endParaRPr lang="en-US" sz="1050" dirty="0">
                        <a:latin typeface="Meiryo" charset="0"/>
                        <a:ea typeface="Meiryo" charset="0"/>
                        <a:cs typeface="Meiryo" charset="0"/>
                      </a:endParaRPr>
                    </a:p>
                  </a:txBody>
                  <a:tcPr marL="76200" marR="76200" marT="76200" marB="76200" anchor="ctr">
                    <a:lnL w="12700" cap="flat" cmpd="sng" algn="ctr">
                      <a:solidFill>
                        <a:srgbClr val="E8E6DC"/>
                      </a:solidFill>
                      <a:prstDash val="solid"/>
                      <a:round/>
                      <a:headEnd type="none" w="med" len="med"/>
                      <a:tailEnd type="none" w="med" len="med"/>
                    </a:lnL>
                    <a:lnR w="12700" cap="flat" cmpd="sng" algn="ctr">
                      <a:solidFill>
                        <a:srgbClr val="E8E6DC"/>
                      </a:solidFill>
                      <a:prstDash val="solid"/>
                      <a:round/>
                      <a:headEnd type="none" w="med" len="med"/>
                      <a:tailEnd type="none" w="med" len="med"/>
                    </a:lnR>
                    <a:lnT w="12700" cap="flat" cmpd="sng" algn="ctr">
                      <a:solidFill>
                        <a:srgbClr val="E8E6DC"/>
                      </a:solidFill>
                      <a:prstDash val="solid"/>
                      <a:round/>
                      <a:headEnd type="none" w="med" len="med"/>
                      <a:tailEnd type="none" w="med" len="med"/>
                    </a:lnT>
                    <a:lnB w="12700" cap="flat" cmpd="sng" algn="ctr">
                      <a:solidFill>
                        <a:srgbClr val="E8E6DC"/>
                      </a:solidFill>
                      <a:prstDash val="solid"/>
                      <a:round/>
                      <a:headEnd type="none" w="med" len="med"/>
                      <a:tailEnd type="none" w="med" len="med"/>
                    </a:lnB>
                  </a:tcPr>
                </a:tc>
              </a:tr>
              <a:tr h="502920">
                <a:tc>
                  <a:txBody>
                    <a:bodyPr/>
                    <a:lstStyle/>
                    <a:p>
                      <a:pPr algn="l" indent="0" marL="0">
                        <a:buNone/>
                      </a:pPr>
                      <a:r>
                        <a:rPr lang="en-US" sz="1050" dirty="0">
                          <a:solidFill>
                            <a:srgbClr val="4A4943"/>
                          </a:solidFill>
                          <a:latin typeface="Meiryo" pitchFamily="34" charset="0"/>
                          <a:ea typeface="Meiryo" pitchFamily="34" charset="-122"/>
                          <a:cs typeface="Meiryo" pitchFamily="34" charset="-120"/>
                        </a:rPr>
                        <a:t>求人票づくり</a:t>
                      </a:r>
                      <a:endParaRPr lang="en-US" sz="1050" dirty="0">
                        <a:latin typeface="Meiryo" charset="0"/>
                        <a:ea typeface="Meiryo" charset="0"/>
                        <a:cs typeface="Meiryo" charset="0"/>
                      </a:endParaRPr>
                    </a:p>
                  </a:txBody>
                  <a:tcPr marL="76200" marR="76200" marT="76200" marB="76200" anchor="ctr">
                    <a:lnL w="12700" cap="flat" cmpd="sng" algn="ctr">
                      <a:solidFill>
                        <a:srgbClr val="E8E6DC"/>
                      </a:solidFill>
                      <a:prstDash val="solid"/>
                      <a:round/>
                      <a:headEnd type="none" w="med" len="med"/>
                      <a:tailEnd type="none" w="med" len="med"/>
                    </a:lnL>
                    <a:lnR w="12700" cap="flat" cmpd="sng" algn="ctr">
                      <a:solidFill>
                        <a:srgbClr val="E8E6DC"/>
                      </a:solidFill>
                      <a:prstDash val="solid"/>
                      <a:round/>
                      <a:headEnd type="none" w="med" len="med"/>
                      <a:tailEnd type="none" w="med" len="med"/>
                    </a:lnR>
                    <a:lnT w="12700" cap="flat" cmpd="sng" algn="ctr">
                      <a:solidFill>
                        <a:srgbClr val="E8E6DC"/>
                      </a:solidFill>
                      <a:prstDash val="solid"/>
                      <a:round/>
                      <a:headEnd type="none" w="med" len="med"/>
                      <a:tailEnd type="none" w="med" len="med"/>
                    </a:lnT>
                    <a:lnB w="12700" cap="flat" cmpd="sng" algn="ctr">
                      <a:solidFill>
                        <a:srgbClr val="E8E6DC"/>
                      </a:solidFill>
                      <a:prstDash val="solid"/>
                      <a:round/>
                      <a:headEnd type="none" w="med" len="med"/>
                      <a:tailEnd type="none" w="med" len="med"/>
                    </a:lnB>
                  </a:tcPr>
                </a:tc>
                <a:tc>
                  <a:txBody>
                    <a:bodyPr/>
                    <a:lstStyle/>
                    <a:p>
                      <a:pPr algn="l" indent="0" marL="0">
                        <a:buNone/>
                      </a:pPr>
                      <a:r>
                        <a:rPr lang="en-US" sz="1050" dirty="0">
                          <a:solidFill>
                            <a:srgbClr val="4A4943"/>
                          </a:solidFill>
                          <a:latin typeface="Meiryo" pitchFamily="34" charset="0"/>
                          <a:ea typeface="Meiryo" pitchFamily="34" charset="-122"/>
                          <a:cs typeface="Meiryo" pitchFamily="34" charset="-120"/>
                        </a:rPr>
                        <a:t>キャッチコピー案の量産、表現の統一</a:t>
                      </a:r>
                      <a:endParaRPr lang="en-US" sz="1050" dirty="0">
                        <a:latin typeface="Meiryo" charset="0"/>
                        <a:ea typeface="Meiryo" charset="0"/>
                        <a:cs typeface="Meiryo" charset="0"/>
                      </a:endParaRPr>
                    </a:p>
                  </a:txBody>
                  <a:tcPr marL="76200" marR="76200" marT="76200" marB="76200" anchor="ctr">
                    <a:lnL w="12700" cap="flat" cmpd="sng" algn="ctr">
                      <a:solidFill>
                        <a:srgbClr val="E8E6DC"/>
                      </a:solidFill>
                      <a:prstDash val="solid"/>
                      <a:round/>
                      <a:headEnd type="none" w="med" len="med"/>
                      <a:tailEnd type="none" w="med" len="med"/>
                    </a:lnL>
                    <a:lnR w="12700" cap="flat" cmpd="sng" algn="ctr">
                      <a:solidFill>
                        <a:srgbClr val="E8E6DC"/>
                      </a:solidFill>
                      <a:prstDash val="solid"/>
                      <a:round/>
                      <a:headEnd type="none" w="med" len="med"/>
                      <a:tailEnd type="none" w="med" len="med"/>
                    </a:lnR>
                    <a:lnT w="12700" cap="flat" cmpd="sng" algn="ctr">
                      <a:solidFill>
                        <a:srgbClr val="E8E6DC"/>
                      </a:solidFill>
                      <a:prstDash val="solid"/>
                      <a:round/>
                      <a:headEnd type="none" w="med" len="med"/>
                      <a:tailEnd type="none" w="med" len="med"/>
                    </a:lnT>
                    <a:lnB w="12700" cap="flat" cmpd="sng" algn="ctr">
                      <a:solidFill>
                        <a:srgbClr val="E8E6DC"/>
                      </a:solidFill>
                      <a:prstDash val="solid"/>
                      <a:round/>
                      <a:headEnd type="none" w="med" len="med"/>
                      <a:tailEnd type="none" w="med" len="med"/>
                    </a:lnB>
                  </a:tcPr>
                </a:tc>
                <a:tc>
                  <a:txBody>
                    <a:bodyPr/>
                    <a:lstStyle/>
                    <a:p>
                      <a:pPr algn="l" indent="0" marL="0">
                        <a:buNone/>
                      </a:pPr>
                      <a:r>
                        <a:rPr lang="en-US" sz="1050" dirty="0">
                          <a:solidFill>
                            <a:srgbClr val="4A4943"/>
                          </a:solidFill>
                          <a:latin typeface="Meiryo" pitchFamily="34" charset="0"/>
                          <a:ea typeface="Meiryo" pitchFamily="34" charset="-122"/>
                          <a:cs typeface="Meiryo" pitchFamily="34" charset="-120"/>
                        </a:rPr>
                        <a:t>事実確認、現場の言葉への修正</a:t>
                      </a:r>
                      <a:endParaRPr lang="en-US" sz="1050" dirty="0">
                        <a:latin typeface="Meiryo" charset="0"/>
                        <a:ea typeface="Meiryo" charset="0"/>
                        <a:cs typeface="Meiryo" charset="0"/>
                      </a:endParaRPr>
                    </a:p>
                  </a:txBody>
                  <a:tcPr marL="76200" marR="76200" marT="76200" marB="76200" anchor="ctr">
                    <a:lnL w="12700" cap="flat" cmpd="sng" algn="ctr">
                      <a:solidFill>
                        <a:srgbClr val="E8E6DC"/>
                      </a:solidFill>
                      <a:prstDash val="solid"/>
                      <a:round/>
                      <a:headEnd type="none" w="med" len="med"/>
                      <a:tailEnd type="none" w="med" len="med"/>
                    </a:lnL>
                    <a:lnR w="12700" cap="flat" cmpd="sng" algn="ctr">
                      <a:solidFill>
                        <a:srgbClr val="E8E6DC"/>
                      </a:solidFill>
                      <a:prstDash val="solid"/>
                      <a:round/>
                      <a:headEnd type="none" w="med" len="med"/>
                      <a:tailEnd type="none" w="med" len="med"/>
                    </a:lnR>
                    <a:lnT w="12700" cap="flat" cmpd="sng" algn="ctr">
                      <a:solidFill>
                        <a:srgbClr val="E8E6DC"/>
                      </a:solidFill>
                      <a:prstDash val="solid"/>
                      <a:round/>
                      <a:headEnd type="none" w="med" len="med"/>
                      <a:tailEnd type="none" w="med" len="med"/>
                    </a:lnT>
                    <a:lnB w="12700" cap="flat" cmpd="sng" algn="ctr">
                      <a:solidFill>
                        <a:srgbClr val="E8E6DC"/>
                      </a:solidFill>
                      <a:prstDash val="solid"/>
                      <a:round/>
                      <a:headEnd type="none" w="med" len="med"/>
                      <a:tailEnd type="none" w="med" len="med"/>
                    </a:lnB>
                  </a:tcPr>
                </a:tc>
                <a:tc>
                  <a:txBody>
                    <a:bodyPr/>
                    <a:lstStyle/>
                    <a:p>
                      <a:pPr algn="l" indent="0" marL="0">
                        <a:buNone/>
                      </a:pPr>
                      <a:r>
                        <a:rPr lang="en-US" sz="1050" dirty="0">
                          <a:solidFill>
                            <a:srgbClr val="4A4943"/>
                          </a:solidFill>
                          <a:latin typeface="Meiryo" pitchFamily="34" charset="0"/>
                          <a:ea typeface="Meiryo" pitchFamily="34" charset="-122"/>
                          <a:cs typeface="Meiryo" pitchFamily="34" charset="-120"/>
                        </a:rPr>
                        <a:t>8 時間 → 3 時間</a:t>
                      </a:r>
                      <a:endParaRPr lang="en-US" sz="1050" dirty="0">
                        <a:latin typeface="Meiryo" charset="0"/>
                        <a:ea typeface="Meiryo" charset="0"/>
                        <a:cs typeface="Meiryo" charset="0"/>
                      </a:endParaRPr>
                    </a:p>
                  </a:txBody>
                  <a:tcPr marL="76200" marR="76200" marT="76200" marB="76200" anchor="ctr">
                    <a:lnL w="12700" cap="flat" cmpd="sng" algn="ctr">
                      <a:solidFill>
                        <a:srgbClr val="E8E6DC"/>
                      </a:solidFill>
                      <a:prstDash val="solid"/>
                      <a:round/>
                      <a:headEnd type="none" w="med" len="med"/>
                      <a:tailEnd type="none" w="med" len="med"/>
                    </a:lnL>
                    <a:lnR w="12700" cap="flat" cmpd="sng" algn="ctr">
                      <a:solidFill>
                        <a:srgbClr val="E8E6DC"/>
                      </a:solidFill>
                      <a:prstDash val="solid"/>
                      <a:round/>
                      <a:headEnd type="none" w="med" len="med"/>
                      <a:tailEnd type="none" w="med" len="med"/>
                    </a:lnR>
                    <a:lnT w="12700" cap="flat" cmpd="sng" algn="ctr">
                      <a:solidFill>
                        <a:srgbClr val="E8E6DC"/>
                      </a:solidFill>
                      <a:prstDash val="solid"/>
                      <a:round/>
                      <a:headEnd type="none" w="med" len="med"/>
                      <a:tailEnd type="none" w="med" len="med"/>
                    </a:lnT>
                    <a:lnB w="12700" cap="flat" cmpd="sng" algn="ctr">
                      <a:solidFill>
                        <a:srgbClr val="E8E6DC"/>
                      </a:solidFill>
                      <a:prstDash val="solid"/>
                      <a:round/>
                      <a:headEnd type="none" w="med" len="med"/>
                      <a:tailEnd type="none" w="med" len="med"/>
                    </a:lnB>
                  </a:tcPr>
                </a:tc>
              </a:tr>
              <a:tr h="502920">
                <a:tc>
                  <a:txBody>
                    <a:bodyPr/>
                    <a:lstStyle/>
                    <a:p>
                      <a:pPr algn="l" indent="0" marL="0">
                        <a:buNone/>
                      </a:pPr>
                      <a:r>
                        <a:rPr lang="en-US" sz="1050" dirty="0">
                          <a:solidFill>
                            <a:srgbClr val="4A4943"/>
                          </a:solidFill>
                          <a:latin typeface="Meiryo" pitchFamily="34" charset="0"/>
                          <a:ea typeface="Meiryo" pitchFamily="34" charset="-122"/>
                          <a:cs typeface="Meiryo" pitchFamily="34" charset="-120"/>
                        </a:rPr>
                        <a:t>採用ページ</a:t>
                      </a:r>
                      <a:endParaRPr lang="en-US" sz="1050" dirty="0">
                        <a:latin typeface="Meiryo" charset="0"/>
                        <a:ea typeface="Meiryo" charset="0"/>
                        <a:cs typeface="Meiryo" charset="0"/>
                      </a:endParaRPr>
                    </a:p>
                  </a:txBody>
                  <a:tcPr marL="76200" marR="76200" marT="76200" marB="76200" anchor="ctr">
                    <a:lnL w="12700" cap="flat" cmpd="sng" algn="ctr">
                      <a:solidFill>
                        <a:srgbClr val="E8E6DC"/>
                      </a:solidFill>
                      <a:prstDash val="solid"/>
                      <a:round/>
                      <a:headEnd type="none" w="med" len="med"/>
                      <a:tailEnd type="none" w="med" len="med"/>
                    </a:lnL>
                    <a:lnR w="12700" cap="flat" cmpd="sng" algn="ctr">
                      <a:solidFill>
                        <a:srgbClr val="E8E6DC"/>
                      </a:solidFill>
                      <a:prstDash val="solid"/>
                      <a:round/>
                      <a:headEnd type="none" w="med" len="med"/>
                      <a:tailEnd type="none" w="med" len="med"/>
                    </a:lnR>
                    <a:lnT w="12700" cap="flat" cmpd="sng" algn="ctr">
                      <a:solidFill>
                        <a:srgbClr val="E8E6DC"/>
                      </a:solidFill>
                      <a:prstDash val="solid"/>
                      <a:round/>
                      <a:headEnd type="none" w="med" len="med"/>
                      <a:tailEnd type="none" w="med" len="med"/>
                    </a:lnT>
                    <a:lnB w="12700" cap="flat" cmpd="sng" algn="ctr">
                      <a:solidFill>
                        <a:srgbClr val="E8E6DC"/>
                      </a:solidFill>
                      <a:prstDash val="solid"/>
                      <a:round/>
                      <a:headEnd type="none" w="med" len="med"/>
                      <a:tailEnd type="none" w="med" len="med"/>
                    </a:lnB>
                  </a:tcPr>
                </a:tc>
                <a:tc>
                  <a:txBody>
                    <a:bodyPr/>
                    <a:lstStyle/>
                    <a:p>
                      <a:pPr algn="l" indent="0" marL="0">
                        <a:buNone/>
                      </a:pPr>
                      <a:r>
                        <a:rPr lang="en-US" sz="1050" dirty="0">
                          <a:solidFill>
                            <a:srgbClr val="4A4943"/>
                          </a:solidFill>
                          <a:latin typeface="Meiryo" pitchFamily="34" charset="0"/>
                          <a:ea typeface="Meiryo" pitchFamily="34" charset="-122"/>
                          <a:cs typeface="Meiryo" pitchFamily="34" charset="-120"/>
                        </a:rPr>
                        <a:t>6 ブロックの下書き、FAQ の生成</a:t>
                      </a:r>
                      <a:endParaRPr lang="en-US" sz="1050" dirty="0">
                        <a:latin typeface="Meiryo" charset="0"/>
                        <a:ea typeface="Meiryo" charset="0"/>
                        <a:cs typeface="Meiryo" charset="0"/>
                      </a:endParaRPr>
                    </a:p>
                  </a:txBody>
                  <a:tcPr marL="76200" marR="76200" marT="76200" marB="76200" anchor="ctr">
                    <a:lnL w="12700" cap="flat" cmpd="sng" algn="ctr">
                      <a:solidFill>
                        <a:srgbClr val="E8E6DC"/>
                      </a:solidFill>
                      <a:prstDash val="solid"/>
                      <a:round/>
                      <a:headEnd type="none" w="med" len="med"/>
                      <a:tailEnd type="none" w="med" len="med"/>
                    </a:lnL>
                    <a:lnR w="12700" cap="flat" cmpd="sng" algn="ctr">
                      <a:solidFill>
                        <a:srgbClr val="E8E6DC"/>
                      </a:solidFill>
                      <a:prstDash val="solid"/>
                      <a:round/>
                      <a:headEnd type="none" w="med" len="med"/>
                      <a:tailEnd type="none" w="med" len="med"/>
                    </a:lnR>
                    <a:lnT w="12700" cap="flat" cmpd="sng" algn="ctr">
                      <a:solidFill>
                        <a:srgbClr val="E8E6DC"/>
                      </a:solidFill>
                      <a:prstDash val="solid"/>
                      <a:round/>
                      <a:headEnd type="none" w="med" len="med"/>
                      <a:tailEnd type="none" w="med" len="med"/>
                    </a:lnT>
                    <a:lnB w="12700" cap="flat" cmpd="sng" algn="ctr">
                      <a:solidFill>
                        <a:srgbClr val="E8E6DC"/>
                      </a:solidFill>
                      <a:prstDash val="solid"/>
                      <a:round/>
                      <a:headEnd type="none" w="med" len="med"/>
                      <a:tailEnd type="none" w="med" len="med"/>
                    </a:lnB>
                  </a:tcPr>
                </a:tc>
                <a:tc>
                  <a:txBody>
                    <a:bodyPr/>
                    <a:lstStyle/>
                    <a:p>
                      <a:pPr algn="l" indent="0" marL="0">
                        <a:buNone/>
                      </a:pPr>
                      <a:r>
                        <a:rPr lang="en-US" sz="1050" dirty="0">
                          <a:solidFill>
                            <a:srgbClr val="4A4943"/>
                          </a:solidFill>
                          <a:latin typeface="Meiryo" pitchFamily="34" charset="0"/>
                          <a:ea typeface="Meiryo" pitchFamily="34" charset="-122"/>
                          <a:cs typeface="Meiryo" pitchFamily="34" charset="-120"/>
                        </a:rPr>
                        <a:t>理念パートの執筆、写真の選定</a:t>
                      </a:r>
                      <a:endParaRPr lang="en-US" sz="1050" dirty="0">
                        <a:latin typeface="Meiryo" charset="0"/>
                        <a:ea typeface="Meiryo" charset="0"/>
                        <a:cs typeface="Meiryo" charset="0"/>
                      </a:endParaRPr>
                    </a:p>
                  </a:txBody>
                  <a:tcPr marL="76200" marR="76200" marT="76200" marB="76200" anchor="ctr">
                    <a:lnL w="12700" cap="flat" cmpd="sng" algn="ctr">
                      <a:solidFill>
                        <a:srgbClr val="E8E6DC"/>
                      </a:solidFill>
                      <a:prstDash val="solid"/>
                      <a:round/>
                      <a:headEnd type="none" w="med" len="med"/>
                      <a:tailEnd type="none" w="med" len="med"/>
                    </a:lnL>
                    <a:lnR w="12700" cap="flat" cmpd="sng" algn="ctr">
                      <a:solidFill>
                        <a:srgbClr val="E8E6DC"/>
                      </a:solidFill>
                      <a:prstDash val="solid"/>
                      <a:round/>
                      <a:headEnd type="none" w="med" len="med"/>
                      <a:tailEnd type="none" w="med" len="med"/>
                    </a:lnR>
                    <a:lnT w="12700" cap="flat" cmpd="sng" algn="ctr">
                      <a:solidFill>
                        <a:srgbClr val="E8E6DC"/>
                      </a:solidFill>
                      <a:prstDash val="solid"/>
                      <a:round/>
                      <a:headEnd type="none" w="med" len="med"/>
                      <a:tailEnd type="none" w="med" len="med"/>
                    </a:lnT>
                    <a:lnB w="12700" cap="flat" cmpd="sng" algn="ctr">
                      <a:solidFill>
                        <a:srgbClr val="E8E6DC"/>
                      </a:solidFill>
                      <a:prstDash val="solid"/>
                      <a:round/>
                      <a:headEnd type="none" w="med" len="med"/>
                      <a:tailEnd type="none" w="med" len="med"/>
                    </a:lnB>
                  </a:tcPr>
                </a:tc>
                <a:tc>
                  <a:txBody>
                    <a:bodyPr/>
                    <a:lstStyle/>
                    <a:p>
                      <a:pPr algn="l" indent="0" marL="0">
                        <a:buNone/>
                      </a:pPr>
                      <a:r>
                        <a:rPr lang="en-US" sz="1050" dirty="0">
                          <a:solidFill>
                            <a:srgbClr val="4A4943"/>
                          </a:solidFill>
                          <a:latin typeface="Meiryo" pitchFamily="34" charset="0"/>
                          <a:ea typeface="Meiryo" pitchFamily="34" charset="-122"/>
                          <a:cs typeface="Meiryo" pitchFamily="34" charset="-120"/>
                        </a:rPr>
                        <a:t>20 時間 → 8 時間</a:t>
                      </a:r>
                      <a:endParaRPr lang="en-US" sz="1050" dirty="0">
                        <a:latin typeface="Meiryo" charset="0"/>
                        <a:ea typeface="Meiryo" charset="0"/>
                        <a:cs typeface="Meiryo" charset="0"/>
                      </a:endParaRPr>
                    </a:p>
                  </a:txBody>
                  <a:tcPr marL="76200" marR="76200" marT="76200" marB="76200" anchor="ctr">
                    <a:lnL w="12700" cap="flat" cmpd="sng" algn="ctr">
                      <a:solidFill>
                        <a:srgbClr val="E8E6DC"/>
                      </a:solidFill>
                      <a:prstDash val="solid"/>
                      <a:round/>
                      <a:headEnd type="none" w="med" len="med"/>
                      <a:tailEnd type="none" w="med" len="med"/>
                    </a:lnL>
                    <a:lnR w="12700" cap="flat" cmpd="sng" algn="ctr">
                      <a:solidFill>
                        <a:srgbClr val="E8E6DC"/>
                      </a:solidFill>
                      <a:prstDash val="solid"/>
                      <a:round/>
                      <a:headEnd type="none" w="med" len="med"/>
                      <a:tailEnd type="none" w="med" len="med"/>
                    </a:lnR>
                    <a:lnT w="12700" cap="flat" cmpd="sng" algn="ctr">
                      <a:solidFill>
                        <a:srgbClr val="E8E6DC"/>
                      </a:solidFill>
                      <a:prstDash val="solid"/>
                      <a:round/>
                      <a:headEnd type="none" w="med" len="med"/>
                      <a:tailEnd type="none" w="med" len="med"/>
                    </a:lnT>
                    <a:lnB w="12700" cap="flat" cmpd="sng" algn="ctr">
                      <a:solidFill>
                        <a:srgbClr val="E8E6DC"/>
                      </a:solidFill>
                      <a:prstDash val="solid"/>
                      <a:round/>
                      <a:headEnd type="none" w="med" len="med"/>
                      <a:tailEnd type="none" w="med" len="med"/>
                    </a:lnB>
                  </a:tcPr>
                </a:tc>
              </a:tr>
              <a:tr h="502920">
                <a:tc>
                  <a:txBody>
                    <a:bodyPr/>
                    <a:lstStyle/>
                    <a:p>
                      <a:pPr algn="l" indent="0" marL="0">
                        <a:buNone/>
                      </a:pPr>
                      <a:r>
                        <a:rPr lang="en-US" sz="1050" dirty="0">
                          <a:solidFill>
                            <a:srgbClr val="4A4943"/>
                          </a:solidFill>
                          <a:latin typeface="Meiryo" pitchFamily="34" charset="0"/>
                          <a:ea typeface="Meiryo" pitchFamily="34" charset="-122"/>
                          <a:cs typeface="Meiryo" pitchFamily="34" charset="-120"/>
                        </a:rPr>
                        <a:t>スカウト・案内文</a:t>
                      </a:r>
                      <a:endParaRPr lang="en-US" sz="1050" dirty="0">
                        <a:latin typeface="Meiryo" charset="0"/>
                        <a:ea typeface="Meiryo" charset="0"/>
                        <a:cs typeface="Meiryo" charset="0"/>
                      </a:endParaRPr>
                    </a:p>
                  </a:txBody>
                  <a:tcPr marL="76200" marR="76200" marT="76200" marB="76200" anchor="ctr">
                    <a:lnL w="12700" cap="flat" cmpd="sng" algn="ctr">
                      <a:solidFill>
                        <a:srgbClr val="E8E6DC"/>
                      </a:solidFill>
                      <a:prstDash val="solid"/>
                      <a:round/>
                      <a:headEnd type="none" w="med" len="med"/>
                      <a:tailEnd type="none" w="med" len="med"/>
                    </a:lnL>
                    <a:lnR w="12700" cap="flat" cmpd="sng" algn="ctr">
                      <a:solidFill>
                        <a:srgbClr val="E8E6DC"/>
                      </a:solidFill>
                      <a:prstDash val="solid"/>
                      <a:round/>
                      <a:headEnd type="none" w="med" len="med"/>
                      <a:tailEnd type="none" w="med" len="med"/>
                    </a:lnR>
                    <a:lnT w="12700" cap="flat" cmpd="sng" algn="ctr">
                      <a:solidFill>
                        <a:srgbClr val="E8E6DC"/>
                      </a:solidFill>
                      <a:prstDash val="solid"/>
                      <a:round/>
                      <a:headEnd type="none" w="med" len="med"/>
                      <a:tailEnd type="none" w="med" len="med"/>
                    </a:lnT>
                    <a:lnB w="12700" cap="flat" cmpd="sng" algn="ctr">
                      <a:solidFill>
                        <a:srgbClr val="E8E6DC"/>
                      </a:solidFill>
                      <a:prstDash val="solid"/>
                      <a:round/>
                      <a:headEnd type="none" w="med" len="med"/>
                      <a:tailEnd type="none" w="med" len="med"/>
                    </a:lnB>
                  </a:tcPr>
                </a:tc>
                <a:tc>
                  <a:txBody>
                    <a:bodyPr/>
                    <a:lstStyle/>
                    <a:p>
                      <a:pPr algn="l" indent="0" marL="0">
                        <a:buNone/>
                      </a:pPr>
                      <a:r>
                        <a:rPr lang="en-US" sz="1050" dirty="0">
                          <a:solidFill>
                            <a:srgbClr val="4A4943"/>
                          </a:solidFill>
                          <a:latin typeface="Meiryo" pitchFamily="34" charset="0"/>
                          <a:ea typeface="Meiryo" pitchFamily="34" charset="-122"/>
                          <a:cs typeface="Meiryo" pitchFamily="34" charset="-120"/>
                        </a:rPr>
                        <a:t>個別文面の下書き、日程調整文</a:t>
                      </a:r>
                      <a:endParaRPr lang="en-US" sz="1050" dirty="0">
                        <a:latin typeface="Meiryo" charset="0"/>
                        <a:ea typeface="Meiryo" charset="0"/>
                        <a:cs typeface="Meiryo" charset="0"/>
                      </a:endParaRPr>
                    </a:p>
                  </a:txBody>
                  <a:tcPr marL="76200" marR="76200" marT="76200" marB="76200" anchor="ctr">
                    <a:lnL w="12700" cap="flat" cmpd="sng" algn="ctr">
                      <a:solidFill>
                        <a:srgbClr val="E8E6DC"/>
                      </a:solidFill>
                      <a:prstDash val="solid"/>
                      <a:round/>
                      <a:headEnd type="none" w="med" len="med"/>
                      <a:tailEnd type="none" w="med" len="med"/>
                    </a:lnL>
                    <a:lnR w="12700" cap="flat" cmpd="sng" algn="ctr">
                      <a:solidFill>
                        <a:srgbClr val="E8E6DC"/>
                      </a:solidFill>
                      <a:prstDash val="solid"/>
                      <a:round/>
                      <a:headEnd type="none" w="med" len="med"/>
                      <a:tailEnd type="none" w="med" len="med"/>
                    </a:lnR>
                    <a:lnT w="12700" cap="flat" cmpd="sng" algn="ctr">
                      <a:solidFill>
                        <a:srgbClr val="E8E6DC"/>
                      </a:solidFill>
                      <a:prstDash val="solid"/>
                      <a:round/>
                      <a:headEnd type="none" w="med" len="med"/>
                      <a:tailEnd type="none" w="med" len="med"/>
                    </a:lnT>
                    <a:lnB w="12700" cap="flat" cmpd="sng" algn="ctr">
                      <a:solidFill>
                        <a:srgbClr val="E8E6DC"/>
                      </a:solidFill>
                      <a:prstDash val="solid"/>
                      <a:round/>
                      <a:headEnd type="none" w="med" len="med"/>
                      <a:tailEnd type="none" w="med" len="med"/>
                    </a:lnB>
                  </a:tcPr>
                </a:tc>
                <a:tc>
                  <a:txBody>
                    <a:bodyPr/>
                    <a:lstStyle/>
                    <a:p>
                      <a:pPr algn="l" indent="0" marL="0">
                        <a:buNone/>
                      </a:pPr>
                      <a:r>
                        <a:rPr lang="en-US" sz="1050" dirty="0">
                          <a:solidFill>
                            <a:srgbClr val="4A4943"/>
                          </a:solidFill>
                          <a:latin typeface="Meiryo" pitchFamily="34" charset="0"/>
                          <a:ea typeface="Meiryo" pitchFamily="34" charset="-122"/>
                          <a:cs typeface="Meiryo" pitchFamily="34" charset="-120"/>
                        </a:rPr>
                        <a:t>送る相手の選定、最終確認</a:t>
                      </a:r>
                      <a:endParaRPr lang="en-US" sz="1050" dirty="0">
                        <a:latin typeface="Meiryo" charset="0"/>
                        <a:ea typeface="Meiryo" charset="0"/>
                        <a:cs typeface="Meiryo" charset="0"/>
                      </a:endParaRPr>
                    </a:p>
                  </a:txBody>
                  <a:tcPr marL="76200" marR="76200" marT="76200" marB="76200" anchor="ctr">
                    <a:lnL w="12700" cap="flat" cmpd="sng" algn="ctr">
                      <a:solidFill>
                        <a:srgbClr val="E8E6DC"/>
                      </a:solidFill>
                      <a:prstDash val="solid"/>
                      <a:round/>
                      <a:headEnd type="none" w="med" len="med"/>
                      <a:tailEnd type="none" w="med" len="med"/>
                    </a:lnL>
                    <a:lnR w="12700" cap="flat" cmpd="sng" algn="ctr">
                      <a:solidFill>
                        <a:srgbClr val="E8E6DC"/>
                      </a:solidFill>
                      <a:prstDash val="solid"/>
                      <a:round/>
                      <a:headEnd type="none" w="med" len="med"/>
                      <a:tailEnd type="none" w="med" len="med"/>
                    </a:lnR>
                    <a:lnT w="12700" cap="flat" cmpd="sng" algn="ctr">
                      <a:solidFill>
                        <a:srgbClr val="E8E6DC"/>
                      </a:solidFill>
                      <a:prstDash val="solid"/>
                      <a:round/>
                      <a:headEnd type="none" w="med" len="med"/>
                      <a:tailEnd type="none" w="med" len="med"/>
                    </a:lnT>
                    <a:lnB w="12700" cap="flat" cmpd="sng" algn="ctr">
                      <a:solidFill>
                        <a:srgbClr val="E8E6DC"/>
                      </a:solidFill>
                      <a:prstDash val="solid"/>
                      <a:round/>
                      <a:headEnd type="none" w="med" len="med"/>
                      <a:tailEnd type="none" w="med" len="med"/>
                    </a:lnB>
                  </a:tcPr>
                </a:tc>
                <a:tc>
                  <a:txBody>
                    <a:bodyPr/>
                    <a:lstStyle/>
                    <a:p>
                      <a:pPr algn="l" indent="0" marL="0">
                        <a:buNone/>
                      </a:pPr>
                      <a:r>
                        <a:rPr lang="en-US" sz="1050" dirty="0">
                          <a:solidFill>
                            <a:srgbClr val="4A4943"/>
                          </a:solidFill>
                          <a:latin typeface="Meiryo" pitchFamily="34" charset="0"/>
                          <a:ea typeface="Meiryo" pitchFamily="34" charset="-122"/>
                          <a:cs typeface="Meiryo" pitchFamily="34" charset="-120"/>
                        </a:rPr>
                        <a:t>5 時間 → 1 時間</a:t>
                      </a:r>
                      <a:endParaRPr lang="en-US" sz="1050" dirty="0">
                        <a:latin typeface="Meiryo" charset="0"/>
                        <a:ea typeface="Meiryo" charset="0"/>
                        <a:cs typeface="Meiryo" charset="0"/>
                      </a:endParaRPr>
                    </a:p>
                  </a:txBody>
                  <a:tcPr marL="76200" marR="76200" marT="76200" marB="76200" anchor="ctr">
                    <a:lnL w="12700" cap="flat" cmpd="sng" algn="ctr">
                      <a:solidFill>
                        <a:srgbClr val="E8E6DC"/>
                      </a:solidFill>
                      <a:prstDash val="solid"/>
                      <a:round/>
                      <a:headEnd type="none" w="med" len="med"/>
                      <a:tailEnd type="none" w="med" len="med"/>
                    </a:lnL>
                    <a:lnR w="12700" cap="flat" cmpd="sng" algn="ctr">
                      <a:solidFill>
                        <a:srgbClr val="E8E6DC"/>
                      </a:solidFill>
                      <a:prstDash val="solid"/>
                      <a:round/>
                      <a:headEnd type="none" w="med" len="med"/>
                      <a:tailEnd type="none" w="med" len="med"/>
                    </a:lnR>
                    <a:lnT w="12700" cap="flat" cmpd="sng" algn="ctr">
                      <a:solidFill>
                        <a:srgbClr val="E8E6DC"/>
                      </a:solidFill>
                      <a:prstDash val="solid"/>
                      <a:round/>
                      <a:headEnd type="none" w="med" len="med"/>
                      <a:tailEnd type="none" w="med" len="med"/>
                    </a:lnT>
                    <a:lnB w="12700" cap="flat" cmpd="sng" algn="ctr">
                      <a:solidFill>
                        <a:srgbClr val="E8E6DC"/>
                      </a:solidFill>
                      <a:prstDash val="solid"/>
                      <a:round/>
                      <a:headEnd type="none" w="med" len="med"/>
                      <a:tailEnd type="none" w="med" len="med"/>
                    </a:lnB>
                  </a:tcPr>
                </a:tc>
              </a:tr>
              <a:tr h="502920">
                <a:tc>
                  <a:txBody>
                    <a:bodyPr/>
                    <a:lstStyle/>
                    <a:p>
                      <a:pPr algn="l" indent="0" marL="0">
                        <a:buNone/>
                      </a:pPr>
                      <a:r>
                        <a:rPr lang="en-US" sz="1050" dirty="0">
                          <a:solidFill>
                            <a:srgbClr val="4A4943"/>
                          </a:solidFill>
                          <a:latin typeface="Meiryo" pitchFamily="34" charset="0"/>
                          <a:ea typeface="Meiryo" pitchFamily="34" charset="-122"/>
                          <a:cs typeface="Meiryo" pitchFamily="34" charset="-120"/>
                        </a:rPr>
                        <a:t>動画</a:t>
                      </a:r>
                      <a:endParaRPr lang="en-US" sz="1050" dirty="0">
                        <a:latin typeface="Meiryo" charset="0"/>
                        <a:ea typeface="Meiryo" charset="0"/>
                        <a:cs typeface="Meiryo" charset="0"/>
                      </a:endParaRPr>
                    </a:p>
                  </a:txBody>
                  <a:tcPr marL="76200" marR="76200" marT="76200" marB="76200" anchor="ctr">
                    <a:lnL w="12700" cap="flat" cmpd="sng" algn="ctr">
                      <a:solidFill>
                        <a:srgbClr val="E8E6DC"/>
                      </a:solidFill>
                      <a:prstDash val="solid"/>
                      <a:round/>
                      <a:headEnd type="none" w="med" len="med"/>
                      <a:tailEnd type="none" w="med" len="med"/>
                    </a:lnL>
                    <a:lnR w="12700" cap="flat" cmpd="sng" algn="ctr">
                      <a:solidFill>
                        <a:srgbClr val="E8E6DC"/>
                      </a:solidFill>
                      <a:prstDash val="solid"/>
                      <a:round/>
                      <a:headEnd type="none" w="med" len="med"/>
                      <a:tailEnd type="none" w="med" len="med"/>
                    </a:lnR>
                    <a:lnT w="12700" cap="flat" cmpd="sng" algn="ctr">
                      <a:solidFill>
                        <a:srgbClr val="E8E6DC"/>
                      </a:solidFill>
                      <a:prstDash val="solid"/>
                      <a:round/>
                      <a:headEnd type="none" w="med" len="med"/>
                      <a:tailEnd type="none" w="med" len="med"/>
                    </a:lnT>
                    <a:lnB w="12700" cap="flat" cmpd="sng" algn="ctr">
                      <a:solidFill>
                        <a:srgbClr val="E8E6DC"/>
                      </a:solidFill>
                      <a:prstDash val="solid"/>
                      <a:round/>
                      <a:headEnd type="none" w="med" len="med"/>
                      <a:tailEnd type="none" w="med" len="med"/>
                    </a:lnB>
                  </a:tcPr>
                </a:tc>
                <a:tc>
                  <a:txBody>
                    <a:bodyPr/>
                    <a:lstStyle/>
                    <a:p>
                      <a:pPr algn="l" indent="0" marL="0">
                        <a:buNone/>
                      </a:pPr>
                      <a:r>
                        <a:rPr lang="en-US" sz="1050" dirty="0">
                          <a:solidFill>
                            <a:srgbClr val="4A4943"/>
                          </a:solidFill>
                          <a:latin typeface="Meiryo" pitchFamily="34" charset="0"/>
                          <a:ea typeface="Meiryo" pitchFamily="34" charset="-122"/>
                          <a:cs typeface="Meiryo" pitchFamily="34" charset="-120"/>
                        </a:rPr>
                        <a:t>文字起こし、字幕整形、紹介文案</a:t>
                      </a:r>
                      <a:endParaRPr lang="en-US" sz="1050" dirty="0">
                        <a:latin typeface="Meiryo" charset="0"/>
                        <a:ea typeface="Meiryo" charset="0"/>
                        <a:cs typeface="Meiryo" charset="0"/>
                      </a:endParaRPr>
                    </a:p>
                  </a:txBody>
                  <a:tcPr marL="76200" marR="76200" marT="76200" marB="76200" anchor="ctr">
                    <a:lnL w="12700" cap="flat" cmpd="sng" algn="ctr">
                      <a:solidFill>
                        <a:srgbClr val="E8E6DC"/>
                      </a:solidFill>
                      <a:prstDash val="solid"/>
                      <a:round/>
                      <a:headEnd type="none" w="med" len="med"/>
                      <a:tailEnd type="none" w="med" len="med"/>
                    </a:lnL>
                    <a:lnR w="12700" cap="flat" cmpd="sng" algn="ctr">
                      <a:solidFill>
                        <a:srgbClr val="E8E6DC"/>
                      </a:solidFill>
                      <a:prstDash val="solid"/>
                      <a:round/>
                      <a:headEnd type="none" w="med" len="med"/>
                      <a:tailEnd type="none" w="med" len="med"/>
                    </a:lnR>
                    <a:lnT w="12700" cap="flat" cmpd="sng" algn="ctr">
                      <a:solidFill>
                        <a:srgbClr val="E8E6DC"/>
                      </a:solidFill>
                      <a:prstDash val="solid"/>
                      <a:round/>
                      <a:headEnd type="none" w="med" len="med"/>
                      <a:tailEnd type="none" w="med" len="med"/>
                    </a:lnT>
                    <a:lnB w="12700" cap="flat" cmpd="sng" algn="ctr">
                      <a:solidFill>
                        <a:srgbClr val="E8E6DC"/>
                      </a:solidFill>
                      <a:prstDash val="solid"/>
                      <a:round/>
                      <a:headEnd type="none" w="med" len="med"/>
                      <a:tailEnd type="none" w="med" len="med"/>
                    </a:lnB>
                  </a:tcPr>
                </a:tc>
                <a:tc>
                  <a:txBody>
                    <a:bodyPr/>
                    <a:lstStyle/>
                    <a:p>
                      <a:pPr algn="l" indent="0" marL="0">
                        <a:buNone/>
                      </a:pPr>
                      <a:r>
                        <a:rPr lang="en-US" sz="1050" dirty="0">
                          <a:solidFill>
                            <a:srgbClr val="4A4943"/>
                          </a:solidFill>
                          <a:latin typeface="Meiryo" pitchFamily="34" charset="0"/>
                          <a:ea typeface="Meiryo" pitchFamily="34" charset="-122"/>
                          <a:cs typeface="Meiryo" pitchFamily="34" charset="-120"/>
                        </a:rPr>
                        <a:t>撮影、話し手の選定</a:t>
                      </a:r>
                      <a:endParaRPr lang="en-US" sz="1050" dirty="0">
                        <a:latin typeface="Meiryo" charset="0"/>
                        <a:ea typeface="Meiryo" charset="0"/>
                        <a:cs typeface="Meiryo" charset="0"/>
                      </a:endParaRPr>
                    </a:p>
                  </a:txBody>
                  <a:tcPr marL="76200" marR="76200" marT="76200" marB="76200" anchor="ctr">
                    <a:lnL w="12700" cap="flat" cmpd="sng" algn="ctr">
                      <a:solidFill>
                        <a:srgbClr val="E8E6DC"/>
                      </a:solidFill>
                      <a:prstDash val="solid"/>
                      <a:round/>
                      <a:headEnd type="none" w="med" len="med"/>
                      <a:tailEnd type="none" w="med" len="med"/>
                    </a:lnL>
                    <a:lnR w="12700" cap="flat" cmpd="sng" algn="ctr">
                      <a:solidFill>
                        <a:srgbClr val="E8E6DC"/>
                      </a:solidFill>
                      <a:prstDash val="solid"/>
                      <a:round/>
                      <a:headEnd type="none" w="med" len="med"/>
                      <a:tailEnd type="none" w="med" len="med"/>
                    </a:lnR>
                    <a:lnT w="12700" cap="flat" cmpd="sng" algn="ctr">
                      <a:solidFill>
                        <a:srgbClr val="E8E6DC"/>
                      </a:solidFill>
                      <a:prstDash val="solid"/>
                      <a:round/>
                      <a:headEnd type="none" w="med" len="med"/>
                      <a:tailEnd type="none" w="med" len="med"/>
                    </a:lnT>
                    <a:lnB w="12700" cap="flat" cmpd="sng" algn="ctr">
                      <a:solidFill>
                        <a:srgbClr val="E8E6DC"/>
                      </a:solidFill>
                      <a:prstDash val="solid"/>
                      <a:round/>
                      <a:headEnd type="none" w="med" len="med"/>
                      <a:tailEnd type="none" w="med" len="med"/>
                    </a:lnB>
                  </a:tcPr>
                </a:tc>
                <a:tc>
                  <a:txBody>
                    <a:bodyPr/>
                    <a:lstStyle/>
                    <a:p>
                      <a:pPr algn="l" indent="0" marL="0">
                        <a:buNone/>
                      </a:pPr>
                      <a:r>
                        <a:rPr lang="en-US" sz="1050" dirty="0">
                          <a:solidFill>
                            <a:srgbClr val="4A4943"/>
                          </a:solidFill>
                          <a:latin typeface="Meiryo" pitchFamily="34" charset="0"/>
                          <a:ea typeface="Meiryo" pitchFamily="34" charset="-122"/>
                          <a:cs typeface="Meiryo" pitchFamily="34" charset="-120"/>
                        </a:rPr>
                        <a:t>6 時間 → 3 時間</a:t>
                      </a:r>
                      <a:endParaRPr lang="en-US" sz="1050" dirty="0">
                        <a:latin typeface="Meiryo" charset="0"/>
                        <a:ea typeface="Meiryo" charset="0"/>
                        <a:cs typeface="Meiryo" charset="0"/>
                      </a:endParaRPr>
                    </a:p>
                  </a:txBody>
                  <a:tcPr marL="76200" marR="76200" marT="76200" marB="76200" anchor="ctr">
                    <a:lnL w="12700" cap="flat" cmpd="sng" algn="ctr">
                      <a:solidFill>
                        <a:srgbClr val="E8E6DC"/>
                      </a:solidFill>
                      <a:prstDash val="solid"/>
                      <a:round/>
                      <a:headEnd type="none" w="med" len="med"/>
                      <a:tailEnd type="none" w="med" len="med"/>
                    </a:lnL>
                    <a:lnR w="12700" cap="flat" cmpd="sng" algn="ctr">
                      <a:solidFill>
                        <a:srgbClr val="E8E6DC"/>
                      </a:solidFill>
                      <a:prstDash val="solid"/>
                      <a:round/>
                      <a:headEnd type="none" w="med" len="med"/>
                      <a:tailEnd type="none" w="med" len="med"/>
                    </a:lnR>
                    <a:lnT w="12700" cap="flat" cmpd="sng" algn="ctr">
                      <a:solidFill>
                        <a:srgbClr val="E8E6DC"/>
                      </a:solidFill>
                      <a:prstDash val="solid"/>
                      <a:round/>
                      <a:headEnd type="none" w="med" len="med"/>
                      <a:tailEnd type="none" w="med" len="med"/>
                    </a:lnT>
                    <a:lnB w="12700" cap="flat" cmpd="sng" algn="ctr">
                      <a:solidFill>
                        <a:srgbClr val="E8E6DC"/>
                      </a:solidFill>
                      <a:prstDash val="solid"/>
                      <a:round/>
                      <a:headEnd type="none" w="med" len="med"/>
                      <a:tailEnd type="none" w="med" len="med"/>
                    </a:lnB>
                  </a:tcPr>
                </a:tc>
              </a:tr>
              <a:tr h="502920">
                <a:tc>
                  <a:txBody>
                    <a:bodyPr/>
                    <a:lstStyle/>
                    <a:p>
                      <a:pPr algn="l" indent="0" marL="0">
                        <a:buNone/>
                      </a:pPr>
                      <a:r>
                        <a:rPr lang="en-US" sz="1050" dirty="0">
                          <a:solidFill>
                            <a:srgbClr val="4A4943"/>
                          </a:solidFill>
                          <a:latin typeface="Meiryo" pitchFamily="34" charset="0"/>
                          <a:ea typeface="Meiryo" pitchFamily="34" charset="-122"/>
                          <a:cs typeface="Meiryo" pitchFamily="34" charset="-120"/>
                        </a:rPr>
                        <a:t>週次の分析</a:t>
                      </a:r>
                      <a:endParaRPr lang="en-US" sz="1050" dirty="0">
                        <a:latin typeface="Meiryo" charset="0"/>
                        <a:ea typeface="Meiryo" charset="0"/>
                        <a:cs typeface="Meiryo" charset="0"/>
                      </a:endParaRPr>
                    </a:p>
                  </a:txBody>
                  <a:tcPr marL="76200" marR="76200" marT="76200" marB="76200" anchor="ctr">
                    <a:lnL w="12700" cap="flat" cmpd="sng" algn="ctr">
                      <a:solidFill>
                        <a:srgbClr val="E8E6DC"/>
                      </a:solidFill>
                      <a:prstDash val="solid"/>
                      <a:round/>
                      <a:headEnd type="none" w="med" len="med"/>
                      <a:tailEnd type="none" w="med" len="med"/>
                    </a:lnL>
                    <a:lnR w="12700" cap="flat" cmpd="sng" algn="ctr">
                      <a:solidFill>
                        <a:srgbClr val="E8E6DC"/>
                      </a:solidFill>
                      <a:prstDash val="solid"/>
                      <a:round/>
                      <a:headEnd type="none" w="med" len="med"/>
                      <a:tailEnd type="none" w="med" len="med"/>
                    </a:lnR>
                    <a:lnT w="12700" cap="flat" cmpd="sng" algn="ctr">
                      <a:solidFill>
                        <a:srgbClr val="E8E6DC"/>
                      </a:solidFill>
                      <a:prstDash val="solid"/>
                      <a:round/>
                      <a:headEnd type="none" w="med" len="med"/>
                      <a:tailEnd type="none" w="med" len="med"/>
                    </a:lnT>
                    <a:lnB w="12700" cap="flat" cmpd="sng" algn="ctr">
                      <a:solidFill>
                        <a:srgbClr val="E8E6DC"/>
                      </a:solidFill>
                      <a:prstDash val="solid"/>
                      <a:round/>
                      <a:headEnd type="none" w="med" len="med"/>
                      <a:tailEnd type="none" w="med" len="med"/>
                    </a:lnB>
                  </a:tcPr>
                </a:tc>
                <a:tc>
                  <a:txBody>
                    <a:bodyPr/>
                    <a:lstStyle/>
                    <a:p>
                      <a:pPr algn="l" indent="0" marL="0">
                        <a:buNone/>
                      </a:pPr>
                      <a:r>
                        <a:rPr lang="en-US" sz="1050" dirty="0">
                          <a:solidFill>
                            <a:srgbClr val="4A4943"/>
                          </a:solidFill>
                          <a:latin typeface="Meiryo" pitchFamily="34" charset="0"/>
                          <a:ea typeface="Meiryo" pitchFamily="34" charset="-122"/>
                          <a:cs typeface="Meiryo" pitchFamily="34" charset="-120"/>
                        </a:rPr>
                        <a:t>数値の集計と要約、変化点の指摘</a:t>
                      </a:r>
                      <a:endParaRPr lang="en-US" sz="1050" dirty="0">
                        <a:latin typeface="Meiryo" charset="0"/>
                        <a:ea typeface="Meiryo" charset="0"/>
                        <a:cs typeface="Meiryo" charset="0"/>
                      </a:endParaRPr>
                    </a:p>
                  </a:txBody>
                  <a:tcPr marL="76200" marR="76200" marT="76200" marB="76200" anchor="ctr">
                    <a:lnL w="12700" cap="flat" cmpd="sng" algn="ctr">
                      <a:solidFill>
                        <a:srgbClr val="E8E6DC"/>
                      </a:solidFill>
                      <a:prstDash val="solid"/>
                      <a:round/>
                      <a:headEnd type="none" w="med" len="med"/>
                      <a:tailEnd type="none" w="med" len="med"/>
                    </a:lnL>
                    <a:lnR w="12700" cap="flat" cmpd="sng" algn="ctr">
                      <a:solidFill>
                        <a:srgbClr val="E8E6DC"/>
                      </a:solidFill>
                      <a:prstDash val="solid"/>
                      <a:round/>
                      <a:headEnd type="none" w="med" len="med"/>
                      <a:tailEnd type="none" w="med" len="med"/>
                    </a:lnR>
                    <a:lnT w="12700" cap="flat" cmpd="sng" algn="ctr">
                      <a:solidFill>
                        <a:srgbClr val="E8E6DC"/>
                      </a:solidFill>
                      <a:prstDash val="solid"/>
                      <a:round/>
                      <a:headEnd type="none" w="med" len="med"/>
                      <a:tailEnd type="none" w="med" len="med"/>
                    </a:lnT>
                    <a:lnB w="12700" cap="flat" cmpd="sng" algn="ctr">
                      <a:solidFill>
                        <a:srgbClr val="E8E6DC"/>
                      </a:solidFill>
                      <a:prstDash val="solid"/>
                      <a:round/>
                      <a:headEnd type="none" w="med" len="med"/>
                      <a:tailEnd type="none" w="med" len="med"/>
                    </a:lnB>
                  </a:tcPr>
                </a:tc>
                <a:tc>
                  <a:txBody>
                    <a:bodyPr/>
                    <a:lstStyle/>
                    <a:p>
                      <a:pPr algn="l" indent="0" marL="0">
                        <a:buNone/>
                      </a:pPr>
                      <a:r>
                        <a:rPr lang="en-US" sz="1050" dirty="0">
                          <a:solidFill>
                            <a:srgbClr val="4A4943"/>
                          </a:solidFill>
                          <a:latin typeface="Meiryo" pitchFamily="34" charset="0"/>
                          <a:ea typeface="Meiryo" pitchFamily="34" charset="-122"/>
                          <a:cs typeface="Meiryo" pitchFamily="34" charset="-120"/>
                        </a:rPr>
                        <a:t>打ち手の決定、担当の割り当て</a:t>
                      </a:r>
                      <a:endParaRPr lang="en-US" sz="1050" dirty="0">
                        <a:latin typeface="Meiryo" charset="0"/>
                        <a:ea typeface="Meiryo" charset="0"/>
                        <a:cs typeface="Meiryo" charset="0"/>
                      </a:endParaRPr>
                    </a:p>
                  </a:txBody>
                  <a:tcPr marL="76200" marR="76200" marT="76200" marB="76200" anchor="ctr">
                    <a:lnL w="12700" cap="flat" cmpd="sng" algn="ctr">
                      <a:solidFill>
                        <a:srgbClr val="E8E6DC"/>
                      </a:solidFill>
                      <a:prstDash val="solid"/>
                      <a:round/>
                      <a:headEnd type="none" w="med" len="med"/>
                      <a:tailEnd type="none" w="med" len="med"/>
                    </a:lnL>
                    <a:lnR w="12700" cap="flat" cmpd="sng" algn="ctr">
                      <a:solidFill>
                        <a:srgbClr val="E8E6DC"/>
                      </a:solidFill>
                      <a:prstDash val="solid"/>
                      <a:round/>
                      <a:headEnd type="none" w="med" len="med"/>
                      <a:tailEnd type="none" w="med" len="med"/>
                    </a:lnR>
                    <a:lnT w="12700" cap="flat" cmpd="sng" algn="ctr">
                      <a:solidFill>
                        <a:srgbClr val="E8E6DC"/>
                      </a:solidFill>
                      <a:prstDash val="solid"/>
                      <a:round/>
                      <a:headEnd type="none" w="med" len="med"/>
                      <a:tailEnd type="none" w="med" len="med"/>
                    </a:lnT>
                    <a:lnB w="12700" cap="flat" cmpd="sng" algn="ctr">
                      <a:solidFill>
                        <a:srgbClr val="E8E6DC"/>
                      </a:solidFill>
                      <a:prstDash val="solid"/>
                      <a:round/>
                      <a:headEnd type="none" w="med" len="med"/>
                      <a:tailEnd type="none" w="med" len="med"/>
                    </a:lnB>
                  </a:tcPr>
                </a:tc>
                <a:tc>
                  <a:txBody>
                    <a:bodyPr/>
                    <a:lstStyle/>
                    <a:p>
                      <a:pPr algn="l" indent="0" marL="0">
                        <a:buNone/>
                      </a:pPr>
                      <a:r>
                        <a:rPr lang="en-US" sz="1050" dirty="0">
                          <a:solidFill>
                            <a:srgbClr val="4A4943"/>
                          </a:solidFill>
                          <a:latin typeface="Meiryo" pitchFamily="34" charset="0"/>
                          <a:ea typeface="Meiryo" pitchFamily="34" charset="-122"/>
                          <a:cs typeface="Meiryo" pitchFamily="34" charset="-120"/>
                        </a:rPr>
                        <a:t>2 時間 → 20 分</a:t>
                      </a:r>
                      <a:endParaRPr lang="en-US" sz="1050" dirty="0">
                        <a:latin typeface="Meiryo" charset="0"/>
                        <a:ea typeface="Meiryo" charset="0"/>
                        <a:cs typeface="Meiryo" charset="0"/>
                      </a:endParaRPr>
                    </a:p>
                  </a:txBody>
                  <a:tcPr marL="76200" marR="76200" marT="76200" marB="76200" anchor="ctr">
                    <a:lnL w="12700" cap="flat" cmpd="sng" algn="ctr">
                      <a:solidFill>
                        <a:srgbClr val="E8E6DC"/>
                      </a:solidFill>
                      <a:prstDash val="solid"/>
                      <a:round/>
                      <a:headEnd type="none" w="med" len="med"/>
                      <a:tailEnd type="none" w="med" len="med"/>
                    </a:lnL>
                    <a:lnR w="12700" cap="flat" cmpd="sng" algn="ctr">
                      <a:solidFill>
                        <a:srgbClr val="E8E6DC"/>
                      </a:solidFill>
                      <a:prstDash val="solid"/>
                      <a:round/>
                      <a:headEnd type="none" w="med" len="med"/>
                      <a:tailEnd type="none" w="med" len="med"/>
                    </a:lnR>
                    <a:lnT w="12700" cap="flat" cmpd="sng" algn="ctr">
                      <a:solidFill>
                        <a:srgbClr val="E8E6DC"/>
                      </a:solidFill>
                      <a:prstDash val="solid"/>
                      <a:round/>
                      <a:headEnd type="none" w="med" len="med"/>
                      <a:tailEnd type="none" w="med" len="med"/>
                    </a:lnT>
                    <a:lnB w="12700" cap="flat" cmpd="sng" algn="ctr">
                      <a:solidFill>
                        <a:srgbClr val="E8E6DC"/>
                      </a:solidFill>
                      <a:prstDash val="solid"/>
                      <a:round/>
                      <a:headEnd type="none" w="med" len="med"/>
                      <a:tailEnd type="none" w="med" len="med"/>
                    </a:lnB>
                  </a:tcPr>
                </a:tc>
              </a:tr>
            </a:tbl>
          </a:graphicData>
        </a:graphic>
      </p:graphicFrame>
      <p:sp>
        <p:nvSpPr>
          <p:cNvPr id="7" name="Shape 4"/>
          <p:cNvSpPr/>
          <p:nvPr/>
        </p:nvSpPr>
        <p:spPr>
          <a:xfrm>
            <a:off x="640080" y="5349240"/>
            <a:ext cx="10881360" cy="731520"/>
          </a:xfrm>
          <a:prstGeom prst="roundRect">
            <a:avLst>
              <a:gd name="adj" fmla="val 7500"/>
            </a:avLst>
          </a:prstGeom>
          <a:solidFill>
            <a:srgbClr val="E7ECDD"/>
          </a:solidFill>
          <a:ln w="12700">
            <a:solidFill>
              <a:srgbClr val="788C5D"/>
            </a:solidFill>
            <a:prstDash val="solid"/>
          </a:ln>
        </p:spPr>
      </p:sp>
      <p:pic>
        <p:nvPicPr>
          <p:cNvPr id="8" name="Image 0" descr="preencoded.png">    </p:cNvPr>
          <p:cNvPicPr>
            <a:picLocks noChangeAspect="1"/>
          </p:cNvPicPr>
          <p:nvPr/>
        </p:nvPicPr>
        <p:blipFill>
          <a:blip r:embed="rId1"/>
          <a:stretch>
            <a:fillRect/>
          </a:stretch>
        </p:blipFill>
        <p:spPr>
          <a:xfrm>
            <a:off x="896112" y="5550408"/>
            <a:ext cx="329184" cy="329184"/>
          </a:xfrm>
          <a:prstGeom prst="rect">
            <a:avLst/>
          </a:prstGeom>
        </p:spPr>
      </p:pic>
      <p:sp>
        <p:nvSpPr>
          <p:cNvPr id="9" name="Text 5"/>
          <p:cNvSpPr/>
          <p:nvPr/>
        </p:nvSpPr>
        <p:spPr>
          <a:xfrm>
            <a:off x="1353312" y="5349240"/>
            <a:ext cx="9921240" cy="731520"/>
          </a:xfrm>
          <a:prstGeom prst="rect">
            <a:avLst/>
          </a:prstGeom>
          <a:noFill/>
          <a:ln/>
        </p:spPr>
        <p:txBody>
          <a:bodyPr wrap="square" lIns="0" tIns="0" rIns="0" bIns="0" rtlCol="0" anchor="ctr"/>
          <a:lstStyle/>
          <a:p>
            <a:pPr indent="0" marL="0">
              <a:buNone/>
            </a:pPr>
            <a:r>
              <a:rPr lang="en-US" sz="1250" b="1" dirty="0">
                <a:solidFill>
                  <a:srgbClr val="788C5D"/>
                </a:solidFill>
                <a:latin typeface="Meiryo" pitchFamily="34" charset="0"/>
                <a:ea typeface="Meiryo" pitchFamily="34" charset="-122"/>
                <a:cs typeface="Meiryo" pitchFamily="34" charset="-120"/>
              </a:rPr>
              <a:t>使うときの原則  </a:t>
            </a:r>
            <a:pPr indent="0" marL="0">
              <a:buNone/>
            </a:pPr>
            <a:r>
              <a:rPr lang="en-US" sz="1200" dirty="0">
                <a:solidFill>
                  <a:srgbClr val="4A4943"/>
                </a:solidFill>
                <a:latin typeface="Meiryo" pitchFamily="34" charset="0"/>
                <a:ea typeface="Meiryo" pitchFamily="34" charset="-122"/>
                <a:cs typeface="Meiryo" pitchFamily="34" charset="-120"/>
              </a:rPr>
              <a:t>求職者の個人情報や利用者に関する情報は AI に入力しないでください。渡すのは公開できる自社情報だけにします。</a:t>
            </a:r>
            <a:endParaRPr lang="en-US" sz="1250" dirty="0"/>
          </a:p>
        </p:txBody>
      </p:sp>
      <p:sp>
        <p:nvSpPr>
          <p:cNvPr id="10" name="Text 6"/>
          <p:cNvSpPr/>
          <p:nvPr/>
        </p:nvSpPr>
        <p:spPr>
          <a:xfrm>
            <a:off x="640080" y="6217920"/>
            <a:ext cx="10881360" cy="320040"/>
          </a:xfrm>
          <a:prstGeom prst="rect">
            <a:avLst/>
          </a:prstGeom>
          <a:noFill/>
          <a:ln/>
        </p:spPr>
        <p:txBody>
          <a:bodyPr wrap="square" lIns="0" tIns="0" rIns="0" bIns="0" rtlCol="0" anchor="ctr"/>
          <a:lstStyle/>
          <a:p>
            <a:pPr indent="0" marL="0">
              <a:buNone/>
            </a:pPr>
            <a:r>
              <a:rPr lang="en-US" sz="1000" dirty="0">
                <a:solidFill>
                  <a:srgbClr val="7D7B72"/>
                </a:solidFill>
                <a:latin typeface="Meiryo" pitchFamily="34" charset="0"/>
                <a:ea typeface="Meiryo" pitchFamily="34" charset="-122"/>
                <a:cs typeface="Meiryo" pitchFamily="34" charset="-120"/>
              </a:rPr>
              <a:t>※ 時間の目安は 1 ポジションあたりの想定です。</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41413"/>
        </a:solidFill>
      </p:bgPr>
    </p:bg>
    <p:spTree>
      <p:nvGrpSpPr>
        <p:cNvPr id="1" name=""/>
        <p:cNvGrpSpPr/>
        <p:nvPr/>
      </p:nvGrpSpPr>
      <p:grpSpPr>
        <a:xfrm>
          <a:off x="0" y="0"/>
          <a:ext cx="0" cy="0"/>
          <a:chOff x="0" y="0"/>
          <a:chExt cx="0" cy="0"/>
        </a:xfrm>
      </p:grpSpPr>
      <p:sp>
        <p:nvSpPr>
          <p:cNvPr id="2" name="Shape 0"/>
          <p:cNvSpPr/>
          <p:nvPr/>
        </p:nvSpPr>
        <p:spPr>
          <a:xfrm>
            <a:off x="-2011680" y="4572000"/>
            <a:ext cx="4572000" cy="4572000"/>
          </a:xfrm>
          <a:prstGeom prst="ellipse">
            <a:avLst/>
          </a:prstGeom>
          <a:solidFill>
            <a:srgbClr val="2A2926"/>
          </a:solidFill>
          <a:ln/>
        </p:spPr>
      </p:sp>
      <p:sp>
        <p:nvSpPr>
          <p:cNvPr id="3" name="Text 1"/>
          <p:cNvSpPr/>
          <p:nvPr/>
        </p:nvSpPr>
        <p:spPr>
          <a:xfrm>
            <a:off x="640080" y="457200"/>
            <a:ext cx="10881360" cy="640080"/>
          </a:xfrm>
          <a:prstGeom prst="rect">
            <a:avLst/>
          </a:prstGeom>
          <a:noFill/>
          <a:ln/>
        </p:spPr>
        <p:txBody>
          <a:bodyPr wrap="square" lIns="0" tIns="0" rIns="0" bIns="0" rtlCol="0" anchor="ctr"/>
          <a:lstStyle/>
          <a:p>
            <a:pPr indent="0" marL="0">
              <a:buNone/>
            </a:pPr>
            <a:r>
              <a:rPr lang="en-US" sz="3000" b="1" dirty="0">
                <a:solidFill>
                  <a:srgbClr val="FFFFFF"/>
                </a:solidFill>
                <a:latin typeface="Meiryo" pitchFamily="34" charset="0"/>
                <a:ea typeface="Meiryo" pitchFamily="34" charset="-122"/>
                <a:cs typeface="Meiryo" pitchFamily="34" charset="-120"/>
              </a:rPr>
              <a:t>90 日ロードマップ</a:t>
            </a:r>
            <a:endParaRPr lang="en-US" sz="3000" dirty="0"/>
          </a:p>
        </p:txBody>
      </p:sp>
      <p:sp>
        <p:nvSpPr>
          <p:cNvPr id="4" name="Text 2"/>
          <p:cNvSpPr/>
          <p:nvPr/>
        </p:nvSpPr>
        <p:spPr>
          <a:xfrm>
            <a:off x="640080" y="1078992"/>
            <a:ext cx="10881360" cy="365760"/>
          </a:xfrm>
          <a:prstGeom prst="rect">
            <a:avLst/>
          </a:prstGeom>
          <a:noFill/>
          <a:ln/>
        </p:spPr>
        <p:txBody>
          <a:bodyPr wrap="square" lIns="0" tIns="0" rIns="0" bIns="0" rtlCol="0" anchor="ctr"/>
          <a:lstStyle/>
          <a:p>
            <a:pPr indent="0" marL="0">
              <a:buNone/>
            </a:pPr>
            <a:r>
              <a:rPr lang="en-US" sz="1350" dirty="0">
                <a:solidFill>
                  <a:srgbClr val="D6D3C8"/>
                </a:solidFill>
                <a:latin typeface="Meiryo" pitchFamily="34" charset="0"/>
                <a:ea typeface="Meiryo" pitchFamily="34" charset="-122"/>
                <a:cs typeface="Meiryo" pitchFamily="34" charset="-120"/>
              </a:rPr>
              <a:t>まずは 1 ポジションだけで型をつくり、うまくいったやり方を他へ広げます。</a:t>
            </a:r>
            <a:endParaRPr lang="en-US" sz="1350" dirty="0"/>
          </a:p>
        </p:txBody>
      </p:sp>
      <p:sp>
        <p:nvSpPr>
          <p:cNvPr id="5" name="Shape 3"/>
          <p:cNvSpPr/>
          <p:nvPr/>
        </p:nvSpPr>
        <p:spPr>
          <a:xfrm>
            <a:off x="640080" y="1691640"/>
            <a:ext cx="3352800" cy="3063240"/>
          </a:xfrm>
          <a:prstGeom prst="roundRect">
            <a:avLst>
              <a:gd name="adj" fmla="val 1791"/>
            </a:avLst>
          </a:prstGeom>
          <a:solidFill>
            <a:srgbClr val="FFFFFF"/>
          </a:solidFill>
          <a:ln/>
        </p:spPr>
      </p:sp>
      <p:sp>
        <p:nvSpPr>
          <p:cNvPr id="6" name="Text 4"/>
          <p:cNvSpPr/>
          <p:nvPr/>
        </p:nvSpPr>
        <p:spPr>
          <a:xfrm>
            <a:off x="932688" y="1847088"/>
            <a:ext cx="2767584" cy="320040"/>
          </a:xfrm>
          <a:prstGeom prst="rect">
            <a:avLst/>
          </a:prstGeom>
          <a:noFill/>
          <a:ln/>
        </p:spPr>
        <p:txBody>
          <a:bodyPr wrap="square" lIns="0" tIns="0" rIns="0" bIns="0" rtlCol="0" anchor="ctr"/>
          <a:lstStyle/>
          <a:p>
            <a:pPr indent="0" marL="0">
              <a:buNone/>
            </a:pPr>
            <a:r>
              <a:rPr lang="en-US" sz="1200" b="1" spc="100" kern="0" dirty="0">
                <a:solidFill>
                  <a:srgbClr val="D97757"/>
                </a:solidFill>
                <a:latin typeface="Meiryo" pitchFamily="34" charset="0"/>
                <a:ea typeface="Meiryo" pitchFamily="34" charset="-122"/>
                <a:cs typeface="Meiryo" pitchFamily="34" charset="-120"/>
              </a:rPr>
              <a:t>PHASE 1</a:t>
            </a:r>
            <a:pPr indent="0" marL="0">
              <a:buNone/>
            </a:pPr>
            <a:r>
              <a:rPr lang="en-US" sz="1100" dirty="0">
                <a:solidFill>
                  <a:srgbClr val="6E6C63"/>
                </a:solidFill>
                <a:latin typeface="Meiryo" pitchFamily="34" charset="0"/>
                <a:ea typeface="Meiryo" pitchFamily="34" charset="-122"/>
                <a:cs typeface="Meiryo" pitchFamily="34" charset="-120"/>
              </a:rPr>
              <a:t>　1〜30 日</a:t>
            </a:r>
            <a:endParaRPr lang="en-US" sz="1200" dirty="0"/>
          </a:p>
        </p:txBody>
      </p:sp>
      <p:sp>
        <p:nvSpPr>
          <p:cNvPr id="7" name="Text 5"/>
          <p:cNvSpPr/>
          <p:nvPr/>
        </p:nvSpPr>
        <p:spPr>
          <a:xfrm>
            <a:off x="932688" y="2212848"/>
            <a:ext cx="2767584" cy="457200"/>
          </a:xfrm>
          <a:prstGeom prst="rect">
            <a:avLst/>
          </a:prstGeom>
          <a:noFill/>
          <a:ln/>
        </p:spPr>
        <p:txBody>
          <a:bodyPr wrap="square" lIns="0" tIns="0" rIns="0" bIns="0" rtlCol="0" anchor="ctr"/>
          <a:lstStyle/>
          <a:p>
            <a:pPr indent="0" marL="0">
              <a:buNone/>
            </a:pPr>
            <a:r>
              <a:rPr lang="en-US" sz="2100" b="1" dirty="0">
                <a:solidFill>
                  <a:srgbClr val="141413"/>
                </a:solidFill>
                <a:latin typeface="Meiryo" pitchFamily="34" charset="0"/>
                <a:ea typeface="Meiryo" pitchFamily="34" charset="-122"/>
                <a:cs typeface="Meiryo" pitchFamily="34" charset="-120"/>
              </a:rPr>
              <a:t>測る・決める</a:t>
            </a:r>
            <a:endParaRPr lang="en-US" sz="2100" dirty="0"/>
          </a:p>
        </p:txBody>
      </p:sp>
      <p:sp>
        <p:nvSpPr>
          <p:cNvPr id="8" name="Text 6"/>
          <p:cNvSpPr/>
          <p:nvPr/>
        </p:nvSpPr>
        <p:spPr>
          <a:xfrm>
            <a:off x="932688" y="2724912"/>
            <a:ext cx="2767584" cy="1828800"/>
          </a:xfrm>
          <a:prstGeom prst="rect">
            <a:avLst/>
          </a:prstGeom>
          <a:noFill/>
          <a:ln/>
        </p:spPr>
        <p:txBody>
          <a:bodyPr wrap="square" lIns="0" tIns="0" rIns="0" bIns="0" rtlCol="0" anchor="t"/>
          <a:lstStyle/>
          <a:p>
            <a:pPr indent="0" marL="0">
              <a:lnSpc>
                <a:spcPts val="2300"/>
              </a:lnSpc>
              <a:buNone/>
            </a:pPr>
            <a:r>
              <a:rPr lang="en-US" sz="1200" dirty="0">
                <a:solidFill>
                  <a:srgbClr val="6E6C63"/>
                </a:solidFill>
                <a:latin typeface="Meiryo" pitchFamily="34" charset="0"/>
                <a:ea typeface="Meiryo" pitchFamily="34" charset="-122"/>
                <a:cs typeface="Meiryo" pitchFamily="34" charset="-120"/>
              </a:rPr>
              <a:t>・採用単価と定着率を出す</a:t>
            </a:r>
            <a:endParaRPr lang="en-US" sz="1200" dirty="0"/>
          </a:p>
          <a:p>
            <a:pPr indent="0" marL="0">
              <a:lnSpc>
                <a:spcPts val="2300"/>
              </a:lnSpc>
              <a:buNone/>
            </a:pPr>
            <a:r>
              <a:rPr lang="en-US" sz="1200" dirty="0">
                <a:solidFill>
                  <a:srgbClr val="6E6C63"/>
                </a:solidFill>
                <a:latin typeface="Meiryo" pitchFamily="34" charset="0"/>
                <a:ea typeface="Meiryo" pitchFamily="34" charset="-122"/>
                <a:cs typeface="Meiryo" pitchFamily="34" charset="-120"/>
              </a:rPr>
              <a:t>・ファネルのボトルネックを特定</a:t>
            </a:r>
            <a:endParaRPr lang="en-US" sz="1200" dirty="0"/>
          </a:p>
          <a:p>
            <a:pPr indent="0" marL="0">
              <a:lnSpc>
                <a:spcPts val="2300"/>
              </a:lnSpc>
              <a:buNone/>
            </a:pPr>
            <a:r>
              <a:rPr lang="en-US" sz="1200" dirty="0">
                <a:solidFill>
                  <a:srgbClr val="6E6C63"/>
                </a:solidFill>
                <a:latin typeface="Meiryo" pitchFamily="34" charset="0"/>
                <a:ea typeface="Meiryo" pitchFamily="34" charset="-122"/>
                <a:cs typeface="Meiryo" pitchFamily="34" charset="-120"/>
              </a:rPr>
              <a:t>・ペルソナと MUST / NG を確定</a:t>
            </a:r>
            <a:endParaRPr lang="en-US" sz="1200" dirty="0"/>
          </a:p>
          <a:p>
            <a:pPr indent="0" marL="0">
              <a:lnSpc>
                <a:spcPts val="2300"/>
              </a:lnSpc>
              <a:buNone/>
            </a:pPr>
            <a:r>
              <a:rPr lang="en-US" sz="1200" dirty="0">
                <a:solidFill>
                  <a:srgbClr val="6E6C63"/>
                </a:solidFill>
                <a:latin typeface="Meiryo" pitchFamily="34" charset="0"/>
                <a:ea typeface="Meiryo" pitchFamily="34" charset="-122"/>
                <a:cs typeface="Meiryo" pitchFamily="34" charset="-120"/>
              </a:rPr>
              <a:t>・Engage のアカウントを開設</a:t>
            </a:r>
            <a:endParaRPr lang="en-US" sz="1200" dirty="0"/>
          </a:p>
        </p:txBody>
      </p:sp>
      <p:sp>
        <p:nvSpPr>
          <p:cNvPr id="9" name="Shape 7"/>
          <p:cNvSpPr/>
          <p:nvPr/>
        </p:nvSpPr>
        <p:spPr>
          <a:xfrm>
            <a:off x="4404360" y="1691640"/>
            <a:ext cx="3352800" cy="3063240"/>
          </a:xfrm>
          <a:prstGeom prst="roundRect">
            <a:avLst>
              <a:gd name="adj" fmla="val 1791"/>
            </a:avLst>
          </a:prstGeom>
          <a:solidFill>
            <a:srgbClr val="FFFFFF"/>
          </a:solidFill>
          <a:ln/>
        </p:spPr>
      </p:sp>
      <p:sp>
        <p:nvSpPr>
          <p:cNvPr id="10" name="Text 8"/>
          <p:cNvSpPr/>
          <p:nvPr/>
        </p:nvSpPr>
        <p:spPr>
          <a:xfrm>
            <a:off x="4696968" y="1847088"/>
            <a:ext cx="2767584" cy="320040"/>
          </a:xfrm>
          <a:prstGeom prst="rect">
            <a:avLst/>
          </a:prstGeom>
          <a:noFill/>
          <a:ln/>
        </p:spPr>
        <p:txBody>
          <a:bodyPr wrap="square" lIns="0" tIns="0" rIns="0" bIns="0" rtlCol="0" anchor="ctr"/>
          <a:lstStyle/>
          <a:p>
            <a:pPr indent="0" marL="0">
              <a:buNone/>
            </a:pPr>
            <a:r>
              <a:rPr lang="en-US" sz="1200" b="1" spc="100" kern="0" dirty="0">
                <a:solidFill>
                  <a:srgbClr val="D97757"/>
                </a:solidFill>
                <a:latin typeface="Meiryo" pitchFamily="34" charset="0"/>
                <a:ea typeface="Meiryo" pitchFamily="34" charset="-122"/>
                <a:cs typeface="Meiryo" pitchFamily="34" charset="-120"/>
              </a:rPr>
              <a:t>PHASE 2</a:t>
            </a:r>
            <a:pPr indent="0" marL="0">
              <a:buNone/>
            </a:pPr>
            <a:r>
              <a:rPr lang="en-US" sz="1100" dirty="0">
                <a:solidFill>
                  <a:srgbClr val="6E6C63"/>
                </a:solidFill>
                <a:latin typeface="Meiryo" pitchFamily="34" charset="0"/>
                <a:ea typeface="Meiryo" pitchFamily="34" charset="-122"/>
                <a:cs typeface="Meiryo" pitchFamily="34" charset="-120"/>
              </a:rPr>
              <a:t>　31〜60 日</a:t>
            </a:r>
            <a:endParaRPr lang="en-US" sz="1200" dirty="0"/>
          </a:p>
        </p:txBody>
      </p:sp>
      <p:sp>
        <p:nvSpPr>
          <p:cNvPr id="11" name="Text 9"/>
          <p:cNvSpPr/>
          <p:nvPr/>
        </p:nvSpPr>
        <p:spPr>
          <a:xfrm>
            <a:off x="4696968" y="2212848"/>
            <a:ext cx="2767584" cy="457200"/>
          </a:xfrm>
          <a:prstGeom prst="rect">
            <a:avLst/>
          </a:prstGeom>
          <a:noFill/>
          <a:ln/>
        </p:spPr>
        <p:txBody>
          <a:bodyPr wrap="square" lIns="0" tIns="0" rIns="0" bIns="0" rtlCol="0" anchor="ctr"/>
          <a:lstStyle/>
          <a:p>
            <a:pPr indent="0" marL="0">
              <a:buNone/>
            </a:pPr>
            <a:r>
              <a:rPr lang="en-US" sz="2100" b="1" dirty="0">
                <a:solidFill>
                  <a:srgbClr val="141413"/>
                </a:solidFill>
                <a:latin typeface="Meiryo" pitchFamily="34" charset="0"/>
                <a:ea typeface="Meiryo" pitchFamily="34" charset="-122"/>
                <a:cs typeface="Meiryo" pitchFamily="34" charset="-120"/>
              </a:rPr>
              <a:t>つくる</a:t>
            </a:r>
            <a:endParaRPr lang="en-US" sz="2100" dirty="0"/>
          </a:p>
        </p:txBody>
      </p:sp>
      <p:sp>
        <p:nvSpPr>
          <p:cNvPr id="12" name="Text 10"/>
          <p:cNvSpPr/>
          <p:nvPr/>
        </p:nvSpPr>
        <p:spPr>
          <a:xfrm>
            <a:off x="4696968" y="2724912"/>
            <a:ext cx="2767584" cy="1828800"/>
          </a:xfrm>
          <a:prstGeom prst="rect">
            <a:avLst/>
          </a:prstGeom>
          <a:noFill/>
          <a:ln/>
        </p:spPr>
        <p:txBody>
          <a:bodyPr wrap="square" lIns="0" tIns="0" rIns="0" bIns="0" rtlCol="0" anchor="t"/>
          <a:lstStyle/>
          <a:p>
            <a:pPr indent="0" marL="0">
              <a:lnSpc>
                <a:spcPts val="2300"/>
              </a:lnSpc>
              <a:buNone/>
            </a:pPr>
            <a:r>
              <a:rPr lang="en-US" sz="1200" dirty="0">
                <a:solidFill>
                  <a:srgbClr val="6E6C63"/>
                </a:solidFill>
                <a:latin typeface="Meiryo" pitchFamily="34" charset="0"/>
                <a:ea typeface="Meiryo" pitchFamily="34" charset="-122"/>
                <a:cs typeface="Meiryo" pitchFamily="34" charset="-120"/>
              </a:rPr>
              <a:t>・採用ページを 6 ブロックで作成</a:t>
            </a:r>
            <a:endParaRPr lang="en-US" sz="1200" dirty="0"/>
          </a:p>
          <a:p>
            <a:pPr indent="0" marL="0">
              <a:lnSpc>
                <a:spcPts val="2300"/>
              </a:lnSpc>
              <a:buNone/>
            </a:pPr>
            <a:r>
              <a:rPr lang="en-US" sz="1200" dirty="0">
                <a:solidFill>
                  <a:srgbClr val="6E6C63"/>
                </a:solidFill>
                <a:latin typeface="Meiryo" pitchFamily="34" charset="0"/>
                <a:ea typeface="Meiryo" pitchFamily="34" charset="-122"/>
                <a:cs typeface="Meiryo" pitchFamily="34" charset="-120"/>
              </a:rPr>
              <a:t>・スタッフ動画を 2 本撮影</a:t>
            </a:r>
            <a:endParaRPr lang="en-US" sz="1200" dirty="0"/>
          </a:p>
          <a:p>
            <a:pPr indent="0" marL="0">
              <a:lnSpc>
                <a:spcPts val="2300"/>
              </a:lnSpc>
              <a:buNone/>
            </a:pPr>
            <a:r>
              <a:rPr lang="en-US" sz="1200" dirty="0">
                <a:solidFill>
                  <a:srgbClr val="6E6C63"/>
                </a:solidFill>
                <a:latin typeface="Meiryo" pitchFamily="34" charset="0"/>
                <a:ea typeface="Meiryo" pitchFamily="34" charset="-122"/>
                <a:cs typeface="Meiryo" pitchFamily="34" charset="-120"/>
              </a:rPr>
              <a:t>・求人票を公開し、露出を開始</a:t>
            </a:r>
            <a:endParaRPr lang="en-US" sz="1200" dirty="0"/>
          </a:p>
          <a:p>
            <a:pPr indent="0" marL="0">
              <a:lnSpc>
                <a:spcPts val="2300"/>
              </a:lnSpc>
              <a:buNone/>
            </a:pPr>
            <a:r>
              <a:rPr lang="en-US" sz="1200" dirty="0">
                <a:solidFill>
                  <a:srgbClr val="6E6C63"/>
                </a:solidFill>
                <a:latin typeface="Meiryo" pitchFamily="34" charset="0"/>
                <a:ea typeface="Meiryo" pitchFamily="34" charset="-122"/>
                <a:cs typeface="Meiryo" pitchFamily="34" charset="-120"/>
              </a:rPr>
              <a:t>・職場体験会の当日台本を用意</a:t>
            </a:r>
            <a:endParaRPr lang="en-US" sz="1200" dirty="0"/>
          </a:p>
        </p:txBody>
      </p:sp>
      <p:sp>
        <p:nvSpPr>
          <p:cNvPr id="13" name="Shape 11"/>
          <p:cNvSpPr/>
          <p:nvPr/>
        </p:nvSpPr>
        <p:spPr>
          <a:xfrm>
            <a:off x="8168640" y="1691640"/>
            <a:ext cx="3352800" cy="3063240"/>
          </a:xfrm>
          <a:prstGeom prst="roundRect">
            <a:avLst>
              <a:gd name="adj" fmla="val 1791"/>
            </a:avLst>
          </a:prstGeom>
          <a:solidFill>
            <a:srgbClr val="FFFFFF"/>
          </a:solidFill>
          <a:ln/>
        </p:spPr>
      </p:sp>
      <p:sp>
        <p:nvSpPr>
          <p:cNvPr id="14" name="Text 12"/>
          <p:cNvSpPr/>
          <p:nvPr/>
        </p:nvSpPr>
        <p:spPr>
          <a:xfrm>
            <a:off x="8461248" y="1847088"/>
            <a:ext cx="2767584" cy="320040"/>
          </a:xfrm>
          <a:prstGeom prst="rect">
            <a:avLst/>
          </a:prstGeom>
          <a:noFill/>
          <a:ln/>
        </p:spPr>
        <p:txBody>
          <a:bodyPr wrap="square" lIns="0" tIns="0" rIns="0" bIns="0" rtlCol="0" anchor="ctr"/>
          <a:lstStyle/>
          <a:p>
            <a:pPr indent="0" marL="0">
              <a:buNone/>
            </a:pPr>
            <a:r>
              <a:rPr lang="en-US" sz="1200" b="1" spc="100" kern="0" dirty="0">
                <a:solidFill>
                  <a:srgbClr val="D97757"/>
                </a:solidFill>
                <a:latin typeface="Meiryo" pitchFamily="34" charset="0"/>
                <a:ea typeface="Meiryo" pitchFamily="34" charset="-122"/>
                <a:cs typeface="Meiryo" pitchFamily="34" charset="-120"/>
              </a:rPr>
              <a:t>PHASE 3</a:t>
            </a:r>
            <a:pPr indent="0" marL="0">
              <a:buNone/>
            </a:pPr>
            <a:r>
              <a:rPr lang="en-US" sz="1100" dirty="0">
                <a:solidFill>
                  <a:srgbClr val="6E6C63"/>
                </a:solidFill>
                <a:latin typeface="Meiryo" pitchFamily="34" charset="0"/>
                <a:ea typeface="Meiryo" pitchFamily="34" charset="-122"/>
                <a:cs typeface="Meiryo" pitchFamily="34" charset="-120"/>
              </a:rPr>
              <a:t>　61〜90 日</a:t>
            </a:r>
            <a:endParaRPr lang="en-US" sz="1200" dirty="0"/>
          </a:p>
        </p:txBody>
      </p:sp>
      <p:sp>
        <p:nvSpPr>
          <p:cNvPr id="15" name="Text 13"/>
          <p:cNvSpPr/>
          <p:nvPr/>
        </p:nvSpPr>
        <p:spPr>
          <a:xfrm>
            <a:off x="8461248" y="2212848"/>
            <a:ext cx="2767584" cy="457200"/>
          </a:xfrm>
          <a:prstGeom prst="rect">
            <a:avLst/>
          </a:prstGeom>
          <a:noFill/>
          <a:ln/>
        </p:spPr>
        <p:txBody>
          <a:bodyPr wrap="square" lIns="0" tIns="0" rIns="0" bIns="0" rtlCol="0" anchor="ctr"/>
          <a:lstStyle/>
          <a:p>
            <a:pPr indent="0" marL="0">
              <a:buNone/>
            </a:pPr>
            <a:r>
              <a:rPr lang="en-US" sz="2100" b="1" dirty="0">
                <a:solidFill>
                  <a:srgbClr val="141413"/>
                </a:solidFill>
                <a:latin typeface="Meiryo" pitchFamily="34" charset="0"/>
                <a:ea typeface="Meiryo" pitchFamily="34" charset="-122"/>
                <a:cs typeface="Meiryo" pitchFamily="34" charset="-120"/>
              </a:rPr>
              <a:t>回す・直す</a:t>
            </a:r>
            <a:endParaRPr lang="en-US" sz="2100" dirty="0"/>
          </a:p>
        </p:txBody>
      </p:sp>
      <p:sp>
        <p:nvSpPr>
          <p:cNvPr id="16" name="Text 14"/>
          <p:cNvSpPr/>
          <p:nvPr/>
        </p:nvSpPr>
        <p:spPr>
          <a:xfrm>
            <a:off x="8461248" y="2724912"/>
            <a:ext cx="2767584" cy="1828800"/>
          </a:xfrm>
          <a:prstGeom prst="rect">
            <a:avLst/>
          </a:prstGeom>
          <a:noFill/>
          <a:ln/>
        </p:spPr>
        <p:txBody>
          <a:bodyPr wrap="square" lIns="0" tIns="0" rIns="0" bIns="0" rtlCol="0" anchor="t"/>
          <a:lstStyle/>
          <a:p>
            <a:pPr indent="0" marL="0">
              <a:lnSpc>
                <a:spcPts val="2300"/>
              </a:lnSpc>
              <a:buNone/>
            </a:pPr>
            <a:r>
              <a:rPr lang="en-US" sz="1200" dirty="0">
                <a:solidFill>
                  <a:srgbClr val="6E6C63"/>
                </a:solidFill>
                <a:latin typeface="Meiryo" pitchFamily="34" charset="0"/>
                <a:ea typeface="Meiryo" pitchFamily="34" charset="-122"/>
                <a:cs typeface="Meiryo" pitchFamily="34" charset="-120"/>
              </a:rPr>
              <a:t>・週次 15 分の会議を開始</a:t>
            </a:r>
            <a:endParaRPr lang="en-US" sz="1200" dirty="0"/>
          </a:p>
          <a:p>
            <a:pPr indent="0" marL="0">
              <a:lnSpc>
                <a:spcPts val="2300"/>
              </a:lnSpc>
              <a:buNone/>
            </a:pPr>
            <a:r>
              <a:rPr lang="en-US" sz="1200" dirty="0">
                <a:solidFill>
                  <a:srgbClr val="6E6C63"/>
                </a:solidFill>
                <a:latin typeface="Meiryo" pitchFamily="34" charset="0"/>
                <a:ea typeface="Meiryo" pitchFamily="34" charset="-122"/>
                <a:cs typeface="Meiryo" pitchFamily="34" charset="-120"/>
              </a:rPr>
              <a:t>・体験会を月 2 回のペースで実施</a:t>
            </a:r>
            <a:endParaRPr lang="en-US" sz="1200" dirty="0"/>
          </a:p>
          <a:p>
            <a:pPr indent="0" marL="0">
              <a:lnSpc>
                <a:spcPts val="2300"/>
              </a:lnSpc>
              <a:buNone/>
            </a:pPr>
            <a:r>
              <a:rPr lang="en-US" sz="1200" dirty="0">
                <a:solidFill>
                  <a:srgbClr val="6E6C63"/>
                </a:solidFill>
                <a:latin typeface="Meiryo" pitchFamily="34" charset="0"/>
                <a:ea typeface="Meiryo" pitchFamily="34" charset="-122"/>
                <a:cs typeface="Meiryo" pitchFamily="34" charset="-120"/>
              </a:rPr>
              <a:t>・落ちている 1 か所を毎週改善</a:t>
            </a:r>
            <a:endParaRPr lang="en-US" sz="1200" dirty="0"/>
          </a:p>
          <a:p>
            <a:pPr indent="0" marL="0">
              <a:lnSpc>
                <a:spcPts val="2300"/>
              </a:lnSpc>
              <a:buNone/>
            </a:pPr>
            <a:r>
              <a:rPr lang="en-US" sz="1200" dirty="0">
                <a:solidFill>
                  <a:srgbClr val="6E6C63"/>
                </a:solidFill>
                <a:latin typeface="Meiryo" pitchFamily="34" charset="0"/>
                <a:ea typeface="Meiryo" pitchFamily="34" charset="-122"/>
                <a:cs typeface="Meiryo" pitchFamily="34" charset="-120"/>
              </a:rPr>
              <a:t>・単価を初月の数字と比較する</a:t>
            </a:r>
            <a:endParaRPr lang="en-US" sz="1200" dirty="0"/>
          </a:p>
        </p:txBody>
      </p:sp>
      <p:sp>
        <p:nvSpPr>
          <p:cNvPr id="17" name="Shape 15"/>
          <p:cNvSpPr/>
          <p:nvPr/>
        </p:nvSpPr>
        <p:spPr>
          <a:xfrm>
            <a:off x="640080" y="4983480"/>
            <a:ext cx="10881360" cy="914400"/>
          </a:xfrm>
          <a:prstGeom prst="roundRect">
            <a:avLst>
              <a:gd name="adj" fmla="val 6000"/>
            </a:avLst>
          </a:prstGeom>
          <a:solidFill>
            <a:srgbClr val="141413"/>
          </a:solidFill>
          <a:ln w="12700">
            <a:solidFill>
              <a:srgbClr val="D97757"/>
            </a:solidFill>
            <a:prstDash val="solid"/>
          </a:ln>
        </p:spPr>
      </p:sp>
      <p:sp>
        <p:nvSpPr>
          <p:cNvPr id="18" name="Text 16"/>
          <p:cNvSpPr/>
          <p:nvPr/>
        </p:nvSpPr>
        <p:spPr>
          <a:xfrm>
            <a:off x="960120" y="4983480"/>
            <a:ext cx="10241280" cy="914400"/>
          </a:xfrm>
          <a:prstGeom prst="rect">
            <a:avLst/>
          </a:prstGeom>
          <a:noFill/>
          <a:ln/>
        </p:spPr>
        <p:txBody>
          <a:bodyPr wrap="square" lIns="0" tIns="0" rIns="0" bIns="0" rtlCol="0" anchor="ctr"/>
          <a:lstStyle/>
          <a:p>
            <a:pPr indent="0" marL="0">
              <a:lnSpc>
                <a:spcPts val="2000"/>
              </a:lnSpc>
              <a:buNone/>
            </a:pPr>
            <a:r>
              <a:rPr lang="en-US" sz="1350" b="1" dirty="0">
                <a:solidFill>
                  <a:srgbClr val="D97757"/>
                </a:solidFill>
                <a:latin typeface="Meiryo" pitchFamily="34" charset="0"/>
                <a:ea typeface="Meiryo" pitchFamily="34" charset="-122"/>
                <a:cs typeface="Meiryo" pitchFamily="34" charset="-120"/>
              </a:rPr>
              <a:t>明日やる 3 つ　</a:t>
            </a:r>
            <a:pPr indent="0" marL="0">
              <a:lnSpc>
                <a:spcPts val="2000"/>
              </a:lnSpc>
              <a:buNone/>
            </a:pPr>
            <a:r>
              <a:rPr lang="en-US" sz="1200" dirty="0">
                <a:solidFill>
                  <a:srgbClr val="FFFFFF"/>
                </a:solidFill>
                <a:latin typeface="Meiryo" pitchFamily="34" charset="0"/>
                <a:ea typeface="Meiryo" pitchFamily="34" charset="-122"/>
                <a:cs typeface="Meiryo" pitchFamily="34" charset="-120"/>
              </a:rPr>
              <a:t>① 昨年の採用人数と費用を経理から取り寄せる　②「入る前に不安だったこと」を現場スタッフ 3 人に聞く　③ Engage のアカウントを開設する</a:t>
            </a:r>
            <a:endParaRPr lang="en-US" sz="1350" dirty="0"/>
          </a:p>
        </p:txBody>
      </p:sp>
      <p:sp>
        <p:nvSpPr>
          <p:cNvPr id="19" name="Text 17"/>
          <p:cNvSpPr/>
          <p:nvPr/>
        </p:nvSpPr>
        <p:spPr>
          <a:xfrm>
            <a:off x="640080" y="6035040"/>
            <a:ext cx="1088136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Meiryo" pitchFamily="34" charset="0"/>
                <a:ea typeface="Meiryo" pitchFamily="34" charset="-122"/>
                <a:cs typeface="Meiryo" pitchFamily="34" charset="-120"/>
              </a:rPr>
              <a:t>採用は「才能」ではなく「手順」です。90 日で、御社の型がひとつ完成します。</a:t>
            </a:r>
            <a:endParaRPr lang="en-US" sz="1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881360" cy="566928"/>
          </a:xfrm>
          <a:prstGeom prst="rect">
            <a:avLst/>
          </a:prstGeom>
          <a:noFill/>
          <a:ln/>
        </p:spPr>
        <p:txBody>
          <a:bodyPr wrap="square" lIns="0" tIns="0" rIns="0" bIns="0" rtlCol="0" anchor="ctr"/>
          <a:lstStyle/>
          <a:p>
            <a:pPr indent="0" marL="0">
              <a:buNone/>
            </a:pPr>
            <a:r>
              <a:rPr lang="en-US" sz="2700" b="1" dirty="0">
                <a:solidFill>
                  <a:srgbClr val="141413"/>
                </a:solidFill>
                <a:latin typeface="Meiryo" pitchFamily="34" charset="0"/>
                <a:ea typeface="Meiryo" pitchFamily="34" charset="-122"/>
                <a:cs typeface="Meiryo" pitchFamily="34" charset="-120"/>
              </a:rPr>
              <a:t>出典と作成方針</a:t>
            </a:r>
            <a:endParaRPr lang="en-US" sz="2700" dirty="0"/>
          </a:p>
        </p:txBody>
      </p:sp>
      <p:sp>
        <p:nvSpPr>
          <p:cNvPr id="3" name="Text 1"/>
          <p:cNvSpPr/>
          <p:nvPr/>
        </p:nvSpPr>
        <p:spPr>
          <a:xfrm>
            <a:off x="640080" y="960120"/>
            <a:ext cx="10881360" cy="329184"/>
          </a:xfrm>
          <a:prstGeom prst="rect">
            <a:avLst/>
          </a:prstGeom>
          <a:noFill/>
          <a:ln/>
        </p:spPr>
        <p:txBody>
          <a:bodyPr wrap="square" lIns="0" tIns="0" rIns="0" bIns="0" rtlCol="0" anchor="ctr"/>
          <a:lstStyle/>
          <a:p>
            <a:pPr indent="0" marL="0">
              <a:buNone/>
            </a:pPr>
            <a:r>
              <a:rPr lang="en-US" sz="1300" dirty="0">
                <a:solidFill>
                  <a:srgbClr val="6E6C63"/>
                </a:solidFill>
                <a:latin typeface="Meiryo" pitchFamily="34" charset="0"/>
                <a:ea typeface="Meiryo" pitchFamily="34" charset="-122"/>
                <a:cs typeface="Meiryo" pitchFamily="34" charset="-120"/>
              </a:rPr>
              <a:t>各ページが、どの情報にもとづいて書かれているかの内訳です</a:t>
            </a:r>
            <a:endParaRPr lang="en-US" sz="13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640080" y="1572768"/>
          <a:ext cx="10881360" cy="914400"/>
        </p:xfrm>
        <a:graphic>
          <a:graphicData uri="http://schemas.openxmlformats.org/drawingml/2006/table">
            <a:tbl>
              <a:tblPr/>
              <a:tblGrid>
                <a:gridCol w="1920240"/>
                <a:gridCol w="2377440"/>
                <a:gridCol w="4389120"/>
                <a:gridCol w="2194560"/>
              </a:tblGrid>
              <a:tr h="548640">
                <a:tc>
                  <a:txBody>
                    <a:bodyPr/>
                    <a:lstStyle/>
                    <a:p>
                      <a:pPr algn="l" indent="0" marL="0">
                        <a:buNone/>
                      </a:pPr>
                      <a:r>
                        <a:rPr lang="en-US" sz="1000" b="1" dirty="0">
                          <a:solidFill>
                            <a:srgbClr val="FFFFFF"/>
                          </a:solidFill>
                          <a:latin typeface="Meiryo" pitchFamily="34" charset="0"/>
                          <a:ea typeface="Meiryo" pitchFamily="34" charset="-122"/>
                          <a:cs typeface="Meiryo" pitchFamily="34" charset="-120"/>
                        </a:rPr>
                        <a:t>区分</a:t>
                      </a:r>
                      <a:endParaRPr lang="en-US" sz="1000" dirty="0">
                        <a:latin typeface="Meiryo" charset="0"/>
                        <a:ea typeface="Meiryo" charset="0"/>
                        <a:cs typeface="Meiryo" charset="0"/>
                      </a:endParaRPr>
                    </a:p>
                  </a:txBody>
                  <a:tcPr marL="76200" marR="76200" marT="76200" marB="76200" anchor="ctr">
                    <a:lnL w="12700" cap="flat" cmpd="sng" algn="ctr">
                      <a:solidFill>
                        <a:srgbClr val="E8E6DC"/>
                      </a:solidFill>
                      <a:prstDash val="solid"/>
                      <a:round/>
                      <a:headEnd type="none" w="med" len="med"/>
                      <a:tailEnd type="none" w="med" len="med"/>
                    </a:lnL>
                    <a:lnR w="12700" cap="flat" cmpd="sng" algn="ctr">
                      <a:solidFill>
                        <a:srgbClr val="E8E6DC"/>
                      </a:solidFill>
                      <a:prstDash val="solid"/>
                      <a:round/>
                      <a:headEnd type="none" w="med" len="med"/>
                      <a:tailEnd type="none" w="med" len="med"/>
                    </a:lnR>
                    <a:lnT w="12700" cap="flat" cmpd="sng" algn="ctr">
                      <a:solidFill>
                        <a:srgbClr val="E8E6DC"/>
                      </a:solidFill>
                      <a:prstDash val="solid"/>
                      <a:round/>
                      <a:headEnd type="none" w="med" len="med"/>
                      <a:tailEnd type="none" w="med" len="med"/>
                    </a:lnT>
                    <a:lnB w="12700" cap="flat" cmpd="sng" algn="ctr">
                      <a:solidFill>
                        <a:srgbClr val="E8E6DC"/>
                      </a:solidFill>
                      <a:prstDash val="solid"/>
                      <a:round/>
                      <a:headEnd type="none" w="med" len="med"/>
                      <a:tailEnd type="none" w="med" len="med"/>
                    </a:lnB>
                    <a:solidFill>
                      <a:srgbClr val="141413"/>
                    </a:solidFill>
                  </a:tcPr>
                </a:tc>
                <a:tc>
                  <a:txBody>
                    <a:bodyPr/>
                    <a:lstStyle/>
                    <a:p>
                      <a:pPr algn="l" indent="0" marL="0">
                        <a:buNone/>
                      </a:pPr>
                      <a:r>
                        <a:rPr lang="en-US" sz="1000" b="1" dirty="0">
                          <a:solidFill>
                            <a:srgbClr val="FFFFFF"/>
                          </a:solidFill>
                          <a:latin typeface="Meiryo" pitchFamily="34" charset="0"/>
                          <a:ea typeface="Meiryo" pitchFamily="34" charset="-122"/>
                          <a:cs typeface="Meiryo" pitchFamily="34" charset="-120"/>
                        </a:rPr>
                        <a:t>該当ページ</a:t>
                      </a:r>
                      <a:endParaRPr lang="en-US" sz="1000" dirty="0">
                        <a:latin typeface="Meiryo" charset="0"/>
                        <a:ea typeface="Meiryo" charset="0"/>
                        <a:cs typeface="Meiryo" charset="0"/>
                      </a:endParaRPr>
                    </a:p>
                  </a:txBody>
                  <a:tcPr marL="76200" marR="76200" marT="76200" marB="76200" anchor="ctr">
                    <a:lnL w="12700" cap="flat" cmpd="sng" algn="ctr">
                      <a:solidFill>
                        <a:srgbClr val="E8E6DC"/>
                      </a:solidFill>
                      <a:prstDash val="solid"/>
                      <a:round/>
                      <a:headEnd type="none" w="med" len="med"/>
                      <a:tailEnd type="none" w="med" len="med"/>
                    </a:lnL>
                    <a:lnR w="12700" cap="flat" cmpd="sng" algn="ctr">
                      <a:solidFill>
                        <a:srgbClr val="E8E6DC"/>
                      </a:solidFill>
                      <a:prstDash val="solid"/>
                      <a:round/>
                      <a:headEnd type="none" w="med" len="med"/>
                      <a:tailEnd type="none" w="med" len="med"/>
                    </a:lnR>
                    <a:lnT w="12700" cap="flat" cmpd="sng" algn="ctr">
                      <a:solidFill>
                        <a:srgbClr val="E8E6DC"/>
                      </a:solidFill>
                      <a:prstDash val="solid"/>
                      <a:round/>
                      <a:headEnd type="none" w="med" len="med"/>
                      <a:tailEnd type="none" w="med" len="med"/>
                    </a:lnT>
                    <a:lnB w="12700" cap="flat" cmpd="sng" algn="ctr">
                      <a:solidFill>
                        <a:srgbClr val="E8E6DC"/>
                      </a:solidFill>
                      <a:prstDash val="solid"/>
                      <a:round/>
                      <a:headEnd type="none" w="med" len="med"/>
                      <a:tailEnd type="none" w="med" len="med"/>
                    </a:lnB>
                    <a:solidFill>
                      <a:srgbClr val="141413"/>
                    </a:solidFill>
                  </a:tcPr>
                </a:tc>
                <a:tc>
                  <a:txBody>
                    <a:bodyPr/>
                    <a:lstStyle/>
                    <a:p>
                      <a:pPr algn="l" indent="0" marL="0">
                        <a:buNone/>
                      </a:pPr>
                      <a:r>
                        <a:rPr lang="en-US" sz="1000" b="1" dirty="0">
                          <a:solidFill>
                            <a:srgbClr val="FFFFFF"/>
                          </a:solidFill>
                          <a:latin typeface="Meiryo" pitchFamily="34" charset="0"/>
                          <a:ea typeface="Meiryo" pitchFamily="34" charset="-122"/>
                          <a:cs typeface="Meiryo" pitchFamily="34" charset="-120"/>
                        </a:rPr>
                        <a:t>主な内容</a:t>
                      </a:r>
                      <a:endParaRPr lang="en-US" sz="1000" dirty="0">
                        <a:latin typeface="Meiryo" charset="0"/>
                        <a:ea typeface="Meiryo" charset="0"/>
                        <a:cs typeface="Meiryo" charset="0"/>
                      </a:endParaRPr>
                    </a:p>
                  </a:txBody>
                  <a:tcPr marL="76200" marR="76200" marT="76200" marB="76200" anchor="ctr">
                    <a:lnL w="12700" cap="flat" cmpd="sng" algn="ctr">
                      <a:solidFill>
                        <a:srgbClr val="E8E6DC"/>
                      </a:solidFill>
                      <a:prstDash val="solid"/>
                      <a:round/>
                      <a:headEnd type="none" w="med" len="med"/>
                      <a:tailEnd type="none" w="med" len="med"/>
                    </a:lnL>
                    <a:lnR w="12700" cap="flat" cmpd="sng" algn="ctr">
                      <a:solidFill>
                        <a:srgbClr val="E8E6DC"/>
                      </a:solidFill>
                      <a:prstDash val="solid"/>
                      <a:round/>
                      <a:headEnd type="none" w="med" len="med"/>
                      <a:tailEnd type="none" w="med" len="med"/>
                    </a:lnR>
                    <a:lnT w="12700" cap="flat" cmpd="sng" algn="ctr">
                      <a:solidFill>
                        <a:srgbClr val="E8E6DC"/>
                      </a:solidFill>
                      <a:prstDash val="solid"/>
                      <a:round/>
                      <a:headEnd type="none" w="med" len="med"/>
                      <a:tailEnd type="none" w="med" len="med"/>
                    </a:lnT>
                    <a:lnB w="12700" cap="flat" cmpd="sng" algn="ctr">
                      <a:solidFill>
                        <a:srgbClr val="E8E6DC"/>
                      </a:solidFill>
                      <a:prstDash val="solid"/>
                      <a:round/>
                      <a:headEnd type="none" w="med" len="med"/>
                      <a:tailEnd type="none" w="med" len="med"/>
                    </a:lnB>
                    <a:solidFill>
                      <a:srgbClr val="141413"/>
                    </a:solidFill>
                  </a:tcPr>
                </a:tc>
                <a:tc>
                  <a:txBody>
                    <a:bodyPr/>
                    <a:lstStyle/>
                    <a:p>
                      <a:pPr algn="l" indent="0" marL="0">
                        <a:buNone/>
                      </a:pPr>
                      <a:r>
                        <a:rPr lang="en-US" sz="1000" b="1" dirty="0">
                          <a:solidFill>
                            <a:srgbClr val="FFFFFF"/>
                          </a:solidFill>
                          <a:latin typeface="Meiryo" pitchFamily="34" charset="0"/>
                          <a:ea typeface="Meiryo" pitchFamily="34" charset="-122"/>
                          <a:cs typeface="Meiryo" pitchFamily="34" charset="-120"/>
                        </a:rPr>
                        <a:t>出どころ</a:t>
                      </a:r>
                      <a:endParaRPr lang="en-US" sz="1000" dirty="0">
                        <a:latin typeface="Meiryo" charset="0"/>
                        <a:ea typeface="Meiryo" charset="0"/>
                        <a:cs typeface="Meiryo" charset="0"/>
                      </a:endParaRPr>
                    </a:p>
                  </a:txBody>
                  <a:tcPr marL="76200" marR="76200" marT="76200" marB="76200" anchor="ctr">
                    <a:lnL w="12700" cap="flat" cmpd="sng" algn="ctr">
                      <a:solidFill>
                        <a:srgbClr val="E8E6DC"/>
                      </a:solidFill>
                      <a:prstDash val="solid"/>
                      <a:round/>
                      <a:headEnd type="none" w="med" len="med"/>
                      <a:tailEnd type="none" w="med" len="med"/>
                    </a:lnL>
                    <a:lnR w="12700" cap="flat" cmpd="sng" algn="ctr">
                      <a:solidFill>
                        <a:srgbClr val="E8E6DC"/>
                      </a:solidFill>
                      <a:prstDash val="solid"/>
                      <a:round/>
                      <a:headEnd type="none" w="med" len="med"/>
                      <a:tailEnd type="none" w="med" len="med"/>
                    </a:lnR>
                    <a:lnT w="12700" cap="flat" cmpd="sng" algn="ctr">
                      <a:solidFill>
                        <a:srgbClr val="E8E6DC"/>
                      </a:solidFill>
                      <a:prstDash val="solid"/>
                      <a:round/>
                      <a:headEnd type="none" w="med" len="med"/>
                      <a:tailEnd type="none" w="med" len="med"/>
                    </a:lnT>
                    <a:lnB w="12700" cap="flat" cmpd="sng" algn="ctr">
                      <a:solidFill>
                        <a:srgbClr val="E8E6DC"/>
                      </a:solidFill>
                      <a:prstDash val="solid"/>
                      <a:round/>
                      <a:headEnd type="none" w="med" len="med"/>
                      <a:tailEnd type="none" w="med" len="med"/>
                    </a:lnB>
                    <a:solidFill>
                      <a:srgbClr val="141413"/>
                    </a:solidFill>
                  </a:tcPr>
                </a:tc>
              </a:tr>
              <a:tr h="548640">
                <a:tc>
                  <a:txBody>
                    <a:bodyPr/>
                    <a:lstStyle/>
                    <a:p>
                      <a:pPr algn="l" indent="0" marL="0">
                        <a:buNone/>
                      </a:pPr>
                      <a:r>
                        <a:rPr lang="en-US" sz="1000" b="1" dirty="0">
                          <a:solidFill>
                            <a:srgbClr val="141413"/>
                          </a:solidFill>
                          <a:latin typeface="Meiryo" pitchFamily="34" charset="0"/>
                          <a:ea typeface="Meiryo" pitchFamily="34" charset="-122"/>
                          <a:cs typeface="Meiryo" pitchFamily="34" charset="-120"/>
                        </a:rPr>
                        <a:t>提案書の内容を反映</a:t>
                      </a:r>
                      <a:endParaRPr lang="en-US" sz="1000" dirty="0">
                        <a:latin typeface="Meiryo" charset="0"/>
                        <a:ea typeface="Meiryo" charset="0"/>
                        <a:cs typeface="Meiryo" charset="0"/>
                      </a:endParaRPr>
                    </a:p>
                  </a:txBody>
                  <a:tcPr marL="76200" marR="76200" marT="76200" marB="76200" anchor="ctr">
                    <a:lnL w="12700" cap="flat" cmpd="sng" algn="ctr">
                      <a:solidFill>
                        <a:srgbClr val="E8E6DC"/>
                      </a:solidFill>
                      <a:prstDash val="solid"/>
                      <a:round/>
                      <a:headEnd type="none" w="med" len="med"/>
                      <a:tailEnd type="none" w="med" len="med"/>
                    </a:lnL>
                    <a:lnR w="12700" cap="flat" cmpd="sng" algn="ctr">
                      <a:solidFill>
                        <a:srgbClr val="E8E6DC"/>
                      </a:solidFill>
                      <a:prstDash val="solid"/>
                      <a:round/>
                      <a:headEnd type="none" w="med" len="med"/>
                      <a:tailEnd type="none" w="med" len="med"/>
                    </a:lnR>
                    <a:lnT w="12700" cap="flat" cmpd="sng" algn="ctr">
                      <a:solidFill>
                        <a:srgbClr val="E8E6DC"/>
                      </a:solidFill>
                      <a:prstDash val="solid"/>
                      <a:round/>
                      <a:headEnd type="none" w="med" len="med"/>
                      <a:tailEnd type="none" w="med" len="med"/>
                    </a:lnT>
                    <a:lnB w="12700" cap="flat" cmpd="sng" algn="ctr">
                      <a:solidFill>
                        <a:srgbClr val="E8E6DC"/>
                      </a:solidFill>
                      <a:prstDash val="solid"/>
                      <a:round/>
                      <a:headEnd type="none" w="med" len="med"/>
                      <a:tailEnd type="none" w="med" len="med"/>
                    </a:lnB>
                  </a:tcPr>
                </a:tc>
                <a:tc>
                  <a:txBody>
                    <a:bodyPr/>
                    <a:lstStyle/>
                    <a:p>
                      <a:pPr algn="l" indent="0" marL="0">
                        <a:buNone/>
                      </a:pPr>
                      <a:r>
                        <a:rPr lang="en-US" sz="1000" dirty="0">
                          <a:solidFill>
                            <a:srgbClr val="4A4943"/>
                          </a:solidFill>
                          <a:latin typeface="Meiryo" pitchFamily="34" charset="0"/>
                          <a:ea typeface="Meiryo" pitchFamily="34" charset="-122"/>
                          <a:cs typeface="Meiryo" pitchFamily="34" charset="-120"/>
                        </a:rPr>
                        <a:t>P4・6・9・11・14</a:t>
                      </a:r>
                      <a:endParaRPr lang="en-US" sz="1000" dirty="0">
                        <a:latin typeface="Meiryo" charset="0"/>
                        <a:ea typeface="Meiryo" charset="0"/>
                        <a:cs typeface="Meiryo" charset="0"/>
                      </a:endParaRPr>
                    </a:p>
                  </a:txBody>
                  <a:tcPr marL="76200" marR="76200" marT="76200" marB="76200" anchor="ctr">
                    <a:lnL w="12700" cap="flat" cmpd="sng" algn="ctr">
                      <a:solidFill>
                        <a:srgbClr val="E8E6DC"/>
                      </a:solidFill>
                      <a:prstDash val="solid"/>
                      <a:round/>
                      <a:headEnd type="none" w="med" len="med"/>
                      <a:tailEnd type="none" w="med" len="med"/>
                    </a:lnL>
                    <a:lnR w="12700" cap="flat" cmpd="sng" algn="ctr">
                      <a:solidFill>
                        <a:srgbClr val="E8E6DC"/>
                      </a:solidFill>
                      <a:prstDash val="solid"/>
                      <a:round/>
                      <a:headEnd type="none" w="med" len="med"/>
                      <a:tailEnd type="none" w="med" len="med"/>
                    </a:lnR>
                    <a:lnT w="12700" cap="flat" cmpd="sng" algn="ctr">
                      <a:solidFill>
                        <a:srgbClr val="E8E6DC"/>
                      </a:solidFill>
                      <a:prstDash val="solid"/>
                      <a:round/>
                      <a:headEnd type="none" w="med" len="med"/>
                      <a:tailEnd type="none" w="med" len="med"/>
                    </a:lnT>
                    <a:lnB w="12700" cap="flat" cmpd="sng" algn="ctr">
                      <a:solidFill>
                        <a:srgbClr val="E8E6DC"/>
                      </a:solidFill>
                      <a:prstDash val="solid"/>
                      <a:round/>
                      <a:headEnd type="none" w="med" len="med"/>
                      <a:tailEnd type="none" w="med" len="med"/>
                    </a:lnB>
                  </a:tcPr>
                </a:tc>
                <a:tc>
                  <a:txBody>
                    <a:bodyPr/>
                    <a:lstStyle/>
                    <a:p>
                      <a:pPr algn="l" indent="0" marL="0">
                        <a:buNone/>
                      </a:pPr>
                      <a:r>
                        <a:rPr lang="en-US" sz="1000" dirty="0">
                          <a:solidFill>
                            <a:srgbClr val="4A4943"/>
                          </a:solidFill>
                          <a:latin typeface="Meiryo" pitchFamily="34" charset="0"/>
                          <a:ea typeface="Meiryo" pitchFamily="34" charset="-122"/>
                          <a:cs typeface="Meiryo" pitchFamily="34" charset="-120"/>
                        </a:rPr>
                        <a:t>構造的課題／採用ファネル 4 段階／Engage の 0 円掲載／採用ページ 6 ブロック／職場体験会</a:t>
                      </a:r>
                      <a:endParaRPr lang="en-US" sz="1000" dirty="0">
                        <a:latin typeface="Meiryo" charset="0"/>
                        <a:ea typeface="Meiryo" charset="0"/>
                        <a:cs typeface="Meiryo" charset="0"/>
                      </a:endParaRPr>
                    </a:p>
                  </a:txBody>
                  <a:tcPr marL="76200" marR="76200" marT="76200" marB="76200" anchor="ctr">
                    <a:lnL w="12700" cap="flat" cmpd="sng" algn="ctr">
                      <a:solidFill>
                        <a:srgbClr val="E8E6DC"/>
                      </a:solidFill>
                      <a:prstDash val="solid"/>
                      <a:round/>
                      <a:headEnd type="none" w="med" len="med"/>
                      <a:tailEnd type="none" w="med" len="med"/>
                    </a:lnL>
                    <a:lnR w="12700" cap="flat" cmpd="sng" algn="ctr">
                      <a:solidFill>
                        <a:srgbClr val="E8E6DC"/>
                      </a:solidFill>
                      <a:prstDash val="solid"/>
                      <a:round/>
                      <a:headEnd type="none" w="med" len="med"/>
                      <a:tailEnd type="none" w="med" len="med"/>
                    </a:lnR>
                    <a:lnT w="12700" cap="flat" cmpd="sng" algn="ctr">
                      <a:solidFill>
                        <a:srgbClr val="E8E6DC"/>
                      </a:solidFill>
                      <a:prstDash val="solid"/>
                      <a:round/>
                      <a:headEnd type="none" w="med" len="med"/>
                      <a:tailEnd type="none" w="med" len="med"/>
                    </a:lnT>
                    <a:lnB w="12700" cap="flat" cmpd="sng" algn="ctr">
                      <a:solidFill>
                        <a:srgbClr val="E8E6DC"/>
                      </a:solidFill>
                      <a:prstDash val="solid"/>
                      <a:round/>
                      <a:headEnd type="none" w="med" len="med"/>
                      <a:tailEnd type="none" w="med" len="med"/>
                    </a:lnB>
                  </a:tcPr>
                </a:tc>
                <a:tc>
                  <a:txBody>
                    <a:bodyPr/>
                    <a:lstStyle/>
                    <a:p>
                      <a:pPr algn="l" indent="0" marL="0">
                        <a:buNone/>
                      </a:pPr>
                      <a:r>
                        <a:rPr lang="en-US" sz="1000" b="1" dirty="0">
                          <a:solidFill>
                            <a:srgbClr val="141413"/>
                          </a:solidFill>
                          <a:latin typeface="Meiryo" pitchFamily="34" charset="0"/>
                          <a:ea typeface="Meiryo" pitchFamily="34" charset="-122"/>
                          <a:cs typeface="Meiryo" pitchFamily="34" charset="-120"/>
                        </a:rPr>
                        <a:t>出典 ①</a:t>
                      </a:r>
                      <a:endParaRPr lang="en-US" sz="1000" dirty="0">
                        <a:latin typeface="Meiryo" charset="0"/>
                        <a:ea typeface="Meiryo" charset="0"/>
                        <a:cs typeface="Meiryo" charset="0"/>
                      </a:endParaRPr>
                    </a:p>
                  </a:txBody>
                  <a:tcPr marL="76200" marR="76200" marT="76200" marB="76200" anchor="ctr">
                    <a:lnL w="12700" cap="flat" cmpd="sng" algn="ctr">
                      <a:solidFill>
                        <a:srgbClr val="E8E6DC"/>
                      </a:solidFill>
                      <a:prstDash val="solid"/>
                      <a:round/>
                      <a:headEnd type="none" w="med" len="med"/>
                      <a:tailEnd type="none" w="med" len="med"/>
                    </a:lnL>
                    <a:lnR w="12700" cap="flat" cmpd="sng" algn="ctr">
                      <a:solidFill>
                        <a:srgbClr val="E8E6DC"/>
                      </a:solidFill>
                      <a:prstDash val="solid"/>
                      <a:round/>
                      <a:headEnd type="none" w="med" len="med"/>
                      <a:tailEnd type="none" w="med" len="med"/>
                    </a:lnR>
                    <a:lnT w="12700" cap="flat" cmpd="sng" algn="ctr">
                      <a:solidFill>
                        <a:srgbClr val="E8E6DC"/>
                      </a:solidFill>
                      <a:prstDash val="solid"/>
                      <a:round/>
                      <a:headEnd type="none" w="med" len="med"/>
                      <a:tailEnd type="none" w="med" len="med"/>
                    </a:lnT>
                    <a:lnB w="12700" cap="flat" cmpd="sng" algn="ctr">
                      <a:solidFill>
                        <a:srgbClr val="E8E6DC"/>
                      </a:solidFill>
                      <a:prstDash val="solid"/>
                      <a:round/>
                      <a:headEnd type="none" w="med" len="med"/>
                      <a:tailEnd type="none" w="med" len="med"/>
                    </a:lnB>
                  </a:tcPr>
                </a:tc>
              </a:tr>
              <a:tr h="548640">
                <a:tc>
                  <a:txBody>
                    <a:bodyPr/>
                    <a:lstStyle/>
                    <a:p>
                      <a:pPr algn="l" indent="0" marL="0">
                        <a:buNone/>
                      </a:pPr>
                      <a:r>
                        <a:rPr lang="en-US" sz="1000" b="1" dirty="0">
                          <a:solidFill>
                            <a:srgbClr val="141413"/>
                          </a:solidFill>
                          <a:latin typeface="Meiryo" pitchFamily="34" charset="0"/>
                          <a:ea typeface="Meiryo" pitchFamily="34" charset="-122"/>
                          <a:cs typeface="Meiryo" pitchFamily="34" charset="-120"/>
                        </a:rPr>
                        <a:t>提案書の方針を実務手順に展開</a:t>
                      </a:r>
                      <a:endParaRPr lang="en-US" sz="1000" dirty="0">
                        <a:latin typeface="Meiryo" charset="0"/>
                        <a:ea typeface="Meiryo" charset="0"/>
                        <a:cs typeface="Meiryo" charset="0"/>
                      </a:endParaRPr>
                    </a:p>
                  </a:txBody>
                  <a:tcPr marL="76200" marR="76200" marT="76200" marB="76200" anchor="ctr">
                    <a:lnL w="12700" cap="flat" cmpd="sng" algn="ctr">
                      <a:solidFill>
                        <a:srgbClr val="E8E6DC"/>
                      </a:solidFill>
                      <a:prstDash val="solid"/>
                      <a:round/>
                      <a:headEnd type="none" w="med" len="med"/>
                      <a:tailEnd type="none" w="med" len="med"/>
                    </a:lnL>
                    <a:lnR w="12700" cap="flat" cmpd="sng" algn="ctr">
                      <a:solidFill>
                        <a:srgbClr val="E8E6DC"/>
                      </a:solidFill>
                      <a:prstDash val="solid"/>
                      <a:round/>
                      <a:headEnd type="none" w="med" len="med"/>
                      <a:tailEnd type="none" w="med" len="med"/>
                    </a:lnR>
                    <a:lnT w="12700" cap="flat" cmpd="sng" algn="ctr">
                      <a:solidFill>
                        <a:srgbClr val="E8E6DC"/>
                      </a:solidFill>
                      <a:prstDash val="solid"/>
                      <a:round/>
                      <a:headEnd type="none" w="med" len="med"/>
                      <a:tailEnd type="none" w="med" len="med"/>
                    </a:lnT>
                    <a:lnB w="12700" cap="flat" cmpd="sng" algn="ctr">
                      <a:solidFill>
                        <a:srgbClr val="E8E6DC"/>
                      </a:solidFill>
                      <a:prstDash val="solid"/>
                      <a:round/>
                      <a:headEnd type="none" w="med" len="med"/>
                      <a:tailEnd type="none" w="med" len="med"/>
                    </a:lnB>
                  </a:tcPr>
                </a:tc>
                <a:tc>
                  <a:txBody>
                    <a:bodyPr/>
                    <a:lstStyle/>
                    <a:p>
                      <a:pPr algn="l" indent="0" marL="0">
                        <a:buNone/>
                      </a:pPr>
                      <a:r>
                        <a:rPr lang="en-US" sz="1000" dirty="0">
                          <a:solidFill>
                            <a:srgbClr val="4A4943"/>
                          </a:solidFill>
                          <a:latin typeface="Meiryo" pitchFamily="34" charset="0"/>
                          <a:ea typeface="Meiryo" pitchFamily="34" charset="-122"/>
                          <a:cs typeface="Meiryo" pitchFamily="34" charset="-120"/>
                        </a:rPr>
                        <a:t>P2・5・8・10・13・16・18</a:t>
                      </a:r>
                      <a:endParaRPr lang="en-US" sz="1000" dirty="0">
                        <a:latin typeface="Meiryo" charset="0"/>
                        <a:ea typeface="Meiryo" charset="0"/>
                        <a:cs typeface="Meiryo" charset="0"/>
                      </a:endParaRPr>
                    </a:p>
                  </a:txBody>
                  <a:tcPr marL="76200" marR="76200" marT="76200" marB="76200" anchor="ctr">
                    <a:lnL w="12700" cap="flat" cmpd="sng" algn="ctr">
                      <a:solidFill>
                        <a:srgbClr val="E8E6DC"/>
                      </a:solidFill>
                      <a:prstDash val="solid"/>
                      <a:round/>
                      <a:headEnd type="none" w="med" len="med"/>
                      <a:tailEnd type="none" w="med" len="med"/>
                    </a:lnL>
                    <a:lnR w="12700" cap="flat" cmpd="sng" algn="ctr">
                      <a:solidFill>
                        <a:srgbClr val="E8E6DC"/>
                      </a:solidFill>
                      <a:prstDash val="solid"/>
                      <a:round/>
                      <a:headEnd type="none" w="med" len="med"/>
                      <a:tailEnd type="none" w="med" len="med"/>
                    </a:lnR>
                    <a:lnT w="12700" cap="flat" cmpd="sng" algn="ctr">
                      <a:solidFill>
                        <a:srgbClr val="E8E6DC"/>
                      </a:solidFill>
                      <a:prstDash val="solid"/>
                      <a:round/>
                      <a:headEnd type="none" w="med" len="med"/>
                      <a:tailEnd type="none" w="med" len="med"/>
                    </a:lnT>
                    <a:lnB w="12700" cap="flat" cmpd="sng" algn="ctr">
                      <a:solidFill>
                        <a:srgbClr val="E8E6DC"/>
                      </a:solidFill>
                      <a:prstDash val="solid"/>
                      <a:round/>
                      <a:headEnd type="none" w="med" len="med"/>
                      <a:tailEnd type="none" w="med" len="med"/>
                    </a:lnB>
                  </a:tcPr>
                </a:tc>
                <a:tc>
                  <a:txBody>
                    <a:bodyPr/>
                    <a:lstStyle/>
                    <a:p>
                      <a:pPr algn="l" indent="0" marL="0">
                        <a:buNone/>
                      </a:pPr>
                      <a:r>
                        <a:rPr lang="en-US" sz="1000" dirty="0">
                          <a:solidFill>
                            <a:srgbClr val="4A4943"/>
                          </a:solidFill>
                          <a:latin typeface="Meiryo" pitchFamily="34" charset="0"/>
                          <a:ea typeface="Meiryo" pitchFamily="34" charset="-122"/>
                          <a:cs typeface="Meiryo" pitchFamily="34" charset="-120"/>
                        </a:rPr>
                        <a:t>採用単価の算出ワーク／ボトルネック診断／内製と外注の比較／ペルソナ設計／週次運用／90 日計画</a:t>
                      </a:r>
                      <a:endParaRPr lang="en-US" sz="1000" dirty="0">
                        <a:latin typeface="Meiryo" charset="0"/>
                        <a:ea typeface="Meiryo" charset="0"/>
                        <a:cs typeface="Meiryo" charset="0"/>
                      </a:endParaRPr>
                    </a:p>
                  </a:txBody>
                  <a:tcPr marL="76200" marR="76200" marT="76200" marB="76200" anchor="ctr">
                    <a:lnL w="12700" cap="flat" cmpd="sng" algn="ctr">
                      <a:solidFill>
                        <a:srgbClr val="E8E6DC"/>
                      </a:solidFill>
                      <a:prstDash val="solid"/>
                      <a:round/>
                      <a:headEnd type="none" w="med" len="med"/>
                      <a:tailEnd type="none" w="med" len="med"/>
                    </a:lnL>
                    <a:lnR w="12700" cap="flat" cmpd="sng" algn="ctr">
                      <a:solidFill>
                        <a:srgbClr val="E8E6DC"/>
                      </a:solidFill>
                      <a:prstDash val="solid"/>
                      <a:round/>
                      <a:headEnd type="none" w="med" len="med"/>
                      <a:tailEnd type="none" w="med" len="med"/>
                    </a:lnR>
                    <a:lnT w="12700" cap="flat" cmpd="sng" algn="ctr">
                      <a:solidFill>
                        <a:srgbClr val="E8E6DC"/>
                      </a:solidFill>
                      <a:prstDash val="solid"/>
                      <a:round/>
                      <a:headEnd type="none" w="med" len="med"/>
                      <a:tailEnd type="none" w="med" len="med"/>
                    </a:lnT>
                    <a:lnB w="12700" cap="flat" cmpd="sng" algn="ctr">
                      <a:solidFill>
                        <a:srgbClr val="E8E6DC"/>
                      </a:solidFill>
                      <a:prstDash val="solid"/>
                      <a:round/>
                      <a:headEnd type="none" w="med" len="med"/>
                      <a:tailEnd type="none" w="med" len="med"/>
                    </a:lnB>
                  </a:tcPr>
                </a:tc>
                <a:tc>
                  <a:txBody>
                    <a:bodyPr/>
                    <a:lstStyle/>
                    <a:p>
                      <a:pPr algn="l" indent="0" marL="0">
                        <a:buNone/>
                      </a:pPr>
                      <a:r>
                        <a:rPr lang="en-US" sz="1000" dirty="0">
                          <a:solidFill>
                            <a:srgbClr val="4A4943"/>
                          </a:solidFill>
                          <a:latin typeface="Meiryo" pitchFamily="34" charset="0"/>
                          <a:ea typeface="Meiryo" pitchFamily="34" charset="-122"/>
                          <a:cs typeface="Meiryo" pitchFamily="34" charset="-120"/>
                        </a:rPr>
                        <a:t>本資料で独自に作成</a:t>
                      </a:r>
                      <a:endParaRPr lang="en-US" sz="1000" dirty="0">
                        <a:latin typeface="Meiryo" charset="0"/>
                        <a:ea typeface="Meiryo" charset="0"/>
                        <a:cs typeface="Meiryo" charset="0"/>
                      </a:endParaRPr>
                    </a:p>
                  </a:txBody>
                  <a:tcPr marL="76200" marR="76200" marT="76200" marB="76200" anchor="ctr">
                    <a:lnL w="12700" cap="flat" cmpd="sng" algn="ctr">
                      <a:solidFill>
                        <a:srgbClr val="E8E6DC"/>
                      </a:solidFill>
                      <a:prstDash val="solid"/>
                      <a:round/>
                      <a:headEnd type="none" w="med" len="med"/>
                      <a:tailEnd type="none" w="med" len="med"/>
                    </a:lnL>
                    <a:lnR w="12700" cap="flat" cmpd="sng" algn="ctr">
                      <a:solidFill>
                        <a:srgbClr val="E8E6DC"/>
                      </a:solidFill>
                      <a:prstDash val="solid"/>
                      <a:round/>
                      <a:headEnd type="none" w="med" len="med"/>
                      <a:tailEnd type="none" w="med" len="med"/>
                    </a:lnR>
                    <a:lnT w="12700" cap="flat" cmpd="sng" algn="ctr">
                      <a:solidFill>
                        <a:srgbClr val="E8E6DC"/>
                      </a:solidFill>
                      <a:prstDash val="solid"/>
                      <a:round/>
                      <a:headEnd type="none" w="med" len="med"/>
                      <a:tailEnd type="none" w="med" len="med"/>
                    </a:lnT>
                    <a:lnB w="12700" cap="flat" cmpd="sng" algn="ctr">
                      <a:solidFill>
                        <a:srgbClr val="E8E6DC"/>
                      </a:solidFill>
                      <a:prstDash val="solid"/>
                      <a:round/>
                      <a:headEnd type="none" w="med" len="med"/>
                      <a:tailEnd type="none" w="med" len="med"/>
                    </a:lnB>
                  </a:tcPr>
                </a:tc>
              </a:tr>
              <a:tr h="548640">
                <a:tc>
                  <a:txBody>
                    <a:bodyPr/>
                    <a:lstStyle/>
                    <a:p>
                      <a:pPr algn="l" indent="0" marL="0">
                        <a:buNone/>
                      </a:pPr>
                      <a:r>
                        <a:rPr lang="en-US" sz="1000" b="1" dirty="0">
                          <a:solidFill>
                            <a:srgbClr val="788C5D"/>
                          </a:solidFill>
                          <a:latin typeface="Meiryo" pitchFamily="34" charset="0"/>
                          <a:ea typeface="Meiryo" pitchFamily="34" charset="-122"/>
                          <a:cs typeface="Meiryo" pitchFamily="34" charset="-120"/>
                        </a:rPr>
                        <a:t>AI 講座パート</a:t>
                      </a:r>
                      <a:endParaRPr lang="en-US" sz="1000" dirty="0">
                        <a:latin typeface="Meiryo" charset="0"/>
                        <a:ea typeface="Meiryo" charset="0"/>
                        <a:cs typeface="Meiryo" charset="0"/>
                      </a:endParaRPr>
                    </a:p>
                  </a:txBody>
                  <a:tcPr marL="76200" marR="76200" marT="76200" marB="76200" anchor="ctr">
                    <a:lnL w="12700" cap="flat" cmpd="sng" algn="ctr">
                      <a:solidFill>
                        <a:srgbClr val="E8E6DC"/>
                      </a:solidFill>
                      <a:prstDash val="solid"/>
                      <a:round/>
                      <a:headEnd type="none" w="med" len="med"/>
                      <a:tailEnd type="none" w="med" len="med"/>
                    </a:lnL>
                    <a:lnR w="12700" cap="flat" cmpd="sng" algn="ctr">
                      <a:solidFill>
                        <a:srgbClr val="E8E6DC"/>
                      </a:solidFill>
                      <a:prstDash val="solid"/>
                      <a:round/>
                      <a:headEnd type="none" w="med" len="med"/>
                      <a:tailEnd type="none" w="med" len="med"/>
                    </a:lnR>
                    <a:lnT w="12700" cap="flat" cmpd="sng" algn="ctr">
                      <a:solidFill>
                        <a:srgbClr val="E8E6DC"/>
                      </a:solidFill>
                      <a:prstDash val="solid"/>
                      <a:round/>
                      <a:headEnd type="none" w="med" len="med"/>
                      <a:tailEnd type="none" w="med" len="med"/>
                    </a:lnT>
                    <a:lnB w="12700" cap="flat" cmpd="sng" algn="ctr">
                      <a:solidFill>
                        <a:srgbClr val="E8E6DC"/>
                      </a:solidFill>
                      <a:prstDash val="solid"/>
                      <a:round/>
                      <a:headEnd type="none" w="med" len="med"/>
                      <a:tailEnd type="none" w="med" len="med"/>
                    </a:lnB>
                  </a:tcPr>
                </a:tc>
                <a:tc>
                  <a:txBody>
                    <a:bodyPr/>
                    <a:lstStyle/>
                    <a:p>
                      <a:pPr algn="l" indent="0" marL="0">
                        <a:buNone/>
                      </a:pPr>
                      <a:r>
                        <a:rPr lang="en-US" sz="1000" b="1" dirty="0">
                          <a:solidFill>
                            <a:srgbClr val="788C5D"/>
                          </a:solidFill>
                          <a:latin typeface="Meiryo" pitchFamily="34" charset="0"/>
                          <a:ea typeface="Meiryo" pitchFamily="34" charset="-122"/>
                          <a:cs typeface="Meiryo" pitchFamily="34" charset="-120"/>
                        </a:rPr>
                        <a:t>P3・7・12・15・17</a:t>
                      </a:r>
                      <a:endParaRPr lang="en-US" sz="1000" dirty="0">
                        <a:latin typeface="Meiryo" charset="0"/>
                        <a:ea typeface="Meiryo" charset="0"/>
                        <a:cs typeface="Meiryo" charset="0"/>
                      </a:endParaRPr>
                    </a:p>
                  </a:txBody>
                  <a:tcPr marL="76200" marR="76200" marT="76200" marB="76200" anchor="ctr">
                    <a:lnL w="12700" cap="flat" cmpd="sng" algn="ctr">
                      <a:solidFill>
                        <a:srgbClr val="E8E6DC"/>
                      </a:solidFill>
                      <a:prstDash val="solid"/>
                      <a:round/>
                      <a:headEnd type="none" w="med" len="med"/>
                      <a:tailEnd type="none" w="med" len="med"/>
                    </a:lnL>
                    <a:lnR w="12700" cap="flat" cmpd="sng" algn="ctr">
                      <a:solidFill>
                        <a:srgbClr val="E8E6DC"/>
                      </a:solidFill>
                      <a:prstDash val="solid"/>
                      <a:round/>
                      <a:headEnd type="none" w="med" len="med"/>
                      <a:tailEnd type="none" w="med" len="med"/>
                    </a:lnR>
                    <a:lnT w="12700" cap="flat" cmpd="sng" algn="ctr">
                      <a:solidFill>
                        <a:srgbClr val="E8E6DC"/>
                      </a:solidFill>
                      <a:prstDash val="solid"/>
                      <a:round/>
                      <a:headEnd type="none" w="med" len="med"/>
                      <a:tailEnd type="none" w="med" len="med"/>
                    </a:lnT>
                    <a:lnB w="12700" cap="flat" cmpd="sng" algn="ctr">
                      <a:solidFill>
                        <a:srgbClr val="E8E6DC"/>
                      </a:solidFill>
                      <a:prstDash val="solid"/>
                      <a:round/>
                      <a:headEnd type="none" w="med" len="med"/>
                      <a:tailEnd type="none" w="med" len="med"/>
                    </a:lnB>
                  </a:tcPr>
                </a:tc>
                <a:tc>
                  <a:txBody>
                    <a:bodyPr/>
                    <a:lstStyle/>
                    <a:p>
                      <a:pPr algn="l" indent="0" marL="0">
                        <a:buNone/>
                      </a:pPr>
                      <a:r>
                        <a:rPr lang="en-US" sz="1000" dirty="0">
                          <a:solidFill>
                            <a:srgbClr val="788C5D"/>
                          </a:solidFill>
                          <a:latin typeface="Meiryo" pitchFamily="34" charset="0"/>
                          <a:ea typeface="Meiryo" pitchFamily="34" charset="-122"/>
                          <a:cs typeface="Meiryo" pitchFamily="34" charset="-120"/>
                        </a:rPr>
                        <a:t>段階別の AI 活用／プロンプトの 5 要素と記入例／動画編集の AI 活用／AI 活用マップ</a:t>
                      </a:r>
                      <a:endParaRPr lang="en-US" sz="1000" dirty="0">
                        <a:latin typeface="Meiryo" charset="0"/>
                        <a:ea typeface="Meiryo" charset="0"/>
                        <a:cs typeface="Meiryo" charset="0"/>
                      </a:endParaRPr>
                    </a:p>
                  </a:txBody>
                  <a:tcPr marL="76200" marR="76200" marT="76200" marB="76200" anchor="ctr">
                    <a:lnL w="12700" cap="flat" cmpd="sng" algn="ctr">
                      <a:solidFill>
                        <a:srgbClr val="E8E6DC"/>
                      </a:solidFill>
                      <a:prstDash val="solid"/>
                      <a:round/>
                      <a:headEnd type="none" w="med" len="med"/>
                      <a:tailEnd type="none" w="med" len="med"/>
                    </a:lnL>
                    <a:lnR w="12700" cap="flat" cmpd="sng" algn="ctr">
                      <a:solidFill>
                        <a:srgbClr val="E8E6DC"/>
                      </a:solidFill>
                      <a:prstDash val="solid"/>
                      <a:round/>
                      <a:headEnd type="none" w="med" len="med"/>
                      <a:tailEnd type="none" w="med" len="med"/>
                    </a:lnR>
                    <a:lnT w="12700" cap="flat" cmpd="sng" algn="ctr">
                      <a:solidFill>
                        <a:srgbClr val="E8E6DC"/>
                      </a:solidFill>
                      <a:prstDash val="solid"/>
                      <a:round/>
                      <a:headEnd type="none" w="med" len="med"/>
                      <a:tailEnd type="none" w="med" len="med"/>
                    </a:lnT>
                    <a:lnB w="12700" cap="flat" cmpd="sng" algn="ctr">
                      <a:solidFill>
                        <a:srgbClr val="E8E6DC"/>
                      </a:solidFill>
                      <a:prstDash val="solid"/>
                      <a:round/>
                      <a:headEnd type="none" w="med" len="med"/>
                      <a:tailEnd type="none" w="med" len="med"/>
                    </a:lnB>
                  </a:tcPr>
                </a:tc>
                <a:tc>
                  <a:txBody>
                    <a:bodyPr/>
                    <a:lstStyle/>
                    <a:p>
                      <a:pPr algn="l" indent="0" marL="0">
                        <a:buNone/>
                      </a:pPr>
                      <a:r>
                        <a:rPr lang="en-US" sz="1000" b="1" dirty="0">
                          <a:solidFill>
                            <a:srgbClr val="788C5D"/>
                          </a:solidFill>
                          <a:latin typeface="Meiryo" pitchFamily="34" charset="0"/>
                          <a:ea typeface="Meiryo" pitchFamily="34" charset="-122"/>
                          <a:cs typeface="Meiryo" pitchFamily="34" charset="-120"/>
                        </a:rPr>
                        <a:t>出典 ③</a:t>
                      </a:r>
                      <a:endParaRPr lang="en-US" sz="1000" dirty="0">
                        <a:latin typeface="Meiryo" charset="0"/>
                        <a:ea typeface="Meiryo" charset="0"/>
                        <a:cs typeface="Meiryo" charset="0"/>
                      </a:endParaRPr>
                    </a:p>
                  </a:txBody>
                  <a:tcPr marL="76200" marR="76200" marT="76200" marB="76200" anchor="ctr">
                    <a:lnL w="12700" cap="flat" cmpd="sng" algn="ctr">
                      <a:solidFill>
                        <a:srgbClr val="E8E6DC"/>
                      </a:solidFill>
                      <a:prstDash val="solid"/>
                      <a:round/>
                      <a:headEnd type="none" w="med" len="med"/>
                      <a:tailEnd type="none" w="med" len="med"/>
                    </a:lnL>
                    <a:lnR w="12700" cap="flat" cmpd="sng" algn="ctr">
                      <a:solidFill>
                        <a:srgbClr val="E8E6DC"/>
                      </a:solidFill>
                      <a:prstDash val="solid"/>
                      <a:round/>
                      <a:headEnd type="none" w="med" len="med"/>
                      <a:tailEnd type="none" w="med" len="med"/>
                    </a:lnR>
                    <a:lnT w="12700" cap="flat" cmpd="sng" algn="ctr">
                      <a:solidFill>
                        <a:srgbClr val="E8E6DC"/>
                      </a:solidFill>
                      <a:prstDash val="solid"/>
                      <a:round/>
                      <a:headEnd type="none" w="med" len="med"/>
                      <a:tailEnd type="none" w="med" len="med"/>
                    </a:lnT>
                    <a:lnB w="12700" cap="flat" cmpd="sng" algn="ctr">
                      <a:solidFill>
                        <a:srgbClr val="E8E6DC"/>
                      </a:solidFill>
                      <a:prstDash val="solid"/>
                      <a:round/>
                      <a:headEnd type="none" w="med" len="med"/>
                      <a:tailEnd type="none" w="med" len="med"/>
                    </a:lnB>
                  </a:tcPr>
                </a:tc>
              </a:tr>
              <a:tr h="548640">
                <a:tc>
                  <a:txBody>
                    <a:bodyPr/>
                    <a:lstStyle/>
                    <a:p>
                      <a:pPr algn="l" indent="0" marL="0">
                        <a:buNone/>
                      </a:pPr>
                      <a:r>
                        <a:rPr lang="en-US" sz="1000" b="1" dirty="0">
                          <a:solidFill>
                            <a:srgbClr val="141413"/>
                          </a:solidFill>
                          <a:latin typeface="Meiryo" pitchFamily="34" charset="0"/>
                          <a:ea typeface="Meiryo" pitchFamily="34" charset="-122"/>
                          <a:cs typeface="Meiryo" pitchFamily="34" charset="-120"/>
                        </a:rPr>
                        <a:t>金額・比率・目安</a:t>
                      </a:r>
                      <a:endParaRPr lang="en-US" sz="1000" dirty="0">
                        <a:latin typeface="Meiryo" charset="0"/>
                        <a:ea typeface="Meiryo" charset="0"/>
                        <a:cs typeface="Meiryo" charset="0"/>
                      </a:endParaRPr>
                    </a:p>
                  </a:txBody>
                  <a:tcPr marL="76200" marR="76200" marT="76200" marB="76200" anchor="ctr">
                    <a:lnL w="12700" cap="flat" cmpd="sng" algn="ctr">
                      <a:solidFill>
                        <a:srgbClr val="E8E6DC"/>
                      </a:solidFill>
                      <a:prstDash val="solid"/>
                      <a:round/>
                      <a:headEnd type="none" w="med" len="med"/>
                      <a:tailEnd type="none" w="med" len="med"/>
                    </a:lnL>
                    <a:lnR w="12700" cap="flat" cmpd="sng" algn="ctr">
                      <a:solidFill>
                        <a:srgbClr val="E8E6DC"/>
                      </a:solidFill>
                      <a:prstDash val="solid"/>
                      <a:round/>
                      <a:headEnd type="none" w="med" len="med"/>
                      <a:tailEnd type="none" w="med" len="med"/>
                    </a:lnR>
                    <a:lnT w="12700" cap="flat" cmpd="sng" algn="ctr">
                      <a:solidFill>
                        <a:srgbClr val="E8E6DC"/>
                      </a:solidFill>
                      <a:prstDash val="solid"/>
                      <a:round/>
                      <a:headEnd type="none" w="med" len="med"/>
                      <a:tailEnd type="none" w="med" len="med"/>
                    </a:lnT>
                    <a:lnB w="12700" cap="flat" cmpd="sng" algn="ctr">
                      <a:solidFill>
                        <a:srgbClr val="E8E6DC"/>
                      </a:solidFill>
                      <a:prstDash val="solid"/>
                      <a:round/>
                      <a:headEnd type="none" w="med" len="med"/>
                      <a:tailEnd type="none" w="med" len="med"/>
                    </a:lnB>
                  </a:tcPr>
                </a:tc>
                <a:tc>
                  <a:txBody>
                    <a:bodyPr/>
                    <a:lstStyle/>
                    <a:p>
                      <a:pPr algn="l" indent="0" marL="0">
                        <a:buNone/>
                      </a:pPr>
                      <a:r>
                        <a:rPr lang="en-US" sz="1000" dirty="0">
                          <a:solidFill>
                            <a:srgbClr val="4A4943"/>
                          </a:solidFill>
                          <a:latin typeface="Meiryo" pitchFamily="34" charset="0"/>
                          <a:ea typeface="Meiryo" pitchFamily="34" charset="-122"/>
                          <a:cs typeface="Meiryo" pitchFamily="34" charset="-120"/>
                        </a:rPr>
                        <a:t>P2・5・10・16</a:t>
                      </a:r>
                      <a:endParaRPr lang="en-US" sz="1000" dirty="0">
                        <a:latin typeface="Meiryo" charset="0"/>
                        <a:ea typeface="Meiryo" charset="0"/>
                        <a:cs typeface="Meiryo" charset="0"/>
                      </a:endParaRPr>
                    </a:p>
                  </a:txBody>
                  <a:tcPr marL="76200" marR="76200" marT="76200" marB="76200" anchor="ctr">
                    <a:lnL w="12700" cap="flat" cmpd="sng" algn="ctr">
                      <a:solidFill>
                        <a:srgbClr val="E8E6DC"/>
                      </a:solidFill>
                      <a:prstDash val="solid"/>
                      <a:round/>
                      <a:headEnd type="none" w="med" len="med"/>
                      <a:tailEnd type="none" w="med" len="med"/>
                    </a:lnL>
                    <a:lnR w="12700" cap="flat" cmpd="sng" algn="ctr">
                      <a:solidFill>
                        <a:srgbClr val="E8E6DC"/>
                      </a:solidFill>
                      <a:prstDash val="solid"/>
                      <a:round/>
                      <a:headEnd type="none" w="med" len="med"/>
                      <a:tailEnd type="none" w="med" len="med"/>
                    </a:lnR>
                    <a:lnT w="12700" cap="flat" cmpd="sng" algn="ctr">
                      <a:solidFill>
                        <a:srgbClr val="E8E6DC"/>
                      </a:solidFill>
                      <a:prstDash val="solid"/>
                      <a:round/>
                      <a:headEnd type="none" w="med" len="med"/>
                      <a:tailEnd type="none" w="med" len="med"/>
                    </a:lnT>
                    <a:lnB w="12700" cap="flat" cmpd="sng" algn="ctr">
                      <a:solidFill>
                        <a:srgbClr val="E8E6DC"/>
                      </a:solidFill>
                      <a:prstDash val="solid"/>
                      <a:round/>
                      <a:headEnd type="none" w="med" len="med"/>
                      <a:tailEnd type="none" w="med" len="med"/>
                    </a:lnB>
                  </a:tcPr>
                </a:tc>
                <a:tc>
                  <a:txBody>
                    <a:bodyPr/>
                    <a:lstStyle/>
                    <a:p>
                      <a:pPr algn="l" indent="0" marL="0">
                        <a:buNone/>
                      </a:pPr>
                      <a:r>
                        <a:rPr lang="en-US" sz="1000" dirty="0">
                          <a:solidFill>
                            <a:srgbClr val="4A4943"/>
                          </a:solidFill>
                          <a:latin typeface="Meiryo" pitchFamily="34" charset="0"/>
                          <a:ea typeface="Meiryo" pitchFamily="34" charset="-122"/>
                          <a:cs typeface="Meiryo" pitchFamily="34" charset="-120"/>
                        </a:rPr>
                        <a:t>紹介手数料の相場、採用単価、KPI の目安レンジ</a:t>
                      </a:r>
                      <a:endParaRPr lang="en-US" sz="1000" dirty="0">
                        <a:latin typeface="Meiryo" charset="0"/>
                        <a:ea typeface="Meiryo" charset="0"/>
                        <a:cs typeface="Meiryo" charset="0"/>
                      </a:endParaRPr>
                    </a:p>
                  </a:txBody>
                  <a:tcPr marL="76200" marR="76200" marT="76200" marB="76200" anchor="ctr">
                    <a:lnL w="12700" cap="flat" cmpd="sng" algn="ctr">
                      <a:solidFill>
                        <a:srgbClr val="E8E6DC"/>
                      </a:solidFill>
                      <a:prstDash val="solid"/>
                      <a:round/>
                      <a:headEnd type="none" w="med" len="med"/>
                      <a:tailEnd type="none" w="med" len="med"/>
                    </a:lnL>
                    <a:lnR w="12700" cap="flat" cmpd="sng" algn="ctr">
                      <a:solidFill>
                        <a:srgbClr val="E8E6DC"/>
                      </a:solidFill>
                      <a:prstDash val="solid"/>
                      <a:round/>
                      <a:headEnd type="none" w="med" len="med"/>
                      <a:tailEnd type="none" w="med" len="med"/>
                    </a:lnR>
                    <a:lnT w="12700" cap="flat" cmpd="sng" algn="ctr">
                      <a:solidFill>
                        <a:srgbClr val="E8E6DC"/>
                      </a:solidFill>
                      <a:prstDash val="solid"/>
                      <a:round/>
                      <a:headEnd type="none" w="med" len="med"/>
                      <a:tailEnd type="none" w="med" len="med"/>
                    </a:lnT>
                    <a:lnB w="12700" cap="flat" cmpd="sng" algn="ctr">
                      <a:solidFill>
                        <a:srgbClr val="E8E6DC"/>
                      </a:solidFill>
                      <a:prstDash val="solid"/>
                      <a:round/>
                      <a:headEnd type="none" w="med" len="med"/>
                      <a:tailEnd type="none" w="med" len="med"/>
                    </a:lnB>
                  </a:tcPr>
                </a:tc>
                <a:tc>
                  <a:txBody>
                    <a:bodyPr/>
                    <a:lstStyle/>
                    <a:p>
                      <a:pPr algn="l" indent="0" marL="0">
                        <a:buNone/>
                      </a:pPr>
                      <a:r>
                        <a:rPr lang="en-US" sz="1000" dirty="0">
                          <a:solidFill>
                            <a:srgbClr val="4A4943"/>
                          </a:solidFill>
                          <a:latin typeface="Meiryo" pitchFamily="34" charset="0"/>
                          <a:ea typeface="Meiryo" pitchFamily="34" charset="-122"/>
                          <a:cs typeface="Meiryo" pitchFamily="34" charset="-120"/>
                        </a:rPr>
                        <a:t>業界一般の相場からの試算例</a:t>
                      </a:r>
                      <a:endParaRPr lang="en-US" sz="1000" dirty="0">
                        <a:latin typeface="Meiryo" charset="0"/>
                        <a:ea typeface="Meiryo" charset="0"/>
                        <a:cs typeface="Meiryo" charset="0"/>
                      </a:endParaRPr>
                    </a:p>
                  </a:txBody>
                  <a:tcPr marL="76200" marR="76200" marT="76200" marB="76200" anchor="ctr">
                    <a:lnL w="12700" cap="flat" cmpd="sng" algn="ctr">
                      <a:solidFill>
                        <a:srgbClr val="E8E6DC"/>
                      </a:solidFill>
                      <a:prstDash val="solid"/>
                      <a:round/>
                      <a:headEnd type="none" w="med" len="med"/>
                      <a:tailEnd type="none" w="med" len="med"/>
                    </a:lnL>
                    <a:lnR w="12700" cap="flat" cmpd="sng" algn="ctr">
                      <a:solidFill>
                        <a:srgbClr val="E8E6DC"/>
                      </a:solidFill>
                      <a:prstDash val="solid"/>
                      <a:round/>
                      <a:headEnd type="none" w="med" len="med"/>
                      <a:tailEnd type="none" w="med" len="med"/>
                    </a:lnR>
                    <a:lnT w="12700" cap="flat" cmpd="sng" algn="ctr">
                      <a:solidFill>
                        <a:srgbClr val="E8E6DC"/>
                      </a:solidFill>
                      <a:prstDash val="solid"/>
                      <a:round/>
                      <a:headEnd type="none" w="med" len="med"/>
                      <a:tailEnd type="none" w="med" len="med"/>
                    </a:lnT>
                    <a:lnB w="12700" cap="flat" cmpd="sng" algn="ctr">
                      <a:solidFill>
                        <a:srgbClr val="E8E6DC"/>
                      </a:solidFill>
                      <a:prstDash val="solid"/>
                      <a:round/>
                      <a:headEnd type="none" w="med" len="med"/>
                      <a:tailEnd type="none" w="med" len="med"/>
                    </a:lnB>
                  </a:tcPr>
                </a:tc>
              </a:tr>
            </a:tbl>
          </a:graphicData>
        </a:graphic>
      </p:graphicFrame>
      <p:sp>
        <p:nvSpPr>
          <p:cNvPr id="5" name="Shape 2"/>
          <p:cNvSpPr/>
          <p:nvPr/>
        </p:nvSpPr>
        <p:spPr>
          <a:xfrm>
            <a:off x="640080" y="4846320"/>
            <a:ext cx="10881360" cy="1463040"/>
          </a:xfrm>
          <a:prstGeom prst="roundRect">
            <a:avLst>
              <a:gd name="adj" fmla="val 3750"/>
            </a:avLst>
          </a:prstGeom>
          <a:solidFill>
            <a:srgbClr val="FAF9F5"/>
          </a:solidFill>
          <a:ln w="12700">
            <a:solidFill>
              <a:srgbClr val="E8E6DC"/>
            </a:solidFill>
            <a:prstDash val="solid"/>
          </a:ln>
        </p:spPr>
      </p:sp>
      <p:sp>
        <p:nvSpPr>
          <p:cNvPr id="6" name="Text 3"/>
          <p:cNvSpPr/>
          <p:nvPr/>
        </p:nvSpPr>
        <p:spPr>
          <a:xfrm>
            <a:off x="960120" y="4956048"/>
            <a:ext cx="10241280" cy="1280160"/>
          </a:xfrm>
          <a:prstGeom prst="rect">
            <a:avLst/>
          </a:prstGeom>
          <a:noFill/>
          <a:ln/>
        </p:spPr>
        <p:txBody>
          <a:bodyPr wrap="square" lIns="0" tIns="0" rIns="0" bIns="0" rtlCol="0" anchor="t"/>
          <a:lstStyle/>
          <a:p>
            <a:pPr indent="0" marL="0">
              <a:lnSpc>
                <a:spcPts val="1900"/>
              </a:lnSpc>
              <a:buNone/>
            </a:pPr>
            <a:r>
              <a:rPr lang="en-US" sz="1050" b="1" dirty="0">
                <a:solidFill>
                  <a:srgbClr val="141413"/>
                </a:solidFill>
                <a:latin typeface="Meiryo" pitchFamily="34" charset="0"/>
                <a:ea typeface="Meiryo" pitchFamily="34" charset="-122"/>
                <a:cs typeface="Meiryo" pitchFamily="34" charset="-120"/>
              </a:rPr>
              <a:t>① </a:t>
            </a:r>
            <a:pPr indent="0" marL="0">
              <a:lnSpc>
                <a:spcPts val="1900"/>
              </a:lnSpc>
              <a:buNone/>
            </a:pPr>
            <a:r>
              <a:rPr lang="en-US" sz="1050" dirty="0">
                <a:solidFill>
                  <a:srgbClr val="4A4943"/>
                </a:solidFill>
                <a:latin typeface="Meiryo" pitchFamily="34" charset="0"/>
                <a:ea typeface="Meiryo" pitchFamily="34" charset="-122"/>
                <a:cs typeface="Meiryo" pitchFamily="34" charset="-120"/>
              </a:rPr>
              <a:t>「介護・福祉事業における自社採用戦略提案書 ― 求めるケアスタッフを集める 0円採用術」2026年8月24日／株式会社ヤマシタ 御中（本資料の一次情報）</a:t>
            </a:r>
            <a:endParaRPr lang="en-US" sz="1050" dirty="0"/>
          </a:p>
          <a:p>
            <a:pPr indent="0" marL="0">
              <a:lnSpc>
                <a:spcPts val="1900"/>
              </a:lnSpc>
              <a:buNone/>
            </a:pPr>
            <a:r>
              <a:rPr lang="en-US" sz="1050" b="1" dirty="0">
                <a:solidFill>
                  <a:srgbClr val="141413"/>
                </a:solidFill>
                <a:latin typeface="Meiryo" pitchFamily="34" charset="0"/>
                <a:ea typeface="Meiryo" pitchFamily="34" charset="-122"/>
                <a:cs typeface="Meiryo" pitchFamily="34" charset="-120"/>
              </a:rPr>
              <a:t>② </a:t>
            </a:r>
            <a:pPr indent="0" marL="0">
              <a:lnSpc>
                <a:spcPts val="1900"/>
              </a:lnSpc>
              <a:buNone/>
            </a:pPr>
            <a:r>
              <a:rPr lang="en-US" sz="1050" dirty="0">
                <a:solidFill>
                  <a:srgbClr val="4A4943"/>
                </a:solidFill>
                <a:latin typeface="Meiryo" pitchFamily="34" charset="0"/>
                <a:ea typeface="Meiryo" pitchFamily="34" charset="-122"/>
                <a:cs typeface="Meiryo" pitchFamily="34" charset="-120"/>
              </a:rPr>
              <a:t>元のウェビナー（utlink.jp）および Canva 資料は、作成環境のネットワーク制限により直接参照できていません。① とご提供いただいた要約テキストを一次情報として使用しています。</a:t>
            </a:r>
            <a:endParaRPr lang="en-US" sz="1050" dirty="0"/>
          </a:p>
          <a:p>
            <a:pPr indent="0" marL="0">
              <a:lnSpc>
                <a:spcPts val="1900"/>
              </a:lnSpc>
              <a:buNone/>
            </a:pPr>
            <a:r>
              <a:rPr lang="en-US" sz="1050" b="1" dirty="0">
                <a:solidFill>
                  <a:srgbClr val="788C5D"/>
                </a:solidFill>
                <a:latin typeface="Meiryo" pitchFamily="34" charset="0"/>
                <a:ea typeface="Meiryo" pitchFamily="34" charset="-122"/>
                <a:cs typeface="Meiryo" pitchFamily="34" charset="-120"/>
              </a:rPr>
              <a:t>③ </a:t>
            </a:r>
            <a:pPr indent="0" marL="0">
              <a:lnSpc>
                <a:spcPts val="1900"/>
              </a:lnSpc>
              <a:buNone/>
            </a:pPr>
            <a:r>
              <a:rPr lang="en-US" sz="1050" dirty="0">
                <a:solidFill>
                  <a:srgbClr val="4A4943"/>
                </a:solidFill>
                <a:latin typeface="Meiryo" pitchFamily="34" charset="0"/>
                <a:ea typeface="Meiryo" pitchFamily="34" charset="-122"/>
                <a:cs typeface="Meiryo" pitchFamily="34" charset="-120"/>
              </a:rPr>
              <a:t>「AI採用アドバンス講座」の公式教材テキストは提供を受けていません。AI 講座パートは、生成 AI 活用の一般的な実務にもとづき、本資料の枠組みに合わせて独自に構成したものです。特定の講座の内容を引用したものではありません。</a:t>
            </a:r>
            <a:endParaRPr lang="en-US" sz="1050" dirty="0"/>
          </a:p>
        </p:txBody>
      </p:sp>
      <p:sp>
        <p:nvSpPr>
          <p:cNvPr id="7" name="Text 4"/>
          <p:cNvSpPr/>
          <p:nvPr/>
        </p:nvSpPr>
        <p:spPr>
          <a:xfrm>
            <a:off x="640080" y="6400800"/>
            <a:ext cx="10881360" cy="320040"/>
          </a:xfrm>
          <a:prstGeom prst="rect">
            <a:avLst/>
          </a:prstGeom>
          <a:noFill/>
          <a:ln/>
        </p:spPr>
        <p:txBody>
          <a:bodyPr wrap="square" lIns="0" tIns="0" rIns="0" bIns="0" rtlCol="0" anchor="ctr"/>
          <a:lstStyle/>
          <a:p>
            <a:pPr indent="0" marL="0">
              <a:buNone/>
            </a:pPr>
            <a:r>
              <a:rPr lang="en-US" sz="1000" dirty="0">
                <a:solidFill>
                  <a:srgbClr val="7D7B72"/>
                </a:solidFill>
                <a:latin typeface="Meiryo" pitchFamily="34" charset="0"/>
                <a:ea typeface="Meiryo" pitchFamily="34" charset="-122"/>
                <a:cs typeface="Meiryo" pitchFamily="34" charset="-120"/>
              </a:rPr>
              <a:t>※ 実際の講座テキストをご提供いただければ、AI 講座パートを公式内容に差し替えます。</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Meiryo"/>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Meiryo"/>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2026-08-24T23:15:45Z</dcterms:created>
  <dcterms:modified xsi:type="dcterms:W3CDTF">2026-08-24T23:15:45Z</dcterms:modified>
</cp:coreProperties>
</file>