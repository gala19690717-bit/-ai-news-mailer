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1人あたり採用単価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0243E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リファラル
（社員紹介）</c:v>
                  </c:pt>
                  <c:pt idx="1">
                    <c:v>ダイレクト
リクルーティング</c:v>
                  </c:pt>
                  <c:pt idx="2">
                    <c:v>求人媒体</c:v>
                  </c:pt>
                  <c:pt idx="3">
                    <c:v>人材紹介
（成功報酬35%）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45</c:v>
                </c:pt>
                <c:pt idx="2">
                  <c:v>80</c:v>
                </c:pt>
                <c:pt idx="3">
                  <c:v>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0243E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243E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b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本資料はウェビナーで提示された4つの成果（コスト半減・欲しい人材・タイミング・内製化）を軸に、採用担当がそのまま実務に落とせる形でまとめたものです。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痛みの整理。ここで「うちもだ」と共感を作ってから、次のスライドでゴール像を見せる。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4つはバラバラの効果ではなく、①の構造転換が②③④を同時に連れてくる、という関係。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変動費→固定費という言い換えが、この回いちばんの肝。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採用を「人事の作業」から「自社のマーケティング」に置き換える、という視点転換。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全体像。以降のスライドで STEP1-2、STEP3-4、STEP5 を分解する。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要件の絞り込み＋チャネル選定。ダイレクト×リファラルの二本柱が内製化の中心。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文面テンプレは「相手の経歴1行 → 任せたい仕事 → 相手の得」の3ブロック構成で運用。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ファネルは率で見る。改善は一度に1か所。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初月は1ポジション限定。単価比較まで出すと社内の説得材料になる。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採用戦略ウェビナー ｜ 要点まとめ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9509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「相場の半分以下」で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欲しい人材を、好きなタイミングで。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採用を “社内でまわす” ための 5 ステップ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B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89204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コストは相場の 1/2 以下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93592" y="489204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B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489204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欲しい人材をピンポイントで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64224" y="489204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B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489204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動きたいタイミングで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34856" y="489204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1B3A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4584" y="4892040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仕組みが社内に残る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いまの採用、なぜうまくいかない？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多くの会社がぶつかる 3 つの壁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52800" cy="379476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75688"/>
            <a:ext cx="914400" cy="914400"/>
          </a:xfrm>
          <a:prstGeom prst="ellipse">
            <a:avLst/>
          </a:prstGeom>
          <a:solidFill>
            <a:srgbClr val="FFE7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318004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08960"/>
            <a:ext cx="271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お金が重い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71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人材紹介の成功報酬は理論年収の 30〜35%。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年収 500 万円なら 1 人 150〜175 万円。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人採れば 1,000 万円近くが消えます。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4360" y="1691640"/>
            <a:ext cx="3352800" cy="379476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0120" y="2075688"/>
            <a:ext cx="914400" cy="914400"/>
          </a:xfrm>
          <a:prstGeom prst="ellipse">
            <a:avLst/>
          </a:prstGeom>
          <a:solidFill>
            <a:srgbClr val="FFE7D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436" y="2318004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4400" y="3108960"/>
            <a:ext cx="271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欲しい人が来ない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24400" y="3703320"/>
            <a:ext cx="271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応募数は増えても、要件に合う人が混じらない。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外部まかせだと「自社ならではの魅力」が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候補者にそのまま伝わりません。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68640" y="1691640"/>
            <a:ext cx="3352800" cy="379476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34400" y="2075688"/>
            <a:ext cx="914400" cy="914400"/>
          </a:xfrm>
          <a:prstGeom prst="ellipse">
            <a:avLst/>
          </a:prstGeom>
          <a:solidFill>
            <a:srgbClr val="FFE7D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716" y="2318004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8680" y="3108960"/>
            <a:ext cx="271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タイミングが選べない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88680" y="3703320"/>
            <a:ext cx="271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欠員が出てから動くので、いつも後手。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決まるまで 3〜6 ヶ月かかることもあり、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現場は待たされ続けます。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このプロセスで たどり着く 4 つの状態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「たまたま採れた」を、「いつでも採れる」に変える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20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6596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相場の半分以下のコストで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4128" y="257860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変動費（成功報酬）を固定費（ツール＋自社工数）に置き換える。採る人数が増えるほど 1 人あたりが安くなる構造へ。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1920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欲しい人材を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93408" y="257860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「来た人から選ぶ」のをやめて、「この人」と決めてから取りにいく。要件を 1 枚に絞るのが出発点。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965960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好きなタイミングで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24128" y="509320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欠員が出てから探すのではなく、日ごろから候補者との接点を貯めておく。動きたい月に動けるようになる。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416052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635240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社内で内製化できる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93408" y="509320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外注すると社内にノウハウが残らない。自社で回せば、担当者が変わっても仕組みとして残り続ける。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なぜ高い？ お金の流れを見てみよう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採用単価のめやす（1 人あたり・万円／年収 500 万円クラスの試算例）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8">
                <a:alpha val="2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783080"/>
          <a:ext cx="61264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6459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0243E"/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1810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 × 35%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26680" y="22128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175万円 / 人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406640" y="342900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ここがポイント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成功報酬は「採った人数 × 年収の何%」。つまり採るほど増える 変動費 です。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内製化すると、ツール利用料＋自社の工数という 固定費 に近づきます。人数が増えるほど 1 人あたりは下がっていく。ここが「半分以下」の正体です。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000" dirty="0">
                <a:solidFill>
                  <a:srgbClr val="8A99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金額は一般的な相場からの試算例です。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発想の転換：「募集」から「集客」へ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待っていても、いい人は来ない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46320" cy="333756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 ｜ 待ちの採用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114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求人を出して、応募を待つ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エージェントからの紹介を待つ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来た人の中から、いちばんマシな人を選ぶ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欠員が出てから、あわてて動き出す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採れても、社内には何も残らない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06440" y="3063240"/>
            <a:ext cx="777240" cy="640080"/>
          </a:xfrm>
          <a:prstGeom prst="rightArrow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6903720" y="1691640"/>
            <a:ext cx="4846320" cy="3337560"/>
          </a:xfrm>
          <a:prstGeom prst="roundRect">
            <a:avLst>
              <a:gd name="adj" fmla="val 1644"/>
            </a:avLst>
          </a:prstGeom>
          <a:solidFill>
            <a:srgbClr val="10243E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 ｜ 攻めの採用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269480" y="2560320"/>
            <a:ext cx="4114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「この人が欲しい」を先に決める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その人がいる場所へ、自社から会いに行く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自社の言葉で、直接口説く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ふだんから接点を貯め、動きたい時に動く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やり方が社内にノウハウとして残る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E7D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257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採用は「人事の作業」ではなく「自社のマーケティング」。ここが切り替わると、あとの 5 ステップは全部つながります。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内製化する 5 つのステップ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この順番どおりに進めれば、仕組みは必ず立ち上がります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28216" y="2519172"/>
            <a:ext cx="8705088" cy="36576"/>
          </a:xfrm>
          <a:prstGeom prst="rect">
            <a:avLst/>
          </a:prstGeom>
          <a:solidFill>
            <a:srgbClr val="CFE3F2"/>
          </a:solidFill>
          <a:ln/>
        </p:spPr>
      </p:sp>
      <p:sp>
        <p:nvSpPr>
          <p:cNvPr id="5" name="Shape 3"/>
          <p:cNvSpPr/>
          <p:nvPr/>
        </p:nvSpPr>
        <p:spPr>
          <a:xfrm>
            <a:off x="1156716" y="1965960"/>
            <a:ext cx="1143000" cy="1143000"/>
          </a:xfrm>
          <a:prstGeom prst="ellipse">
            <a:avLst/>
          </a:prstGeom>
          <a:solidFill>
            <a:srgbClr val="FF6B3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2276856"/>
            <a:ext cx="512064" cy="5120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0824" y="18562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24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20824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822192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「本当に必要な人」を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A4 1 枚にまとめる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2988" y="1965960"/>
            <a:ext cx="1143000" cy="1143000"/>
          </a:xfrm>
          <a:prstGeom prst="ellipse">
            <a:avLst/>
          </a:prstGeom>
          <a:solidFill>
            <a:srgbClr val="10243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276856"/>
            <a:ext cx="512064" cy="5120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197096" y="18562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243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97096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07792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チャネル選定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907792" y="3822192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その人が実際に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いる場所を選ぶ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509260" y="1965960"/>
            <a:ext cx="1143000" cy="1143000"/>
          </a:xfrm>
          <a:prstGeom prst="ellipse">
            <a:avLst/>
          </a:prstGeom>
          <a:solidFill>
            <a:srgbClr val="10243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2276856"/>
            <a:ext cx="512064" cy="51206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73368" y="18562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243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7336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84064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文面づくり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084064" y="3822192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自社の言葉で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口説く文章を書く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685532" y="1965960"/>
            <a:ext cx="1143000" cy="1143000"/>
          </a:xfrm>
          <a:prstGeom prst="ellipse">
            <a:avLst/>
          </a:prstGeom>
          <a:solidFill>
            <a:srgbClr val="10243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276856"/>
            <a:ext cx="512064" cy="51206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549640" y="18562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243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549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260336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選考体験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260336" y="3822192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速く・気持ちよく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意思決定してもらう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9861804" y="1965960"/>
            <a:ext cx="1143000" cy="1143000"/>
          </a:xfrm>
          <a:prstGeom prst="ellipse">
            <a:avLst/>
          </a:prstGeom>
          <a:solidFill>
            <a:srgbClr val="10243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7272" y="2276856"/>
            <a:ext cx="512064" cy="51206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725912" y="185623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243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72591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436608" y="33832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数字で改善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9436608" y="3822192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毎週数字を見て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か所だけ直す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640080" y="5230368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0243E"/>
          </a:solidFill>
          <a:ln/>
        </p:spPr>
      </p:sp>
      <p:sp>
        <p:nvSpPr>
          <p:cNvPr id="36" name="Text 29"/>
          <p:cNvSpPr/>
          <p:nvPr/>
        </p:nvSpPr>
        <p:spPr>
          <a:xfrm>
            <a:off x="914400" y="523036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いちばん多い失敗は、STEP 1 を飛ばして STEP 2 の「ツール選び」から始めてしまうこと。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1-2 ｜ 誰を、どこで探すか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ここが決まらないまま動くと、お金も時間もこぼれ落ちます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11480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 ｜ 要件を 1 枚に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MUST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4871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つまで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65960" y="27797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これが無いと成立しない条件だけ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333756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337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65960" y="34472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自由に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65960" y="37398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あったら嬉しい。無くても採る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4297680"/>
            <a:ext cx="3474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97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65960" y="44074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つまで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965960" y="4700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これがあったら見送る条件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5193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MUST は 3 つまで。絞るほど会える人は増えます。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828800"/>
            <a:ext cx="6355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 ｜ 会いに行く場所を選ぶ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2377440"/>
          <a:ext cx="635508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005840"/>
                <a:gridCol w="100584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チャネル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費用感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スピード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向いている場面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人材紹介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急な欠員・希少な専門職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求人媒体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中くらい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中くらい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母集団を一気に集めたい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024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ダイレクトリクルーティング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中くらい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欲しい人を狙って採る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0243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リファラル（社員紹介）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最も低い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ゆっくり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定着率を上げたい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SNS・採用広報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ゆっくり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D6D7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中長期で「選ばれる会社」に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166360" y="525780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下の 2 つを自社で回せるようにすることが「内製化」です。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3-4 ｜ 刺さる文面 × 速い選考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同じ人に送っても、書き方と速さで結果は変わります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663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105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 ｜ 届かない文面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「弊社は成長企業です。ぜひ一度カジュアル面談を。」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・誰にでも送れる（＝誰にも刺さらない）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・会社の話しかしていない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・相手にとっての得が書かれていない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45920"/>
            <a:ext cx="5166360" cy="2423160"/>
          </a:xfrm>
          <a:prstGeom prst="roundRect">
            <a:avLst>
              <a:gd name="adj" fmla="val 2264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8105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 ｜ 返信が来る文面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212848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「〇〇の経験に惹かれました。当社の△△を、あなたなら□□にできると思っています。」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・その人の経歴に触れている（1 行でいい）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・任せたい仕事が具体的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・相手が得られるものが書いてある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3352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453128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</a:t>
            </a:r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時間以内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返信・日程返しはここまで。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迷っている時間に他社が決めます。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4360" y="4343400"/>
            <a:ext cx="3352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8680" y="4453128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週間以内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78680" y="507492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初回接触から内定まで。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長引くほど熱は冷めます。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68640" y="4343400"/>
            <a:ext cx="3352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AA9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42960" y="4453128"/>
            <a:ext cx="280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回まで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442960" y="507492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面接の回数。増やすほど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辞退率が上がっていきます。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 ｜ 数字で回す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見るのは合計人数ではなく、「どこで減ったか」だけ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0" cy="676656"/>
          </a:xfrm>
          <a:prstGeom prst="roundRect">
            <a:avLst>
              <a:gd name="adj" fmla="val 6757"/>
            </a:avLst>
          </a:prstGeom>
          <a:solidFill>
            <a:srgbClr val="10243E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接触（スカウト送信・声かけ）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65860" y="2606040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10243E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65860" y="2606040"/>
            <a:ext cx="5349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返信・応募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3429000"/>
            <a:ext cx="4297680" cy="676656"/>
          </a:xfrm>
          <a:prstGeom prst="roundRect">
            <a:avLst>
              <a:gd name="adj" fmla="val 6757"/>
            </a:avLst>
          </a:prstGeom>
          <a:solidFill>
            <a:srgbClr val="10243E">
              <a:alpha val="6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3429000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面談・カジュアル面談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17420" y="4251960"/>
            <a:ext cx="3246120" cy="676656"/>
          </a:xfrm>
          <a:prstGeom prst="roundRect">
            <a:avLst>
              <a:gd name="adj" fmla="val 6757"/>
            </a:avLst>
          </a:prstGeom>
          <a:solidFill>
            <a:srgbClr val="10243E">
              <a:alpha val="5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17420" y="4251960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最終面接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5074920"/>
            <a:ext cx="2194560" cy="676656"/>
          </a:xfrm>
          <a:prstGeom prst="roundRect">
            <a:avLst>
              <a:gd name="adj" fmla="val 6757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507492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内定承諾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1783080"/>
            <a:ext cx="4114800" cy="3840480"/>
          </a:xfrm>
          <a:prstGeom prst="roundRect">
            <a:avLst>
              <a:gd name="adj" fmla="val 1429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毎週みる 3 つの「率」</a:t>
            </a:r>
            <a:endParaRPr lang="en-US" sz="17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569464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65008" y="25146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返信率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65008" y="2843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接触 → 返信。低いなら 文面 を直す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43814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65008" y="33832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面談化率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065008" y="37124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 → 面談。低いなら 日程調整の速さ を直す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430682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65008" y="42519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内定承諾率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65008" y="458114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内定 → 承諾。低いなら 動機づけと条件 を直す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726680" y="5074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直すのは、いちばん落ちている 1 か所だけ。同時に変えると、何が効いたか分からなくなります。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明日から動く 30 日プラン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 1 ポジションだけで試す。うまくいった型を、他のポジションに広げていきます。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528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271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271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・対象ポジションを 1 つ選ぶ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・MUST 3 つ / NG 2 つを決める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・現場責任者と 30 分すり合わせ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・いまの採用単価を計算する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・使う媒体の候補を 3 つ調べる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4360" y="1737360"/>
            <a:ext cx="33528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724400" y="1920240"/>
            <a:ext cx="271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2-3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24400" y="22860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動かす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24400" y="2788920"/>
            <a:ext cx="271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・ダイレクト媒体を 1 つ契約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・スカウト文を 3 パターン用意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・週 30 通を目安に送る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・社員紹介の声かけも同時に開始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・返信は 48 時間以内に日程返し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68640" y="1737360"/>
            <a:ext cx="33528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488680" y="1920240"/>
            <a:ext cx="271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6B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88680" y="22860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4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見直す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88680" y="2788920"/>
            <a:ext cx="271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・返信率 / 面談化率を集計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・いちばん低い 1 か所を直す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・単価を紹介会社と比べる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・翌月の送信本数を決める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・効いた文面を型として保存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採用は「才能」ではなく「手順」。この 30 日で、自社の型がひとつできます。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2026-08-24T07:49:51Z</dcterms:created>
  <dcterms:modified xsi:type="dcterms:W3CDTF">2026-08-24T07:49:51Z</dcterms:modified>
</cp:coreProperties>
</file>